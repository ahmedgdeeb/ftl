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6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8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278" r:id="rId6"/>
    <p:sldId id="269" r:id="rId7"/>
    <p:sldId id="271" r:id="rId8"/>
    <p:sldId id="288" r:id="rId9"/>
    <p:sldId id="290" r:id="rId10"/>
    <p:sldId id="289" r:id="rId11"/>
    <p:sldId id="291" r:id="rId12"/>
    <p:sldId id="277" r:id="rId1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6"/>
    <p:restoredTop sz="94645"/>
  </p:normalViewPr>
  <p:slideViewPr>
    <p:cSldViewPr snapToGrid="0">
      <p:cViewPr>
        <p:scale>
          <a:sx n="66" d="100"/>
          <a:sy n="66" d="100"/>
        </p:scale>
        <p:origin x="10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</pc:sldChg>
    </pc:docChg>
  </pc:docChgLst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</pc:sldChg>
    </pc:docChg>
  </pc:docChgLst>
  <pc:docChgLst>
    <pc:chgData name="EDA NUR SARUHAN" userId="796a441a-389d-493a-b849-403485121362" providerId="ADAL" clId="{E289476B-979E-443D-BAB6-A57797CA7586}"/>
    <pc:docChg chg="addSld delSld modSld sldOrd">
      <pc:chgData name="EDA NUR SARUHAN" userId="796a441a-389d-493a-b849-403485121362" providerId="ADAL" clId="{E289476B-979E-443D-BAB6-A57797CA7586}" dt="2025-03-14T07:12:24.124" v="82" actId="47"/>
      <pc:docMkLst>
        <pc:docMk/>
      </pc:docMkLst>
      <pc:sldChg chg="del">
        <pc:chgData name="EDA NUR SARUHAN" userId="796a441a-389d-493a-b849-403485121362" providerId="ADAL" clId="{E289476B-979E-443D-BAB6-A57797CA7586}" dt="2025-03-14T07:12:16.116" v="81" actId="47"/>
        <pc:sldMkLst>
          <pc:docMk/>
          <pc:sldMk cId="0" sldId="258"/>
        </pc:sldMkLst>
      </pc:sldChg>
      <pc:sldChg chg="del">
        <pc:chgData name="EDA NUR SARUHAN" userId="796a441a-389d-493a-b849-403485121362" providerId="ADAL" clId="{E289476B-979E-443D-BAB6-A57797CA7586}" dt="2025-03-14T07:11:30.503" v="68" actId="47"/>
        <pc:sldMkLst>
          <pc:docMk/>
          <pc:sldMk cId="664534578" sldId="272"/>
        </pc:sldMkLst>
      </pc:sldChg>
      <pc:sldChg chg="del">
        <pc:chgData name="EDA NUR SARUHAN" userId="796a441a-389d-493a-b849-403485121362" providerId="ADAL" clId="{E289476B-979E-443D-BAB6-A57797CA7586}" dt="2025-03-14T07:11:32.701" v="70" actId="47"/>
        <pc:sldMkLst>
          <pc:docMk/>
          <pc:sldMk cId="3671019558" sldId="274"/>
        </pc:sldMkLst>
      </pc:sldChg>
      <pc:sldChg chg="del">
        <pc:chgData name="EDA NUR SARUHAN" userId="796a441a-389d-493a-b849-403485121362" providerId="ADAL" clId="{E289476B-979E-443D-BAB6-A57797CA7586}" dt="2025-03-14T07:11:33.710" v="71" actId="47"/>
        <pc:sldMkLst>
          <pc:docMk/>
          <pc:sldMk cId="3774262820" sldId="275"/>
        </pc:sldMkLst>
      </pc:sldChg>
      <pc:sldChg chg="del">
        <pc:chgData name="EDA NUR SARUHAN" userId="796a441a-389d-493a-b849-403485121362" providerId="ADAL" clId="{E289476B-979E-443D-BAB6-A57797CA7586}" dt="2025-03-14T07:11:35.834" v="72" actId="47"/>
        <pc:sldMkLst>
          <pc:docMk/>
          <pc:sldMk cId="1090383087" sldId="276"/>
        </pc:sldMkLst>
      </pc:sldChg>
      <pc:sldChg chg="del">
        <pc:chgData name="EDA NUR SARUHAN" userId="796a441a-389d-493a-b849-403485121362" providerId="ADAL" clId="{E289476B-979E-443D-BAB6-A57797CA7586}" dt="2025-03-14T07:12:14.089" v="80" actId="47"/>
        <pc:sldMkLst>
          <pc:docMk/>
          <pc:sldMk cId="2319431748" sldId="280"/>
        </pc:sldMkLst>
      </pc:sldChg>
      <pc:sldChg chg="del">
        <pc:chgData name="EDA NUR SARUHAN" userId="796a441a-389d-493a-b849-403485121362" providerId="ADAL" clId="{E289476B-979E-443D-BAB6-A57797CA7586}" dt="2025-03-14T07:11:29.492" v="67" actId="47"/>
        <pc:sldMkLst>
          <pc:docMk/>
          <pc:sldMk cId="3209889353" sldId="281"/>
        </pc:sldMkLst>
      </pc:sldChg>
      <pc:sldChg chg="del">
        <pc:chgData name="EDA NUR SARUHAN" userId="796a441a-389d-493a-b849-403485121362" providerId="ADAL" clId="{E289476B-979E-443D-BAB6-A57797CA7586}" dt="2025-03-14T07:11:31.459" v="69" actId="47"/>
        <pc:sldMkLst>
          <pc:docMk/>
          <pc:sldMk cId="4161134741" sldId="282"/>
        </pc:sldMkLst>
      </pc:sldChg>
      <pc:sldChg chg="del">
        <pc:chgData name="EDA NUR SARUHAN" userId="796a441a-389d-493a-b849-403485121362" providerId="ADAL" clId="{E289476B-979E-443D-BAB6-A57797CA7586}" dt="2025-03-14T07:11:41.159" v="74" actId="47"/>
        <pc:sldMkLst>
          <pc:docMk/>
          <pc:sldMk cId="3824939920" sldId="283"/>
        </pc:sldMkLst>
      </pc:sldChg>
      <pc:sldChg chg="del">
        <pc:chgData name="EDA NUR SARUHAN" userId="796a441a-389d-493a-b849-403485121362" providerId="ADAL" clId="{E289476B-979E-443D-BAB6-A57797CA7586}" dt="2025-03-14T07:12:24.124" v="82" actId="47"/>
        <pc:sldMkLst>
          <pc:docMk/>
          <pc:sldMk cId="2350826882" sldId="284"/>
        </pc:sldMkLst>
      </pc:sldChg>
      <pc:sldChg chg="del">
        <pc:chgData name="EDA NUR SARUHAN" userId="796a441a-389d-493a-b849-403485121362" providerId="ADAL" clId="{E289476B-979E-443D-BAB6-A57797CA7586}" dt="2025-03-14T07:11:37.455" v="73" actId="47"/>
        <pc:sldMkLst>
          <pc:docMk/>
          <pc:sldMk cId="1779530041" sldId="286"/>
        </pc:sldMkLst>
      </pc:sldChg>
      <pc:sldChg chg="del">
        <pc:chgData name="EDA NUR SARUHAN" userId="796a441a-389d-493a-b849-403485121362" providerId="ADAL" clId="{E289476B-979E-443D-BAB6-A57797CA7586}" dt="2025-03-14T07:11:44.661" v="75" actId="47"/>
        <pc:sldMkLst>
          <pc:docMk/>
          <pc:sldMk cId="3899215332" sldId="287"/>
        </pc:sldMkLst>
      </pc:sldChg>
      <pc:sldChg chg="modSp mod">
        <pc:chgData name="EDA NUR SARUHAN" userId="796a441a-389d-493a-b849-403485121362" providerId="ADAL" clId="{E289476B-979E-443D-BAB6-A57797CA7586}" dt="2025-03-14T07:10:38.017" v="16" actId="20577"/>
        <pc:sldMkLst>
          <pc:docMk/>
          <pc:sldMk cId="2792668569" sldId="288"/>
        </pc:sldMkLst>
        <pc:spChg chg="mod">
          <ac:chgData name="EDA NUR SARUHAN" userId="796a441a-389d-493a-b849-403485121362" providerId="ADAL" clId="{E289476B-979E-443D-BAB6-A57797CA7586}" dt="2025-03-14T07:10:38.017" v="16" actId="20577"/>
          <ac:spMkLst>
            <pc:docMk/>
            <pc:sldMk cId="2792668569" sldId="288"/>
            <ac:spMk id="490" creationId="{BF02BB99-8C9F-BCAB-3D9A-560E34AB8B93}"/>
          </ac:spMkLst>
        </pc:spChg>
        <pc:spChg chg="mod">
          <ac:chgData name="EDA NUR SARUHAN" userId="796a441a-389d-493a-b849-403485121362" providerId="ADAL" clId="{E289476B-979E-443D-BAB6-A57797CA7586}" dt="2025-03-14T07:10:24.798" v="15" actId="20577"/>
          <ac:spMkLst>
            <pc:docMk/>
            <pc:sldMk cId="2792668569" sldId="288"/>
            <ac:spMk id="493" creationId="{33F6C684-034E-6FED-A300-0383AD64D2A6}"/>
          </ac:spMkLst>
        </pc:spChg>
      </pc:sldChg>
      <pc:sldChg chg="modSp add mod">
        <pc:chgData name="EDA NUR SARUHAN" userId="796a441a-389d-493a-b849-403485121362" providerId="ADAL" clId="{E289476B-979E-443D-BAB6-A57797CA7586}" dt="2025-03-14T07:10:59.879" v="43" actId="20577"/>
        <pc:sldMkLst>
          <pc:docMk/>
          <pc:sldMk cId="2461165018" sldId="289"/>
        </pc:sldMkLst>
        <pc:spChg chg="mod">
          <ac:chgData name="EDA NUR SARUHAN" userId="796a441a-389d-493a-b849-403485121362" providerId="ADAL" clId="{E289476B-979E-443D-BAB6-A57797CA7586}" dt="2025-03-14T07:10:59.879" v="43" actId="20577"/>
          <ac:spMkLst>
            <pc:docMk/>
            <pc:sldMk cId="2461165018" sldId="289"/>
            <ac:spMk id="493" creationId="{7F6AF1D6-5E18-4D4A-AF2E-D4983F1F0FFE}"/>
          </ac:spMkLst>
        </pc:spChg>
      </pc:sldChg>
      <pc:sldChg chg="modSp add mod ord">
        <pc:chgData name="EDA NUR SARUHAN" userId="796a441a-389d-493a-b849-403485121362" providerId="ADAL" clId="{E289476B-979E-443D-BAB6-A57797CA7586}" dt="2025-03-14T07:11:53.151" v="79"/>
        <pc:sldMkLst>
          <pc:docMk/>
          <pc:sldMk cId="2960136619" sldId="290"/>
        </pc:sldMkLst>
        <pc:spChg chg="mod">
          <ac:chgData name="EDA NUR SARUHAN" userId="796a441a-389d-493a-b849-403485121362" providerId="ADAL" clId="{E289476B-979E-443D-BAB6-A57797CA7586}" dt="2025-03-14T07:11:11.856" v="52" actId="20577"/>
          <ac:spMkLst>
            <pc:docMk/>
            <pc:sldMk cId="2960136619" sldId="290"/>
            <ac:spMk id="493" creationId="{88C61DCD-7BA0-7AAE-DC7C-FDABF2A01618}"/>
          </ac:spMkLst>
        </pc:spChg>
      </pc:sldChg>
      <pc:sldChg chg="modSp add mod ord">
        <pc:chgData name="EDA NUR SARUHAN" userId="796a441a-389d-493a-b849-403485121362" providerId="ADAL" clId="{E289476B-979E-443D-BAB6-A57797CA7586}" dt="2025-03-14T07:11:50.085" v="77"/>
        <pc:sldMkLst>
          <pc:docMk/>
          <pc:sldMk cId="2245103886" sldId="291"/>
        </pc:sldMkLst>
        <pc:spChg chg="mod">
          <ac:chgData name="EDA NUR SARUHAN" userId="796a441a-389d-493a-b849-403485121362" providerId="ADAL" clId="{E289476B-979E-443D-BAB6-A57797CA7586}" dt="2025-03-14T07:11:22.790" v="66" actId="20577"/>
          <ac:spMkLst>
            <pc:docMk/>
            <pc:sldMk cId="2245103886" sldId="291"/>
            <ac:spMk id="493" creationId="{20A47334-EC8B-17F3-E79B-425BE02AC162}"/>
          </ac:spMkLst>
        </pc:spChg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  <pc:docChgLst>
    <pc:chgData name="EDA NUR SARUHAN" userId="796a441a-389d-493a-b849-403485121362" providerId="ADAL" clId="{A71DF7CA-E899-4FFC-B287-1FDD74E35F24}"/>
    <pc:docChg chg="addSld delSld modSld">
      <pc:chgData name="EDA NUR SARUHAN" userId="796a441a-389d-493a-b849-403485121362" providerId="ADAL" clId="{A71DF7CA-E899-4FFC-B287-1FDD74E35F24}" dt="2025-03-14T07:09:34.222" v="55" actId="2890"/>
      <pc:docMkLst>
        <pc:docMk/>
      </pc:docMkLst>
      <pc:sldChg chg="modSp mod">
        <pc:chgData name="EDA NUR SARUHAN" userId="796a441a-389d-493a-b849-403485121362" providerId="ADAL" clId="{A71DF7CA-E899-4FFC-B287-1FDD74E35F24}" dt="2025-03-14T07:05:40.524" v="23" actId="20577"/>
        <pc:sldMkLst>
          <pc:docMk/>
          <pc:sldMk cId="2903211234" sldId="269"/>
        </pc:sldMkLst>
        <pc:spChg chg="mod">
          <ac:chgData name="EDA NUR SARUHAN" userId="796a441a-389d-493a-b849-403485121362" providerId="ADAL" clId="{A71DF7CA-E899-4FFC-B287-1FDD74E35F24}" dt="2025-03-14T07:05:40.524" v="23" actId="20577"/>
          <ac:spMkLst>
            <pc:docMk/>
            <pc:sldMk cId="2903211234" sldId="269"/>
            <ac:spMk id="490" creationId="{00000000-0000-0000-0000-000000000000}"/>
          </ac:spMkLst>
        </pc:spChg>
        <pc:spChg chg="mod">
          <ac:chgData name="EDA NUR SARUHAN" userId="796a441a-389d-493a-b849-403485121362" providerId="ADAL" clId="{A71DF7CA-E899-4FFC-B287-1FDD74E35F24}" dt="2025-03-14T07:05:15.050" v="17" actId="20577"/>
          <ac:spMkLst>
            <pc:docMk/>
            <pc:sldMk cId="2903211234" sldId="269"/>
            <ac:spMk id="493" creationId="{00000000-0000-0000-0000-000000000000}"/>
          </ac:spMkLst>
        </pc:spChg>
      </pc:sldChg>
      <pc:sldChg chg="del">
        <pc:chgData name="EDA NUR SARUHAN" userId="796a441a-389d-493a-b849-403485121362" providerId="ADAL" clId="{A71DF7CA-E899-4FFC-B287-1FDD74E35F24}" dt="2025-03-14T07:05:42.548" v="24" actId="47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A71DF7CA-E899-4FFC-B287-1FDD74E35F24}" dt="2025-03-14T07:05:52.468" v="32" actId="20577"/>
        <pc:sldMkLst>
          <pc:docMk/>
          <pc:sldMk cId="1729379315" sldId="271"/>
        </pc:sldMkLst>
        <pc:spChg chg="mod">
          <ac:chgData name="EDA NUR SARUHAN" userId="796a441a-389d-493a-b849-403485121362" providerId="ADAL" clId="{A71DF7CA-E899-4FFC-B287-1FDD74E35F24}" dt="2025-03-14T07:05:52.468" v="32" actId="20577"/>
          <ac:spMkLst>
            <pc:docMk/>
            <pc:sldMk cId="1729379315" sldId="271"/>
            <ac:spMk id="490" creationId="{00000000-0000-0000-0000-000000000000}"/>
          </ac:spMkLst>
        </pc:spChg>
      </pc:sldChg>
      <pc:sldChg chg="modSp mod">
        <pc:chgData name="EDA NUR SARUHAN" userId="796a441a-389d-493a-b849-403485121362" providerId="ADAL" clId="{A71DF7CA-E899-4FFC-B287-1FDD74E35F24}" dt="2025-03-14T07:06:29.739" v="51" actId="20577"/>
        <pc:sldMkLst>
          <pc:docMk/>
          <pc:sldMk cId="664534578" sldId="272"/>
        </pc:sldMkLst>
        <pc:spChg chg="mod">
          <ac:chgData name="EDA NUR SARUHAN" userId="796a441a-389d-493a-b849-403485121362" providerId="ADAL" clId="{A71DF7CA-E899-4FFC-B287-1FDD74E35F24}" dt="2025-03-14T07:06:29.739" v="51" actId="20577"/>
          <ac:spMkLst>
            <pc:docMk/>
            <pc:sldMk cId="664534578" sldId="272"/>
            <ac:spMk id="493" creationId="{00000000-0000-0000-0000-000000000000}"/>
          </ac:spMkLst>
        </pc:spChg>
      </pc:sldChg>
      <pc:sldChg chg="del">
        <pc:chgData name="EDA NUR SARUHAN" userId="796a441a-389d-493a-b849-403485121362" providerId="ADAL" clId="{A71DF7CA-E899-4FFC-B287-1FDD74E35F24}" dt="2025-03-14T07:06:31.732" v="52" actId="47"/>
        <pc:sldMkLst>
          <pc:docMk/>
          <pc:sldMk cId="3284491021" sldId="273"/>
        </pc:sldMkLst>
      </pc:sldChg>
      <pc:sldChg chg="new del">
        <pc:chgData name="EDA NUR SARUHAN" userId="796a441a-389d-493a-b849-403485121362" providerId="ADAL" clId="{A71DF7CA-E899-4FFC-B287-1FDD74E35F24}" dt="2025-03-14T07:09:30.825" v="54" actId="47"/>
        <pc:sldMkLst>
          <pc:docMk/>
          <pc:sldMk cId="1671550466" sldId="288"/>
        </pc:sldMkLst>
      </pc:sldChg>
      <pc:sldChg chg="add">
        <pc:chgData name="EDA NUR SARUHAN" userId="796a441a-389d-493a-b849-403485121362" providerId="ADAL" clId="{A71DF7CA-E899-4FFC-B287-1FDD74E35F24}" dt="2025-03-14T07:09:34.222" v="55" actId="2890"/>
        <pc:sldMkLst>
          <pc:docMk/>
          <pc:sldMk cId="2792668569" sldId="288"/>
        </pc:sldMkLst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70254592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-84705280-13434880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-784859136 120586240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CBDA-38E7-2292-7BB7-9FD50D68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CFC092C4-2400-849C-7B2E-21F64F679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A453172D-45F7-A0CC-0383-9652C4D6070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6960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5F32-E3D2-66E5-EAE4-6DEC27C3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D4E67264-FCFF-BD8C-5F5D-31E396806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50C3A19E-57D6-9917-9DB3-2F08E0495EE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0340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F305-243B-D88A-6BC9-86250F70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C63901B0-CE3B-0012-6CFF-7D37D738D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90F9FDD-3F5E-D0E7-9875-74B46AB9E7F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942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23EC-1E82-3BAD-7C3D-281A48B3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536A8FE1-7887-15C1-0CD7-66C265BFC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EF755D1-5AF1-99C7-68EE-CB4C1ACDA9A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212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7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8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7960507" y="379767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6093185" y="3184368"/>
            <a:ext cx="4337083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b="1" dirty="0">
                <a:latin typeface="Microsoft YaHei"/>
              </a:rPr>
              <a:t>A new generation</a:t>
            </a:r>
            <a:endParaRPr lang="en-US" b="1" dirty="0">
              <a:latin typeface="Microsoft YaHei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b="1" dirty="0">
                <a:latin typeface="Microsoft YaHei"/>
              </a:rPr>
              <a:t>of tech specialists</a:t>
            </a:r>
          </a:p>
        </p:txBody>
      </p:sp>
      <p:sp>
        <p:nvSpPr>
          <p:cNvPr id="3" name="A new generation…">
            <a:extLst>
              <a:ext uri="{FF2B5EF4-FFF2-40B4-BE49-F238E27FC236}">
                <a16:creationId xmlns:a16="http://schemas.microsoft.com/office/drawing/2014/main" id="{1FAF37B5-824E-C866-C884-30F616931770}"/>
              </a:ext>
            </a:extLst>
          </p:cNvPr>
          <p:cNvSpPr txBox="1"/>
          <p:nvPr/>
        </p:nvSpPr>
        <p:spPr>
          <a:xfrm>
            <a:off x="7368475" y="5015511"/>
            <a:ext cx="183960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b="1" dirty="0" smtClean="0">
                <a:solidFill>
                  <a:schemeClr val="tx1"/>
                </a:solidFill>
                <a:latin typeface="Microsoft YaHei"/>
              </a:rPr>
              <a:t>Team 4</a:t>
            </a:r>
            <a:endParaRPr b="1" dirty="0">
              <a:solidFill>
                <a:schemeClr val="tx1"/>
              </a:solidFill>
              <a:latin typeface="Microsoft YaHe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55433" y="1287486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5921829" y="1509860"/>
            <a:ext cx="6337370" cy="378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Syria </a:t>
            </a:r>
            <a:r>
              <a:rPr lang="en-US" sz="2000" b="1" dirty="0" err="1">
                <a:solidFill>
                  <a:schemeClr val="tx1"/>
                </a:solidFill>
                <a:latin typeface="Microsoft YaHei"/>
              </a:rPr>
              <a:t>WheatWatch</a:t>
            </a: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: Drought Impact on Cereal Production </a:t>
            </a: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endParaRPr lang="en-US" sz="2000" b="1" dirty="0" smtClean="0">
              <a:solidFill>
                <a:schemeClr val="tx1"/>
              </a:solidFill>
              <a:latin typeface="Microsoft YaHei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 smtClean="0">
                <a:solidFill>
                  <a:schemeClr val="tx1"/>
                </a:solidFill>
                <a:latin typeface="Microsoft YaHei"/>
              </a:rPr>
              <a:t>Team </a:t>
            </a: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4</a:t>
            </a:r>
            <a:r>
              <a:rPr lang="tr-TR" sz="2000" b="1" dirty="0" smtClean="0">
                <a:solidFill>
                  <a:schemeClr val="tx1"/>
                </a:solidFill>
                <a:latin typeface="Microsoft YaHei"/>
              </a:rPr>
              <a:t> </a:t>
            </a: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endParaRPr lang="en-US" sz="2000" b="1" dirty="0">
              <a:solidFill>
                <a:schemeClr val="tx1"/>
              </a:solidFill>
              <a:latin typeface="Microsoft YaHei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Team Members</a:t>
            </a:r>
            <a:r>
              <a:rPr lang="en-US" sz="2000" b="1" dirty="0" smtClean="0">
                <a:solidFill>
                  <a:schemeClr val="tx1"/>
                </a:solidFill>
                <a:latin typeface="Microsoft YaHei"/>
              </a:rPr>
              <a:t>:</a:t>
            </a: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- Haya </a:t>
            </a:r>
            <a:r>
              <a:rPr lang="en-US" sz="2000" b="1" dirty="0" err="1">
                <a:solidFill>
                  <a:schemeClr val="tx1"/>
                </a:solidFill>
                <a:latin typeface="Microsoft YaHei"/>
              </a:rPr>
              <a:t>Sukkar</a:t>
            </a:r>
            <a:endParaRPr lang="en-US" sz="2000" b="1" dirty="0">
              <a:solidFill>
                <a:schemeClr val="tx1"/>
              </a:solidFill>
              <a:latin typeface="Microsoft YaHei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- </a:t>
            </a:r>
            <a:r>
              <a:rPr lang="en-US" sz="2000" b="1" dirty="0" err="1">
                <a:solidFill>
                  <a:schemeClr val="tx1"/>
                </a:solidFill>
                <a:latin typeface="Microsoft YaHei"/>
              </a:rPr>
              <a:t>Nimra</a:t>
            </a: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icrosoft YaHei"/>
              </a:rPr>
              <a:t>Afzaal</a:t>
            </a:r>
            <a:endParaRPr lang="en-US" sz="2000" b="1" dirty="0">
              <a:solidFill>
                <a:schemeClr val="tx1"/>
              </a:solidFill>
              <a:latin typeface="Microsoft YaHei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- </a:t>
            </a:r>
            <a:r>
              <a:rPr lang="en-US" sz="2000" b="1" dirty="0" err="1">
                <a:solidFill>
                  <a:schemeClr val="tx1"/>
                </a:solidFill>
                <a:latin typeface="Microsoft YaHei"/>
              </a:rPr>
              <a:t>sular</a:t>
            </a:r>
            <a:r>
              <a:rPr lang="en-US" sz="2000" b="1" dirty="0">
                <a:solidFill>
                  <a:schemeClr val="tx1"/>
                </a:solidFill>
                <a:latin typeface="Microsoft YaHei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Microsoft YaHei"/>
              </a:rPr>
              <a:t>Albalkhi</a:t>
            </a:r>
            <a:endParaRPr lang="en-US" sz="2000" b="1" dirty="0">
              <a:solidFill>
                <a:schemeClr val="tx1"/>
              </a:solidFill>
              <a:latin typeface="Microsoft YaHei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 smtClean="0">
                <a:solidFill>
                  <a:schemeClr val="tx1"/>
                </a:solidFill>
                <a:latin typeface="Microsoft YaHei"/>
              </a:rPr>
              <a:t>- </a:t>
            </a:r>
            <a:r>
              <a:rPr lang="en-US" sz="2000" b="1" dirty="0" err="1" smtClean="0">
                <a:solidFill>
                  <a:schemeClr val="tx1"/>
                </a:solidFill>
                <a:latin typeface="Microsoft YaHei"/>
              </a:rPr>
              <a:t>Abdulrahman</a:t>
            </a:r>
            <a:r>
              <a:rPr lang="en-US" sz="2000" b="1" dirty="0" smtClean="0">
                <a:solidFill>
                  <a:schemeClr val="tx1"/>
                </a:solidFill>
                <a:latin typeface="Microsoft YaHei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Microsoft YaHei"/>
              </a:rPr>
              <a:t>Abdulkader</a:t>
            </a:r>
            <a:endParaRPr lang="en-US" sz="2000" b="1" dirty="0">
              <a:solidFill>
                <a:schemeClr val="tx1"/>
              </a:solidFill>
              <a:latin typeface="Microsoft YaHei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 smtClean="0">
                <a:solidFill>
                  <a:schemeClr val="tx1"/>
                </a:solidFill>
                <a:latin typeface="Microsoft YaHei"/>
              </a:rPr>
              <a:t>- Ahmad </a:t>
            </a:r>
            <a:r>
              <a:rPr lang="en-US" sz="2000" b="1" dirty="0" err="1" smtClean="0">
                <a:solidFill>
                  <a:schemeClr val="tx1"/>
                </a:solidFill>
                <a:latin typeface="Microsoft YaHei"/>
              </a:rPr>
              <a:t>Deeb</a:t>
            </a:r>
            <a:endParaRPr lang="en-US" sz="2000" b="1" dirty="0">
              <a:solidFill>
                <a:schemeClr val="tx1"/>
              </a:solidFill>
              <a:latin typeface="Microsoft YaHei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2000" b="1" dirty="0" smtClean="0">
                <a:solidFill>
                  <a:schemeClr val="tx1"/>
                </a:solidFill>
                <a:latin typeface="Microsoft YaHei"/>
              </a:rPr>
              <a:t>- </a:t>
            </a:r>
            <a:r>
              <a:rPr lang="en-US" sz="2000" b="1" dirty="0" err="1" smtClean="0">
                <a:solidFill>
                  <a:schemeClr val="tx1"/>
                </a:solidFill>
                <a:latin typeface="Microsoft YaHei"/>
              </a:rPr>
              <a:t>aous</a:t>
            </a:r>
            <a:r>
              <a:rPr lang="en-US" sz="2000" b="1" dirty="0" smtClean="0">
                <a:solidFill>
                  <a:schemeClr val="tx1"/>
                </a:solidFill>
                <a:latin typeface="Microsoft YaHei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Microsoft YaHei"/>
              </a:rPr>
              <a:t>azzam</a:t>
            </a:r>
            <a:endParaRPr lang="en-US" sz="2000" b="1" dirty="0">
              <a:solidFill>
                <a:schemeClr val="tx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3160773"/>
            <a:ext cx="11202803" cy="2156563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sym typeface="Merriweather Sans Light"/>
              </a:rPr>
              <a:t>Project Overview: Syria </a:t>
            </a:r>
            <a:r>
              <a:rPr lang="en-US" sz="1600" dirty="0" err="1">
                <a:sym typeface="Merriweather Sans Light"/>
              </a:rPr>
              <a:t>WheatWatch</a:t>
            </a:r>
            <a:r>
              <a:rPr lang="en-US" sz="1600" dirty="0">
                <a:sym typeface="Merriweather Sans Light"/>
              </a:rPr>
              <a:t> is a reproducible Python analysis and early-warning tool that combines NASA POWER, HDX, and FAOSTAT data to quantify how rainfall and solar variability affected Syrian wheat production from 1991 to 2025, delivered as a notebook, a </a:t>
            </a:r>
            <a:r>
              <a:rPr lang="en-US" sz="1600" dirty="0" err="1">
                <a:sym typeface="Merriweather Sans Light"/>
              </a:rPr>
              <a:t>FastAPI</a:t>
            </a:r>
            <a:r>
              <a:rPr lang="en-US" sz="1600" dirty="0">
                <a:sym typeface="Merriweather Sans Light"/>
              </a:rPr>
              <a:t> web service, and a Power BI dashboard</a:t>
            </a:r>
            <a:r>
              <a:rPr lang="en-US" sz="1600" dirty="0" smtClean="0">
                <a:sym typeface="Merriweather Sans Light"/>
              </a:rPr>
              <a:t>.</a:t>
            </a:r>
            <a:endParaRPr lang="en-US" sz="1600" dirty="0">
              <a:sym typeface="Merriweather Sans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sym typeface="Merriweather Sans Light"/>
              </a:rPr>
              <a:t>Importance: Syria's 2024–2025 drought cut rainfall by over 50%, collapsing wheat production to 900,000 </a:t>
            </a:r>
            <a:r>
              <a:rPr lang="en-US" sz="1600" dirty="0" err="1">
                <a:sym typeface="Merriweather Sans Light"/>
              </a:rPr>
              <a:t>tonnes</a:t>
            </a:r>
            <a:r>
              <a:rPr lang="en-US" sz="1600" dirty="0">
                <a:sym typeface="Merriweather Sans Light"/>
              </a:rPr>
              <a:t> and leaving a 3 million </a:t>
            </a:r>
            <a:r>
              <a:rPr lang="en-US" sz="1600" dirty="0" err="1">
                <a:sym typeface="Merriweather Sans Light"/>
              </a:rPr>
              <a:t>tonne</a:t>
            </a:r>
            <a:r>
              <a:rPr lang="en-US" sz="1600" dirty="0">
                <a:sym typeface="Merriweather Sans Light"/>
              </a:rPr>
              <a:t> deficit that pushed millions into food insecurity — proving that climate-driven crop failures are a present emergency, not a future risk</a:t>
            </a:r>
            <a:r>
              <a:rPr lang="en-US" sz="1600" dirty="0" smtClean="0">
                <a:sym typeface="Merriweather Sans Light"/>
              </a:rPr>
              <a:t>.</a:t>
            </a:r>
            <a:endParaRPr lang="en-US" sz="1600" dirty="0">
              <a:sym typeface="Merriweather Sans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sym typeface="Merriweather Sans Light"/>
              </a:rPr>
              <a:t>Objectives: </a:t>
            </a:r>
            <a:r>
              <a:rPr lang="en-US" sz="1600" dirty="0" smtClean="0">
                <a:sym typeface="Merriweather Sans Light"/>
              </a:rPr>
              <a:t>Build </a:t>
            </a:r>
            <a:r>
              <a:rPr lang="en-US" sz="1600" dirty="0">
                <a:sym typeface="Merriweather Sans Light"/>
              </a:rPr>
              <a:t>a reproducible data pipeline, quantify rainfall–yield relationships, distinguish climate-driven yield losses from non-climate area changes, train a predictive model, deploy a public API and dashboard, and propose an early-warning framework for agricultural planners.</a:t>
            </a:r>
            <a:endParaRPr lang="en-US" sz="18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 &amp;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/>
          <p:cNvSpPr txBox="1"/>
          <p:nvPr/>
        </p:nvSpPr>
        <p:spPr>
          <a:xfrm>
            <a:off x="859313" y="5605276"/>
            <a:ext cx="10830403" cy="92332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Main Question: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How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has rainfall variability between 1991 and 2025 affected wheat and barley production in Syria, and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precipitation thresholds predict crop failure?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FillTx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10561067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sym typeface="Merriweather Sans Light"/>
              </a:rPr>
              <a:t>Syria </a:t>
            </a:r>
            <a:r>
              <a:rPr lang="en-US" sz="1600" dirty="0" err="1">
                <a:sym typeface="Merriweather Sans Light"/>
              </a:rPr>
              <a:t>WheatWatch</a:t>
            </a:r>
            <a:r>
              <a:rPr lang="en-US" sz="1600" dirty="0">
                <a:sym typeface="Merriweather Sans Light"/>
              </a:rPr>
              <a:t> directly supports </a:t>
            </a:r>
            <a:endParaRPr lang="en-US" sz="1600" dirty="0" smtClean="0">
              <a:sym typeface="Merriweather Sans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b="1" dirty="0" smtClean="0">
                <a:sym typeface="Merriweather Sans Light"/>
              </a:rPr>
              <a:t>-</a:t>
            </a:r>
            <a:r>
              <a:rPr lang="en-US" sz="1600" b="1" dirty="0" smtClean="0">
                <a:sym typeface="Merriweather Sans Light"/>
              </a:rPr>
              <a:t>SDG </a:t>
            </a:r>
            <a:r>
              <a:rPr lang="en-US" sz="1600" b="1" dirty="0">
                <a:sym typeface="Merriweather Sans Light"/>
              </a:rPr>
              <a:t>2 (Zero Hunger)</a:t>
            </a:r>
            <a:r>
              <a:rPr lang="en-US" sz="1600" dirty="0">
                <a:sym typeface="Merriweather Sans Light"/>
              </a:rPr>
              <a:t> by quantifying how climate-driven rainfall deficits undermine wheat production and food security in </a:t>
            </a:r>
            <a:r>
              <a:rPr lang="en-US" sz="1600" dirty="0" smtClean="0">
                <a:sym typeface="Merriweather Sans Light"/>
              </a:rPr>
              <a:t>Syria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b="1" dirty="0" smtClean="0">
                <a:sym typeface="Merriweather Sans Light"/>
              </a:rPr>
              <a:t>SDG </a:t>
            </a:r>
            <a:r>
              <a:rPr lang="en-US" sz="1600" b="1" dirty="0">
                <a:sym typeface="Merriweather Sans Light"/>
              </a:rPr>
              <a:t>13 (Climate Action)</a:t>
            </a:r>
            <a:r>
              <a:rPr lang="en-US" sz="1600" dirty="0">
                <a:sym typeface="Merriweather Sans Light"/>
              </a:rPr>
              <a:t> by translating open climate data into a usable early-warning tool for drought </a:t>
            </a:r>
            <a:r>
              <a:rPr lang="en-US" sz="1600" dirty="0" smtClean="0">
                <a:sym typeface="Merriweather Sans Light"/>
              </a:rPr>
              <a:t>response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b="1" dirty="0" smtClean="0">
                <a:sym typeface="Merriweather Sans Light"/>
              </a:rPr>
              <a:t>SDG </a:t>
            </a:r>
            <a:r>
              <a:rPr lang="en-US" sz="1600" b="1" dirty="0">
                <a:sym typeface="Merriweather Sans Light"/>
              </a:rPr>
              <a:t>6 (Clean Water and Sanitation)</a:t>
            </a:r>
            <a:r>
              <a:rPr lang="en-US" sz="1600" dirty="0">
                <a:sym typeface="Merriweather Sans Light"/>
              </a:rPr>
              <a:t> by highlighting the critical role of rainfall variability in agricultural water </a:t>
            </a:r>
            <a:r>
              <a:rPr lang="en-US" sz="1600" dirty="0" smtClean="0">
                <a:sym typeface="Merriweather Sans Light"/>
              </a:rPr>
              <a:t>availability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b="1" dirty="0" smtClean="0">
                <a:sym typeface="Merriweather Sans Light"/>
              </a:rPr>
              <a:t>SDG </a:t>
            </a:r>
            <a:r>
              <a:rPr lang="en-US" sz="1600" b="1" dirty="0">
                <a:sym typeface="Merriweather Sans Light"/>
              </a:rPr>
              <a:t>15 (Life on Land)</a:t>
            </a:r>
            <a:r>
              <a:rPr lang="en-US" sz="1600" dirty="0">
                <a:sym typeface="Merriweather Sans Light"/>
              </a:rPr>
              <a:t> through its focus on sustainable land use and crop resilience. By turning publicly available NASA, HDX, and FAOSTAT data into a predictive API and interactive dashboard, the project demonstrates how open data and Python-based analysis can support evidence-driven decisions that protect vulnerable populations from climate shocks.</a:t>
            </a:r>
            <a:endParaRPr sz="18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SDG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589D-BFA9-DC28-CD21-0A80D451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BF02BB99-8C9F-BCAB-3D9A-560E34AB8B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10692496" cy="3173252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 smtClean="0">
                <a:sym typeface="Merriweather Sans Light"/>
              </a:rPr>
              <a:t>Syria </a:t>
            </a:r>
            <a:r>
              <a:rPr lang="en-US" sz="1400" dirty="0" err="1">
                <a:sym typeface="Merriweather Sans Light"/>
              </a:rPr>
              <a:t>WheatWatch</a:t>
            </a:r>
            <a:r>
              <a:rPr lang="en-US" sz="1400" dirty="0">
                <a:sym typeface="Merriweather Sans Light"/>
              </a:rPr>
              <a:t> delivers an integrated early-warning solution composed of four connected elements: </a:t>
            </a: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 smtClean="0">
                <a:sym typeface="Merriweather Sans Light"/>
              </a:rPr>
              <a:t> </a:t>
            </a:r>
            <a:r>
              <a:rPr lang="en-US" sz="1400" b="1" dirty="0">
                <a:sym typeface="Merriweather Sans Light"/>
              </a:rPr>
              <a:t>R</a:t>
            </a:r>
            <a:r>
              <a:rPr lang="en-US" sz="1400" b="1" dirty="0" smtClean="0">
                <a:sym typeface="Merriweather Sans Light"/>
              </a:rPr>
              <a:t>eproducible </a:t>
            </a:r>
            <a:r>
              <a:rPr lang="en-US" sz="1400" b="1" dirty="0">
                <a:sym typeface="Merriweather Sans Light"/>
              </a:rPr>
              <a:t>Python pipeline</a:t>
            </a:r>
            <a:r>
              <a:rPr lang="en-US" sz="1400" dirty="0">
                <a:sym typeface="Merriweather Sans Light"/>
              </a:rPr>
              <a:t> that merges NASA POWER solar, HDX rainfall, and FAOSTAT production data into a clean 1991–2024 panel; </a:t>
            </a:r>
            <a:endParaRPr lang="en-US" sz="1400" dirty="0" smtClean="0">
              <a:sym typeface="Merriweather Sans Light"/>
            </a:endParaRP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 smtClean="0">
                <a:sym typeface="Merriweather Sans Light"/>
              </a:rPr>
              <a:t>Trained </a:t>
            </a:r>
            <a:r>
              <a:rPr lang="en-US" sz="1400" b="1" dirty="0">
                <a:sym typeface="Merriweather Sans Light"/>
              </a:rPr>
              <a:t>linear regression model</a:t>
            </a:r>
            <a:r>
              <a:rPr lang="en-US" sz="1400" dirty="0">
                <a:sym typeface="Merriweather Sans Light"/>
              </a:rPr>
              <a:t> that converts growing-season rainfall and solar irradiance into a predicted wheat yield (R² ≈ 0.35 cross-validated); </a:t>
            </a:r>
            <a:endParaRPr lang="en-US" sz="1400" dirty="0" smtClean="0">
              <a:sym typeface="Merriweather Sans Light"/>
            </a:endParaRP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 smtClean="0">
                <a:sym typeface="Merriweather Sans Light"/>
              </a:rPr>
              <a:t>Public </a:t>
            </a:r>
            <a:r>
              <a:rPr lang="en-US" sz="1400" b="1" dirty="0" err="1">
                <a:sym typeface="Merriweather Sans Light"/>
              </a:rPr>
              <a:t>FastAPI</a:t>
            </a:r>
            <a:r>
              <a:rPr lang="en-US" sz="1400" b="1" dirty="0">
                <a:sym typeface="Merriweather Sans Light"/>
              </a:rPr>
              <a:t> web service</a:t>
            </a:r>
            <a:r>
              <a:rPr lang="en-US" sz="1400" dirty="0">
                <a:sym typeface="Merriweather Sans Light"/>
              </a:rPr>
              <a:t> with both a browser form and a JSON API endpoint, deployed online for anyone to test climate scenarios </a:t>
            </a:r>
            <a:r>
              <a:rPr lang="en-US" sz="1400" dirty="0" smtClean="0">
                <a:sym typeface="Merriweather Sans Light"/>
              </a:rPr>
              <a:t>interactively;</a:t>
            </a: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 smtClean="0">
                <a:sym typeface="Merriweather Sans Light"/>
              </a:rPr>
              <a:t>interactive </a:t>
            </a:r>
            <a:r>
              <a:rPr lang="en-US" sz="1400" b="1" dirty="0">
                <a:sym typeface="Merriweather Sans Light"/>
              </a:rPr>
              <a:t>Power BI dashboard</a:t>
            </a:r>
            <a:r>
              <a:rPr lang="en-US" sz="1400" dirty="0">
                <a:sym typeface="Merriweather Sans Light"/>
              </a:rPr>
              <a:t> providing historical context through drought-severity </a:t>
            </a:r>
            <a:r>
              <a:rPr lang="en-US" sz="1400" dirty="0" err="1">
                <a:sym typeface="Merriweather Sans Light"/>
              </a:rPr>
              <a:t>heatmaps</a:t>
            </a:r>
            <a:r>
              <a:rPr lang="en-US" sz="1400" dirty="0">
                <a:sym typeface="Merriweather Sans Light"/>
              </a:rPr>
              <a:t>, rainfall–yield scatter plots, and year filters.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 smtClean="0">
                <a:sym typeface="Merriweather Sans Light"/>
              </a:rPr>
              <a:t>Together</a:t>
            </a:r>
            <a:r>
              <a:rPr lang="en-US" sz="1400" dirty="0">
                <a:sym typeface="Merriweather Sans Light"/>
              </a:rPr>
              <a:t>, these elements transform open climate data into an actionable tool that agricultural planners and humanitarian coordinators can use to anticipate drought-driven crop shortfalls </a:t>
            </a:r>
            <a:r>
              <a:rPr lang="en-US" sz="1400" b="1" dirty="0">
                <a:sym typeface="Merriweather Sans Light"/>
              </a:rPr>
              <a:t>3–4 months before harvest</a:t>
            </a:r>
            <a:r>
              <a:rPr lang="en-US" sz="1400" dirty="0">
                <a:sym typeface="Merriweather Sans Light"/>
              </a:rPr>
              <a:t>, giving decision-makers a critical window to preposition food aid, adjust imports, and advise farmers.</a:t>
            </a:r>
            <a:endParaRPr sz="1600" dirty="0">
              <a:latin typeface="Microsoft YaHei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F5D7A6E6-BA73-BF88-C971-6054B1B36E49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33F6C684-034E-6FED-A300-0383AD64D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Solution / Project Element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2BFFAFE6-8025-D397-1820-4D7451391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5E61ACF-C96E-1DE8-51BB-CABD8DF84831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F3292B94-A82A-3AF0-8B48-6546AD994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EE429222-7844-BC93-D318-B1B60E37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F34616AC-880F-7D82-B112-F6EDF3C1F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6958FC0-8788-9126-81D1-5EE445AD0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93A2056-E894-3947-FCD8-25E48DB5871F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93A2056-E894-3947-FCD8-25E48DB587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F5FD8623-9E2A-B037-7502-678A5C256722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DEC28B5-D212-96FE-5214-5DBF441FF498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DEC28B5-D212-96FE-5214-5DBF441FF4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26685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D444-50E5-9338-DEE6-CDE0E34E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DF07D337-A45F-1133-A780-DE05A356CC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98305" y="2951018"/>
            <a:ext cx="5041489" cy="31732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45719" tIns="45720" rIns="45719" bIns="45720" anchor="ctr">
            <a:no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400" b="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-</a:t>
            </a:r>
            <a:r>
              <a:rPr lang="en-US" sz="1400" b="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Day 1 — Problem Definition &amp; Data (28–29 Sep):</a:t>
            </a: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Selected topic (Agriculture &amp; Food Systems), framed the research question, identified datasets (NASA POWER, HDX, FAOSTAT), submitted the Problem Statement by the 29 Sep 21:00 deadline.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Day 2 — Python Development (30 Sep):</a:t>
            </a: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Built the data pipeline — NASA POWER solar fetch with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MJ→kWh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 correction, HDX rainfall aggregation to growing seasons, FAOSTAT production pivot, and inner-merge on year into a 34-year panel. Ran initial correlation analysis and exploratory visualizations.</a:t>
            </a: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A0D461FF-1DE2-CEC4-29BA-2CD1411DBCED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88C61DCD-7BA0-7AAE-DC7C-FDABF2A01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RoadMap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B34757EF-93C8-6161-6313-16E0ABB78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C2474FC-DFEE-9C3B-E07A-8C4B4926380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C75E2966-C007-BD6A-4414-7D2183874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E729EE49-7476-42BC-2072-ECA81805C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30DE75CB-3F36-425D-BA29-3D2EDA973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81687006-2E5E-C4FE-151A-A3207411F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CC9AC74-96F5-4AB6-F5AE-B18F76328758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CC9AC74-96F5-4AB6-F5AE-B18F763287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05E120B9-AAB7-7CB2-01CD-F183048AFE41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0440B7E-E17A-1C30-BEEA-C31F533E8A5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0440B7E-E17A-1C30-BEEA-C31F533E8A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07D337-A45F-1133-A780-DE05A356CC57}"/>
              </a:ext>
            </a:extLst>
          </p:cNvPr>
          <p:cNvSpPr txBox="1">
            <a:spLocks/>
          </p:cNvSpPr>
          <p:nvPr/>
        </p:nvSpPr>
        <p:spPr>
          <a:xfrm>
            <a:off x="6016856" y="2951018"/>
            <a:ext cx="5672860" cy="3173252"/>
          </a:xfrm>
          <a:prstGeom prst="rect">
            <a:avLst/>
          </a:prstGeom>
          <a:ln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45719" tIns="45720" rIns="45719" bIns="45720" anchor="ctr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Day 3 — Testing &amp; Improvement (1 Oct):</a:t>
            </a:r>
          </a:p>
          <a:p>
            <a:pPr lvl="1"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Trained the linear regression model (R² ≈ 0.35 CV), packaged it with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joblib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, built the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FastAPI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web service and JSON API, deployed to Render, and constructed the Power BI dashboard with KPI cards, time series, and regional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heatmap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.</a:t>
            </a: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4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b="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Day 4 — Finalization &amp; Presentation (2 Oct):</a:t>
            </a:r>
          </a:p>
          <a:p>
            <a:pPr lvl="1"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Finalized the notebook, generated all figures, wrote the README and project summary, prepared the 7-slide presentation, and submitted all deliverables before the 17:00 deadline.</a:t>
            </a:r>
          </a:p>
        </p:txBody>
      </p:sp>
    </p:spTree>
    <p:extLst>
      <p:ext uri="{BB962C8B-B14F-4D97-AF65-F5344CB8AC3E}">
        <p14:creationId xmlns:p14="http://schemas.microsoft.com/office/powerpoint/2010/main" val="29601366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DF4C-8D59-B587-7601-AB29BA82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E6F20155-B91F-BBA2-D172-17A7D9091F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461654" y="3769684"/>
            <a:ext cx="5665913" cy="2098893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</a:rPr>
              <a:t>Day 1 — Problem Definition &amp; Data </a:t>
            </a:r>
            <a:r>
              <a:rPr lang="en-US" sz="1300" b="1" dirty="0" smtClean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</a:rPr>
              <a:t>Selection</a:t>
            </a: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Framed 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the research question on rainfall variability and Syrian wheat production; identified three credible datasets (NASA POWER, HDX, FAOSTAT); submitted the Problem Statement by 29 Sep 21:00</a:t>
            </a: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.</a:t>
            </a:r>
            <a:endParaRPr lang="en-US" sz="13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</a:rPr>
              <a:t>Day 2 — Data Pipeline 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</a:rPr>
              <a:t>Construction</a:t>
            </a: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Fetched 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daily solar data for five Syrian regions via the NASA POWER API; aggregated </a:t>
            </a:r>
            <a:r>
              <a:rPr lang="en-US" sz="13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dekadal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 HDX rainfall into growing-season totals (Nov–May) with correct year-shift logic; pivoted FAOSTAT production data from long to wide format; inner-joined all three sources into a 34-year panel (1991–2024</a:t>
            </a: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).</a:t>
            </a:r>
            <a:endParaRPr lang="en-US" sz="13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</a:endParaRPr>
          </a:p>
          <a:p>
            <a:pPr lvl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Data-Quality Correction: Detected that NASA returns solar in MJ/m²/day rather than kWh/m²/day; corrected by dividing by 3.6 after observing physically impossible values (&gt;12 kWh/m²/day) in the raw distribution.</a:t>
            </a: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6D2FDE8A-7281-11C1-FE8F-62E1489E9D46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7F6AF1D6-5E18-4D4A-AF2E-D4983F1F0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Project Development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F816EA8B-B45F-E34C-F002-9B70258C7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C8C2F4E-1FB3-69F9-D75B-ACEAEF90013A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2583B676-E842-B576-A3F9-4E9420A76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BA4DA07E-3F8A-F7B3-903A-C4ABBBDA4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0B9C34C7-D810-218C-80E8-8FAF2B33B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8F9D5949-CDE7-6DD1-EEE2-32225DC50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8BDD8B-8631-5ADC-850F-FBD40290DB75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8BDD8B-8631-5ADC-850F-FBD40290DB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7A8A1D4A-D779-918C-30E8-B5E00B28AE3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1FA3E71-22C3-27CD-02BB-1F2CE9BC8644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1FA3E71-22C3-27CD-02BB-1F2CE9BC86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6F20155-B91F-BBA2-D172-17A7D9091FBE}"/>
              </a:ext>
            </a:extLst>
          </p:cNvPr>
          <p:cNvSpPr txBox="1">
            <a:spLocks/>
          </p:cNvSpPr>
          <p:nvPr/>
        </p:nvSpPr>
        <p:spPr>
          <a:xfrm>
            <a:off x="6306767" y="2145447"/>
            <a:ext cx="5524390" cy="3731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ctr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100000"/>
              </a:lnSpc>
              <a:buFont typeface="Arial"/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3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Day 3 — Analysis &amp; 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Modelling</a:t>
            </a:r>
          </a:p>
          <a:p>
            <a:pPr lvl="1"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Ran 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correlation analysis across all five variables; trained a linear regression predicting yield from rainfall and solar (R² ≈ 0.35 cross-validated); diagnosed area model (R² = 0.017) as evidence that planted area is not climate-driven</a:t>
            </a: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.</a:t>
            </a:r>
            <a:endParaRPr lang="en-US" sz="13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Day 3 — Deployment: Packaged the model with </a:t>
            </a:r>
            <a:r>
              <a:rPr lang="en-US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joblib</a:t>
            </a:r>
            <a:endParaRPr lang="en-US" sz="1300" b="1" dirty="0">
              <a:solidFill>
                <a:schemeClr val="bg1">
                  <a:lumMod val="50000"/>
                </a:schemeClr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lvl="1"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built 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 </a:t>
            </a:r>
            <a:r>
              <a:rPr lang="en-US" sz="13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FastAPI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service with both a browser form and a JSON API endpoint; deployed to Render; resolved a python-multipart dependency error during deployment</a:t>
            </a: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.</a:t>
            </a:r>
            <a:endParaRPr lang="en-US" sz="13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Day 3 — Power BI 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Dashboard</a:t>
            </a:r>
          </a:p>
          <a:p>
            <a:pPr lvl="1"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Built 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an interactive dashboard with KPI cards (rainfall anomaly, production, elasticity), a dual-axis rainfall-vs-production time series, a regional drought-severity </a:t>
            </a:r>
            <a:r>
              <a:rPr lang="en-US" sz="13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heatmap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, a rainfall–yield scatter plot, and a year slicer</a:t>
            </a: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.</a:t>
            </a:r>
            <a:endParaRPr lang="en-US" sz="13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Day 4 — 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Finalization</a:t>
            </a:r>
          </a:p>
          <a:p>
            <a:pPr lvl="1"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300" dirty="0" smtClean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Finalized </a:t>
            </a:r>
            <a:r>
              <a:rPr lang="en-US" sz="13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the notebook, generated publication-quality figures, wrote the README and project summary, prepared the 7-slide presentation, and submitted all deliverables before the 17:00 deadline.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493817" y="3013192"/>
            <a:ext cx="0" cy="3166982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06767" y="1904828"/>
            <a:ext cx="0" cy="4468263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927273" y="4011411"/>
            <a:ext cx="914400" cy="91440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/>
          <p:cNvCxnSpPr/>
          <p:nvPr/>
        </p:nvCxnSpPr>
        <p:spPr>
          <a:xfrm>
            <a:off x="6306767" y="1870364"/>
            <a:ext cx="0" cy="45165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99764" y="3078966"/>
            <a:ext cx="179200" cy="207818"/>
          </a:xfrm>
          <a:prstGeom prst="ellipse">
            <a:avLst/>
          </a:prstGeom>
          <a:solidFill>
            <a:schemeClr val="tx2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72053" y="4349128"/>
            <a:ext cx="179200" cy="207818"/>
          </a:xfrm>
          <a:prstGeom prst="ellipse">
            <a:avLst/>
          </a:prstGeom>
          <a:solidFill>
            <a:schemeClr val="tx2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217167" y="1856931"/>
            <a:ext cx="179200" cy="207818"/>
          </a:xfrm>
          <a:prstGeom prst="ellipse">
            <a:avLst/>
          </a:prstGeom>
          <a:solidFill>
            <a:schemeClr val="tx2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206857" y="3135878"/>
            <a:ext cx="179200" cy="207818"/>
          </a:xfrm>
          <a:prstGeom prst="ellipse">
            <a:avLst/>
          </a:prstGeom>
          <a:solidFill>
            <a:schemeClr val="tx2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206857" y="4133405"/>
            <a:ext cx="179200" cy="207818"/>
          </a:xfrm>
          <a:prstGeom prst="ellipse">
            <a:avLst/>
          </a:prstGeom>
          <a:solidFill>
            <a:schemeClr val="tx2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196547" y="5345915"/>
            <a:ext cx="179200" cy="207818"/>
          </a:xfrm>
          <a:prstGeom prst="ellipse">
            <a:avLst/>
          </a:prstGeom>
          <a:solidFill>
            <a:schemeClr val="tx2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11650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7930-90D2-9289-D4D9-BB4BAC87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1635224B-9D32-87FA-6132-ADD195AE7D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11048862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/>
              </a:rPr>
              <a:t>Immediate: Delivers a working early-warning tool that gives agricultural planners and humanitarian coordinators a 3–4 month lead time to anticipate drought-driven wheat shortfalls before harvest.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/>
              </a:rPr>
              <a:t>Data-driven: Quantifies for the first time that climate variability explains ~35% of Syrian wheat yield variance while planted area is decoupled from weather — redirecting policy attention toward the yield channel.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/>
              </a:rPr>
              <a:t>Scalable: Provides an open, reproducible pipeline (notebook + API + dashboard) that can be adapted to other drought-affected regions such as Iraq, Lebanon, and Yemen, contributing directly to SDG 2 and SDG 13.</a:t>
            </a:r>
            <a:r>
              <a:rPr lang="tr-TR" sz="1600" dirty="0" smtClean="0">
                <a:latin typeface="Microsoft YaHei Light"/>
              </a:rPr>
              <a:t>-</a:t>
            </a:r>
            <a:endParaRPr sz="1600" dirty="0">
              <a:latin typeface="Microsoft YaHei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85B8BBAC-72D1-DF3E-5111-6EB75F80A6C6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0A47334-EC8B-17F3-E79B-425BE02AC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Project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Impact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A7A18A68-F864-C8D1-67C0-8D37C6E1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98269FE-2A8A-9087-E615-63382BE0A29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31C22BB9-34C0-07E2-7FDE-B1257015B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AF213147-4B6E-0082-EF64-AB91E9B3F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C104A46-A65E-C2AB-330A-D701E6206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1CA36C4F-D22C-E707-D8CF-12B119B25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DE1350E-6CBE-394D-B9D3-CB887F44574A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DE1350E-6CBE-394D-B9D3-CB887F4457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28BDD42-F534-E73F-9F55-0D613948DAA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23C283B-9716-D210-A874-BF277F9E36E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23C283B-9716-D210-A874-BF277F9E36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1038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461654" y="3660796"/>
            <a:ext cx="5759946" cy="2338221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Expand the dataset: Integrate additional years, subnational production data, and complementary climate variables (soil moisture, evapotranspiration, temperature) to improve model accuracy beyond the current R² ≈ 0.35.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Advanced modelling: Move beyond linear regression to gradient boosting, random forests, and time-series models (ARIMAX, LSTM) once the sample size supports it; validate predictions against real harvest outcomes as FAOSTAT publishes them.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Low-cost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IoT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 field sensors: Design an affordable (~$20) solar-powered sensor node using ESP32 + soil-moisture + rainfall + temperature sensors, deployed across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rainfed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 wheat regions in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Hassakeh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 and Raqqa, streaming real-time data to the </a:t>
            </a:r>
            <a:r>
              <a:rPr lang="en-US" sz="1400" dirty="0" err="1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FastAPI</a:t>
            </a: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 backend to replace coarse gridded estimates with ground truth.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</a:rPr>
              <a:t>Farmer-facing mobile app: Build a lightweight Android app (React Native or Flutter) that pushes localized drought alerts and planting advice in Arabic to farmers, using the same predictive model behind the API.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400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194859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30054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Conclusion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and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Futurework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ontent Placeholder 2"/>
          <p:cNvSpPr txBox="1">
            <a:spLocks/>
          </p:cNvSpPr>
          <p:nvPr/>
        </p:nvSpPr>
        <p:spPr>
          <a:xfrm>
            <a:off x="6400801" y="2671188"/>
            <a:ext cx="5110732" cy="3544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ctr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Integration with humanitarian workflows: Partner with WFP, FAO, and OCHA to operationalize the early-warning framework — embedding predictions into existing food-security monitoring systems and prepositioning pipelines.</a:t>
            </a: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Multi-country expansion: Adapt the pipeline to Iraq, Lebanon, Jordan, and Yemen — all wheat-importing countries facing similar climate stress — as a shared regional early-warning platform.</a:t>
            </a: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Open-source release: Publish the pipeline as a documented Python package with example notebooks, enabling researchers and NGOs to replicate the analysis for other crops and regions.</a:t>
            </a:r>
          </a:p>
          <a:p>
            <a:pPr hangingPunct="1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Institutional adoption: Work toward embedding the tool into national agricultural ministries and international monitoring platforms so that early signals translate into timely action.</a:t>
            </a:r>
          </a:p>
        </p:txBody>
      </p:sp>
    </p:spTree>
    <p:extLst>
      <p:ext uri="{BB962C8B-B14F-4D97-AF65-F5344CB8AC3E}">
        <p14:creationId xmlns:p14="http://schemas.microsoft.com/office/powerpoint/2010/main" val="20471395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4352098" y="2352844"/>
            <a:ext cx="4403897" cy="3307515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b="1">
                <a:latin typeface="Microsoft YaHei"/>
              </a:rPr>
              <a:t>Thank you!</a:t>
            </a:r>
            <a:endParaRPr lang="en-US" b="1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708245-87D3-4681-A12F-8891E23D58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59e846-8b77-4076-b7b3-191dee427045"/>
    <ds:schemaRef ds:uri="97847797-b717-4ffb-b5fd-2a237f853c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6259e846-8b77-4076-b7b3-191dee427045"/>
    <ds:schemaRef ds:uri="97847797-b717-4ffb-b5fd-2a237f853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1363</Words>
  <Application>Microsoft Office PowerPoint</Application>
  <PresentationFormat>Widescreen</PresentationFormat>
  <Paragraphs>75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Microsoft YaHei</vt:lpstr>
      <vt:lpstr>Microsoft YaHei Light</vt:lpstr>
      <vt:lpstr>Arial</vt:lpstr>
      <vt:lpstr>Calibri</vt:lpstr>
      <vt:lpstr>Calibri Light</vt:lpstr>
      <vt:lpstr>Helvetica</vt:lpstr>
      <vt:lpstr>Helvetica Neue Thin</vt:lpstr>
      <vt:lpstr>Merriweather Sans Light</vt:lpstr>
      <vt:lpstr>Merriweather Sans Regular</vt:lpstr>
      <vt:lpstr>Merriweather Sans Regular ExtraBold</vt:lpstr>
      <vt:lpstr>Myriad Pro Semibold</vt:lpstr>
      <vt:lpstr>frontiertech</vt:lpstr>
      <vt:lpstr>PowerPoint Presentation</vt:lpstr>
      <vt:lpstr>PowerPoint Presentation</vt:lpstr>
      <vt:lpstr>Background &amp; Objective</vt:lpstr>
      <vt:lpstr>SDG Relation</vt:lpstr>
      <vt:lpstr>Solution / Project Element</vt:lpstr>
      <vt:lpstr>RoadMap</vt:lpstr>
      <vt:lpstr>Project Development</vt:lpstr>
      <vt:lpstr>Project Impact</vt:lpstr>
      <vt:lpstr>Conclusion and Futurework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MK1349</cp:lastModifiedBy>
  <cp:revision>28</cp:revision>
  <dcterms:modified xsi:type="dcterms:W3CDTF">2026-10-02T16:34:08Z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