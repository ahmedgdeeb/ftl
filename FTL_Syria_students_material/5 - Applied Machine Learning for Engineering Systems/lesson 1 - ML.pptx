
<file path=[Content_Types].xml><?xml version="1.0" encoding="utf-8"?>
<Types xmlns="http://schemas.openxmlformats.org/package/2006/content-types">
  <Default Extension="gif" ContentType="image/gif"/>
  <Default Extension="glb" ContentType="model/gltf.binary"/>
  <Default Extension="jpeg" ContentType="image/jpeg"/>
  <Default Extension="jpg" ContentType="image/jpeg"/>
  <Default Extension="mp4" ContentType="video/mp4"/>
  <Default Extension="png" ContentType="image/png"/>
  <Default Extension="rels" ContentType="application/vnd.openxmlformats-package.relationships+xml"/>
  <Default Extension="xml" ContentType="application/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diagrams/data1.xml" ContentType="application/vnd.openxmlformats-officedocument.drawingml.diagramData+xml"/>
  <Override PartName="/ppt/presentation.xml" ContentType="application/vnd.openxmlformats-officedocument.presentationml.presentation.main+xml"/>
  <Override PartName="/ppt/slides/slide1.xml" ContentType="application/vnd.openxmlformats-officedocument.presentationml.slide+xml"/>
  <Override PartName="/ppt/notesSlides/notesSlide3.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8.xml" ContentType="application/vnd.openxmlformats-officedocument.presentationml.notesSlide+xml"/>
  <Override PartName="/ppt/notesSlides/notesSlide29.xml" ContentType="application/vnd.openxmlformats-officedocument.presentationml.notesSlide+xml"/>
  <Override PartName="/ppt/notesSlides/notesSlide7.xml" ContentType="application/vnd.openxmlformats-officedocument.presentationml.notesSlide+xml"/>
  <Override PartName="/ppt/notesSlides/notesSlide30.xml" ContentType="application/vnd.openxmlformats-officedocument.presentationml.notesSlide+xml"/>
  <Override PartName="/ppt/notesSlides/notesSlide6.xml" ContentType="application/vnd.openxmlformats-officedocument.presentationml.notesSlide+xml"/>
  <Override PartName="/ppt/notesSlides/notesSlide5.xml" ContentType="application/vnd.openxmlformats-officedocument.presentationml.notesSlide+xml"/>
  <Override PartName="/ppt/notesSlides/notesSlide32.xml" ContentType="application/vnd.openxmlformats-officedocument.presentationml.notesSlide+xml"/>
  <Override PartName="/ppt/slideMasters/slideMaster1.xml" ContentType="application/vnd.openxmlformats-officedocument.presentationml.slideMaster+xml"/>
  <Override PartName="/ppt/notesSlides/notesSlide2.xml" ContentType="application/vnd.openxmlformats-officedocument.presentationml.notesSlide+xml"/>
  <Override PartName="/ppt/notesSlides/notesSlide1.xml" ContentType="application/vnd.openxmlformats-officedocument.presentationml.notesSlide+xml"/>
  <Override PartName="/ppt/slideLayouts/slideLayout11.xml" ContentType="application/vnd.openxmlformats-officedocument.presentationml.slideLayout+xml"/>
  <Override PartName="/ppt/slideLayouts/slideLayout10.xml" ContentType="application/vnd.openxmlformats-officedocument.presentationml.slideLayout+xml"/>
  <Override PartName="/ppt/slideLayouts/slideLayout9.xml" ContentType="application/vnd.openxmlformats-officedocument.presentationml.slideLayout+xml"/>
  <Override PartName="/ppt/slideLayouts/slideLayout8.xml" ContentType="application/vnd.openxmlformats-officedocument.presentationml.slideLayout+xml"/>
  <Override PartName="/ppt/slideLayouts/slideLayout7.xml" ContentType="application/vnd.openxmlformats-officedocument.presentationml.slideLayout+xml"/>
  <Override PartName="/ppt/slideLayouts/slideLayout6.xml" ContentType="application/vnd.openxmlformats-officedocument.presentationml.slideLayout+xml"/>
  <Override PartName="/ppt/slideLayouts/slideLayout5.xml" ContentType="application/vnd.openxmlformats-officedocument.presentationml.slideLayout+xml"/>
  <Override PartName="/ppt/slideLayouts/slideLayout4.xml" ContentType="application/vnd.openxmlformats-officedocument.presentationml.slideLayout+xml"/>
  <Override PartName="/ppt/slideLayouts/slideLayout3.xml" ContentType="application/vnd.openxmlformats-officedocument.presentationml.slideLayout+xml"/>
  <Override PartName="/ppt/slideLayouts/slideLayout2.xml" ContentType="application/vnd.openxmlformats-officedocument.presentationml.slideLayout+xml"/>
  <Override PartName="/ppt/slideLayouts/slideLayout1.xml" ContentType="application/vnd.openxmlformats-officedocument.presentationml.slideLayout+xml"/>
  <Override PartName="/ppt/notesSlides/notesSlide4.xml" ContentType="application/vnd.openxmlformats-officedocument.presentationml.notesSlide+xml"/>
  <Override PartName="/ppt/notesSlides/notesSlide31.xml" ContentType="application/vnd.openxmlformats-officedocument.presentationml.notesSlide+xml"/>
  <Override PartName="/ppt/notesMasters/notesMaster1.xml" ContentType="application/vnd.openxmlformats-officedocument.presentationml.notesMaster+xml"/>
  <Override PartName="/ppt/theme/theme1.xml" ContentType="application/vnd.openxmlformats-officedocument.theme+xml"/>
  <Override PartName="/ppt/theme/theme2.xml" ContentType="application/vnd.openxmlformats-officedocument.theme+xml"/>
  <Override PartName="/ppt/diagrams/layout1.xml" ContentType="application/vnd.openxmlformats-officedocument.drawingml.diagramLayout+xml"/>
  <Override PartName="/ppt/diagrams/quickStyle1.xml" ContentType="application/vnd.openxmlformats-officedocument.drawingml.diagramStyle+xml"/>
  <Override PartName="/ppt/diagrams/colors1.xml" ContentType="application/vnd.openxmlformats-officedocument.drawingml.diagramColors+xml"/>
  <Override PartName="/ppt/diagrams/drawing1.xml" ContentType="application/vnd.ms-office.drawingml.diagramDrawing+xml"/>
  <Override PartName="/ppt/ink/ink1.xml" ContentType="application/inkml+xml"/>
  <Override PartName="/ppt/ink/ink2.xml" ContentType="application/inkml+xml"/>
  <Override PartName="/ppt/ink/ink3.xml" ContentType="application/inkml+xml"/>
  <Override PartName="/ppt/ink/ink4.xml" ContentType="application/inkml+xml"/>
  <Override PartName="/ppt/presProps.xml" ContentType="application/vnd.openxmlformats-officedocument.presentationml.presProps+xml"/>
  <Override PartName="/ppt/viewProps.xml" ContentType="application/vnd.openxmlformats-officedocument.presentationml.viewProps+xml"/>
  <Override PartName="/ppt/tableStyles.xml" ContentType="application/vnd.openxmlformats-officedocument.presentationml.tableStyles+xml"/>
  <Override PartName="/docProps/app.xml" ContentType="application/vnd.openxmlformats-officedocument.extended-properties+xml"/>
  <Override PartName="/docProps/core.xml" ContentType="application/vnd.openxmlformats-package.core-properties+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57"/>
  </p:notes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321" r:id="rId19"/>
    <p:sldId id="273" r:id="rId20"/>
    <p:sldId id="274" r:id="rId21"/>
    <p:sldId id="275" r:id="rId22"/>
    <p:sldId id="277" r:id="rId23"/>
    <p:sldId id="278" r:id="rId24"/>
    <p:sldId id="279" r:id="rId25"/>
    <p:sldId id="280" r:id="rId26"/>
    <p:sldId id="281" r:id="rId27"/>
    <p:sldId id="282" r:id="rId28"/>
    <p:sldId id="283" r:id="rId29"/>
    <p:sldId id="295" r:id="rId30"/>
    <p:sldId id="296" r:id="rId31"/>
    <p:sldId id="297" r:id="rId32"/>
    <p:sldId id="298" r:id="rId33"/>
    <p:sldId id="286" r:id="rId34"/>
    <p:sldId id="300" r:id="rId35"/>
    <p:sldId id="301" r:id="rId36"/>
    <p:sldId id="302" r:id="rId37"/>
    <p:sldId id="303" r:id="rId38"/>
    <p:sldId id="304" r:id="rId39"/>
    <p:sldId id="305" r:id="rId40"/>
    <p:sldId id="306" r:id="rId41"/>
    <p:sldId id="307" r:id="rId42"/>
    <p:sldId id="308" r:id="rId43"/>
    <p:sldId id="309" r:id="rId44"/>
    <p:sldId id="310" r:id="rId45"/>
    <p:sldId id="311" r:id="rId46"/>
    <p:sldId id="312" r:id="rId47"/>
    <p:sldId id="313" r:id="rId48"/>
    <p:sldId id="314" r:id="rId49"/>
    <p:sldId id="284" r:id="rId50"/>
    <p:sldId id="315" r:id="rId51"/>
    <p:sldId id="316" r:id="rId52"/>
    <p:sldId id="317" r:id="rId53"/>
    <p:sldId id="318" r:id="rId54"/>
    <p:sldId id="319" r:id="rId55"/>
    <p:sldId id="320" r:id="rId56"/>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5820"/>
    <p:restoredTop sz="94656"/>
  </p:normalViewPr>
  <p:slideViewPr>
    <p:cSldViewPr snapToGrid="0">
      <p:cViewPr varScale="1">
        <p:scale>
          <a:sx n="133" d="100"/>
          <a:sy n="133" d="100"/>
        </p:scale>
        <p:origin x="240" y="832"/>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slide" Target="slides/slide38.xml"/><Relationship Id="rId21" Type="http://schemas.openxmlformats.org/officeDocument/2006/relationships/slide" Target="slides/slide20.xml"/><Relationship Id="rId34" Type="http://schemas.openxmlformats.org/officeDocument/2006/relationships/slide" Target="slides/slide33.xml"/><Relationship Id="rId42" Type="http://schemas.openxmlformats.org/officeDocument/2006/relationships/slide" Target="slides/slide41.xml"/><Relationship Id="rId47" Type="http://schemas.openxmlformats.org/officeDocument/2006/relationships/slide" Target="slides/slide46.xml"/><Relationship Id="rId50" Type="http://schemas.openxmlformats.org/officeDocument/2006/relationships/slide" Target="slides/slide49.xml"/><Relationship Id="rId55" Type="http://schemas.openxmlformats.org/officeDocument/2006/relationships/slide" Target="slides/slide54.xml"/><Relationship Id="rId63" Type="http://schemas.openxmlformats.org/officeDocument/2006/relationships/customXml" Target="../customXml/item2.xml"/><Relationship Id="rId7" Type="http://schemas.openxmlformats.org/officeDocument/2006/relationships/slide" Target="slides/slide6.xml"/><Relationship Id="rId2" Type="http://schemas.openxmlformats.org/officeDocument/2006/relationships/slide" Target="slides/slide1.xml"/><Relationship Id="rId16" Type="http://schemas.openxmlformats.org/officeDocument/2006/relationships/slide" Target="slides/slide15.xml"/><Relationship Id="rId29" Type="http://schemas.openxmlformats.org/officeDocument/2006/relationships/slide" Target="slides/slide28.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slide" Target="slides/slide39.xml"/><Relationship Id="rId45" Type="http://schemas.openxmlformats.org/officeDocument/2006/relationships/slide" Target="slides/slide44.xml"/><Relationship Id="rId53" Type="http://schemas.openxmlformats.org/officeDocument/2006/relationships/slide" Target="slides/slide52.xml"/><Relationship Id="rId58" Type="http://schemas.openxmlformats.org/officeDocument/2006/relationships/presProps" Target="presProps.xml"/><Relationship Id="rId5" Type="http://schemas.openxmlformats.org/officeDocument/2006/relationships/slide" Target="slides/slide4.xml"/><Relationship Id="rId61" Type="http://schemas.openxmlformats.org/officeDocument/2006/relationships/tableStyles" Target="tableStyles.xml"/><Relationship Id="rId19" Type="http://schemas.openxmlformats.org/officeDocument/2006/relationships/slide" Target="slides/slide1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slide" Target="slides/slide42.xml"/><Relationship Id="rId48" Type="http://schemas.openxmlformats.org/officeDocument/2006/relationships/slide" Target="slides/slide47.xml"/><Relationship Id="rId56" Type="http://schemas.openxmlformats.org/officeDocument/2006/relationships/slide" Target="slides/slide55.xml"/><Relationship Id="rId64" Type="http://schemas.openxmlformats.org/officeDocument/2006/relationships/customXml" Target="../customXml/item3.xml"/><Relationship Id="rId8" Type="http://schemas.openxmlformats.org/officeDocument/2006/relationships/slide" Target="slides/slide7.xml"/><Relationship Id="rId51" Type="http://schemas.openxmlformats.org/officeDocument/2006/relationships/slide" Target="slides/slide50.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slide" Target="slides/slide45.xml"/><Relationship Id="rId59" Type="http://schemas.openxmlformats.org/officeDocument/2006/relationships/viewProps" Target="viewProps.xml"/><Relationship Id="rId20" Type="http://schemas.openxmlformats.org/officeDocument/2006/relationships/slide" Target="slides/slide19.xml"/><Relationship Id="rId41" Type="http://schemas.openxmlformats.org/officeDocument/2006/relationships/slide" Target="slides/slide40.xml"/><Relationship Id="rId54" Type="http://schemas.openxmlformats.org/officeDocument/2006/relationships/slide" Target="slides/slide53.xml"/><Relationship Id="rId62" Type="http://schemas.openxmlformats.org/officeDocument/2006/relationships/customXml" Target="../customXml/item1.xml"/><Relationship Id="rId1" Type="http://schemas.openxmlformats.org/officeDocument/2006/relationships/slideMaster" Target="slideMasters/slideMaster1.xml"/><Relationship Id="rId6" Type="http://schemas.openxmlformats.org/officeDocument/2006/relationships/slide" Target="slides/slide5.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49" Type="http://schemas.openxmlformats.org/officeDocument/2006/relationships/slide" Target="slides/slide48.xml"/><Relationship Id="rId57" Type="http://schemas.openxmlformats.org/officeDocument/2006/relationships/notesMaster" Target="notesMasters/notesMaster1.xml"/><Relationship Id="rId10" Type="http://schemas.openxmlformats.org/officeDocument/2006/relationships/slide" Target="slides/slide9.xml"/><Relationship Id="rId31" Type="http://schemas.openxmlformats.org/officeDocument/2006/relationships/slide" Target="slides/slide30.xml"/><Relationship Id="rId44" Type="http://schemas.openxmlformats.org/officeDocument/2006/relationships/slide" Target="slides/slide43.xml"/><Relationship Id="rId52" Type="http://schemas.openxmlformats.org/officeDocument/2006/relationships/slide" Target="slides/slide51.xml"/><Relationship Id="rId60" Type="http://schemas.openxmlformats.org/officeDocument/2006/relationships/theme" Target="theme/theme1.xml"/><Relationship Id="rId4" Type="http://schemas.openxmlformats.org/officeDocument/2006/relationships/slide" Target="slides/slide3.xml"/><Relationship Id="rId9" Type="http://schemas.openxmlformats.org/officeDocument/2006/relationships/slide" Target="slides/slide8.xml"/></Relationships>
</file>

<file path=ppt/diagrams/colors1.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data1.xml><?xml version="1.0" encoding="utf-8"?>
<dgm:dataModel xmlns:dgm="http://schemas.openxmlformats.org/drawingml/2006/diagram" xmlns:a="http://schemas.openxmlformats.org/drawingml/2006/main">
  <dgm:ptLst>
    <dgm:pt modelId="{DFA10929-6F85-419F-BA12-A80F4903142B}" type="doc">
      <dgm:prSet loTypeId="urn:microsoft.com/office/officeart/2005/8/layout/list1" loCatId="list" qsTypeId="urn:microsoft.com/office/officeart/2005/8/quickstyle/simple1" qsCatId="simple" csTypeId="urn:microsoft.com/office/officeart/2005/8/colors/accent1_2" csCatId="accent1" phldr="1"/>
      <dgm:spPr/>
      <dgm:t>
        <a:bodyPr/>
        <a:lstStyle/>
        <a:p>
          <a:endParaRPr lang="en-US"/>
        </a:p>
      </dgm:t>
    </dgm:pt>
    <dgm:pt modelId="{0CA01655-7959-4D58-92EE-B229A4097B13}">
      <dgm:prSet/>
      <dgm:spPr>
        <a:solidFill>
          <a:srgbClr val="002060"/>
        </a:solidFill>
      </dgm:spPr>
      <dgm:t>
        <a:bodyPr/>
        <a:lstStyle/>
        <a:p>
          <a:r>
            <a:rPr lang="tr-TR"/>
            <a:t>Supervised learning</a:t>
          </a:r>
          <a:endParaRPr lang="en-US"/>
        </a:p>
      </dgm:t>
    </dgm:pt>
    <dgm:pt modelId="{77828231-4AAC-4CA5-80F3-85EC288FA6AC}" type="parTrans" cxnId="{D02E6FC5-AA08-4334-AF88-A4B52F0A233D}">
      <dgm:prSet/>
      <dgm:spPr/>
      <dgm:t>
        <a:bodyPr/>
        <a:lstStyle/>
        <a:p>
          <a:endParaRPr lang="en-US"/>
        </a:p>
      </dgm:t>
    </dgm:pt>
    <dgm:pt modelId="{C795B3B8-FA13-4528-B47D-B0258165C3FB}" type="sibTrans" cxnId="{D02E6FC5-AA08-4334-AF88-A4B52F0A233D}">
      <dgm:prSet/>
      <dgm:spPr/>
      <dgm:t>
        <a:bodyPr/>
        <a:lstStyle/>
        <a:p>
          <a:endParaRPr lang="en-US"/>
        </a:p>
      </dgm:t>
    </dgm:pt>
    <dgm:pt modelId="{01F76263-CDA5-4719-AC25-76E13893B35A}">
      <dgm:prSet/>
      <dgm:spPr>
        <a:solidFill>
          <a:srgbClr val="002060"/>
        </a:solidFill>
      </dgm:spPr>
      <dgm:t>
        <a:bodyPr/>
        <a:lstStyle/>
        <a:p>
          <a:r>
            <a:rPr lang="tr-TR" dirty="0" err="1"/>
            <a:t>Unsupervised</a:t>
          </a:r>
          <a:r>
            <a:rPr lang="tr-TR" dirty="0"/>
            <a:t> </a:t>
          </a:r>
          <a:r>
            <a:rPr lang="tr-TR" dirty="0" err="1"/>
            <a:t>learning</a:t>
          </a:r>
          <a:endParaRPr lang="en-US" dirty="0"/>
        </a:p>
      </dgm:t>
    </dgm:pt>
    <dgm:pt modelId="{453739EA-F82A-4410-A803-4608AA5DEF4A}" type="parTrans" cxnId="{A193234F-29A7-4356-A5C6-E2BD2354296A}">
      <dgm:prSet/>
      <dgm:spPr/>
      <dgm:t>
        <a:bodyPr/>
        <a:lstStyle/>
        <a:p>
          <a:endParaRPr lang="en-US"/>
        </a:p>
      </dgm:t>
    </dgm:pt>
    <dgm:pt modelId="{72A65DDB-A261-4368-B2BA-A7E5427EE45A}" type="sibTrans" cxnId="{A193234F-29A7-4356-A5C6-E2BD2354296A}">
      <dgm:prSet/>
      <dgm:spPr/>
      <dgm:t>
        <a:bodyPr/>
        <a:lstStyle/>
        <a:p>
          <a:endParaRPr lang="en-US"/>
        </a:p>
      </dgm:t>
    </dgm:pt>
    <dgm:pt modelId="{67667774-B786-4885-AE0C-33317F43E52A}">
      <dgm:prSet/>
      <dgm:spPr>
        <a:solidFill>
          <a:srgbClr val="002060"/>
        </a:solidFill>
      </dgm:spPr>
      <dgm:t>
        <a:bodyPr/>
        <a:lstStyle/>
        <a:p>
          <a:r>
            <a:rPr lang="tr-TR" dirty="0" err="1"/>
            <a:t>Recommender</a:t>
          </a:r>
          <a:r>
            <a:rPr lang="tr-TR" dirty="0"/>
            <a:t> </a:t>
          </a:r>
          <a:r>
            <a:rPr lang="tr-TR" dirty="0" err="1"/>
            <a:t>system</a:t>
          </a:r>
          <a:endParaRPr lang="en-US" dirty="0"/>
        </a:p>
      </dgm:t>
    </dgm:pt>
    <dgm:pt modelId="{95FCE6AA-2068-4736-80C8-07AF01C290A1}" type="parTrans" cxnId="{AA45C18F-D4A9-430C-8D8E-14F9D19F34DD}">
      <dgm:prSet/>
      <dgm:spPr/>
      <dgm:t>
        <a:bodyPr/>
        <a:lstStyle/>
        <a:p>
          <a:endParaRPr lang="en-US"/>
        </a:p>
      </dgm:t>
    </dgm:pt>
    <dgm:pt modelId="{AF3FF99C-E134-4FE9-96A6-20AC901E260F}" type="sibTrans" cxnId="{AA45C18F-D4A9-430C-8D8E-14F9D19F34DD}">
      <dgm:prSet/>
      <dgm:spPr/>
      <dgm:t>
        <a:bodyPr/>
        <a:lstStyle/>
        <a:p>
          <a:endParaRPr lang="en-US"/>
        </a:p>
      </dgm:t>
    </dgm:pt>
    <dgm:pt modelId="{3814B2A8-8817-4380-B1BB-C4BF82AABC0E}">
      <dgm:prSet/>
      <dgm:spPr>
        <a:solidFill>
          <a:srgbClr val="002060"/>
        </a:solidFill>
      </dgm:spPr>
      <dgm:t>
        <a:bodyPr/>
        <a:lstStyle/>
        <a:p>
          <a:r>
            <a:rPr lang="tr-TR" dirty="0" err="1"/>
            <a:t>Reinforcement</a:t>
          </a:r>
          <a:r>
            <a:rPr lang="tr-TR" dirty="0"/>
            <a:t> </a:t>
          </a:r>
          <a:r>
            <a:rPr lang="tr-TR" dirty="0" err="1"/>
            <a:t>learning</a:t>
          </a:r>
          <a:endParaRPr lang="en-US" dirty="0"/>
        </a:p>
      </dgm:t>
    </dgm:pt>
    <dgm:pt modelId="{0AEA285A-96E8-4BFA-AFA1-2176B093E17B}" type="parTrans" cxnId="{23147158-0E9A-4FD9-AFEA-CE7CA96520D6}">
      <dgm:prSet/>
      <dgm:spPr/>
      <dgm:t>
        <a:bodyPr/>
        <a:lstStyle/>
        <a:p>
          <a:endParaRPr lang="en-US"/>
        </a:p>
      </dgm:t>
    </dgm:pt>
    <dgm:pt modelId="{5843A7BD-1BF9-4C3B-B181-02F5E325A139}" type="sibTrans" cxnId="{23147158-0E9A-4FD9-AFEA-CE7CA96520D6}">
      <dgm:prSet/>
      <dgm:spPr/>
      <dgm:t>
        <a:bodyPr/>
        <a:lstStyle/>
        <a:p>
          <a:endParaRPr lang="en-US"/>
        </a:p>
      </dgm:t>
    </dgm:pt>
    <dgm:pt modelId="{C8A199FF-6FF0-4C70-AC0A-6B2200517E0B}" type="pres">
      <dgm:prSet presAssocID="{DFA10929-6F85-419F-BA12-A80F4903142B}" presName="linear" presStyleCnt="0">
        <dgm:presLayoutVars>
          <dgm:dir/>
          <dgm:animLvl val="lvl"/>
          <dgm:resizeHandles val="exact"/>
        </dgm:presLayoutVars>
      </dgm:prSet>
      <dgm:spPr/>
    </dgm:pt>
    <dgm:pt modelId="{F970E946-ED76-41CF-9259-3DB8590CB8A9}" type="pres">
      <dgm:prSet presAssocID="{0CA01655-7959-4D58-92EE-B229A4097B13}" presName="parentLin" presStyleCnt="0"/>
      <dgm:spPr/>
    </dgm:pt>
    <dgm:pt modelId="{EAC6B935-61F3-4E73-BE96-E4C36C9FCD7D}" type="pres">
      <dgm:prSet presAssocID="{0CA01655-7959-4D58-92EE-B229A4097B13}" presName="parentLeftMargin" presStyleLbl="node1" presStyleIdx="0" presStyleCnt="4"/>
      <dgm:spPr/>
    </dgm:pt>
    <dgm:pt modelId="{D4067148-5351-4021-AB10-610B26542883}" type="pres">
      <dgm:prSet presAssocID="{0CA01655-7959-4D58-92EE-B229A4097B13}" presName="parentText" presStyleLbl="node1" presStyleIdx="0" presStyleCnt="4">
        <dgm:presLayoutVars>
          <dgm:chMax val="0"/>
          <dgm:bulletEnabled val="1"/>
        </dgm:presLayoutVars>
      </dgm:prSet>
      <dgm:spPr/>
    </dgm:pt>
    <dgm:pt modelId="{CD33D83F-A509-4130-BC8E-0C1231B1AEEE}" type="pres">
      <dgm:prSet presAssocID="{0CA01655-7959-4D58-92EE-B229A4097B13}" presName="negativeSpace" presStyleCnt="0"/>
      <dgm:spPr/>
    </dgm:pt>
    <dgm:pt modelId="{EAB7490E-1C21-4C24-85DE-3BA068E565AD}" type="pres">
      <dgm:prSet presAssocID="{0CA01655-7959-4D58-92EE-B229A4097B13}" presName="childText" presStyleLbl="conFgAcc1" presStyleIdx="0" presStyleCnt="4">
        <dgm:presLayoutVars>
          <dgm:bulletEnabled val="1"/>
        </dgm:presLayoutVars>
      </dgm:prSet>
      <dgm:spPr/>
    </dgm:pt>
    <dgm:pt modelId="{FBB4C44E-79CC-4AD5-A8E1-A8480B15773A}" type="pres">
      <dgm:prSet presAssocID="{C795B3B8-FA13-4528-B47D-B0258165C3FB}" presName="spaceBetweenRectangles" presStyleCnt="0"/>
      <dgm:spPr/>
    </dgm:pt>
    <dgm:pt modelId="{0975CD47-DE74-4EF6-A1E1-67D917928523}" type="pres">
      <dgm:prSet presAssocID="{01F76263-CDA5-4719-AC25-76E13893B35A}" presName="parentLin" presStyleCnt="0"/>
      <dgm:spPr/>
    </dgm:pt>
    <dgm:pt modelId="{BD3496C2-51E7-4C71-8F11-D209AE043C19}" type="pres">
      <dgm:prSet presAssocID="{01F76263-CDA5-4719-AC25-76E13893B35A}" presName="parentLeftMargin" presStyleLbl="node1" presStyleIdx="0" presStyleCnt="4"/>
      <dgm:spPr/>
    </dgm:pt>
    <dgm:pt modelId="{B6F03EAC-4BA0-46F1-8A33-008D9B78E981}" type="pres">
      <dgm:prSet presAssocID="{01F76263-CDA5-4719-AC25-76E13893B35A}" presName="parentText" presStyleLbl="node1" presStyleIdx="1" presStyleCnt="4">
        <dgm:presLayoutVars>
          <dgm:chMax val="0"/>
          <dgm:bulletEnabled val="1"/>
        </dgm:presLayoutVars>
      </dgm:prSet>
      <dgm:spPr/>
    </dgm:pt>
    <dgm:pt modelId="{F59FE441-CB04-469B-9178-BA37FAAC9C2B}" type="pres">
      <dgm:prSet presAssocID="{01F76263-CDA5-4719-AC25-76E13893B35A}" presName="negativeSpace" presStyleCnt="0"/>
      <dgm:spPr/>
    </dgm:pt>
    <dgm:pt modelId="{88A92286-1E28-403B-9FF1-4B8B78E932F1}" type="pres">
      <dgm:prSet presAssocID="{01F76263-CDA5-4719-AC25-76E13893B35A}" presName="childText" presStyleLbl="conFgAcc1" presStyleIdx="1" presStyleCnt="4">
        <dgm:presLayoutVars>
          <dgm:bulletEnabled val="1"/>
        </dgm:presLayoutVars>
      </dgm:prSet>
      <dgm:spPr/>
    </dgm:pt>
    <dgm:pt modelId="{68EE81D1-D97C-4AB7-9719-A6E0B31A74F8}" type="pres">
      <dgm:prSet presAssocID="{72A65DDB-A261-4368-B2BA-A7E5427EE45A}" presName="spaceBetweenRectangles" presStyleCnt="0"/>
      <dgm:spPr/>
    </dgm:pt>
    <dgm:pt modelId="{58FE2A52-81B1-43BF-B0FB-A54FF08E4086}" type="pres">
      <dgm:prSet presAssocID="{67667774-B786-4885-AE0C-33317F43E52A}" presName="parentLin" presStyleCnt="0"/>
      <dgm:spPr/>
    </dgm:pt>
    <dgm:pt modelId="{2C7440E7-1104-40B5-8E02-3128F971E69A}" type="pres">
      <dgm:prSet presAssocID="{67667774-B786-4885-AE0C-33317F43E52A}" presName="parentLeftMargin" presStyleLbl="node1" presStyleIdx="1" presStyleCnt="4"/>
      <dgm:spPr/>
    </dgm:pt>
    <dgm:pt modelId="{08FB4CC7-DC5E-4D57-9B12-0894DED4EDFD}" type="pres">
      <dgm:prSet presAssocID="{67667774-B786-4885-AE0C-33317F43E52A}" presName="parentText" presStyleLbl="node1" presStyleIdx="2" presStyleCnt="4">
        <dgm:presLayoutVars>
          <dgm:chMax val="0"/>
          <dgm:bulletEnabled val="1"/>
        </dgm:presLayoutVars>
      </dgm:prSet>
      <dgm:spPr/>
    </dgm:pt>
    <dgm:pt modelId="{428DD5DA-BC83-4C26-A3B5-AB8EA340ECF4}" type="pres">
      <dgm:prSet presAssocID="{67667774-B786-4885-AE0C-33317F43E52A}" presName="negativeSpace" presStyleCnt="0"/>
      <dgm:spPr/>
    </dgm:pt>
    <dgm:pt modelId="{4A78996A-06BA-452C-83F5-8FF8AC85EF69}" type="pres">
      <dgm:prSet presAssocID="{67667774-B786-4885-AE0C-33317F43E52A}" presName="childText" presStyleLbl="conFgAcc1" presStyleIdx="2" presStyleCnt="4">
        <dgm:presLayoutVars>
          <dgm:bulletEnabled val="1"/>
        </dgm:presLayoutVars>
      </dgm:prSet>
      <dgm:spPr/>
    </dgm:pt>
    <dgm:pt modelId="{2BC97617-636C-4C4C-BE79-613B28573D38}" type="pres">
      <dgm:prSet presAssocID="{AF3FF99C-E134-4FE9-96A6-20AC901E260F}" presName="spaceBetweenRectangles" presStyleCnt="0"/>
      <dgm:spPr/>
    </dgm:pt>
    <dgm:pt modelId="{3EB6952D-759B-43CB-997E-7523FDA3C4D7}" type="pres">
      <dgm:prSet presAssocID="{3814B2A8-8817-4380-B1BB-C4BF82AABC0E}" presName="parentLin" presStyleCnt="0"/>
      <dgm:spPr/>
    </dgm:pt>
    <dgm:pt modelId="{1B8D2193-49B3-4154-8D1C-8650EFF4CB17}" type="pres">
      <dgm:prSet presAssocID="{3814B2A8-8817-4380-B1BB-C4BF82AABC0E}" presName="parentLeftMargin" presStyleLbl="node1" presStyleIdx="2" presStyleCnt="4"/>
      <dgm:spPr/>
    </dgm:pt>
    <dgm:pt modelId="{7EE7B0A7-E64C-4FDD-B784-9A5B7BBB9BF7}" type="pres">
      <dgm:prSet presAssocID="{3814B2A8-8817-4380-B1BB-C4BF82AABC0E}" presName="parentText" presStyleLbl="node1" presStyleIdx="3" presStyleCnt="4">
        <dgm:presLayoutVars>
          <dgm:chMax val="0"/>
          <dgm:bulletEnabled val="1"/>
        </dgm:presLayoutVars>
      </dgm:prSet>
      <dgm:spPr/>
    </dgm:pt>
    <dgm:pt modelId="{A8877FE9-79D6-42C8-9759-6547B6982440}" type="pres">
      <dgm:prSet presAssocID="{3814B2A8-8817-4380-B1BB-C4BF82AABC0E}" presName="negativeSpace" presStyleCnt="0"/>
      <dgm:spPr/>
    </dgm:pt>
    <dgm:pt modelId="{1043945D-3873-4E08-9E91-083B5A37B583}" type="pres">
      <dgm:prSet presAssocID="{3814B2A8-8817-4380-B1BB-C4BF82AABC0E}" presName="childText" presStyleLbl="conFgAcc1" presStyleIdx="3" presStyleCnt="4">
        <dgm:presLayoutVars>
          <dgm:bulletEnabled val="1"/>
        </dgm:presLayoutVars>
      </dgm:prSet>
      <dgm:spPr/>
    </dgm:pt>
  </dgm:ptLst>
  <dgm:cxnLst>
    <dgm:cxn modelId="{0911EF29-A3FA-40A9-A89A-311F6311ACE8}" type="presOf" srcId="{01F76263-CDA5-4719-AC25-76E13893B35A}" destId="{B6F03EAC-4BA0-46F1-8A33-008D9B78E981}" srcOrd="1" destOrd="0" presId="urn:microsoft.com/office/officeart/2005/8/layout/list1"/>
    <dgm:cxn modelId="{A18BAE46-5741-45DE-A32F-F8E57B6099F4}" type="presOf" srcId="{0CA01655-7959-4D58-92EE-B229A4097B13}" destId="{EAC6B935-61F3-4E73-BE96-E4C36C9FCD7D}" srcOrd="0" destOrd="0" presId="urn:microsoft.com/office/officeart/2005/8/layout/list1"/>
    <dgm:cxn modelId="{A193234F-29A7-4356-A5C6-E2BD2354296A}" srcId="{DFA10929-6F85-419F-BA12-A80F4903142B}" destId="{01F76263-CDA5-4719-AC25-76E13893B35A}" srcOrd="1" destOrd="0" parTransId="{453739EA-F82A-4410-A803-4608AA5DEF4A}" sibTransId="{72A65DDB-A261-4368-B2BA-A7E5427EE45A}"/>
    <dgm:cxn modelId="{23147158-0E9A-4FD9-AFEA-CE7CA96520D6}" srcId="{DFA10929-6F85-419F-BA12-A80F4903142B}" destId="{3814B2A8-8817-4380-B1BB-C4BF82AABC0E}" srcOrd="3" destOrd="0" parTransId="{0AEA285A-96E8-4BFA-AFA1-2176B093E17B}" sibTransId="{5843A7BD-1BF9-4C3B-B181-02F5E325A139}"/>
    <dgm:cxn modelId="{073CEA5F-1330-46FA-8634-5074483C0B15}" type="presOf" srcId="{DFA10929-6F85-419F-BA12-A80F4903142B}" destId="{C8A199FF-6FF0-4C70-AC0A-6B2200517E0B}" srcOrd="0" destOrd="0" presId="urn:microsoft.com/office/officeart/2005/8/layout/list1"/>
    <dgm:cxn modelId="{69F9CA85-983D-4046-A40E-0D1FE8ACD745}" type="presOf" srcId="{67667774-B786-4885-AE0C-33317F43E52A}" destId="{08FB4CC7-DC5E-4D57-9B12-0894DED4EDFD}" srcOrd="1" destOrd="0" presId="urn:microsoft.com/office/officeart/2005/8/layout/list1"/>
    <dgm:cxn modelId="{80AE2886-3637-46F6-93FF-6EFCFF65E21F}" type="presOf" srcId="{3814B2A8-8817-4380-B1BB-C4BF82AABC0E}" destId="{1B8D2193-49B3-4154-8D1C-8650EFF4CB17}" srcOrd="0" destOrd="0" presId="urn:microsoft.com/office/officeart/2005/8/layout/list1"/>
    <dgm:cxn modelId="{AA45C18F-D4A9-430C-8D8E-14F9D19F34DD}" srcId="{DFA10929-6F85-419F-BA12-A80F4903142B}" destId="{67667774-B786-4885-AE0C-33317F43E52A}" srcOrd="2" destOrd="0" parTransId="{95FCE6AA-2068-4736-80C8-07AF01C290A1}" sibTransId="{AF3FF99C-E134-4FE9-96A6-20AC901E260F}"/>
    <dgm:cxn modelId="{00B7D8AC-A64F-4FEB-81B4-865486F664C3}" type="presOf" srcId="{01F76263-CDA5-4719-AC25-76E13893B35A}" destId="{BD3496C2-51E7-4C71-8F11-D209AE043C19}" srcOrd="0" destOrd="0" presId="urn:microsoft.com/office/officeart/2005/8/layout/list1"/>
    <dgm:cxn modelId="{27C790BC-0D7A-4F84-9562-C239B903AC4A}" type="presOf" srcId="{3814B2A8-8817-4380-B1BB-C4BF82AABC0E}" destId="{7EE7B0A7-E64C-4FDD-B784-9A5B7BBB9BF7}" srcOrd="1" destOrd="0" presId="urn:microsoft.com/office/officeart/2005/8/layout/list1"/>
    <dgm:cxn modelId="{D02E6FC5-AA08-4334-AF88-A4B52F0A233D}" srcId="{DFA10929-6F85-419F-BA12-A80F4903142B}" destId="{0CA01655-7959-4D58-92EE-B229A4097B13}" srcOrd="0" destOrd="0" parTransId="{77828231-4AAC-4CA5-80F3-85EC288FA6AC}" sibTransId="{C795B3B8-FA13-4528-B47D-B0258165C3FB}"/>
    <dgm:cxn modelId="{F7C7A0CC-4CF7-4C94-9EDC-026636439A68}" type="presOf" srcId="{67667774-B786-4885-AE0C-33317F43E52A}" destId="{2C7440E7-1104-40B5-8E02-3128F971E69A}" srcOrd="0" destOrd="0" presId="urn:microsoft.com/office/officeart/2005/8/layout/list1"/>
    <dgm:cxn modelId="{ACD442D4-BBC1-478B-98BD-41E9847BAF76}" type="presOf" srcId="{0CA01655-7959-4D58-92EE-B229A4097B13}" destId="{D4067148-5351-4021-AB10-610B26542883}" srcOrd="1" destOrd="0" presId="urn:microsoft.com/office/officeart/2005/8/layout/list1"/>
    <dgm:cxn modelId="{87F3F56D-AD1E-488A-BC6D-0E16E9109955}" type="presParOf" srcId="{C8A199FF-6FF0-4C70-AC0A-6B2200517E0B}" destId="{F970E946-ED76-41CF-9259-3DB8590CB8A9}" srcOrd="0" destOrd="0" presId="urn:microsoft.com/office/officeart/2005/8/layout/list1"/>
    <dgm:cxn modelId="{8DA4B611-BBE0-41F8-83B5-BD8F08C821C0}" type="presParOf" srcId="{F970E946-ED76-41CF-9259-3DB8590CB8A9}" destId="{EAC6B935-61F3-4E73-BE96-E4C36C9FCD7D}" srcOrd="0" destOrd="0" presId="urn:microsoft.com/office/officeart/2005/8/layout/list1"/>
    <dgm:cxn modelId="{67EDA210-F551-4939-8B88-5C5C90F6328C}" type="presParOf" srcId="{F970E946-ED76-41CF-9259-3DB8590CB8A9}" destId="{D4067148-5351-4021-AB10-610B26542883}" srcOrd="1" destOrd="0" presId="urn:microsoft.com/office/officeart/2005/8/layout/list1"/>
    <dgm:cxn modelId="{770FEA0C-F3AC-4A71-98D2-05BEF778EE93}" type="presParOf" srcId="{C8A199FF-6FF0-4C70-AC0A-6B2200517E0B}" destId="{CD33D83F-A509-4130-BC8E-0C1231B1AEEE}" srcOrd="1" destOrd="0" presId="urn:microsoft.com/office/officeart/2005/8/layout/list1"/>
    <dgm:cxn modelId="{FD18AE1D-CA72-4240-8D13-5B6096620330}" type="presParOf" srcId="{C8A199FF-6FF0-4C70-AC0A-6B2200517E0B}" destId="{EAB7490E-1C21-4C24-85DE-3BA068E565AD}" srcOrd="2" destOrd="0" presId="urn:microsoft.com/office/officeart/2005/8/layout/list1"/>
    <dgm:cxn modelId="{E8CE4906-2BC5-40AF-8FB9-0A56520F7052}" type="presParOf" srcId="{C8A199FF-6FF0-4C70-AC0A-6B2200517E0B}" destId="{FBB4C44E-79CC-4AD5-A8E1-A8480B15773A}" srcOrd="3" destOrd="0" presId="urn:microsoft.com/office/officeart/2005/8/layout/list1"/>
    <dgm:cxn modelId="{C287394F-7B33-4BFA-ACAA-889F0248548A}" type="presParOf" srcId="{C8A199FF-6FF0-4C70-AC0A-6B2200517E0B}" destId="{0975CD47-DE74-4EF6-A1E1-67D917928523}" srcOrd="4" destOrd="0" presId="urn:microsoft.com/office/officeart/2005/8/layout/list1"/>
    <dgm:cxn modelId="{0BC611A9-2FEC-4AB8-9838-2667672D13C1}" type="presParOf" srcId="{0975CD47-DE74-4EF6-A1E1-67D917928523}" destId="{BD3496C2-51E7-4C71-8F11-D209AE043C19}" srcOrd="0" destOrd="0" presId="urn:microsoft.com/office/officeart/2005/8/layout/list1"/>
    <dgm:cxn modelId="{E7A052BB-6785-4CC5-A718-0E2F17FE8700}" type="presParOf" srcId="{0975CD47-DE74-4EF6-A1E1-67D917928523}" destId="{B6F03EAC-4BA0-46F1-8A33-008D9B78E981}" srcOrd="1" destOrd="0" presId="urn:microsoft.com/office/officeart/2005/8/layout/list1"/>
    <dgm:cxn modelId="{E54700C5-E6BF-46D4-BEB8-DDD04A832C82}" type="presParOf" srcId="{C8A199FF-6FF0-4C70-AC0A-6B2200517E0B}" destId="{F59FE441-CB04-469B-9178-BA37FAAC9C2B}" srcOrd="5" destOrd="0" presId="urn:microsoft.com/office/officeart/2005/8/layout/list1"/>
    <dgm:cxn modelId="{18FE7113-E8B6-4D8D-9679-EF4D90606A7F}" type="presParOf" srcId="{C8A199FF-6FF0-4C70-AC0A-6B2200517E0B}" destId="{88A92286-1E28-403B-9FF1-4B8B78E932F1}" srcOrd="6" destOrd="0" presId="urn:microsoft.com/office/officeart/2005/8/layout/list1"/>
    <dgm:cxn modelId="{199B4EB2-1CC6-49FA-A325-FEF1331D5974}" type="presParOf" srcId="{C8A199FF-6FF0-4C70-AC0A-6B2200517E0B}" destId="{68EE81D1-D97C-4AB7-9719-A6E0B31A74F8}" srcOrd="7" destOrd="0" presId="urn:microsoft.com/office/officeart/2005/8/layout/list1"/>
    <dgm:cxn modelId="{7D8A7FC7-8497-4614-9A26-F63A4B3F9154}" type="presParOf" srcId="{C8A199FF-6FF0-4C70-AC0A-6B2200517E0B}" destId="{58FE2A52-81B1-43BF-B0FB-A54FF08E4086}" srcOrd="8" destOrd="0" presId="urn:microsoft.com/office/officeart/2005/8/layout/list1"/>
    <dgm:cxn modelId="{8618E6DE-F792-4EA7-901B-CB39D0CF458E}" type="presParOf" srcId="{58FE2A52-81B1-43BF-B0FB-A54FF08E4086}" destId="{2C7440E7-1104-40B5-8E02-3128F971E69A}" srcOrd="0" destOrd="0" presId="urn:microsoft.com/office/officeart/2005/8/layout/list1"/>
    <dgm:cxn modelId="{B484881C-0DA1-4708-9866-FD754F7DCBC0}" type="presParOf" srcId="{58FE2A52-81B1-43BF-B0FB-A54FF08E4086}" destId="{08FB4CC7-DC5E-4D57-9B12-0894DED4EDFD}" srcOrd="1" destOrd="0" presId="urn:microsoft.com/office/officeart/2005/8/layout/list1"/>
    <dgm:cxn modelId="{1855B7C6-8487-45D9-984F-0AD0166AD064}" type="presParOf" srcId="{C8A199FF-6FF0-4C70-AC0A-6B2200517E0B}" destId="{428DD5DA-BC83-4C26-A3B5-AB8EA340ECF4}" srcOrd="9" destOrd="0" presId="urn:microsoft.com/office/officeart/2005/8/layout/list1"/>
    <dgm:cxn modelId="{9AF17191-26BC-4336-8A04-BB9F03974890}" type="presParOf" srcId="{C8A199FF-6FF0-4C70-AC0A-6B2200517E0B}" destId="{4A78996A-06BA-452C-83F5-8FF8AC85EF69}" srcOrd="10" destOrd="0" presId="urn:microsoft.com/office/officeart/2005/8/layout/list1"/>
    <dgm:cxn modelId="{C4B2E90B-571C-43E1-9052-BE61C0C2C172}" type="presParOf" srcId="{C8A199FF-6FF0-4C70-AC0A-6B2200517E0B}" destId="{2BC97617-636C-4C4C-BE79-613B28573D38}" srcOrd="11" destOrd="0" presId="urn:microsoft.com/office/officeart/2005/8/layout/list1"/>
    <dgm:cxn modelId="{2FE16091-3841-4B4C-ABF9-C152C10A28B5}" type="presParOf" srcId="{C8A199FF-6FF0-4C70-AC0A-6B2200517E0B}" destId="{3EB6952D-759B-43CB-997E-7523FDA3C4D7}" srcOrd="12" destOrd="0" presId="urn:microsoft.com/office/officeart/2005/8/layout/list1"/>
    <dgm:cxn modelId="{8216D094-0404-4E34-B3EE-955AA02EA7CA}" type="presParOf" srcId="{3EB6952D-759B-43CB-997E-7523FDA3C4D7}" destId="{1B8D2193-49B3-4154-8D1C-8650EFF4CB17}" srcOrd="0" destOrd="0" presId="urn:microsoft.com/office/officeart/2005/8/layout/list1"/>
    <dgm:cxn modelId="{8A16A885-54D6-4438-A510-638B9004E69F}" type="presParOf" srcId="{3EB6952D-759B-43CB-997E-7523FDA3C4D7}" destId="{7EE7B0A7-E64C-4FDD-B784-9A5B7BBB9BF7}" srcOrd="1" destOrd="0" presId="urn:microsoft.com/office/officeart/2005/8/layout/list1"/>
    <dgm:cxn modelId="{896A07D0-DBC7-4F11-8F97-1DD545FB7CE6}" type="presParOf" srcId="{C8A199FF-6FF0-4C70-AC0A-6B2200517E0B}" destId="{A8877FE9-79D6-42C8-9759-6547B6982440}" srcOrd="13" destOrd="0" presId="urn:microsoft.com/office/officeart/2005/8/layout/list1"/>
    <dgm:cxn modelId="{37C6F6CC-E797-497D-928C-3D743E4CB47E}" type="presParOf" srcId="{C8A199FF-6FF0-4C70-AC0A-6B2200517E0B}" destId="{1043945D-3873-4E08-9E91-083B5A37B583}" srcOrd="14" destOrd="0" presId="urn:microsoft.com/office/officeart/2005/8/layout/list1"/>
  </dgm:cxnLst>
  <dgm:bg/>
  <dgm:whole/>
  <dgm:extLst>
    <a:ext uri="http://schemas.microsoft.com/office/drawing/2008/diagram">
      <dsp:dataModelExt xmlns:dsp="http://schemas.microsoft.com/office/drawing/2008/diagram" relId="rId7" minVer="http://schemas.openxmlformats.org/drawingml/2006/diagram"/>
    </a:ext>
  </dgm:extLst>
</dgm:dataModel>
</file>

<file path=ppt/diagrams/drawing1.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EAB7490E-1C21-4C24-85DE-3BA068E565AD}">
      <dsp:nvSpPr>
        <dsp:cNvPr id="0" name=""/>
        <dsp:cNvSpPr/>
      </dsp:nvSpPr>
      <dsp:spPr>
        <a:xfrm>
          <a:off x="0" y="417429"/>
          <a:ext cx="10515600" cy="604800"/>
        </a:xfrm>
        <a:prstGeom prst="rect">
          <a:avLst/>
        </a:prstGeom>
        <a:solidFill>
          <a:schemeClr val="lt1">
            <a:alpha val="90000"/>
            <a:hueOff val="0"/>
            <a:satOff val="0"/>
            <a:lumOff val="0"/>
            <a:alphaOff val="0"/>
          </a:schemeClr>
        </a:solidFill>
        <a:ln w="19050" cap="flat" cmpd="sng" algn="ctr">
          <a:solidFill>
            <a:schemeClr val="accen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sp>
    <dsp:sp modelId="{D4067148-5351-4021-AB10-610B26542883}">
      <dsp:nvSpPr>
        <dsp:cNvPr id="0" name=""/>
        <dsp:cNvSpPr/>
      </dsp:nvSpPr>
      <dsp:spPr>
        <a:xfrm>
          <a:off x="525780" y="63189"/>
          <a:ext cx="7360920" cy="708480"/>
        </a:xfrm>
        <a:prstGeom prst="roundRect">
          <a:avLst/>
        </a:prstGeom>
        <a:solidFill>
          <a:srgbClr val="002060"/>
        </a:solidFill>
        <a:ln w="1905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278225" tIns="0" rIns="278225" bIns="0" numCol="1" spcCol="1270" anchor="ctr" anchorCtr="0">
          <a:noAutofit/>
        </a:bodyPr>
        <a:lstStyle/>
        <a:p>
          <a:pPr marL="0" lvl="0" indent="0" algn="l" defTabSz="1066800">
            <a:lnSpc>
              <a:spcPct val="90000"/>
            </a:lnSpc>
            <a:spcBef>
              <a:spcPct val="0"/>
            </a:spcBef>
            <a:spcAft>
              <a:spcPct val="35000"/>
            </a:spcAft>
            <a:buNone/>
          </a:pPr>
          <a:r>
            <a:rPr lang="tr-TR" sz="2400" kern="1200"/>
            <a:t>Supervised learning</a:t>
          </a:r>
          <a:endParaRPr lang="en-US" sz="2400" kern="1200"/>
        </a:p>
      </dsp:txBody>
      <dsp:txXfrm>
        <a:off x="560365" y="97774"/>
        <a:ext cx="7291750" cy="639310"/>
      </dsp:txXfrm>
    </dsp:sp>
    <dsp:sp modelId="{88A92286-1E28-403B-9FF1-4B8B78E932F1}">
      <dsp:nvSpPr>
        <dsp:cNvPr id="0" name=""/>
        <dsp:cNvSpPr/>
      </dsp:nvSpPr>
      <dsp:spPr>
        <a:xfrm>
          <a:off x="0" y="1506069"/>
          <a:ext cx="10515600" cy="604800"/>
        </a:xfrm>
        <a:prstGeom prst="rect">
          <a:avLst/>
        </a:prstGeom>
        <a:solidFill>
          <a:schemeClr val="lt1">
            <a:alpha val="90000"/>
            <a:hueOff val="0"/>
            <a:satOff val="0"/>
            <a:lumOff val="0"/>
            <a:alphaOff val="0"/>
          </a:schemeClr>
        </a:solidFill>
        <a:ln w="19050" cap="flat" cmpd="sng" algn="ctr">
          <a:solidFill>
            <a:schemeClr val="accen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sp>
    <dsp:sp modelId="{B6F03EAC-4BA0-46F1-8A33-008D9B78E981}">
      <dsp:nvSpPr>
        <dsp:cNvPr id="0" name=""/>
        <dsp:cNvSpPr/>
      </dsp:nvSpPr>
      <dsp:spPr>
        <a:xfrm>
          <a:off x="525780" y="1151829"/>
          <a:ext cx="7360920" cy="708480"/>
        </a:xfrm>
        <a:prstGeom prst="roundRect">
          <a:avLst/>
        </a:prstGeom>
        <a:solidFill>
          <a:srgbClr val="002060"/>
        </a:solidFill>
        <a:ln w="1905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278225" tIns="0" rIns="278225" bIns="0" numCol="1" spcCol="1270" anchor="ctr" anchorCtr="0">
          <a:noAutofit/>
        </a:bodyPr>
        <a:lstStyle/>
        <a:p>
          <a:pPr marL="0" lvl="0" indent="0" algn="l" defTabSz="1066800">
            <a:lnSpc>
              <a:spcPct val="90000"/>
            </a:lnSpc>
            <a:spcBef>
              <a:spcPct val="0"/>
            </a:spcBef>
            <a:spcAft>
              <a:spcPct val="35000"/>
            </a:spcAft>
            <a:buNone/>
          </a:pPr>
          <a:r>
            <a:rPr lang="tr-TR" sz="2400" kern="1200" dirty="0" err="1"/>
            <a:t>Unsupervised</a:t>
          </a:r>
          <a:r>
            <a:rPr lang="tr-TR" sz="2400" kern="1200" dirty="0"/>
            <a:t> </a:t>
          </a:r>
          <a:r>
            <a:rPr lang="tr-TR" sz="2400" kern="1200" dirty="0" err="1"/>
            <a:t>learning</a:t>
          </a:r>
          <a:endParaRPr lang="en-US" sz="2400" kern="1200" dirty="0"/>
        </a:p>
      </dsp:txBody>
      <dsp:txXfrm>
        <a:off x="560365" y="1186414"/>
        <a:ext cx="7291750" cy="639310"/>
      </dsp:txXfrm>
    </dsp:sp>
    <dsp:sp modelId="{4A78996A-06BA-452C-83F5-8FF8AC85EF69}">
      <dsp:nvSpPr>
        <dsp:cNvPr id="0" name=""/>
        <dsp:cNvSpPr/>
      </dsp:nvSpPr>
      <dsp:spPr>
        <a:xfrm>
          <a:off x="0" y="2594709"/>
          <a:ext cx="10515600" cy="604800"/>
        </a:xfrm>
        <a:prstGeom prst="rect">
          <a:avLst/>
        </a:prstGeom>
        <a:solidFill>
          <a:schemeClr val="lt1">
            <a:alpha val="90000"/>
            <a:hueOff val="0"/>
            <a:satOff val="0"/>
            <a:lumOff val="0"/>
            <a:alphaOff val="0"/>
          </a:schemeClr>
        </a:solidFill>
        <a:ln w="19050" cap="flat" cmpd="sng" algn="ctr">
          <a:solidFill>
            <a:schemeClr val="accen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sp>
    <dsp:sp modelId="{08FB4CC7-DC5E-4D57-9B12-0894DED4EDFD}">
      <dsp:nvSpPr>
        <dsp:cNvPr id="0" name=""/>
        <dsp:cNvSpPr/>
      </dsp:nvSpPr>
      <dsp:spPr>
        <a:xfrm>
          <a:off x="525780" y="2240469"/>
          <a:ext cx="7360920" cy="708480"/>
        </a:xfrm>
        <a:prstGeom prst="roundRect">
          <a:avLst/>
        </a:prstGeom>
        <a:solidFill>
          <a:srgbClr val="002060"/>
        </a:solidFill>
        <a:ln w="1905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278225" tIns="0" rIns="278225" bIns="0" numCol="1" spcCol="1270" anchor="ctr" anchorCtr="0">
          <a:noAutofit/>
        </a:bodyPr>
        <a:lstStyle/>
        <a:p>
          <a:pPr marL="0" lvl="0" indent="0" algn="l" defTabSz="1066800">
            <a:lnSpc>
              <a:spcPct val="90000"/>
            </a:lnSpc>
            <a:spcBef>
              <a:spcPct val="0"/>
            </a:spcBef>
            <a:spcAft>
              <a:spcPct val="35000"/>
            </a:spcAft>
            <a:buNone/>
          </a:pPr>
          <a:r>
            <a:rPr lang="tr-TR" sz="2400" kern="1200" dirty="0" err="1"/>
            <a:t>Recommender</a:t>
          </a:r>
          <a:r>
            <a:rPr lang="tr-TR" sz="2400" kern="1200" dirty="0"/>
            <a:t> </a:t>
          </a:r>
          <a:r>
            <a:rPr lang="tr-TR" sz="2400" kern="1200" dirty="0" err="1"/>
            <a:t>system</a:t>
          </a:r>
          <a:endParaRPr lang="en-US" sz="2400" kern="1200" dirty="0"/>
        </a:p>
      </dsp:txBody>
      <dsp:txXfrm>
        <a:off x="560365" y="2275054"/>
        <a:ext cx="7291750" cy="639310"/>
      </dsp:txXfrm>
    </dsp:sp>
    <dsp:sp modelId="{1043945D-3873-4E08-9E91-083B5A37B583}">
      <dsp:nvSpPr>
        <dsp:cNvPr id="0" name=""/>
        <dsp:cNvSpPr/>
      </dsp:nvSpPr>
      <dsp:spPr>
        <a:xfrm>
          <a:off x="0" y="3683349"/>
          <a:ext cx="10515600" cy="604800"/>
        </a:xfrm>
        <a:prstGeom prst="rect">
          <a:avLst/>
        </a:prstGeom>
        <a:solidFill>
          <a:schemeClr val="lt1">
            <a:alpha val="90000"/>
            <a:hueOff val="0"/>
            <a:satOff val="0"/>
            <a:lumOff val="0"/>
            <a:alphaOff val="0"/>
          </a:schemeClr>
        </a:solidFill>
        <a:ln w="19050" cap="flat" cmpd="sng" algn="ctr">
          <a:solidFill>
            <a:schemeClr val="accen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sp>
    <dsp:sp modelId="{7EE7B0A7-E64C-4FDD-B784-9A5B7BBB9BF7}">
      <dsp:nvSpPr>
        <dsp:cNvPr id="0" name=""/>
        <dsp:cNvSpPr/>
      </dsp:nvSpPr>
      <dsp:spPr>
        <a:xfrm>
          <a:off x="525780" y="3329109"/>
          <a:ext cx="7360920" cy="708480"/>
        </a:xfrm>
        <a:prstGeom prst="roundRect">
          <a:avLst/>
        </a:prstGeom>
        <a:solidFill>
          <a:srgbClr val="002060"/>
        </a:solidFill>
        <a:ln w="1905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278225" tIns="0" rIns="278225" bIns="0" numCol="1" spcCol="1270" anchor="ctr" anchorCtr="0">
          <a:noAutofit/>
        </a:bodyPr>
        <a:lstStyle/>
        <a:p>
          <a:pPr marL="0" lvl="0" indent="0" algn="l" defTabSz="1066800">
            <a:lnSpc>
              <a:spcPct val="90000"/>
            </a:lnSpc>
            <a:spcBef>
              <a:spcPct val="0"/>
            </a:spcBef>
            <a:spcAft>
              <a:spcPct val="35000"/>
            </a:spcAft>
            <a:buNone/>
          </a:pPr>
          <a:r>
            <a:rPr lang="tr-TR" sz="2400" kern="1200" dirty="0" err="1"/>
            <a:t>Reinforcement</a:t>
          </a:r>
          <a:r>
            <a:rPr lang="tr-TR" sz="2400" kern="1200" dirty="0"/>
            <a:t> </a:t>
          </a:r>
          <a:r>
            <a:rPr lang="tr-TR" sz="2400" kern="1200" dirty="0" err="1"/>
            <a:t>learning</a:t>
          </a:r>
          <a:endParaRPr lang="en-US" sz="2400" kern="1200" dirty="0"/>
        </a:p>
      </dsp:txBody>
      <dsp:txXfrm>
        <a:off x="560365" y="3363694"/>
        <a:ext cx="7291750" cy="639310"/>
      </dsp:txXfrm>
    </dsp:sp>
  </dsp:spTree>
</dsp:drawing>
</file>

<file path=ppt/diagrams/layout1.xml><?xml version="1.0" encoding="utf-8"?>
<dgm:layoutDef xmlns:dgm="http://schemas.openxmlformats.org/drawingml/2006/diagram" xmlns:a="http://schemas.openxmlformats.org/drawingml/2006/main" uniqueId="urn:microsoft.com/office/officeart/2005/8/layout/list1">
  <dgm:title val=""/>
  <dgm:desc val=""/>
  <dgm:catLst>
    <dgm:cat type="list" pri="4000"/>
  </dgm:catLst>
  <dgm:sampData>
    <dgm:dataModel>
      <dgm:ptLst>
        <dgm:pt modelId="0" type="doc"/>
        <dgm:pt modelId="1">
          <dgm:prSet phldr="1"/>
        </dgm:pt>
        <dgm:pt modelId="2">
          <dgm:prSet phldr="1"/>
        </dgm:pt>
        <dgm:pt modelId="3">
          <dgm:prSet phldr="1"/>
        </dgm:pt>
      </dgm:ptLst>
      <dgm:cxnLst>
        <dgm:cxn modelId="4" srcId="0" destId="1" srcOrd="0" destOrd="0"/>
        <dgm:cxn modelId="5" srcId="0" destId="2" srcOrd="1" destOrd="0"/>
        <dgm:cxn modelId="6" srcId="0" destId="3" srcOrd="2" destOrd="0"/>
      </dgm:cxnLst>
      <dgm:bg/>
      <dgm:whole/>
    </dgm:dataModel>
  </dgm:sampData>
  <dgm:styleData>
    <dgm:dataModel>
      <dgm:ptLst>
        <dgm:pt modelId="0" type="doc"/>
        <dgm:pt modelId="1"/>
        <dgm:pt modelId="2"/>
      </dgm:ptLst>
      <dgm:cxnLst>
        <dgm:cxn modelId="4" srcId="0" destId="1" srcOrd="0" destOrd="0"/>
        <dgm:cxn modelId="5"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linear">
    <dgm:varLst>
      <dgm:dir/>
      <dgm:animLvl val="lvl"/>
      <dgm:resizeHandles val="exact"/>
    </dgm:varLst>
    <dgm:choose name="Name0">
      <dgm:if name="Name1" func="var" arg="dir" op="equ" val="norm">
        <dgm:alg type="lin">
          <dgm:param type="linDir" val="fromT"/>
          <dgm:param type="vertAlign" val="mid"/>
          <dgm:param type="horzAlign" val="l"/>
          <dgm:param type="nodeHorzAlign" val="l"/>
        </dgm:alg>
      </dgm:if>
      <dgm:else name="Name2">
        <dgm:alg type="lin">
          <dgm:param type="linDir" val="fromT"/>
          <dgm:param type="vertAlign" val="mid"/>
          <dgm:param type="horzAlign" val="r"/>
          <dgm:param type="nodeHorzAlign" val="r"/>
        </dgm:alg>
      </dgm:else>
    </dgm:choose>
    <dgm:shape xmlns:r="http://schemas.openxmlformats.org/officeDocument/2006/relationships" r:blip="">
      <dgm:adjLst/>
    </dgm:shape>
    <dgm:presOf/>
    <dgm:constrLst>
      <dgm:constr type="w" for="ch" forName="parentLin" refType="w"/>
      <dgm:constr type="h" for="ch" forName="parentLin" val="INF"/>
      <dgm:constr type="w" for="des" forName="parentLeftMargin" refType="w" fact="0.05"/>
      <dgm:constr type="w" for="des" forName="parentText" refType="w" fact="0.7"/>
      <dgm:constr type="h" for="des" forName="parentText" refType="primFontSz" refFor="des" refForName="parentText" fact="0.82"/>
      <dgm:constr type="h" for="ch" forName="negativeSpace" refType="primFontSz" refFor="des" refForName="parentText" fact="-0.41"/>
      <dgm:constr type="h" for="ch" forName="negativeSpace" refType="h" refFor="des" refForName="parentText" op="lte" fact="-0.82"/>
      <dgm:constr type="h" for="ch" forName="negativeSpace" refType="h" refFor="des" refForName="parentText" op="gte" fact="-0.82"/>
      <dgm:constr type="w" for="ch" forName="childText" refType="w"/>
      <dgm:constr type="h" for="ch" forName="childText" refType="primFontSz" refFor="des" refForName="parentText" fact="0.7"/>
      <dgm:constr type="primFontSz" for="des" forName="parentText" val="65"/>
      <dgm:constr type="primFontSz" for="ch" forName="childText" refType="primFontSz" refFor="des" refForName="parentText"/>
      <dgm:constr type="tMarg" for="ch" forName="childText" refType="primFontSz" refFor="des" refForName="parentText" fact="1.64"/>
      <dgm:constr type="tMarg" for="ch" forName="childText" refType="h" refFor="des" refForName="parentText" op="lte" fact="3.28"/>
      <dgm:constr type="tMarg" for="ch" forName="childText" refType="h" refFor="des" refForName="parentText" op="gte" fact="3.28"/>
      <dgm:constr type="lMarg" for="ch" forName="childText" refType="w" fact="0.22"/>
      <dgm:constr type="rMarg" for="ch" forName="childText" refType="lMarg" refFor="ch" refForName="childText"/>
      <dgm:constr type="lMarg" for="des" forName="parentText" refType="w" fact="0.075"/>
      <dgm:constr type="rMarg" for="des" forName="parentText" refType="lMarg" refFor="des" refForName="parentText"/>
      <dgm:constr type="h" for="ch" forName="spaceBetweenRectangles" refType="primFontSz" refFor="des" refForName="parentText" fact="0.15"/>
    </dgm:constrLst>
    <dgm:ruleLst>
      <dgm:rule type="primFontSz" for="des" forName="parentText" val="5" fact="NaN" max="NaN"/>
    </dgm:ruleLst>
    <dgm:forEach name="Name3" axis="ch" ptType="node">
      <dgm:layoutNode name="parentLin">
        <dgm:choose name="Name4">
          <dgm:if name="Name5" func="var" arg="dir" op="equ" val="norm">
            <dgm:alg type="lin">
              <dgm:param type="linDir" val="fromL"/>
              <dgm:param type="horzAlign" val="l"/>
              <dgm:param type="nodeHorzAlign" val="l"/>
            </dgm:alg>
          </dgm:if>
          <dgm:else name="Name6">
            <dgm:alg type="lin">
              <dgm:param type="linDir" val="fromR"/>
              <dgm:param type="horzAlign" val="r"/>
              <dgm:param type="nodeHorzAlign" val="r"/>
            </dgm:alg>
          </dgm:else>
        </dgm:choose>
        <dgm:shape xmlns:r="http://schemas.openxmlformats.org/officeDocument/2006/relationships" r:blip="">
          <dgm:adjLst/>
        </dgm:shape>
        <dgm:presOf/>
        <dgm:constrLst/>
        <dgm:ruleLst/>
        <dgm:layoutNode name="parentLeftMargin">
          <dgm:alg type="sp"/>
          <dgm:shape xmlns:r="http://schemas.openxmlformats.org/officeDocument/2006/relationships" type="rect" r:blip="" hideGeom="1">
            <dgm:adjLst/>
          </dgm:shape>
          <dgm:presOf axis="self"/>
          <dgm:constrLst>
            <dgm:constr type="h"/>
          </dgm:constrLst>
          <dgm:ruleLst/>
        </dgm:layoutNode>
        <dgm:layoutNode name="parentText" styleLbl="node1">
          <dgm:varLst>
            <dgm:chMax val="0"/>
            <dgm:bulletEnabled val="1"/>
          </dgm:varLst>
          <dgm:choose name="Name7">
            <dgm:if name="Name8" func="var" arg="dir" op="equ" val="norm">
              <dgm:alg type="tx">
                <dgm:param type="parTxLTRAlign" val="l"/>
                <dgm:param type="parTxRTLAlign" val="l"/>
              </dgm:alg>
            </dgm:if>
            <dgm:else name="Name9">
              <dgm:alg type="tx">
                <dgm:param type="parTxLTRAlign" val="r"/>
                <dgm:param type="parTxRTLAlign" val="r"/>
              </dgm:alg>
            </dgm:else>
          </dgm:choose>
          <dgm:shape xmlns:r="http://schemas.openxmlformats.org/officeDocument/2006/relationships" type="roundRect" r:blip="">
            <dgm:adjLst/>
          </dgm:shape>
          <dgm:presOf axis="self" ptType="node"/>
          <dgm:constrLst>
            <dgm:constr type="tMarg"/>
            <dgm:constr type="bMarg"/>
          </dgm:constrLst>
          <dgm:ruleLst/>
        </dgm:layoutNode>
      </dgm:layoutNode>
      <dgm:layoutNode name="negativeSpace">
        <dgm:alg type="sp"/>
        <dgm:shape xmlns:r="http://schemas.openxmlformats.org/officeDocument/2006/relationships" r:blip="">
          <dgm:adjLst/>
        </dgm:shape>
        <dgm:presOf/>
        <dgm:constrLst/>
        <dgm:ruleLst/>
      </dgm:layoutNode>
      <dgm:layoutNode name="childText" styleLbl="conFgAcc1">
        <dgm:varLst>
          <dgm:bulletEnabled val="1"/>
        </dgm:varLst>
        <dgm:alg type="tx">
          <dgm:param type="stBulletLvl" val="1"/>
        </dgm:alg>
        <dgm:shape xmlns:r="http://schemas.openxmlformats.org/officeDocument/2006/relationships" type="rect" r:blip="" zOrderOff="-2">
          <dgm:adjLst/>
        </dgm:shape>
        <dgm:presOf axis="des" ptType="node"/>
        <dgm:constrLst>
          <dgm:constr type="secFontSz" refType="primFontSz"/>
        </dgm:constrLst>
        <dgm:ruleLst>
          <dgm:rule type="h" val="INF" fact="NaN" max="NaN"/>
        </dgm:ruleLst>
      </dgm:layoutNode>
      <dgm:forEach name="Name10" axis="followSib" ptType="sibTrans" cnt="1">
        <dgm:layoutNode name="spaceBetweenRectangles">
          <dgm:alg type="sp"/>
          <dgm:shape xmlns:r="http://schemas.openxmlformats.org/officeDocument/2006/relationships" r:blip="">
            <dgm:adjLst/>
          </dgm:shape>
          <dgm:presOf/>
          <dgm:constrLst/>
          <dgm:ruleLst/>
        </dgm:layoutNode>
      </dgm:forEach>
    </dgm:forEach>
  </dgm:layoutNode>
</dgm:layoutDef>
</file>

<file path=ppt/diagrams/quickStyle1.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ink/ink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3-08-24T06:28:35.012"/>
    </inkml:context>
    <inkml:brush xml:id="br0">
      <inkml:brushProperty name="width" value="0.1" units="cm"/>
      <inkml:brushProperty name="height" value="0.1" units="cm"/>
      <inkml:brushProperty name="color" value="#FFC114"/>
    </inkml:brush>
  </inkml:definitions>
  <inkml:trace contextRef="#ctx0" brushRef="#br0">1 4776 24575,'3'-5'0,"0"1"0,-1-1 0,1 0 0,-1 0 0,0 0 0,0 0 0,-1 0 0,1 0 0,-1 0 0,0 0 0,-1-1 0,1 1 0,-1-8 0,4-22 0,57-183 0,-40 169 0,5-17 0,-13 22 0,-6 24 0,0-1 0,-2 0 0,5-43 0,-9 55 0,1 0 0,0 0 0,0 0 0,1 0 0,0 1 0,5-10 0,-4 8 0,0-1 0,0 0 0,3-17 0,-4 14 0,1 0 0,1 1 0,0-1 0,12-22 0,-9 20 0,-1-1 0,8-24 0,28-79 0,-35 99 0,1 1 0,1-1 0,23-34 0,10-19 0,-19 30 0,2 1 0,53-67 0,20-30 0,11-33 0,-92 139 0,-12 22 0,0 0 0,14-19 0,110-137 0,-105 137 0,118-125 0,-137 149 0,0 0 0,0-1 0,-1 1 0,6-11 0,10-15 0,48-48 0,-36 43 0,40-58 0,-57 73 0,1 1 0,1 0 0,1 1 0,28-25 0,77-70 0,60-53 0,-173 160 0,83-74 0,-58 51 0,75-51 0,-62 48 0,153-100 0,-68 47 0,-105 69 0,1 2 0,62-26 0,68-12 0,-108 38 0,61-30 0,-80 31 0,70-22 0,-51 21 0,0-3 0,70-37 0,13-6 0,-4 8 0,283-105 0,-353 140 0,343-103 0,-375 116 0,7-1 0,0-1 0,-1-2 0,42-19 0,-54 18 0,1 1 0,1 1 0,0 1 0,35-7 0,221-60 0,-214 56 0,-27 8 0,0 2 0,78-8 0,-91 13 0,0 0 0,0-2 0,0-1 0,-1-1 0,42-22 0,-1 3 0,-10 12 0,-9 3 0,39-15 0,120-21 0,-134 35 0,68-11 0,75-14 0,-91 14 0,-79 17 0,37-7 0,146-8 0,169 0 0,76 0 0,1801 24-1365,-2257-1-5461</inkml:trace>
</inkml:ink>
</file>

<file path=ppt/ink/ink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3-08-24T06:44:03.703"/>
    </inkml:context>
    <inkml:brush xml:id="br0">
      <inkml:brushProperty name="width" value="0.1" units="cm"/>
      <inkml:brushProperty name="height" value="0.1" units="cm"/>
      <inkml:brushProperty name="color" value="#FFC114"/>
    </inkml:brush>
  </inkml:definitions>
  <inkml:trace contextRef="#ctx0" brushRef="#br0">0 1 24575,'351'0'0,"-330"1"0,-1 2 0,0 0 0,0 1 0,25 8 0,36 7 0,-32-8 0,85 30 0,-107-32 0,10 4 0,-10-3 0,1-1 0,54 10 0,-70-17 0,0 1 0,0 1 0,18 8 0,17 4 0,108 38 0,-1 0 0,-124-46 0,-5-2 0,0 1 0,-1 1 0,0 1 0,23 12 0,91 42 0,-26-14 0,-90-37 0,-1 1 0,30 25 0,-32-23 0,-1-2 0,2 0 0,26 13 0,-39-22 0,9 2 0,-1 1 0,0 1 0,-1 0 0,0 1 0,0 0 0,24 22 0,-32-25 0,1 0 0,0 0 0,1-1 0,14 8 0,-14-9 0,1 1 0,-2 0 0,1 0 0,10 10 0,-1 2 0,1-1 0,1-1 0,0-1 0,1 0 0,0-1 0,34 15 0,-41-22 0,-1 2 0,0-1 0,0 2 0,20 18 0,-21-17 0,0-1 0,0 0 0,1-1 0,20 12 0,3-2 0,-24-11 0,1-1 0,19 7 0,-14-6 0,-1 1 0,-1 1 0,1 0 0,-1 1 0,-1 1 0,0 0 0,23 24 0,-4-8 0,-24-21 0,-1 1 0,0 0 0,8 8 0,-4-2 0,1-1 0,1 0 0,0-1 0,17 10 0,-14-10 0,-1 1 0,29 27 0,104 106 0,-18-10 0,-120-124 0,24 18 0,-24-22 0,-2 1 0,1 1 0,16 18 0,37 41 0,-22-25 0,-29-29 0,16 27 0,-19-28 0,-1-1 0,2 1 0,13 14 0,-16-21 0,0 0 0,-1 1 0,0-1 0,0 1 0,0 1 0,-1-1 0,0 1 0,-1 0 0,0 0 0,5 14 0,-5-14 0,-1-1 0,1 1 0,0-1 0,0-1 0,1 1 0,8 9 0,12 16 0,1 6 0,-17-27 0,-1 1 0,-1 0 0,0 0 0,7 17 0,-13-26 0,9 23 0,0 0 0,2-1 0,21 35 0,-5-21 0,-16-24 0,-2 0 0,0 0 0,12 25 0,44 93 0,-36-77 0,26 70 0,-37-79 0,-10-26 0,-1 1 0,7 27 0,-13-43 0,0 0 0,0 0 0,1 1 0,0-1 0,1-1 0,-1 1 0,9 10 0,-8-11 0,1 1 0,-1 0 0,-1 0 0,1 0 0,-1 1 0,4 11 0,-5-9 0,27 84 0,-25-80 0,1-1 0,1 0 0,0 0 0,1 0 0,9 12 0,-6-11 0,-1 0 0,-1 1 0,0 0 0,-1 0 0,-1 0 0,0 1 0,6 25 0,-2-12 0,2 1 0,30 50 0,-33-62 0,-2-4 0,0-1 0,0 0 0,-1 0 0,0 1 0,-1 0 0,0 1 0,-1-1 0,3 17 0,-1 4 0,2 0 0,2-1 0,1 0 0,22 46 0,-11-24 0,7 10 0,-15-37 0,16 51 0,-27-71 0,28 113 0,-20-76 0,19 54 0,4 10 0,-14-28 0,17 159 0,-27-155 0,2 47 0,-12-125 0,0-1 0,1 1 0,0-1 0,0 1 0,1-1 0,0 0 0,0 0 0,1 0 0,-1 0 0,1 0 0,4 6 0,-2-1 0,-1 0 0,0-1 0,-1 1 0,0 0 0,0 1 0,0 19 0,5 15 0,4 43 0,-3-11 0,13 76 0,-14-97 0,-7-39 0,1-1 0,1 1 0,1-1 0,10 29 0,-7-31-1365</inkml:trace>
</inkml:ink>
</file>

<file path=ppt/ink/ink3.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3-08-24T07:01:58.156"/>
    </inkml:context>
    <inkml:brush xml:id="br0">
      <inkml:brushProperty name="width" value="0.1" units="cm"/>
      <inkml:brushProperty name="height" value="0.1" units="cm"/>
      <inkml:brushProperty name="color" value="#FFC114"/>
    </inkml:brush>
  </inkml:definitions>
  <inkml:trace contextRef="#ctx0" brushRef="#br0">0 1 24575,'351'0'0,"-330"1"0,-1 2 0,0 0 0,0 1 0,25 8 0,36 7 0,-32-8 0,85 30 0,-107-32 0,10 4 0,-10-3 0,1-1 0,54 10 0,-70-17 0,0 1 0,0 1 0,18 8 0,17 4 0,108 38 0,-1 0 0,-124-46 0,-5-2 0,0 1 0,-1 1 0,0 1 0,23 12 0,91 42 0,-26-14 0,-90-37 0,-1 1 0,30 25 0,-32-23 0,-1-2 0,2 0 0,26 13 0,-39-22 0,9 2 0,-1 1 0,0 1 0,-1 0 0,0 1 0,0 0 0,24 22 0,-32-25 0,1 0 0,0 0 0,1-1 0,14 8 0,-14-9 0,1 1 0,-2 0 0,1 0 0,10 10 0,-1 2 0,1-1 0,1-1 0,0-1 0,1 0 0,0-1 0,34 15 0,-41-22 0,-1 2 0,0-1 0,0 2 0,20 18 0,-21-17 0,0-1 0,0 0 0,1-1 0,20 12 0,3-2 0,-24-11 0,1-1 0,19 7 0,-14-6 0,-1 1 0,-1 1 0,1 0 0,-1 1 0,-1 1 0,0 0 0,23 24 0,-4-8 0,-24-21 0,-1 1 0,0 0 0,8 8 0,-4-2 0,1-1 0,1 0 0,0-1 0,17 10 0,-14-10 0,-1 1 0,29 27 0,104 106 0,-18-10 0,-120-124 0,24 18 0,-24-22 0,-2 1 0,1 1 0,16 18 0,37 41 0,-22-25 0,-29-29 0,16 27 0,-19-28 0,-1-1 0,2 1 0,13 14 0,-16-21 0,0 0 0,-1 1 0,0-1 0,0 1 0,0 1 0,-1-1 0,0 1 0,-1 0 0,0 0 0,5 14 0,-5-14 0,-1-1 0,1 1 0,0-1 0,0-1 0,1 1 0,8 9 0,12 16 0,1 6 0,-17-27 0,-1 1 0,-1 0 0,0 0 0,7 17 0,-13-26 0,9 23 0,0 0 0,2-1 0,21 35 0,-5-21 0,-16-24 0,-2 0 0,0 0 0,12 25 0,44 93 0,-36-77 0,26 70 0,-37-79 0,-10-26 0,-1 1 0,7 27 0,-13-43 0,0 0 0,0 0 0,1 1 0,0-1 0,1-1 0,-1 1 0,9 10 0,-8-11 0,1 1 0,-1 0 0,-1 0 0,1 0 0,-1 1 0,4 11 0,-5-9 0,27 84 0,-25-80 0,1-1 0,1 0 0,0 0 0,1 0 0,9 12 0,-6-11 0,-1 0 0,-1 1 0,0 0 0,-1 0 0,-1 0 0,0 1 0,6 25 0,-2-12 0,2 1 0,30 50 0,-33-62 0,-2-4 0,0-1 0,0 0 0,-1 0 0,0 1 0,-1 0 0,0 1 0,-1-1 0,3 17 0,-1 4 0,2 0 0,2-1 0,1 0 0,22 46 0,-11-24 0,7 10 0,-15-37 0,16 51 0,-27-71 0,28 113 0,-20-76 0,19 54 0,4 10 0,-14-28 0,17 159 0,-27-155 0,2 47 0,-12-125 0,0-1 0,1 1 0,0-1 0,0 1 0,1-1 0,0 0 0,0 0 0,1 0 0,-1 0 0,1 0 0,4 6 0,-2-1 0,-1 0 0,0-1 0,-1 1 0,0 0 0,0 1 0,0 19 0,5 15 0,4 43 0,-3-11 0,13 76 0,-14-97 0,-7-39 0,1-1 0,1 1 0,1-1 0,10 29 0,-7-31-1365</inkml:trace>
</inkml:ink>
</file>

<file path=ppt/ink/ink4.xml><?xml version="1.0" encoding="utf-8"?>
<inkml:ink xmlns:inkml="http://www.w3.org/2003/InkML">
  <inkml:definitions>
    <inkml:context xml:id="ctx0">
      <inkml:inkSource xml:id="inkSrc0">
        <inkml:traceFormat>
          <inkml:channel name="X" type="integer" max="4440" units="cm"/>
          <inkml:channel name="Y" type="integer" max="1680" units="cm"/>
          <inkml:channel name="T" type="integer" max="2.14748E9" units="dev"/>
        </inkml:traceFormat>
        <inkml:channelProperties>
          <inkml:channelProperty channel="X" name="resolution" value="131.36095" units="1/cm"/>
          <inkml:channelProperty channel="Y" name="resolution" value="74.33628" units="1/cm"/>
          <inkml:channelProperty channel="T" name="resolution" value="1" units="1/dev"/>
        </inkml:channelProperties>
      </inkml:inkSource>
      <inkml:timestamp xml:id="ts0" timeString="2023-09-09T09:44:28.717"/>
    </inkml:context>
    <inkml:brush xml:id="br0">
      <inkml:brushProperty name="width" value="0.05292" units="cm"/>
      <inkml:brushProperty name="height" value="0.05292" units="cm"/>
      <inkml:brushProperty name="color" value="#FF0000"/>
    </inkml:brush>
  </inkml:definitions>
  <inkml:trace contextRef="#ctx0" brushRef="#br0">13635 6668 0</inkml:trace>
</inkml:ink>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82818CB6-58D8-E341-89E3-B1B4539E4D42}" type="datetimeFigureOut">
              <a:rPr lang="en-US" smtClean="0"/>
              <a:t>10/19/26</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E6F9F899-755C-8E48-877E-C13331F26A4B}" type="slidenum">
              <a:rPr lang="en-US" smtClean="0"/>
              <a:t>‹#›</a:t>
            </a:fld>
            <a:endParaRPr lang="en-US"/>
          </a:p>
        </p:txBody>
      </p:sp>
    </p:spTree>
    <p:extLst>
      <p:ext uri="{BB962C8B-B14F-4D97-AF65-F5344CB8AC3E}">
        <p14:creationId xmlns:p14="http://schemas.microsoft.com/office/powerpoint/2010/main" val="3658299815"/>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30.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31.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32.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33.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34.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35.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36.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37.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38.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39.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40.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41.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42.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43.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44.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45.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46.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47.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48.xml"/><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2" Type="http://schemas.openxmlformats.org/officeDocument/2006/relationships/slide" Target="../slides/slide49.xml"/><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2" Type="http://schemas.openxmlformats.org/officeDocument/2006/relationships/slide" Target="../slides/slide50.xml"/><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2" Type="http://schemas.openxmlformats.org/officeDocument/2006/relationships/slide" Target="../slides/slide51.xml"/><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2" Type="http://schemas.openxmlformats.org/officeDocument/2006/relationships/slide" Target="../slides/slide52.xml"/><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2" Type="http://schemas.openxmlformats.org/officeDocument/2006/relationships/slide" Target="../slides/slide53.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tr-TR" dirty="0" err="1"/>
              <a:t>We</a:t>
            </a:r>
            <a:r>
              <a:rPr lang="tr-TR" dirty="0"/>
              <a:t> talk </a:t>
            </a:r>
            <a:r>
              <a:rPr lang="tr-TR" dirty="0" err="1"/>
              <a:t>about</a:t>
            </a:r>
            <a:r>
              <a:rPr lang="tr-TR" dirty="0"/>
              <a:t> Machine Learning. </a:t>
            </a:r>
            <a:r>
              <a:rPr lang="tr-TR" dirty="0" err="1"/>
              <a:t>Lets</a:t>
            </a:r>
            <a:r>
              <a:rPr lang="tr-TR" dirty="0"/>
              <a:t> </a:t>
            </a:r>
            <a:r>
              <a:rPr lang="tr-TR" dirty="0" err="1"/>
              <a:t>look</a:t>
            </a:r>
            <a:r>
              <a:rPr lang="tr-TR" dirty="0"/>
              <a:t> </a:t>
            </a:r>
            <a:r>
              <a:rPr lang="tr-TR" dirty="0" err="1"/>
              <a:t>machine</a:t>
            </a:r>
            <a:r>
              <a:rPr lang="tr-TR" dirty="0"/>
              <a:t> </a:t>
            </a:r>
            <a:r>
              <a:rPr lang="tr-TR" dirty="0" err="1"/>
              <a:t>learning</a:t>
            </a:r>
            <a:r>
              <a:rPr lang="tr-TR" dirty="0"/>
              <a:t> </a:t>
            </a:r>
            <a:r>
              <a:rPr lang="tr-TR" dirty="0" err="1"/>
              <a:t>algorithms</a:t>
            </a:r>
            <a:r>
              <a:rPr lang="tr-TR" dirty="0"/>
              <a:t>. First </a:t>
            </a:r>
            <a:r>
              <a:rPr lang="tr-TR" dirty="0" err="1"/>
              <a:t>one</a:t>
            </a:r>
            <a:r>
              <a:rPr lang="tr-TR" dirty="0"/>
              <a:t> is </a:t>
            </a:r>
            <a:r>
              <a:rPr lang="tr-TR" dirty="0" err="1"/>
              <a:t>Supervised</a:t>
            </a:r>
            <a:r>
              <a:rPr lang="tr-TR" dirty="0"/>
              <a:t> </a:t>
            </a:r>
            <a:r>
              <a:rPr lang="tr-TR" dirty="0" err="1"/>
              <a:t>learning</a:t>
            </a:r>
            <a:r>
              <a:rPr lang="tr-TR" dirty="0"/>
              <a:t>, </a:t>
            </a:r>
            <a:r>
              <a:rPr lang="tr-TR" dirty="0" err="1"/>
              <a:t>other</a:t>
            </a:r>
            <a:r>
              <a:rPr lang="tr-TR" dirty="0"/>
              <a:t> </a:t>
            </a:r>
            <a:r>
              <a:rPr lang="tr-TR" dirty="0" err="1"/>
              <a:t>one</a:t>
            </a:r>
            <a:r>
              <a:rPr lang="tr-TR" dirty="0"/>
              <a:t> is </a:t>
            </a:r>
            <a:r>
              <a:rPr lang="tr-TR" dirty="0" err="1"/>
              <a:t>unsupervised</a:t>
            </a:r>
            <a:r>
              <a:rPr lang="tr-TR" dirty="0"/>
              <a:t> </a:t>
            </a:r>
            <a:r>
              <a:rPr lang="tr-TR" dirty="0" err="1"/>
              <a:t>learning</a:t>
            </a:r>
            <a:r>
              <a:rPr lang="tr-TR" dirty="0"/>
              <a:t>. </a:t>
            </a:r>
            <a:r>
              <a:rPr lang="tr-TR" dirty="0" err="1"/>
              <a:t>These</a:t>
            </a:r>
            <a:r>
              <a:rPr lang="tr-TR" dirty="0"/>
              <a:t> </a:t>
            </a:r>
            <a:r>
              <a:rPr lang="tr-TR" dirty="0" err="1"/>
              <a:t>are</a:t>
            </a:r>
            <a:r>
              <a:rPr lang="tr-TR" dirty="0"/>
              <a:t> two main </a:t>
            </a:r>
            <a:r>
              <a:rPr lang="tr-TR" dirty="0" err="1"/>
              <a:t>catagory</a:t>
            </a:r>
            <a:r>
              <a:rPr lang="tr-TR" dirty="0"/>
              <a:t> of </a:t>
            </a:r>
            <a:r>
              <a:rPr lang="tr-TR" dirty="0" err="1"/>
              <a:t>machine</a:t>
            </a:r>
            <a:r>
              <a:rPr lang="tr-TR" dirty="0"/>
              <a:t> </a:t>
            </a:r>
            <a:r>
              <a:rPr lang="tr-TR" dirty="0" err="1"/>
              <a:t>learning</a:t>
            </a:r>
            <a:r>
              <a:rPr lang="tr-TR" dirty="0"/>
              <a:t>. </a:t>
            </a:r>
            <a:r>
              <a:rPr lang="tr-TR" dirty="0" err="1"/>
              <a:t>During</a:t>
            </a:r>
            <a:r>
              <a:rPr lang="tr-TR" dirty="0"/>
              <a:t> </a:t>
            </a:r>
            <a:r>
              <a:rPr lang="tr-TR" dirty="0" err="1"/>
              <a:t>the</a:t>
            </a:r>
            <a:r>
              <a:rPr lang="tr-TR" dirty="0"/>
              <a:t> 2-3 </a:t>
            </a:r>
            <a:r>
              <a:rPr lang="tr-TR" dirty="0" err="1"/>
              <a:t>weeks</a:t>
            </a:r>
            <a:r>
              <a:rPr lang="tr-TR" dirty="0"/>
              <a:t> </a:t>
            </a:r>
            <a:r>
              <a:rPr lang="tr-TR" dirty="0" err="1"/>
              <a:t>we</a:t>
            </a:r>
            <a:r>
              <a:rPr lang="tr-TR" dirty="0"/>
              <a:t> </a:t>
            </a:r>
            <a:r>
              <a:rPr lang="tr-TR" dirty="0" err="1"/>
              <a:t>will</a:t>
            </a:r>
            <a:r>
              <a:rPr lang="tr-TR" dirty="0"/>
              <a:t> </a:t>
            </a:r>
            <a:r>
              <a:rPr lang="tr-TR" dirty="0" err="1"/>
              <a:t>cover</a:t>
            </a:r>
            <a:r>
              <a:rPr lang="tr-TR" dirty="0"/>
              <a:t> </a:t>
            </a:r>
            <a:r>
              <a:rPr lang="tr-TR" dirty="0" err="1"/>
              <a:t>the</a:t>
            </a:r>
            <a:r>
              <a:rPr lang="tr-TR" dirty="0"/>
              <a:t> </a:t>
            </a:r>
            <a:r>
              <a:rPr lang="tr-TR" dirty="0" err="1"/>
              <a:t>supervised</a:t>
            </a:r>
            <a:r>
              <a:rPr lang="tr-TR" dirty="0"/>
              <a:t> </a:t>
            </a:r>
            <a:r>
              <a:rPr lang="tr-TR" dirty="0" err="1"/>
              <a:t>learning</a:t>
            </a:r>
            <a:r>
              <a:rPr lang="tr-TR" dirty="0"/>
              <a:t>. </a:t>
            </a:r>
            <a:r>
              <a:rPr lang="tr-TR" dirty="0" err="1"/>
              <a:t>One</a:t>
            </a:r>
            <a:r>
              <a:rPr lang="tr-TR" dirty="0"/>
              <a:t> </a:t>
            </a:r>
            <a:r>
              <a:rPr lang="tr-TR" dirty="0" err="1"/>
              <a:t>week</a:t>
            </a:r>
            <a:r>
              <a:rPr lang="tr-TR" dirty="0"/>
              <a:t> </a:t>
            </a:r>
            <a:r>
              <a:rPr lang="tr-TR" dirty="0" err="1"/>
              <a:t>we</a:t>
            </a:r>
            <a:r>
              <a:rPr lang="tr-TR" dirty="0"/>
              <a:t> </a:t>
            </a:r>
            <a:r>
              <a:rPr lang="tr-TR" dirty="0" err="1"/>
              <a:t>will</a:t>
            </a:r>
            <a:r>
              <a:rPr lang="tr-TR" dirty="0"/>
              <a:t> </a:t>
            </a:r>
            <a:r>
              <a:rPr lang="tr-TR" dirty="0" err="1"/>
              <a:t>cover</a:t>
            </a:r>
            <a:r>
              <a:rPr lang="tr-TR" dirty="0"/>
              <a:t> </a:t>
            </a:r>
            <a:r>
              <a:rPr lang="tr-TR" dirty="0" err="1"/>
              <a:t>unsupervised</a:t>
            </a:r>
            <a:r>
              <a:rPr lang="tr-TR" dirty="0"/>
              <a:t> </a:t>
            </a:r>
            <a:r>
              <a:rPr lang="tr-TR" dirty="0" err="1"/>
              <a:t>learning</a:t>
            </a:r>
            <a:r>
              <a:rPr lang="tr-TR" dirty="0"/>
              <a:t> ,  1 </a:t>
            </a:r>
            <a:r>
              <a:rPr lang="tr-TR" dirty="0" err="1"/>
              <a:t>week</a:t>
            </a:r>
            <a:r>
              <a:rPr lang="tr-TR" dirty="0"/>
              <a:t> </a:t>
            </a:r>
            <a:r>
              <a:rPr lang="tr-TR" dirty="0" err="1"/>
              <a:t>recommender</a:t>
            </a:r>
            <a:r>
              <a:rPr lang="tr-TR" dirty="0"/>
              <a:t> </a:t>
            </a:r>
            <a:r>
              <a:rPr lang="tr-TR" dirty="0" err="1"/>
              <a:t>system</a:t>
            </a:r>
            <a:r>
              <a:rPr lang="tr-TR" dirty="0"/>
              <a:t> </a:t>
            </a:r>
            <a:r>
              <a:rPr lang="tr-TR" dirty="0" err="1"/>
              <a:t>and</a:t>
            </a:r>
            <a:r>
              <a:rPr lang="tr-TR" dirty="0"/>
              <a:t> 1 </a:t>
            </a:r>
            <a:r>
              <a:rPr lang="tr-TR" dirty="0" err="1"/>
              <a:t>week</a:t>
            </a:r>
            <a:r>
              <a:rPr lang="tr-TR" dirty="0"/>
              <a:t> </a:t>
            </a:r>
            <a:r>
              <a:rPr lang="tr-TR" dirty="0" err="1"/>
              <a:t>reinforcement</a:t>
            </a:r>
            <a:r>
              <a:rPr lang="tr-TR" dirty="0"/>
              <a:t> </a:t>
            </a:r>
            <a:r>
              <a:rPr lang="tr-TR" dirty="0" err="1"/>
              <a:t>learning</a:t>
            </a:r>
            <a:r>
              <a:rPr lang="tr-TR" dirty="0"/>
              <a:t>. </a:t>
            </a:r>
          </a:p>
          <a:p>
            <a:endParaRPr lang="tr-TR" dirty="0"/>
          </a:p>
          <a:p>
            <a:r>
              <a:rPr lang="tr-TR" dirty="0" err="1"/>
              <a:t>Supervised</a:t>
            </a:r>
            <a:r>
              <a:rPr lang="tr-TR" dirty="0"/>
              <a:t> </a:t>
            </a:r>
            <a:r>
              <a:rPr lang="tr-TR" dirty="0" err="1"/>
              <a:t>learning</a:t>
            </a:r>
            <a:r>
              <a:rPr lang="tr-TR" dirty="0"/>
              <a:t> is </a:t>
            </a:r>
            <a:r>
              <a:rPr lang="tr-TR" dirty="0" err="1"/>
              <a:t>most</a:t>
            </a:r>
            <a:r>
              <a:rPr lang="tr-TR" dirty="0"/>
              <a:t> </a:t>
            </a:r>
            <a:r>
              <a:rPr lang="tr-TR" dirty="0" err="1"/>
              <a:t>well</a:t>
            </a:r>
            <a:r>
              <a:rPr lang="tr-TR" dirty="0"/>
              <a:t> </a:t>
            </a:r>
            <a:r>
              <a:rPr lang="tr-TR" dirty="0" err="1"/>
              <a:t>known</a:t>
            </a:r>
            <a:r>
              <a:rPr lang="tr-TR" dirty="0"/>
              <a:t>, </a:t>
            </a:r>
            <a:r>
              <a:rPr lang="tr-TR" dirty="0" err="1"/>
              <a:t>useful</a:t>
            </a:r>
            <a:r>
              <a:rPr lang="tr-TR" dirty="0"/>
              <a:t> </a:t>
            </a:r>
            <a:r>
              <a:rPr lang="tr-TR" dirty="0" err="1"/>
              <a:t>and</a:t>
            </a:r>
            <a:r>
              <a:rPr lang="tr-TR" dirty="0"/>
              <a:t> </a:t>
            </a:r>
            <a:r>
              <a:rPr lang="tr-TR" dirty="0" err="1"/>
              <a:t>basic</a:t>
            </a:r>
            <a:r>
              <a:rPr lang="tr-TR" dirty="0"/>
              <a:t>. </a:t>
            </a:r>
            <a:r>
              <a:rPr lang="tr-TR" dirty="0" err="1"/>
              <a:t>Why</a:t>
            </a:r>
            <a:r>
              <a:rPr lang="tr-TR" dirty="0"/>
              <a:t> it is </a:t>
            </a:r>
            <a:r>
              <a:rPr lang="tr-TR" dirty="0" err="1"/>
              <a:t>most</a:t>
            </a:r>
            <a:r>
              <a:rPr lang="tr-TR" dirty="0"/>
              <a:t> </a:t>
            </a:r>
            <a:r>
              <a:rPr lang="tr-TR" dirty="0" err="1"/>
              <a:t>frequently</a:t>
            </a:r>
            <a:r>
              <a:rPr lang="tr-TR" dirty="0"/>
              <a:t> </a:t>
            </a:r>
            <a:r>
              <a:rPr lang="tr-TR" dirty="0" err="1"/>
              <a:t>using</a:t>
            </a:r>
            <a:r>
              <a:rPr lang="tr-TR" dirty="0"/>
              <a:t> </a:t>
            </a:r>
            <a:r>
              <a:rPr lang="tr-TR" dirty="0" err="1"/>
              <a:t>practical</a:t>
            </a:r>
            <a:r>
              <a:rPr lang="tr-TR" dirty="0"/>
              <a:t> </a:t>
            </a:r>
            <a:r>
              <a:rPr lang="tr-TR" dirty="0" err="1"/>
              <a:t>application</a:t>
            </a:r>
            <a:r>
              <a:rPr lang="tr-TR" dirty="0"/>
              <a:t>.</a:t>
            </a:r>
            <a:endParaRPr lang="en-US" dirty="0"/>
          </a:p>
        </p:txBody>
      </p:sp>
      <p:sp>
        <p:nvSpPr>
          <p:cNvPr id="4" name="Slide Number Placeholder 3"/>
          <p:cNvSpPr>
            <a:spLocks noGrp="1"/>
          </p:cNvSpPr>
          <p:nvPr>
            <p:ph type="sldNum" sz="quarter" idx="5"/>
          </p:nvPr>
        </p:nvSpPr>
        <p:spPr/>
        <p:txBody>
          <a:bodyPr/>
          <a:lstStyle/>
          <a:p>
            <a:fld id="{0BFC31E6-9817-4ADD-82D7-FAC1C8ED9A92}" type="slidenum">
              <a:rPr lang="en-US" smtClean="0"/>
              <a:t>22</a:t>
            </a:fld>
            <a:endParaRPr lang="en-US"/>
          </a:p>
        </p:txBody>
      </p:sp>
    </p:spTree>
    <p:extLst>
      <p:ext uri="{BB962C8B-B14F-4D97-AF65-F5344CB8AC3E}">
        <p14:creationId xmlns:p14="http://schemas.microsoft.com/office/powerpoint/2010/main" val="2151043937"/>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tr-TR" dirty="0" err="1"/>
              <a:t>Lets</a:t>
            </a:r>
            <a:r>
              <a:rPr lang="tr-TR" dirty="0"/>
              <a:t> start </a:t>
            </a:r>
            <a:r>
              <a:rPr lang="tr-TR" dirty="0" err="1"/>
              <a:t>with</a:t>
            </a:r>
            <a:r>
              <a:rPr lang="tr-TR" dirty="0"/>
              <a:t> </a:t>
            </a:r>
            <a:r>
              <a:rPr lang="tr-TR" dirty="0" err="1"/>
              <a:t>supervised</a:t>
            </a:r>
            <a:r>
              <a:rPr lang="tr-TR" dirty="0"/>
              <a:t> </a:t>
            </a:r>
            <a:r>
              <a:rPr lang="tr-TR" dirty="0" err="1"/>
              <a:t>learning</a:t>
            </a:r>
            <a:r>
              <a:rPr lang="tr-TR" dirty="0"/>
              <a:t>. </a:t>
            </a:r>
            <a:r>
              <a:rPr lang="tr-TR" dirty="0" err="1"/>
              <a:t>We</a:t>
            </a:r>
            <a:r>
              <a:rPr lang="tr-TR" dirty="0"/>
              <a:t> </a:t>
            </a:r>
            <a:r>
              <a:rPr lang="tr-TR" dirty="0" err="1"/>
              <a:t>have</a:t>
            </a:r>
            <a:r>
              <a:rPr lang="tr-TR" dirty="0"/>
              <a:t> two </a:t>
            </a:r>
            <a:r>
              <a:rPr lang="tr-TR" dirty="0" err="1"/>
              <a:t>type</a:t>
            </a:r>
            <a:r>
              <a:rPr lang="tr-TR" dirty="0"/>
              <a:t> </a:t>
            </a:r>
            <a:r>
              <a:rPr lang="tr-TR" dirty="0" err="1"/>
              <a:t>supervised</a:t>
            </a:r>
            <a:r>
              <a:rPr lang="tr-TR" dirty="0"/>
              <a:t> </a:t>
            </a:r>
            <a:r>
              <a:rPr lang="tr-TR" dirty="0" err="1"/>
              <a:t>learning</a:t>
            </a:r>
            <a:r>
              <a:rPr lang="tr-TR" dirty="0"/>
              <a:t> </a:t>
            </a:r>
            <a:r>
              <a:rPr lang="tr-TR" dirty="0" err="1"/>
              <a:t>regression</a:t>
            </a:r>
            <a:r>
              <a:rPr lang="tr-TR" dirty="0"/>
              <a:t> </a:t>
            </a:r>
            <a:r>
              <a:rPr lang="tr-TR" dirty="0" err="1"/>
              <a:t>and</a:t>
            </a:r>
            <a:r>
              <a:rPr lang="tr-TR" dirty="0"/>
              <a:t> </a:t>
            </a:r>
            <a:r>
              <a:rPr lang="tr-TR" dirty="0" err="1"/>
              <a:t>classification</a:t>
            </a:r>
            <a:r>
              <a:rPr lang="tr-TR" dirty="0"/>
              <a:t>. </a:t>
            </a:r>
            <a:r>
              <a:rPr lang="tr-TR" dirty="0" err="1"/>
              <a:t>You</a:t>
            </a:r>
            <a:r>
              <a:rPr lang="tr-TR" dirty="0"/>
              <a:t> can </a:t>
            </a:r>
            <a:r>
              <a:rPr lang="tr-TR" dirty="0" err="1"/>
              <a:t>see</a:t>
            </a:r>
            <a:r>
              <a:rPr lang="tr-TR" dirty="0"/>
              <a:t> here </a:t>
            </a:r>
            <a:r>
              <a:rPr lang="tr-TR" dirty="0" err="1"/>
              <a:t>right</a:t>
            </a:r>
            <a:r>
              <a:rPr lang="tr-TR" dirty="0"/>
              <a:t> </a:t>
            </a:r>
            <a:r>
              <a:rPr lang="tr-TR" dirty="0" err="1"/>
              <a:t>and</a:t>
            </a:r>
            <a:r>
              <a:rPr lang="tr-TR" dirty="0"/>
              <a:t> </a:t>
            </a:r>
            <a:r>
              <a:rPr lang="tr-TR" dirty="0" err="1"/>
              <a:t>you</a:t>
            </a:r>
            <a:r>
              <a:rPr lang="tr-TR" dirty="0"/>
              <a:t> can </a:t>
            </a:r>
            <a:r>
              <a:rPr lang="tr-TR" dirty="0" err="1"/>
              <a:t>get</a:t>
            </a:r>
            <a:r>
              <a:rPr lang="tr-TR" dirty="0"/>
              <a:t> </a:t>
            </a:r>
            <a:r>
              <a:rPr lang="tr-TR" dirty="0" err="1"/>
              <a:t>some</a:t>
            </a:r>
            <a:r>
              <a:rPr lang="tr-TR" dirty="0"/>
              <a:t> </a:t>
            </a:r>
            <a:r>
              <a:rPr lang="tr-TR" dirty="0" err="1"/>
              <a:t>intuinatiın</a:t>
            </a:r>
            <a:r>
              <a:rPr lang="tr-TR" dirty="0"/>
              <a:t> </a:t>
            </a:r>
            <a:r>
              <a:rPr lang="tr-TR" dirty="0" err="1"/>
              <a:t>looking</a:t>
            </a:r>
            <a:r>
              <a:rPr lang="tr-TR" dirty="0"/>
              <a:t> </a:t>
            </a:r>
            <a:r>
              <a:rPr lang="tr-TR" dirty="0" err="1"/>
              <a:t>by</a:t>
            </a:r>
            <a:r>
              <a:rPr lang="tr-TR" dirty="0"/>
              <a:t> </a:t>
            </a:r>
            <a:r>
              <a:rPr lang="tr-TR" dirty="0" err="1"/>
              <a:t>this</a:t>
            </a:r>
            <a:r>
              <a:rPr lang="tr-TR" dirty="0"/>
              <a:t> Picture. </a:t>
            </a:r>
            <a:r>
              <a:rPr lang="tr-TR" dirty="0" err="1"/>
              <a:t>Actually</a:t>
            </a:r>
            <a:r>
              <a:rPr lang="tr-TR" dirty="0"/>
              <a:t> </a:t>
            </a:r>
            <a:r>
              <a:rPr lang="tr-TR" dirty="0" err="1"/>
              <a:t>we</a:t>
            </a:r>
            <a:r>
              <a:rPr lang="tr-TR" dirty="0"/>
              <a:t> </a:t>
            </a:r>
            <a:r>
              <a:rPr lang="tr-TR" dirty="0" err="1"/>
              <a:t>will</a:t>
            </a:r>
            <a:r>
              <a:rPr lang="tr-TR" dirty="0"/>
              <a:t> </a:t>
            </a:r>
            <a:r>
              <a:rPr lang="tr-TR" dirty="0" err="1"/>
              <a:t>deep</a:t>
            </a:r>
            <a:r>
              <a:rPr lang="tr-TR" dirty="0"/>
              <a:t> </a:t>
            </a:r>
            <a:r>
              <a:rPr lang="tr-TR" dirty="0" err="1"/>
              <a:t>dive</a:t>
            </a:r>
            <a:r>
              <a:rPr lang="tr-TR" dirty="0"/>
              <a:t> </a:t>
            </a:r>
            <a:r>
              <a:rPr lang="tr-TR" dirty="0" err="1"/>
              <a:t>this</a:t>
            </a:r>
            <a:r>
              <a:rPr lang="tr-TR" dirty="0"/>
              <a:t> </a:t>
            </a:r>
            <a:r>
              <a:rPr lang="tr-TR" dirty="0" err="1"/>
              <a:t>concept</a:t>
            </a:r>
            <a:r>
              <a:rPr lang="tr-TR" dirty="0"/>
              <a:t> </a:t>
            </a:r>
            <a:r>
              <a:rPr lang="tr-TR" dirty="0" err="1"/>
              <a:t>later</a:t>
            </a:r>
            <a:r>
              <a:rPr lang="tr-TR" dirty="0"/>
              <a:t> but </a:t>
            </a:r>
            <a:r>
              <a:rPr lang="tr-TR" dirty="0" err="1"/>
              <a:t>if</a:t>
            </a:r>
            <a:r>
              <a:rPr lang="tr-TR" dirty="0"/>
              <a:t> </a:t>
            </a:r>
            <a:r>
              <a:rPr lang="tr-TR" dirty="0" err="1"/>
              <a:t>you</a:t>
            </a:r>
            <a:r>
              <a:rPr lang="tr-TR" dirty="0"/>
              <a:t> </a:t>
            </a:r>
            <a:r>
              <a:rPr lang="tr-TR" dirty="0" err="1"/>
              <a:t>check</a:t>
            </a:r>
            <a:r>
              <a:rPr lang="tr-TR" dirty="0"/>
              <a:t> </a:t>
            </a:r>
            <a:r>
              <a:rPr lang="tr-TR" dirty="0" err="1"/>
              <a:t>regression</a:t>
            </a:r>
            <a:r>
              <a:rPr lang="tr-TR" dirty="0"/>
              <a:t> </a:t>
            </a:r>
            <a:r>
              <a:rPr lang="tr-TR" dirty="0" err="1"/>
              <a:t>there</a:t>
            </a:r>
            <a:r>
              <a:rPr lang="tr-TR" dirty="0"/>
              <a:t> is </a:t>
            </a:r>
            <a:r>
              <a:rPr lang="tr-TR" dirty="0" err="1"/>
              <a:t>lots</a:t>
            </a:r>
            <a:r>
              <a:rPr lang="tr-TR" dirty="0"/>
              <a:t> of data </a:t>
            </a:r>
            <a:r>
              <a:rPr lang="tr-TR" dirty="0" err="1"/>
              <a:t>and</a:t>
            </a:r>
            <a:r>
              <a:rPr lang="tr-TR" dirty="0"/>
              <a:t> </a:t>
            </a:r>
            <a:r>
              <a:rPr lang="tr-TR" dirty="0" err="1"/>
              <a:t>we</a:t>
            </a:r>
            <a:r>
              <a:rPr lang="tr-TR" dirty="0"/>
              <a:t> </a:t>
            </a:r>
            <a:r>
              <a:rPr lang="tr-TR" dirty="0" err="1"/>
              <a:t>try</a:t>
            </a:r>
            <a:r>
              <a:rPr lang="tr-TR" dirty="0"/>
              <a:t> </a:t>
            </a:r>
            <a:r>
              <a:rPr lang="tr-TR" dirty="0" err="1"/>
              <a:t>to</a:t>
            </a:r>
            <a:r>
              <a:rPr lang="tr-TR" dirty="0"/>
              <a:t> fit </a:t>
            </a:r>
            <a:r>
              <a:rPr lang="tr-TR" dirty="0" err="1"/>
              <a:t>one</a:t>
            </a:r>
            <a:r>
              <a:rPr lang="tr-TR" dirty="0"/>
              <a:t> </a:t>
            </a:r>
            <a:r>
              <a:rPr lang="tr-TR" dirty="0" err="1"/>
              <a:t>line</a:t>
            </a:r>
            <a:r>
              <a:rPr lang="tr-TR" dirty="0"/>
              <a:t> </a:t>
            </a:r>
            <a:r>
              <a:rPr lang="tr-TR" dirty="0" err="1"/>
              <a:t>right</a:t>
            </a:r>
            <a:r>
              <a:rPr lang="tr-TR" dirty="0"/>
              <a:t> </a:t>
            </a:r>
            <a:r>
              <a:rPr lang="tr-TR" dirty="0" err="1"/>
              <a:t>according</a:t>
            </a:r>
            <a:r>
              <a:rPr lang="tr-TR" dirty="0"/>
              <a:t> </a:t>
            </a:r>
            <a:r>
              <a:rPr lang="tr-TR" dirty="0" err="1"/>
              <a:t>to</a:t>
            </a:r>
            <a:r>
              <a:rPr lang="tr-TR" dirty="0"/>
              <a:t> </a:t>
            </a:r>
            <a:r>
              <a:rPr lang="tr-TR" dirty="0" err="1"/>
              <a:t>this</a:t>
            </a:r>
            <a:r>
              <a:rPr lang="tr-TR" dirty="0"/>
              <a:t> </a:t>
            </a:r>
            <a:r>
              <a:rPr lang="tr-TR" dirty="0" err="1"/>
              <a:t>line</a:t>
            </a:r>
            <a:r>
              <a:rPr lang="tr-TR" dirty="0"/>
              <a:t> </a:t>
            </a:r>
            <a:r>
              <a:rPr lang="tr-TR" dirty="0" err="1"/>
              <a:t>fitted</a:t>
            </a:r>
            <a:r>
              <a:rPr lang="tr-TR" dirty="0"/>
              <a:t> </a:t>
            </a:r>
            <a:r>
              <a:rPr lang="tr-TR" dirty="0" err="1"/>
              <a:t>we</a:t>
            </a:r>
            <a:r>
              <a:rPr lang="tr-TR" dirty="0"/>
              <a:t> </a:t>
            </a:r>
            <a:r>
              <a:rPr lang="tr-TR" dirty="0" err="1"/>
              <a:t>are</a:t>
            </a:r>
            <a:r>
              <a:rPr lang="tr-TR" dirty="0"/>
              <a:t> </a:t>
            </a:r>
            <a:r>
              <a:rPr lang="tr-TR" dirty="0" err="1"/>
              <a:t>predicting</a:t>
            </a:r>
            <a:r>
              <a:rPr lang="tr-TR" dirty="0"/>
              <a:t> </a:t>
            </a:r>
            <a:r>
              <a:rPr lang="tr-TR" dirty="0" err="1"/>
              <a:t>new</a:t>
            </a:r>
            <a:r>
              <a:rPr lang="tr-TR" dirty="0"/>
              <a:t> data. </a:t>
            </a:r>
            <a:r>
              <a:rPr lang="tr-TR" dirty="0" err="1"/>
              <a:t>What</a:t>
            </a:r>
            <a:r>
              <a:rPr lang="tr-TR" dirty="0"/>
              <a:t> </a:t>
            </a:r>
            <a:r>
              <a:rPr lang="tr-TR" dirty="0" err="1"/>
              <a:t>about</a:t>
            </a:r>
            <a:r>
              <a:rPr lang="tr-TR" dirty="0"/>
              <a:t> </a:t>
            </a:r>
            <a:r>
              <a:rPr lang="tr-TR" dirty="0" err="1"/>
              <a:t>this</a:t>
            </a:r>
            <a:r>
              <a:rPr lang="tr-TR" dirty="0"/>
              <a:t> </a:t>
            </a:r>
            <a:r>
              <a:rPr lang="tr-TR" dirty="0" err="1"/>
              <a:t>classification</a:t>
            </a:r>
            <a:r>
              <a:rPr lang="tr-TR" dirty="0"/>
              <a:t> </a:t>
            </a:r>
            <a:r>
              <a:rPr lang="tr-TR" dirty="0" err="1"/>
              <a:t>image</a:t>
            </a:r>
            <a:r>
              <a:rPr lang="tr-TR" dirty="0"/>
              <a:t>. </a:t>
            </a:r>
            <a:r>
              <a:rPr lang="tr-TR" dirty="0" err="1"/>
              <a:t>There</a:t>
            </a:r>
            <a:r>
              <a:rPr lang="tr-TR" dirty="0"/>
              <a:t> is Class A </a:t>
            </a:r>
            <a:r>
              <a:rPr lang="tr-TR" dirty="0" err="1"/>
              <a:t>and</a:t>
            </a:r>
            <a:r>
              <a:rPr lang="tr-TR" dirty="0"/>
              <a:t> </a:t>
            </a:r>
            <a:r>
              <a:rPr lang="tr-TR" dirty="0" err="1"/>
              <a:t>class</a:t>
            </a:r>
            <a:r>
              <a:rPr lang="tr-TR" dirty="0"/>
              <a:t> B but. </a:t>
            </a:r>
            <a:r>
              <a:rPr lang="tr-TR" dirty="0" err="1"/>
              <a:t>According</a:t>
            </a:r>
            <a:r>
              <a:rPr lang="tr-TR" dirty="0"/>
              <a:t> </a:t>
            </a:r>
            <a:r>
              <a:rPr lang="tr-TR" dirty="0" err="1"/>
              <a:t>to</a:t>
            </a:r>
            <a:r>
              <a:rPr lang="tr-TR" dirty="0"/>
              <a:t> </a:t>
            </a:r>
            <a:r>
              <a:rPr lang="tr-TR" dirty="0" err="1"/>
              <a:t>this</a:t>
            </a:r>
            <a:r>
              <a:rPr lang="tr-TR" dirty="0"/>
              <a:t> </a:t>
            </a:r>
            <a:r>
              <a:rPr lang="tr-TR" dirty="0" err="1"/>
              <a:t>classes</a:t>
            </a:r>
            <a:r>
              <a:rPr lang="tr-TR" dirty="0"/>
              <a:t> </a:t>
            </a:r>
            <a:r>
              <a:rPr lang="tr-TR" dirty="0" err="1"/>
              <a:t>we</a:t>
            </a:r>
            <a:r>
              <a:rPr lang="tr-TR" dirty="0"/>
              <a:t> </a:t>
            </a:r>
            <a:r>
              <a:rPr lang="tr-TR" dirty="0" err="1"/>
              <a:t>obtained</a:t>
            </a:r>
            <a:r>
              <a:rPr lang="tr-TR" dirty="0"/>
              <a:t> </a:t>
            </a:r>
            <a:r>
              <a:rPr lang="tr-TR" dirty="0" err="1"/>
              <a:t>this</a:t>
            </a:r>
            <a:r>
              <a:rPr lang="tr-TR" dirty="0"/>
              <a:t> </a:t>
            </a:r>
            <a:r>
              <a:rPr lang="tr-TR" dirty="0" err="1"/>
              <a:t>line</a:t>
            </a:r>
            <a:r>
              <a:rPr lang="tr-TR" dirty="0"/>
              <a:t> </a:t>
            </a:r>
            <a:r>
              <a:rPr lang="tr-TR" dirty="0" err="1"/>
              <a:t>and</a:t>
            </a:r>
            <a:r>
              <a:rPr lang="tr-TR" dirty="0"/>
              <a:t> </a:t>
            </a:r>
            <a:r>
              <a:rPr lang="tr-TR" dirty="0" err="1"/>
              <a:t>when</a:t>
            </a:r>
            <a:r>
              <a:rPr lang="tr-TR" dirty="0"/>
              <a:t> </a:t>
            </a:r>
            <a:r>
              <a:rPr lang="tr-TR" dirty="0" err="1"/>
              <a:t>we</a:t>
            </a:r>
            <a:r>
              <a:rPr lang="tr-TR" dirty="0"/>
              <a:t> </a:t>
            </a:r>
            <a:r>
              <a:rPr lang="tr-TR" dirty="0" err="1"/>
              <a:t>have</a:t>
            </a:r>
            <a:r>
              <a:rPr lang="tr-TR" dirty="0"/>
              <a:t> </a:t>
            </a:r>
            <a:r>
              <a:rPr lang="tr-TR" dirty="0" err="1"/>
              <a:t>new</a:t>
            </a:r>
            <a:r>
              <a:rPr lang="tr-TR" dirty="0"/>
              <a:t> </a:t>
            </a:r>
            <a:r>
              <a:rPr lang="tr-TR" dirty="0" err="1"/>
              <a:t>point</a:t>
            </a:r>
            <a:r>
              <a:rPr lang="tr-TR" dirty="0"/>
              <a:t> here as </a:t>
            </a:r>
            <a:r>
              <a:rPr lang="tr-TR" dirty="0" err="1"/>
              <a:t>unseen</a:t>
            </a:r>
            <a:r>
              <a:rPr lang="tr-TR" dirty="0"/>
              <a:t> data </a:t>
            </a:r>
            <a:r>
              <a:rPr lang="tr-TR" dirty="0" err="1"/>
              <a:t>we</a:t>
            </a:r>
            <a:r>
              <a:rPr lang="tr-TR" dirty="0"/>
              <a:t> </a:t>
            </a:r>
            <a:r>
              <a:rPr lang="tr-TR" dirty="0" err="1"/>
              <a:t>will</a:t>
            </a:r>
            <a:r>
              <a:rPr lang="tr-TR" dirty="0"/>
              <a:t> </a:t>
            </a:r>
            <a:r>
              <a:rPr lang="tr-TR" dirty="0" err="1"/>
              <a:t>look</a:t>
            </a:r>
            <a:r>
              <a:rPr lang="tr-TR" dirty="0"/>
              <a:t> </a:t>
            </a:r>
            <a:r>
              <a:rPr lang="tr-TR" dirty="0" err="1"/>
              <a:t>if</a:t>
            </a:r>
            <a:r>
              <a:rPr lang="tr-TR" dirty="0"/>
              <a:t> </a:t>
            </a:r>
            <a:r>
              <a:rPr lang="tr-TR" dirty="0" err="1"/>
              <a:t>our</a:t>
            </a:r>
            <a:r>
              <a:rPr lang="tr-TR" dirty="0"/>
              <a:t> data </a:t>
            </a:r>
            <a:r>
              <a:rPr lang="tr-TR" dirty="0" err="1"/>
              <a:t>below</a:t>
            </a:r>
            <a:r>
              <a:rPr lang="tr-TR" dirty="0"/>
              <a:t> of </a:t>
            </a:r>
            <a:r>
              <a:rPr lang="tr-TR" dirty="0" err="1"/>
              <a:t>this</a:t>
            </a:r>
            <a:r>
              <a:rPr lang="tr-TR" dirty="0"/>
              <a:t> </a:t>
            </a:r>
            <a:r>
              <a:rPr lang="tr-TR" dirty="0" err="1"/>
              <a:t>line</a:t>
            </a:r>
            <a:r>
              <a:rPr lang="tr-TR" dirty="0"/>
              <a:t> </a:t>
            </a:r>
            <a:r>
              <a:rPr lang="tr-TR" dirty="0" err="1"/>
              <a:t>or</a:t>
            </a:r>
            <a:r>
              <a:rPr lang="tr-TR" dirty="0"/>
              <a:t> not </a:t>
            </a:r>
            <a:r>
              <a:rPr lang="tr-TR" dirty="0" err="1"/>
              <a:t>according</a:t>
            </a:r>
            <a:r>
              <a:rPr lang="tr-TR" dirty="0"/>
              <a:t> </a:t>
            </a:r>
            <a:r>
              <a:rPr lang="tr-TR" dirty="0" err="1"/>
              <a:t>to</a:t>
            </a:r>
            <a:r>
              <a:rPr lang="tr-TR" dirty="0"/>
              <a:t> </a:t>
            </a:r>
            <a:r>
              <a:rPr lang="tr-TR" dirty="0" err="1"/>
              <a:t>that</a:t>
            </a:r>
            <a:r>
              <a:rPr lang="tr-TR" dirty="0"/>
              <a:t> </a:t>
            </a:r>
            <a:r>
              <a:rPr lang="tr-TR" dirty="0" err="1"/>
              <a:t>we</a:t>
            </a:r>
            <a:r>
              <a:rPr lang="tr-TR" dirty="0"/>
              <a:t> </a:t>
            </a:r>
            <a:r>
              <a:rPr lang="tr-TR" dirty="0" err="1"/>
              <a:t>will</a:t>
            </a:r>
            <a:r>
              <a:rPr lang="tr-TR" dirty="0"/>
              <a:t> </a:t>
            </a:r>
            <a:r>
              <a:rPr lang="tr-TR" dirty="0" err="1"/>
              <a:t>predict</a:t>
            </a:r>
            <a:r>
              <a:rPr lang="tr-TR" dirty="0"/>
              <a:t>. </a:t>
            </a:r>
            <a:r>
              <a:rPr lang="tr-TR" dirty="0" err="1"/>
              <a:t>This</a:t>
            </a:r>
            <a:r>
              <a:rPr lang="tr-TR" dirty="0"/>
              <a:t> is </a:t>
            </a:r>
            <a:r>
              <a:rPr lang="tr-TR" dirty="0" err="1"/>
              <a:t>actually</a:t>
            </a:r>
            <a:r>
              <a:rPr lang="tr-TR" dirty="0"/>
              <a:t> </a:t>
            </a:r>
            <a:r>
              <a:rPr lang="tr-TR" dirty="0" err="1"/>
              <a:t>core</a:t>
            </a:r>
            <a:r>
              <a:rPr lang="tr-TR" dirty="0"/>
              <a:t> </a:t>
            </a:r>
            <a:r>
              <a:rPr lang="tr-TR" dirty="0" err="1"/>
              <a:t>concept</a:t>
            </a:r>
            <a:r>
              <a:rPr lang="tr-TR" dirty="0"/>
              <a:t> of </a:t>
            </a:r>
            <a:r>
              <a:rPr lang="tr-TR" dirty="0" err="1"/>
              <a:t>supervised</a:t>
            </a:r>
            <a:r>
              <a:rPr lang="tr-TR" dirty="0"/>
              <a:t> </a:t>
            </a:r>
            <a:r>
              <a:rPr lang="tr-TR" dirty="0" err="1"/>
              <a:t>learning</a:t>
            </a:r>
            <a:r>
              <a:rPr lang="tr-TR" dirty="0"/>
              <a:t>. </a:t>
            </a:r>
            <a:r>
              <a:rPr lang="tr-TR" dirty="0" err="1"/>
              <a:t>Lets</a:t>
            </a:r>
            <a:r>
              <a:rPr lang="tr-TR" dirty="0"/>
              <a:t> </a:t>
            </a:r>
            <a:r>
              <a:rPr lang="tr-TR" dirty="0" err="1"/>
              <a:t>look</a:t>
            </a:r>
            <a:r>
              <a:rPr lang="tr-TR" dirty="0"/>
              <a:t> at </a:t>
            </a:r>
            <a:r>
              <a:rPr lang="tr-TR" dirty="0" err="1"/>
              <a:t>more</a:t>
            </a:r>
            <a:r>
              <a:rPr lang="tr-TR" dirty="0"/>
              <a:t> </a:t>
            </a:r>
            <a:r>
              <a:rPr lang="tr-TR" dirty="0" err="1"/>
              <a:t>what</a:t>
            </a:r>
            <a:r>
              <a:rPr lang="tr-TR" dirty="0"/>
              <a:t> is </a:t>
            </a:r>
            <a:r>
              <a:rPr lang="tr-TR" dirty="0" err="1"/>
              <a:t>supervised</a:t>
            </a:r>
            <a:r>
              <a:rPr lang="tr-TR" dirty="0"/>
              <a:t> </a:t>
            </a:r>
            <a:r>
              <a:rPr lang="tr-TR" dirty="0" err="1"/>
              <a:t>learning</a:t>
            </a:r>
            <a:r>
              <a:rPr lang="tr-TR" dirty="0"/>
              <a:t>.</a:t>
            </a:r>
            <a:endParaRPr lang="en-US" dirty="0"/>
          </a:p>
        </p:txBody>
      </p:sp>
      <p:sp>
        <p:nvSpPr>
          <p:cNvPr id="4" name="Slide Number Placeholder 3"/>
          <p:cNvSpPr>
            <a:spLocks noGrp="1"/>
          </p:cNvSpPr>
          <p:nvPr>
            <p:ph type="sldNum" sz="quarter" idx="5"/>
          </p:nvPr>
        </p:nvSpPr>
        <p:spPr/>
        <p:txBody>
          <a:bodyPr/>
          <a:lstStyle/>
          <a:p>
            <a:fld id="{0BFC31E6-9817-4ADD-82D7-FAC1C8ED9A92}" type="slidenum">
              <a:rPr lang="en-US" smtClean="0"/>
              <a:t>23</a:t>
            </a:fld>
            <a:endParaRPr lang="en-US"/>
          </a:p>
        </p:txBody>
      </p:sp>
    </p:spTree>
    <p:extLst>
      <p:ext uri="{BB962C8B-B14F-4D97-AF65-F5344CB8AC3E}">
        <p14:creationId xmlns:p14="http://schemas.microsoft.com/office/powerpoint/2010/main" val="746039396"/>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tr-TR" b="1" dirty="0" err="1"/>
              <a:t>Supervised</a:t>
            </a:r>
            <a:r>
              <a:rPr lang="tr-TR" b="1" dirty="0"/>
              <a:t> </a:t>
            </a:r>
            <a:r>
              <a:rPr lang="tr-TR" b="1" dirty="0" err="1"/>
              <a:t>learning</a:t>
            </a:r>
            <a:r>
              <a:rPr lang="tr-TR" b="1" dirty="0"/>
              <a:t> is</a:t>
            </a:r>
            <a:r>
              <a:rPr lang="en-US" b="1" dirty="0"/>
              <a:t> like teaching a kid with flashcards.</a:t>
            </a:r>
            <a:br>
              <a:rPr lang="en-US" dirty="0"/>
            </a:br>
            <a:r>
              <a:rPr lang="en-US" dirty="0"/>
              <a:t>In the beginning, we give the computer something called </a:t>
            </a:r>
            <a:r>
              <a:rPr lang="en-US" i="1" dirty="0"/>
              <a:t>labeled data</a:t>
            </a:r>
            <a:r>
              <a:rPr lang="en-US" dirty="0"/>
              <a:t> — for example, lots of shapes like triangles, circles, and squares, and we tell the computer exactly what each shape is. So it starts learning from these examples, just like a student studying for a test.</a:t>
            </a:r>
          </a:p>
          <a:p>
            <a:r>
              <a:rPr lang="en-US" dirty="0"/>
              <a:t>This training data goes into something called a </a:t>
            </a:r>
            <a:r>
              <a:rPr lang="en-US" i="1" dirty="0"/>
              <a:t>model</a:t>
            </a:r>
            <a:r>
              <a:rPr lang="en-US" dirty="0"/>
              <a:t> — you can think of the model like a brain that’s trying to figure out the rules behind the shapes.</a:t>
            </a:r>
          </a:p>
          <a:p>
            <a:r>
              <a:rPr lang="en-US" dirty="0"/>
              <a:t>Once the model has learned enough, we give it new shapes it has never seen before — that’s the </a:t>
            </a:r>
            <a:r>
              <a:rPr lang="en-US" i="1" dirty="0"/>
              <a:t>test data</a:t>
            </a:r>
            <a:r>
              <a:rPr lang="en-US" dirty="0"/>
              <a:t>. The model looks at them and says, “Hey, I think this is a circle and that one is a square!”</a:t>
            </a:r>
          </a:p>
          <a:p>
            <a:r>
              <a:rPr lang="en-US" dirty="0"/>
              <a:t>So in short:</a:t>
            </a:r>
            <a:br>
              <a:rPr lang="en-US" dirty="0"/>
            </a:br>
            <a:r>
              <a:rPr lang="en-US" dirty="0"/>
              <a:t>👉 You teach the computer with examples that already have the right answers (labels).</a:t>
            </a:r>
            <a:br>
              <a:rPr lang="en-US" dirty="0"/>
            </a:br>
            <a:r>
              <a:rPr lang="en-US" dirty="0"/>
              <a:t>👉 It learns from them.</a:t>
            </a:r>
            <a:br>
              <a:rPr lang="en-US" dirty="0"/>
            </a:br>
            <a:r>
              <a:rPr lang="en-US" dirty="0"/>
              <a:t>👉 Then it tries to guess the answer for new data.</a:t>
            </a:r>
          </a:p>
          <a:p>
            <a:endParaRPr lang="tr-TR" b="0" i="0" dirty="0">
              <a:solidFill>
                <a:srgbClr val="D1D5DB"/>
              </a:solidFill>
              <a:effectLst/>
              <a:latin typeface="Söhne"/>
            </a:endParaRPr>
          </a:p>
          <a:p>
            <a:r>
              <a:rPr lang="en-US" b="0" i="0" dirty="0">
                <a:solidFill>
                  <a:srgbClr val="D1D5DB"/>
                </a:solidFill>
                <a:effectLst/>
                <a:latin typeface="Söhne"/>
              </a:rPr>
              <a:t>The learning process involves adjusting model parameters to minimize the </a:t>
            </a:r>
            <a:r>
              <a:rPr lang="tr-TR" b="0" i="0" dirty="0" err="1">
                <a:solidFill>
                  <a:srgbClr val="D1D5DB"/>
                </a:solidFill>
                <a:effectLst/>
                <a:latin typeface="Söhne"/>
              </a:rPr>
              <a:t>difference</a:t>
            </a:r>
            <a:r>
              <a:rPr lang="en-US" b="0" i="0" dirty="0">
                <a:solidFill>
                  <a:srgbClr val="D1D5DB"/>
                </a:solidFill>
                <a:effectLst/>
                <a:latin typeface="Söhne"/>
              </a:rPr>
              <a:t> between predicted and actual outputs</a:t>
            </a:r>
            <a:r>
              <a:rPr lang="tr-TR" b="0" i="0" dirty="0">
                <a:solidFill>
                  <a:srgbClr val="D1D5DB"/>
                </a:solidFill>
                <a:effectLst/>
                <a:latin typeface="Söhne"/>
              </a:rPr>
              <a:t>. </a:t>
            </a:r>
            <a:r>
              <a:rPr lang="en-US" b="0" i="0" dirty="0">
                <a:solidFill>
                  <a:srgbClr val="D1D5DB"/>
                </a:solidFill>
                <a:effectLst/>
                <a:latin typeface="Söhne"/>
              </a:rPr>
              <a:t>often using a loss function and optimization techniques like gradient descent.</a:t>
            </a:r>
            <a:r>
              <a:rPr lang="tr-TR" b="0" i="0" dirty="0">
                <a:solidFill>
                  <a:srgbClr val="D1D5DB"/>
                </a:solidFill>
                <a:effectLst/>
                <a:latin typeface="Söhne"/>
              </a:rPr>
              <a:t> </a:t>
            </a:r>
          </a:p>
          <a:p>
            <a:r>
              <a:rPr lang="tr-TR" b="0" i="0" dirty="0" err="1">
                <a:solidFill>
                  <a:srgbClr val="D1D5DB"/>
                </a:solidFill>
                <a:effectLst/>
                <a:latin typeface="Söhne"/>
              </a:rPr>
              <a:t>Dont</a:t>
            </a:r>
            <a:r>
              <a:rPr lang="tr-TR" b="0" i="0" dirty="0">
                <a:solidFill>
                  <a:srgbClr val="D1D5DB"/>
                </a:solidFill>
                <a:effectLst/>
                <a:latin typeface="Söhne"/>
              </a:rPr>
              <a:t> </a:t>
            </a:r>
            <a:r>
              <a:rPr lang="tr-TR" b="0" i="0" dirty="0" err="1">
                <a:solidFill>
                  <a:srgbClr val="D1D5DB"/>
                </a:solidFill>
                <a:effectLst/>
                <a:latin typeface="Söhne"/>
              </a:rPr>
              <a:t>wory</a:t>
            </a:r>
            <a:r>
              <a:rPr lang="tr-TR" b="0" i="0" dirty="0">
                <a:solidFill>
                  <a:srgbClr val="D1D5DB"/>
                </a:solidFill>
                <a:effectLst/>
                <a:latin typeface="Söhne"/>
              </a:rPr>
              <a:t> </a:t>
            </a:r>
            <a:r>
              <a:rPr lang="tr-TR" b="0" i="0" dirty="0" err="1">
                <a:solidFill>
                  <a:srgbClr val="D1D5DB"/>
                </a:solidFill>
                <a:effectLst/>
                <a:latin typeface="Söhne"/>
              </a:rPr>
              <a:t>about</a:t>
            </a:r>
            <a:r>
              <a:rPr lang="tr-TR" b="0" i="0" dirty="0">
                <a:solidFill>
                  <a:srgbClr val="D1D5DB"/>
                </a:solidFill>
                <a:effectLst/>
                <a:latin typeface="Söhne"/>
              </a:rPr>
              <a:t> </a:t>
            </a:r>
            <a:r>
              <a:rPr lang="tr-TR" b="0" i="0" dirty="0" err="1">
                <a:solidFill>
                  <a:srgbClr val="D1D5DB"/>
                </a:solidFill>
                <a:effectLst/>
                <a:latin typeface="Söhne"/>
              </a:rPr>
              <a:t>these</a:t>
            </a:r>
            <a:r>
              <a:rPr lang="tr-TR" b="0" i="0" dirty="0">
                <a:solidFill>
                  <a:srgbClr val="D1D5DB"/>
                </a:solidFill>
                <a:effectLst/>
                <a:latin typeface="Söhne"/>
              </a:rPr>
              <a:t>..</a:t>
            </a:r>
          </a:p>
          <a:p>
            <a:endParaRPr lang="tr-TR" b="0" i="0" dirty="0">
              <a:solidFill>
                <a:srgbClr val="D1D5DB"/>
              </a:solidFill>
              <a:effectLst/>
              <a:latin typeface="Söhne"/>
            </a:endParaRPr>
          </a:p>
        </p:txBody>
      </p:sp>
      <p:sp>
        <p:nvSpPr>
          <p:cNvPr id="4" name="Slide Number Placeholder 3"/>
          <p:cNvSpPr>
            <a:spLocks noGrp="1"/>
          </p:cNvSpPr>
          <p:nvPr>
            <p:ph type="sldNum" sz="quarter" idx="5"/>
          </p:nvPr>
        </p:nvSpPr>
        <p:spPr/>
        <p:txBody>
          <a:bodyPr/>
          <a:lstStyle/>
          <a:p>
            <a:fld id="{0BFC31E6-9817-4ADD-82D7-FAC1C8ED9A92}" type="slidenum">
              <a:rPr lang="en-US" smtClean="0"/>
              <a:t>24</a:t>
            </a:fld>
            <a:endParaRPr lang="en-US"/>
          </a:p>
        </p:txBody>
      </p:sp>
    </p:spTree>
    <p:extLst>
      <p:ext uri="{BB962C8B-B14F-4D97-AF65-F5344CB8AC3E}">
        <p14:creationId xmlns:p14="http://schemas.microsoft.com/office/powerpoint/2010/main" val="1661978522"/>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b="1" dirty="0"/>
              <a:t>Let’s talk about Regression — it’s like trying to guess the price of a house based on its size.</a:t>
            </a:r>
            <a:endParaRPr lang="tr-TR" b="1" dirty="0"/>
          </a:p>
          <a:p>
            <a:br>
              <a:rPr lang="en-US" dirty="0"/>
            </a:br>
            <a:r>
              <a:rPr lang="en-US" dirty="0"/>
              <a:t>Imagine we have data showing the size of different houses and how much they cost. Each star on this chart shows one house: how big it is and what its price was.</a:t>
            </a:r>
            <a:endParaRPr lang="tr-TR" dirty="0"/>
          </a:p>
          <a:p>
            <a:endParaRPr lang="en-US" dirty="0"/>
          </a:p>
          <a:p>
            <a:r>
              <a:rPr lang="en-US" dirty="0"/>
              <a:t>Now, we want to find a way to predict the price of new houses — ones we haven’t seen yet. That’s where regression comes in. We try to draw a line (or a curve) that goes through the middle of all these points, capturing the general trend. This line is our model’s “best guess” about how price changes with size.</a:t>
            </a:r>
            <a:endParaRPr lang="tr-TR" dirty="0"/>
          </a:p>
          <a:p>
            <a:endParaRPr lang="en-US" dirty="0"/>
          </a:p>
          <a:p>
            <a:r>
              <a:rPr lang="en-US" dirty="0"/>
              <a:t>This type of problem is called </a:t>
            </a:r>
            <a:r>
              <a:rPr lang="en-US" b="1" dirty="0"/>
              <a:t>regression</a:t>
            </a:r>
            <a:r>
              <a:rPr lang="en-US" dirty="0"/>
              <a:t>, and it’s a kind of </a:t>
            </a:r>
            <a:r>
              <a:rPr lang="en-US" b="1" dirty="0"/>
              <a:t>supervised learning</a:t>
            </a:r>
            <a:r>
              <a:rPr lang="en-US" dirty="0"/>
              <a:t> — because we’re using labeled examples (house size + known price) to train our model.</a:t>
            </a:r>
          </a:p>
          <a:p>
            <a:r>
              <a:rPr lang="en-US" dirty="0"/>
              <a:t>Usually, we start with a </a:t>
            </a:r>
            <a:r>
              <a:rPr lang="en-US" b="1" dirty="0"/>
              <a:t>simple line</a:t>
            </a:r>
            <a:r>
              <a:rPr lang="en-US" dirty="0"/>
              <a:t> (called </a:t>
            </a:r>
            <a:r>
              <a:rPr lang="en-US" i="1" dirty="0"/>
              <a:t>linear regression</a:t>
            </a:r>
            <a:r>
              <a:rPr lang="en-US" dirty="0"/>
              <a:t>) that tries to fit the data using the formula y = mx + b. The goal is to find the best values for </a:t>
            </a:r>
            <a:r>
              <a:rPr lang="en-US" i="1" dirty="0"/>
              <a:t>m</a:t>
            </a:r>
            <a:r>
              <a:rPr lang="en-US" dirty="0"/>
              <a:t> and </a:t>
            </a:r>
            <a:r>
              <a:rPr lang="en-US" i="1" dirty="0"/>
              <a:t>b</a:t>
            </a:r>
            <a:r>
              <a:rPr lang="en-US" dirty="0"/>
              <a:t> so that the difference between predicted prices and actual prices is as small as possible.</a:t>
            </a:r>
            <a:endParaRPr lang="tr-TR" dirty="0"/>
          </a:p>
          <a:p>
            <a:endParaRPr lang="en-US" dirty="0"/>
          </a:p>
          <a:p>
            <a:r>
              <a:rPr lang="en-US" dirty="0"/>
              <a:t>But as you can see in the image, a straight line doesn’t always fit perfectly. That’s when we try something more flexible, like </a:t>
            </a:r>
            <a:r>
              <a:rPr lang="en-US" b="1" dirty="0"/>
              <a:t>polynomial regression</a:t>
            </a:r>
            <a:r>
              <a:rPr lang="en-US" dirty="0"/>
              <a:t>, which draws a curve through the data using equations like y = ax² + bx + c.</a:t>
            </a:r>
            <a:endParaRPr lang="tr-TR" dirty="0"/>
          </a:p>
          <a:p>
            <a:endParaRPr lang="en-US" dirty="0"/>
          </a:p>
          <a:p>
            <a:r>
              <a:rPr lang="en-US" dirty="0"/>
              <a:t>To know how good our line or curve is, we use a tool called a </a:t>
            </a:r>
            <a:r>
              <a:rPr lang="en-US" b="1" dirty="0"/>
              <a:t>loss function</a:t>
            </a:r>
            <a:r>
              <a:rPr lang="en-US" dirty="0"/>
              <a:t>. It measures how far off our predictions are. One common loss function is </a:t>
            </a:r>
            <a:r>
              <a:rPr lang="en-US" b="1" dirty="0"/>
              <a:t>mean squared error</a:t>
            </a:r>
            <a:r>
              <a:rPr lang="en-US" dirty="0"/>
              <a:t> — it punishes big mistakes more, helping the model improve.</a:t>
            </a:r>
            <a:endParaRPr lang="tr-TR" dirty="0"/>
          </a:p>
          <a:p>
            <a:endParaRPr lang="en-US" dirty="0"/>
          </a:p>
          <a:p>
            <a:r>
              <a:rPr lang="en-US" dirty="0"/>
              <a:t>👉 Once the model learns the relationship from the training data, we can input the size of a new house, and the model will give us a predicted price.</a:t>
            </a:r>
            <a:br>
              <a:rPr lang="en-US" dirty="0"/>
            </a:br>
            <a:r>
              <a:rPr lang="en-US" dirty="0"/>
              <a:t>👉 Next, we’ll learn </a:t>
            </a:r>
            <a:r>
              <a:rPr lang="en-US" b="1" dirty="0"/>
              <a:t>how loss functions work</a:t>
            </a:r>
            <a:r>
              <a:rPr lang="en-US" dirty="0"/>
              <a:t> and </a:t>
            </a:r>
            <a:r>
              <a:rPr lang="en-US" b="1" dirty="0"/>
              <a:t>how to choose the best line or curve</a:t>
            </a:r>
            <a:r>
              <a:rPr lang="en-US" dirty="0"/>
              <a:t> for our data.</a:t>
            </a:r>
          </a:p>
        </p:txBody>
      </p:sp>
      <p:sp>
        <p:nvSpPr>
          <p:cNvPr id="4" name="Slide Number Placeholder 3"/>
          <p:cNvSpPr>
            <a:spLocks noGrp="1"/>
          </p:cNvSpPr>
          <p:nvPr>
            <p:ph type="sldNum" sz="quarter" idx="5"/>
          </p:nvPr>
        </p:nvSpPr>
        <p:spPr/>
        <p:txBody>
          <a:bodyPr/>
          <a:lstStyle/>
          <a:p>
            <a:fld id="{0BFC31E6-9817-4ADD-82D7-FAC1C8ED9A92}" type="slidenum">
              <a:rPr lang="en-US" smtClean="0"/>
              <a:t>25</a:t>
            </a:fld>
            <a:endParaRPr lang="en-US"/>
          </a:p>
        </p:txBody>
      </p:sp>
    </p:spTree>
    <p:extLst>
      <p:ext uri="{BB962C8B-B14F-4D97-AF65-F5344CB8AC3E}">
        <p14:creationId xmlns:p14="http://schemas.microsoft.com/office/powerpoint/2010/main" val="3214776052"/>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Classification is another main type of supervised learning, just like regression. But instead of predicting numbers, now we are predicting </a:t>
            </a:r>
            <a:r>
              <a:rPr lang="en-US" b="1" dirty="0"/>
              <a:t>categories or labels</a:t>
            </a:r>
            <a:r>
              <a:rPr lang="en-US" dirty="0"/>
              <a:t>.</a:t>
            </a:r>
          </a:p>
          <a:p>
            <a:r>
              <a:rPr lang="en-US" dirty="0"/>
              <a:t>🧠 Imagine we have a dataset of tumor sizes from different patients. Each data point is labeled:</a:t>
            </a:r>
          </a:p>
          <a:p>
            <a:pPr>
              <a:buFont typeface="Arial" panose="020B0604020202020204" pitchFamily="34" charset="0"/>
              <a:buChar char="•"/>
            </a:pPr>
            <a:r>
              <a:rPr lang="en-US" dirty="0"/>
              <a:t>0 if the tumor is </a:t>
            </a:r>
            <a:r>
              <a:rPr lang="en-US" b="1" dirty="0"/>
              <a:t>benign</a:t>
            </a:r>
            <a:r>
              <a:rPr lang="en-US" dirty="0"/>
              <a:t> (not dangerous)</a:t>
            </a:r>
          </a:p>
          <a:p>
            <a:pPr>
              <a:buFont typeface="Arial" panose="020B0604020202020204" pitchFamily="34" charset="0"/>
              <a:buChar char="•"/>
            </a:pPr>
            <a:r>
              <a:rPr lang="en-US" dirty="0"/>
              <a:t>1 if the tumor is </a:t>
            </a:r>
            <a:r>
              <a:rPr lang="en-US" b="1" dirty="0"/>
              <a:t>malignant</a:t>
            </a:r>
            <a:r>
              <a:rPr lang="en-US" dirty="0"/>
              <a:t> (dangerous)</a:t>
            </a:r>
          </a:p>
          <a:p>
            <a:r>
              <a:rPr lang="en-US" dirty="0"/>
              <a:t>In the graph, each blue star represents a benign tumor and each green triangle represents a malignant one. The horizontal axis shows </a:t>
            </a:r>
            <a:r>
              <a:rPr lang="en-US" b="1" dirty="0"/>
              <a:t>tumor size</a:t>
            </a:r>
            <a:r>
              <a:rPr lang="en-US" dirty="0"/>
              <a:t>, and the vertical axis shows the label (0 or 1).</a:t>
            </a:r>
          </a:p>
          <a:p>
            <a:r>
              <a:rPr lang="en-US" dirty="0"/>
              <a:t>We can clearly see that as the tumor size increases, the chance of it being malignant increases too. So, we can train a classification model that learns this pattern: </a:t>
            </a:r>
            <a:r>
              <a:rPr lang="en-US" b="1" dirty="0"/>
              <a:t>small tumors are likely benign</a:t>
            </a:r>
            <a:r>
              <a:rPr lang="en-US" dirty="0"/>
              <a:t>, </a:t>
            </a:r>
            <a:r>
              <a:rPr lang="en-US" b="1" dirty="0"/>
              <a:t>larger ones may be malignant</a:t>
            </a:r>
            <a:r>
              <a:rPr lang="en-US" dirty="0"/>
              <a:t>.</a:t>
            </a:r>
          </a:p>
          <a:p>
            <a:r>
              <a:rPr lang="en-US" dirty="0"/>
              <a:t>🎯 This type of task is called </a:t>
            </a:r>
            <a:r>
              <a:rPr lang="en-US" b="1" dirty="0"/>
              <a:t>binary classification</a:t>
            </a:r>
            <a:r>
              <a:rPr lang="en-US" dirty="0"/>
              <a:t>, because there are two possible outputs: 0 or 1.</a:t>
            </a:r>
            <a:br>
              <a:rPr lang="en-US" dirty="0"/>
            </a:br>
            <a:r>
              <a:rPr lang="en-US" dirty="0"/>
              <a:t>This is extremely important in medical applications — because </a:t>
            </a:r>
            <a:r>
              <a:rPr lang="en-US" b="1" dirty="0"/>
              <a:t>early and accurate classification can literally save lives</a:t>
            </a:r>
            <a:r>
              <a:rPr lang="en-US" dirty="0"/>
              <a:t>.</a:t>
            </a:r>
            <a:endParaRPr lang="tr-TR" dirty="0"/>
          </a:p>
          <a:p>
            <a:endParaRPr lang="tr-TR" dirty="0"/>
          </a:p>
          <a:p>
            <a:r>
              <a:rPr lang="en-US" b="1" dirty="0"/>
              <a:t>💬 Thought Questions for Your Students:</a:t>
            </a:r>
          </a:p>
          <a:p>
            <a:pPr>
              <a:buFont typeface="Arial" panose="020B0604020202020204" pitchFamily="34" charset="0"/>
              <a:buChar char="•"/>
            </a:pPr>
            <a:r>
              <a:rPr lang="en-US" dirty="0"/>
              <a:t>If I give you a new tumor with size 4.5 cm, do you think it’s benign or malignant?</a:t>
            </a:r>
          </a:p>
          <a:p>
            <a:pPr>
              <a:buFont typeface="Arial" panose="020B0604020202020204" pitchFamily="34" charset="0"/>
              <a:buChar char="•"/>
            </a:pPr>
            <a:r>
              <a:rPr lang="en-US" dirty="0"/>
              <a:t>What would happen if we had </a:t>
            </a:r>
            <a:r>
              <a:rPr lang="en-US" i="1" dirty="0"/>
              <a:t>three</a:t>
            </a:r>
            <a:r>
              <a:rPr lang="en-US" dirty="0"/>
              <a:t> classes instead of two (e.g., benign, suspicious, malignant)?</a:t>
            </a:r>
            <a:br>
              <a:rPr lang="en-US" dirty="0"/>
            </a:br>
            <a:r>
              <a:rPr lang="en-US" dirty="0"/>
              <a:t>👉 That would be </a:t>
            </a:r>
            <a:r>
              <a:rPr lang="en-US" b="1" dirty="0"/>
              <a:t>multi-class classification</a:t>
            </a:r>
            <a:r>
              <a:rPr lang="en-US" dirty="0"/>
              <a:t> — and we’d need a model that can handle more than two categories.</a:t>
            </a:r>
          </a:p>
          <a:p>
            <a:endParaRPr lang="en-US" dirty="0"/>
          </a:p>
        </p:txBody>
      </p:sp>
      <p:sp>
        <p:nvSpPr>
          <p:cNvPr id="4" name="Slide Number Placeholder 3"/>
          <p:cNvSpPr>
            <a:spLocks noGrp="1"/>
          </p:cNvSpPr>
          <p:nvPr>
            <p:ph type="sldNum" sz="quarter" idx="5"/>
          </p:nvPr>
        </p:nvSpPr>
        <p:spPr/>
        <p:txBody>
          <a:bodyPr/>
          <a:lstStyle/>
          <a:p>
            <a:fld id="{0BFC31E6-9817-4ADD-82D7-FAC1C8ED9A92}" type="slidenum">
              <a:rPr lang="en-US" smtClean="0"/>
              <a:t>26</a:t>
            </a:fld>
            <a:endParaRPr lang="en-US"/>
          </a:p>
        </p:txBody>
      </p:sp>
    </p:spTree>
    <p:extLst>
      <p:ext uri="{BB962C8B-B14F-4D97-AF65-F5344CB8AC3E}">
        <p14:creationId xmlns:p14="http://schemas.microsoft.com/office/powerpoint/2010/main" val="4163461714"/>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In our earlier example, we only had two labels:</a:t>
            </a:r>
          </a:p>
          <a:p>
            <a:pPr>
              <a:buFont typeface="Arial" panose="020B0604020202020204" pitchFamily="34" charset="0"/>
              <a:buChar char="•"/>
            </a:pPr>
            <a:r>
              <a:rPr lang="en-US" dirty="0"/>
              <a:t>0 for </a:t>
            </a:r>
            <a:r>
              <a:rPr lang="en-US" b="1" dirty="0"/>
              <a:t>Benign</a:t>
            </a:r>
            <a:endParaRPr lang="en-US" dirty="0"/>
          </a:p>
          <a:p>
            <a:pPr>
              <a:buFont typeface="Arial" panose="020B0604020202020204" pitchFamily="34" charset="0"/>
              <a:buChar char="•"/>
            </a:pPr>
            <a:r>
              <a:rPr lang="en-US" dirty="0"/>
              <a:t>1 for </a:t>
            </a:r>
            <a:r>
              <a:rPr lang="en-US" b="1" dirty="0"/>
              <a:t>Malignant</a:t>
            </a:r>
            <a:endParaRPr lang="en-US" dirty="0"/>
          </a:p>
          <a:p>
            <a:r>
              <a:rPr lang="en-US" dirty="0"/>
              <a:t>But in the real world, things are not always black or white. For example, in cancer detection, there may be </a:t>
            </a:r>
            <a:r>
              <a:rPr lang="en-US" b="1" dirty="0"/>
              <a:t>different types of malignant tumors</a:t>
            </a:r>
            <a:r>
              <a:rPr lang="en-US" dirty="0"/>
              <a:t> that need to be treated differently. That’s where </a:t>
            </a:r>
            <a:r>
              <a:rPr lang="en-US" b="1" dirty="0"/>
              <a:t>multi-class classification</a:t>
            </a:r>
            <a:r>
              <a:rPr lang="en-US" dirty="0"/>
              <a:t> comes in.</a:t>
            </a:r>
          </a:p>
          <a:p>
            <a:r>
              <a:rPr lang="en-US" dirty="0"/>
              <a:t>In this new chart:</a:t>
            </a:r>
          </a:p>
          <a:p>
            <a:pPr>
              <a:buFont typeface="Arial" panose="020B0604020202020204" pitchFamily="34" charset="0"/>
              <a:buChar char="•"/>
            </a:pPr>
            <a:r>
              <a:rPr lang="en-US" dirty="0"/>
              <a:t>Blue stars (0) represent </a:t>
            </a:r>
            <a:r>
              <a:rPr lang="en-US" b="1" dirty="0"/>
              <a:t>Benign tumors</a:t>
            </a:r>
            <a:endParaRPr lang="en-US" dirty="0"/>
          </a:p>
          <a:p>
            <a:pPr>
              <a:buFont typeface="Arial" panose="020B0604020202020204" pitchFamily="34" charset="0"/>
              <a:buChar char="•"/>
            </a:pPr>
            <a:r>
              <a:rPr lang="en-US" dirty="0"/>
              <a:t>Green triangles (1) represent </a:t>
            </a:r>
            <a:r>
              <a:rPr lang="en-US" b="1" dirty="0"/>
              <a:t>Malignant Type 1</a:t>
            </a:r>
            <a:endParaRPr lang="en-US" dirty="0"/>
          </a:p>
          <a:p>
            <a:pPr>
              <a:buFont typeface="Arial" panose="020B0604020202020204" pitchFamily="34" charset="0"/>
              <a:buChar char="•"/>
            </a:pPr>
            <a:r>
              <a:rPr lang="en-US" dirty="0"/>
              <a:t>Yellow circles (2) represent </a:t>
            </a:r>
            <a:r>
              <a:rPr lang="en-US" b="1" dirty="0"/>
              <a:t>Malignant Type 2</a:t>
            </a:r>
            <a:endParaRPr lang="en-US" dirty="0"/>
          </a:p>
          <a:p>
            <a:r>
              <a:rPr lang="en-US" dirty="0"/>
              <a:t>Now, our model’s job is harder. It doesn’t just say “malignant or not” — it has to </a:t>
            </a:r>
            <a:r>
              <a:rPr lang="en-US" b="1" dirty="0"/>
              <a:t>figure out </a:t>
            </a:r>
            <a:r>
              <a:rPr lang="en-US" b="1" i="1" dirty="0"/>
              <a:t>which type</a:t>
            </a:r>
            <a:r>
              <a:rPr lang="en-US" b="1" dirty="0"/>
              <a:t> of tumor</a:t>
            </a:r>
            <a:r>
              <a:rPr lang="en-US" dirty="0"/>
              <a:t> it is. And for that, it needs to learn more subtle patterns in the data.</a:t>
            </a:r>
          </a:p>
          <a:p>
            <a:r>
              <a:rPr lang="en-US" dirty="0"/>
              <a:t>We call this </a:t>
            </a:r>
            <a:r>
              <a:rPr lang="en-US" b="1" dirty="0"/>
              <a:t>multi-class classification</a:t>
            </a:r>
            <a:r>
              <a:rPr lang="en-US" dirty="0"/>
              <a:t> because there are more than two possible outputs (here: 0, 1, or 2).</a:t>
            </a:r>
          </a:p>
        </p:txBody>
      </p:sp>
      <p:sp>
        <p:nvSpPr>
          <p:cNvPr id="4" name="Slide Number Placeholder 3"/>
          <p:cNvSpPr>
            <a:spLocks noGrp="1"/>
          </p:cNvSpPr>
          <p:nvPr>
            <p:ph type="sldNum" sz="quarter" idx="5"/>
          </p:nvPr>
        </p:nvSpPr>
        <p:spPr/>
        <p:txBody>
          <a:bodyPr/>
          <a:lstStyle/>
          <a:p>
            <a:fld id="{0BFC31E6-9817-4ADD-82D7-FAC1C8ED9A92}" type="slidenum">
              <a:rPr lang="en-US" smtClean="0"/>
              <a:t>27</a:t>
            </a:fld>
            <a:endParaRPr lang="en-US"/>
          </a:p>
        </p:txBody>
      </p:sp>
    </p:spTree>
    <p:extLst>
      <p:ext uri="{BB962C8B-B14F-4D97-AF65-F5344CB8AC3E}">
        <p14:creationId xmlns:p14="http://schemas.microsoft.com/office/powerpoint/2010/main" val="3568080579"/>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b="1" dirty="0"/>
              <a:t>Before, we only used tumor size to predict whether a tumor is benign or malignant. But in real life, decisions are rarely made with just one piece of information. What if we also consider the age of the patient?</a:t>
            </a:r>
            <a:endParaRPr lang="en-US" dirty="0"/>
          </a:p>
          <a:p>
            <a:r>
              <a:rPr lang="en-US" dirty="0"/>
              <a:t>In this chart:</a:t>
            </a:r>
          </a:p>
          <a:p>
            <a:pPr>
              <a:buFont typeface="Arial" panose="020B0604020202020204" pitchFamily="34" charset="0"/>
              <a:buChar char="•"/>
            </a:pPr>
            <a:r>
              <a:rPr lang="en-US" dirty="0"/>
              <a:t>The horizontal axis (x₁) is </a:t>
            </a:r>
            <a:r>
              <a:rPr lang="en-US" b="1" dirty="0"/>
              <a:t>tumor size</a:t>
            </a:r>
            <a:endParaRPr lang="en-US" dirty="0"/>
          </a:p>
          <a:p>
            <a:pPr>
              <a:buFont typeface="Arial" panose="020B0604020202020204" pitchFamily="34" charset="0"/>
              <a:buChar char="•"/>
            </a:pPr>
            <a:r>
              <a:rPr lang="en-US" dirty="0"/>
              <a:t>The vertical axis (x₂) is </a:t>
            </a:r>
            <a:r>
              <a:rPr lang="en-US" b="1" dirty="0"/>
              <a:t>age</a:t>
            </a:r>
            <a:endParaRPr lang="en-US" dirty="0"/>
          </a:p>
          <a:p>
            <a:pPr>
              <a:buFont typeface="Arial" panose="020B0604020202020204" pitchFamily="34" charset="0"/>
              <a:buChar char="•"/>
            </a:pPr>
            <a:r>
              <a:rPr lang="en-US" dirty="0"/>
              <a:t>Blue stars represent </a:t>
            </a:r>
            <a:r>
              <a:rPr lang="en-US" b="1" dirty="0"/>
              <a:t>benign tumors</a:t>
            </a:r>
            <a:endParaRPr lang="en-US" dirty="0"/>
          </a:p>
          <a:p>
            <a:pPr>
              <a:buFont typeface="Arial" panose="020B0604020202020204" pitchFamily="34" charset="0"/>
              <a:buChar char="•"/>
            </a:pPr>
            <a:r>
              <a:rPr lang="en-US" dirty="0"/>
              <a:t>Green triangles represent </a:t>
            </a:r>
            <a:r>
              <a:rPr lang="en-US" b="1" dirty="0"/>
              <a:t>malignant tumors</a:t>
            </a:r>
            <a:endParaRPr lang="en-US" dirty="0"/>
          </a:p>
          <a:p>
            <a:r>
              <a:rPr lang="en-US" dirty="0"/>
              <a:t>Now we have two input features instead of one. This lets the model learn </a:t>
            </a:r>
            <a:r>
              <a:rPr lang="en-US" b="1" dirty="0"/>
              <a:t>more complex patterns</a:t>
            </a:r>
            <a:r>
              <a:rPr lang="en-US" dirty="0"/>
              <a:t>. For example, a small tumor in a younger person may be benign, but the same size tumor in an older person might be malignant.</a:t>
            </a:r>
          </a:p>
          <a:p>
            <a:r>
              <a:rPr lang="en-US" dirty="0"/>
              <a:t>If you remember the previous example, we only had one input: tumor size. That was a </a:t>
            </a:r>
            <a:r>
              <a:rPr lang="en-US" b="1" dirty="0"/>
              <a:t>simple linear regression</a:t>
            </a:r>
            <a:r>
              <a:rPr lang="en-US" dirty="0"/>
              <a:t>, and the formula looked like:</a:t>
            </a:r>
            <a:br>
              <a:rPr lang="en-US" dirty="0"/>
            </a:br>
            <a:r>
              <a:rPr lang="en-US" dirty="0"/>
              <a:t>👉 y = w * x₁ + b</a:t>
            </a:r>
          </a:p>
          <a:p>
            <a:r>
              <a:rPr lang="en-US" dirty="0"/>
              <a:t>But now, we have </a:t>
            </a:r>
            <a:r>
              <a:rPr lang="en-US" b="1" dirty="0"/>
              <a:t>two inputs</a:t>
            </a:r>
            <a:r>
              <a:rPr lang="en-US" dirty="0"/>
              <a:t>:</a:t>
            </a:r>
            <a:br>
              <a:rPr lang="en-US" dirty="0"/>
            </a:br>
            <a:r>
              <a:rPr lang="en-US" dirty="0"/>
              <a:t>👉 y = w₁ * x₁ + w₂ * x₂ + b</a:t>
            </a:r>
            <a:br>
              <a:rPr lang="en-US" dirty="0"/>
            </a:br>
            <a:r>
              <a:rPr lang="en-US" dirty="0"/>
              <a:t>This allows the model to make smarter predictions by combining multiple features.</a:t>
            </a:r>
          </a:p>
          <a:p>
            <a:r>
              <a:rPr lang="en-US" dirty="0"/>
              <a:t>We can even add more inputs if necessary — like gender, family history, or tumor shape. The more relevant information we give the model, the better it can learn to make accurate decisions.</a:t>
            </a:r>
          </a:p>
          <a:p>
            <a:r>
              <a:rPr lang="en-US" dirty="0"/>
              <a:t>In the plot, you can still see a pattern:</a:t>
            </a:r>
          </a:p>
          <a:p>
            <a:pPr>
              <a:buFont typeface="Arial" panose="020B0604020202020204" pitchFamily="34" charset="0"/>
              <a:buChar char="•"/>
            </a:pPr>
            <a:r>
              <a:rPr lang="en-US" dirty="0"/>
              <a:t>When we move </a:t>
            </a:r>
            <a:r>
              <a:rPr lang="en-US" b="1" dirty="0"/>
              <a:t>down and left</a:t>
            </a:r>
            <a:r>
              <a:rPr lang="en-US" dirty="0"/>
              <a:t>, most points are benign.</a:t>
            </a:r>
          </a:p>
          <a:p>
            <a:pPr>
              <a:buFont typeface="Arial" panose="020B0604020202020204" pitchFamily="34" charset="0"/>
              <a:buChar char="•"/>
            </a:pPr>
            <a:r>
              <a:rPr lang="en-US" dirty="0"/>
              <a:t>When we move </a:t>
            </a:r>
            <a:r>
              <a:rPr lang="en-US" b="1" dirty="0"/>
              <a:t>up and right</a:t>
            </a:r>
            <a:r>
              <a:rPr lang="en-US" dirty="0"/>
              <a:t>, they tend to be malignant.</a:t>
            </a:r>
            <a:br>
              <a:rPr lang="en-US" dirty="0"/>
            </a:br>
            <a:r>
              <a:rPr lang="en-US" dirty="0"/>
              <a:t>This gives us the intuition to draw a </a:t>
            </a:r>
            <a:r>
              <a:rPr lang="en-US" b="1" dirty="0"/>
              <a:t>decision boundary</a:t>
            </a:r>
            <a:r>
              <a:rPr lang="en-US" dirty="0"/>
              <a:t> — a curved line that separates benign from malignant cases.</a:t>
            </a:r>
          </a:p>
          <a:p>
            <a:r>
              <a:rPr lang="en-US" dirty="0"/>
              <a:t>But here's the key:</a:t>
            </a:r>
            <a:br>
              <a:rPr lang="en-US" dirty="0"/>
            </a:br>
            <a:r>
              <a:rPr lang="en-US" dirty="0"/>
              <a:t>👉 There are many possible ways to draw that boundary.</a:t>
            </a:r>
            <a:br>
              <a:rPr lang="en-US" dirty="0"/>
            </a:br>
            <a:r>
              <a:rPr lang="en-US" dirty="0"/>
              <a:t>In machine learning, our goal is to find the </a:t>
            </a:r>
            <a:r>
              <a:rPr lang="en-US" b="1" dirty="0"/>
              <a:t>best (optimum) boundary</a:t>
            </a:r>
            <a:r>
              <a:rPr lang="en-US" dirty="0"/>
              <a:t> — the one that gives the most accurate predictions.</a:t>
            </a:r>
          </a:p>
          <a:p>
            <a:r>
              <a:rPr lang="en-US" b="1" dirty="0"/>
              <a:t>In the next slides, we’ll learn how to find this optimum boundary using loss functions and optimization techniques.</a:t>
            </a:r>
            <a:endParaRPr lang="en-US" dirty="0"/>
          </a:p>
          <a:p>
            <a:endParaRPr lang="en-US" dirty="0"/>
          </a:p>
        </p:txBody>
      </p:sp>
      <p:sp>
        <p:nvSpPr>
          <p:cNvPr id="4" name="Slide Number Placeholder 3"/>
          <p:cNvSpPr>
            <a:spLocks noGrp="1"/>
          </p:cNvSpPr>
          <p:nvPr>
            <p:ph type="sldNum" sz="quarter" idx="5"/>
          </p:nvPr>
        </p:nvSpPr>
        <p:spPr/>
        <p:txBody>
          <a:bodyPr/>
          <a:lstStyle/>
          <a:p>
            <a:fld id="{0BFC31E6-9817-4ADD-82D7-FAC1C8ED9A92}" type="slidenum">
              <a:rPr lang="en-US" smtClean="0"/>
              <a:t>28</a:t>
            </a:fld>
            <a:endParaRPr lang="en-US"/>
          </a:p>
        </p:txBody>
      </p:sp>
    </p:spTree>
    <p:extLst>
      <p:ext uri="{BB962C8B-B14F-4D97-AF65-F5344CB8AC3E}">
        <p14:creationId xmlns:p14="http://schemas.microsoft.com/office/powerpoint/2010/main" val="3648968947"/>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b="1" dirty="0"/>
              <a:t>Let’s now talk about Unsupervised Learning — where the machine learns without any labeled data.</a:t>
            </a:r>
          </a:p>
          <a:p>
            <a:r>
              <a:rPr lang="en-US" dirty="0"/>
              <a:t>So far, we’ve talked about </a:t>
            </a:r>
            <a:r>
              <a:rPr lang="en-US" b="1" dirty="0"/>
              <a:t>supervised learning</a:t>
            </a:r>
            <a:r>
              <a:rPr lang="en-US" dirty="0"/>
              <a:t>, where we give the model both the inputs and the correct outputs (labels).</a:t>
            </a:r>
            <a:br>
              <a:rPr lang="en-US" dirty="0"/>
            </a:br>
            <a:r>
              <a:rPr lang="en-US" dirty="0"/>
              <a:t>But what if we </a:t>
            </a:r>
            <a:r>
              <a:rPr lang="en-US" b="1" dirty="0"/>
              <a:t>don’t have any labels</a:t>
            </a:r>
            <a:r>
              <a:rPr lang="en-US" dirty="0"/>
              <a:t>?</a:t>
            </a:r>
          </a:p>
          <a:p>
            <a:r>
              <a:rPr lang="en-US" dirty="0"/>
              <a:t>In unsupervised learning, we only give the model the input data — and ask it to </a:t>
            </a:r>
            <a:r>
              <a:rPr lang="en-US" b="1" dirty="0"/>
              <a:t>find patterns or structure</a:t>
            </a:r>
            <a:r>
              <a:rPr lang="en-US" dirty="0"/>
              <a:t> on its own.</a:t>
            </a:r>
          </a:p>
          <a:p>
            <a:r>
              <a:rPr lang="en-US" dirty="0"/>
              <a:t>There are three common types of unsupervised learning tasks:</a:t>
            </a:r>
          </a:p>
          <a:p>
            <a:r>
              <a:rPr lang="en-US" b="1" dirty="0"/>
              <a:t>🔵 Clustering</a:t>
            </a:r>
          </a:p>
          <a:p>
            <a:r>
              <a:rPr lang="en-US" dirty="0"/>
              <a:t>Clustering is like grouping things that are similar.</a:t>
            </a:r>
            <a:br>
              <a:rPr lang="en-US" dirty="0"/>
            </a:br>
            <a:r>
              <a:rPr lang="en-US" dirty="0"/>
              <a:t>Imagine giving the algorithm a bunch of data points — with no labels — and asking it:</a:t>
            </a:r>
            <a:br>
              <a:rPr lang="en-US" dirty="0"/>
            </a:br>
            <a:r>
              <a:rPr lang="en-US" dirty="0"/>
              <a:t>➡️ “Can you organize these into natural groups?”</a:t>
            </a:r>
          </a:p>
          <a:p>
            <a:r>
              <a:rPr lang="en-US" dirty="0"/>
              <a:t>Example: A company wants to group customers based on their shopping behavior — without knowing in advance who’s who. The algorithm might find 3 clusters like in the image:</a:t>
            </a:r>
          </a:p>
          <a:p>
            <a:pPr>
              <a:buFont typeface="Arial" panose="020B0604020202020204" pitchFamily="34" charset="0"/>
              <a:buChar char="•"/>
            </a:pPr>
            <a:r>
              <a:rPr lang="en-US" dirty="0"/>
              <a:t>One group prefers electronics</a:t>
            </a:r>
          </a:p>
          <a:p>
            <a:pPr>
              <a:buFont typeface="Arial" panose="020B0604020202020204" pitchFamily="34" charset="0"/>
              <a:buChar char="•"/>
            </a:pPr>
            <a:r>
              <a:rPr lang="en-US" dirty="0"/>
              <a:t>One likes sports gear</a:t>
            </a:r>
          </a:p>
          <a:p>
            <a:pPr>
              <a:buFont typeface="Arial" panose="020B0604020202020204" pitchFamily="34" charset="0"/>
              <a:buChar char="•"/>
            </a:pPr>
            <a:r>
              <a:rPr lang="en-US" dirty="0"/>
              <a:t>Another prefers books</a:t>
            </a:r>
          </a:p>
          <a:p>
            <a:r>
              <a:rPr lang="en-US" dirty="0"/>
              <a:t>This is useful for marketing, recommendations, and personalization.</a:t>
            </a:r>
          </a:p>
          <a:p>
            <a:r>
              <a:rPr lang="en-US" b="1" dirty="0"/>
              <a:t>🔍 Anomaly Detection</a:t>
            </a:r>
          </a:p>
          <a:p>
            <a:r>
              <a:rPr lang="en-US" dirty="0"/>
              <a:t>Here, we’re looking for things that </a:t>
            </a:r>
            <a:r>
              <a:rPr lang="en-US" b="1" dirty="0"/>
              <a:t>don’t fit the pattern</a:t>
            </a:r>
            <a:r>
              <a:rPr lang="en-US" dirty="0"/>
              <a:t> — the outliers.</a:t>
            </a:r>
            <a:br>
              <a:rPr lang="en-US" dirty="0"/>
            </a:br>
            <a:r>
              <a:rPr lang="en-US" dirty="0"/>
              <a:t>In the chart, the model sees regular behavior most of the time, but then suddenly, something very different happens — that spike is the </a:t>
            </a:r>
            <a:r>
              <a:rPr lang="en-US" b="1" dirty="0"/>
              <a:t>anomaly</a:t>
            </a:r>
            <a:r>
              <a:rPr lang="en-US" dirty="0"/>
              <a:t>.</a:t>
            </a:r>
          </a:p>
          <a:p>
            <a:r>
              <a:rPr lang="en-US" dirty="0"/>
              <a:t>Example: Detecting fraud in credit card usage, or errors in sensor data.</a:t>
            </a:r>
            <a:br>
              <a:rPr lang="en-US" dirty="0"/>
            </a:br>
            <a:r>
              <a:rPr lang="en-US" dirty="0"/>
              <a:t>Even though there are no labels, the model learns what “normal” looks like — and flags anything unusual.</a:t>
            </a:r>
          </a:p>
          <a:p>
            <a:r>
              <a:rPr lang="en-US" b="1" dirty="0"/>
              <a:t>📉 Dimensionality Reduction</a:t>
            </a:r>
          </a:p>
          <a:p>
            <a:r>
              <a:rPr lang="en-US" dirty="0"/>
              <a:t>Sometimes, our data has </a:t>
            </a:r>
            <a:r>
              <a:rPr lang="en-US" b="1" dirty="0"/>
              <a:t>too many features</a:t>
            </a:r>
            <a:r>
              <a:rPr lang="en-US" dirty="0"/>
              <a:t> — it’s hard to work with or visualize.</a:t>
            </a:r>
            <a:br>
              <a:rPr lang="en-US" dirty="0"/>
            </a:br>
            <a:r>
              <a:rPr lang="en-US" dirty="0"/>
              <a:t>Dimensionality reduction helps us </a:t>
            </a:r>
            <a:r>
              <a:rPr lang="en-US" b="1" dirty="0"/>
              <a:t>simplify the data</a:t>
            </a:r>
            <a:r>
              <a:rPr lang="en-US" dirty="0"/>
              <a:t> by reducing the number of variables, while still keeping the important information.</a:t>
            </a:r>
          </a:p>
          <a:p>
            <a:r>
              <a:rPr lang="en-US" dirty="0"/>
              <a:t>In the chart, a complex 3D dataset is reduced to 2D — and you can still see the key differences between the red and blue groups.</a:t>
            </a:r>
          </a:p>
          <a:p>
            <a:r>
              <a:rPr lang="en-US" dirty="0"/>
              <a:t>This is useful for:</a:t>
            </a:r>
          </a:p>
          <a:p>
            <a:pPr>
              <a:buFont typeface="Arial" panose="020B0604020202020204" pitchFamily="34" charset="0"/>
              <a:buChar char="•"/>
            </a:pPr>
            <a:r>
              <a:rPr lang="en-US" dirty="0"/>
              <a:t>Visualizing high-dimensional data</a:t>
            </a:r>
          </a:p>
          <a:p>
            <a:pPr>
              <a:buFont typeface="Arial" panose="020B0604020202020204" pitchFamily="34" charset="0"/>
              <a:buChar char="•"/>
            </a:pPr>
            <a:r>
              <a:rPr lang="en-US" dirty="0"/>
              <a:t>Speeding up learning</a:t>
            </a:r>
          </a:p>
          <a:p>
            <a:pPr>
              <a:buFont typeface="Arial" panose="020B0604020202020204" pitchFamily="34" charset="0"/>
              <a:buChar char="•"/>
            </a:pPr>
            <a:r>
              <a:rPr lang="en-US" dirty="0"/>
              <a:t>Removing noise from datasets</a:t>
            </a:r>
          </a:p>
        </p:txBody>
      </p:sp>
      <p:sp>
        <p:nvSpPr>
          <p:cNvPr id="4" name="Slide Number Placeholder 3"/>
          <p:cNvSpPr>
            <a:spLocks noGrp="1"/>
          </p:cNvSpPr>
          <p:nvPr>
            <p:ph type="sldNum" sz="quarter" idx="5"/>
          </p:nvPr>
        </p:nvSpPr>
        <p:spPr/>
        <p:txBody>
          <a:bodyPr/>
          <a:lstStyle/>
          <a:p>
            <a:fld id="{0BFC31E6-9817-4ADD-82D7-FAC1C8ED9A92}" type="slidenum">
              <a:rPr lang="en-US" smtClean="0"/>
              <a:t>29</a:t>
            </a:fld>
            <a:endParaRPr lang="en-US"/>
          </a:p>
        </p:txBody>
      </p:sp>
    </p:spTree>
    <p:extLst>
      <p:ext uri="{BB962C8B-B14F-4D97-AF65-F5344CB8AC3E}">
        <p14:creationId xmlns:p14="http://schemas.microsoft.com/office/powerpoint/2010/main" val="2014409807"/>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b="1" dirty="0"/>
              <a:t>🧠 Supervised vs Unsupervised Learning</a:t>
            </a:r>
          </a:p>
          <a:p>
            <a:r>
              <a:rPr lang="en-US" dirty="0"/>
              <a:t>Let’s compare these two big ideas in machine learning.</a:t>
            </a:r>
          </a:p>
          <a:p>
            <a:r>
              <a:rPr lang="en-US" b="1" dirty="0"/>
              <a:t>🔴 On the left: Supervised Learning</a:t>
            </a:r>
          </a:p>
          <a:p>
            <a:r>
              <a:rPr lang="en-US" dirty="0"/>
              <a:t>Here, we have </a:t>
            </a:r>
            <a:r>
              <a:rPr lang="en-US" b="1" dirty="0"/>
              <a:t>data with labels</a:t>
            </a:r>
            <a:r>
              <a:rPr lang="en-US" dirty="0"/>
              <a:t> — we already know the answers.</a:t>
            </a:r>
            <a:br>
              <a:rPr lang="en-US" dirty="0"/>
            </a:br>
            <a:r>
              <a:rPr lang="en-US" dirty="0"/>
              <a:t>In this example, each point represents a tumor, and we know whether it’s </a:t>
            </a:r>
            <a:r>
              <a:rPr lang="en-US" b="1" dirty="0"/>
              <a:t>benign (blue star)</a:t>
            </a:r>
            <a:r>
              <a:rPr lang="en-US" dirty="0"/>
              <a:t> or </a:t>
            </a:r>
            <a:r>
              <a:rPr lang="en-US" b="1" dirty="0"/>
              <a:t>malignant (green triangle)</a:t>
            </a:r>
            <a:r>
              <a:rPr lang="en-US" dirty="0"/>
              <a:t>.</a:t>
            </a:r>
          </a:p>
          <a:p>
            <a:r>
              <a:rPr lang="en-US" dirty="0"/>
              <a:t>We train a model to </a:t>
            </a:r>
            <a:r>
              <a:rPr lang="en-US" b="1" dirty="0"/>
              <a:t>learn from these labeled examples</a:t>
            </a:r>
            <a:r>
              <a:rPr lang="en-US" dirty="0"/>
              <a:t>.</a:t>
            </a:r>
            <a:br>
              <a:rPr lang="en-US" dirty="0"/>
            </a:br>
            <a:r>
              <a:rPr lang="en-US" dirty="0"/>
              <a:t>The model then draws a </a:t>
            </a:r>
            <a:r>
              <a:rPr lang="en-US" b="1" dirty="0"/>
              <a:t>decision boundary</a:t>
            </a:r>
            <a:r>
              <a:rPr lang="en-US" dirty="0"/>
              <a:t> (the yellow line) that separates the two classes.</a:t>
            </a:r>
            <a:br>
              <a:rPr lang="en-US" dirty="0"/>
            </a:br>
            <a:r>
              <a:rPr lang="en-US" dirty="0"/>
              <a:t>Later, when we see a new tumor, the model can use this boundary to predict whether it’s benign or malignant.</a:t>
            </a:r>
            <a:endParaRPr lang="tr-TR" dirty="0"/>
          </a:p>
          <a:p>
            <a:endParaRPr lang="tr-TR" dirty="0"/>
          </a:p>
          <a:p>
            <a:r>
              <a:rPr lang="en-US" b="1" dirty="0"/>
              <a:t>🟠 On the right: Unsupervised Learning</a:t>
            </a:r>
          </a:p>
          <a:p>
            <a:r>
              <a:rPr lang="en-US" dirty="0"/>
              <a:t>Now, we </a:t>
            </a:r>
            <a:r>
              <a:rPr lang="en-US" b="1" dirty="0"/>
              <a:t>don’t have any labels</a:t>
            </a:r>
            <a:r>
              <a:rPr lang="en-US" dirty="0"/>
              <a:t>. We just have a bunch of data points.</a:t>
            </a:r>
            <a:br>
              <a:rPr lang="en-US" dirty="0"/>
            </a:br>
            <a:r>
              <a:rPr lang="en-US" dirty="0"/>
              <a:t>The model doesn’t know what “benign” or “malignant” means — but it can still look for </a:t>
            </a:r>
            <a:r>
              <a:rPr lang="en-US" b="1" dirty="0"/>
              <a:t>patterns</a:t>
            </a:r>
            <a:r>
              <a:rPr lang="en-US" dirty="0"/>
              <a:t> or </a:t>
            </a:r>
            <a:r>
              <a:rPr lang="en-US" b="1" dirty="0"/>
              <a:t>groupings</a:t>
            </a:r>
            <a:r>
              <a:rPr lang="en-US" dirty="0"/>
              <a:t>.</a:t>
            </a:r>
          </a:p>
          <a:p>
            <a:r>
              <a:rPr lang="en-US" dirty="0"/>
              <a:t>In this case, it has </a:t>
            </a:r>
            <a:r>
              <a:rPr lang="en-US" b="1" dirty="0"/>
              <a:t>clustered</a:t>
            </a:r>
            <a:r>
              <a:rPr lang="en-US" dirty="0"/>
              <a:t> the points into two groups, based only on how similar they are.</a:t>
            </a:r>
            <a:br>
              <a:rPr lang="en-US" dirty="0"/>
            </a:br>
            <a:r>
              <a:rPr lang="en-US" dirty="0"/>
              <a:t>We might look at these groups later and realize:</a:t>
            </a:r>
          </a:p>
          <a:p>
            <a:r>
              <a:rPr lang="en-US" dirty="0"/>
              <a:t>One group might be benign, and the other malignant!"</a:t>
            </a:r>
          </a:p>
          <a:p>
            <a:endParaRPr lang="en-US" dirty="0"/>
          </a:p>
        </p:txBody>
      </p:sp>
      <p:sp>
        <p:nvSpPr>
          <p:cNvPr id="4" name="Slide Number Placeholder 3"/>
          <p:cNvSpPr>
            <a:spLocks noGrp="1"/>
          </p:cNvSpPr>
          <p:nvPr>
            <p:ph type="sldNum" sz="quarter" idx="5"/>
          </p:nvPr>
        </p:nvSpPr>
        <p:spPr/>
        <p:txBody>
          <a:bodyPr/>
          <a:lstStyle/>
          <a:p>
            <a:fld id="{0BFC31E6-9817-4ADD-82D7-FAC1C8ED9A92}" type="slidenum">
              <a:rPr lang="en-US" smtClean="0"/>
              <a:t>30</a:t>
            </a:fld>
            <a:endParaRPr lang="en-US"/>
          </a:p>
        </p:txBody>
      </p:sp>
    </p:spTree>
    <p:extLst>
      <p:ext uri="{BB962C8B-B14F-4D97-AF65-F5344CB8AC3E}">
        <p14:creationId xmlns:p14="http://schemas.microsoft.com/office/powerpoint/2010/main" val="1432922415"/>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algn="l"/>
            <a:r>
              <a:rPr lang="en-US" dirty="0"/>
              <a:t>Clustering is a method in unsupervised learning where we group similar data points based on their shared characteristics, without having predefined labels or categories. Imagine you're running a retail company with customer data like purchase history, age, income, and shopping behavior. Using clustering algorithms, such as K-means or hierarchical clustering, you can segment your customers into meaningful groups like 'Frequent Shoppers,' 'Seasonal Shoppers,' or 'Online Shoppers.' The process involves measuring similarity (e.g., using Euclidean distance) between data points and assigning them to clusters based on this similarity. For instance, K-means partitions the data into a specific number of clusters you define, while hierarchical clustering builds a tree-like structure to reveal natural groupings. By identifying these patterns, you can tailor your marketing strategies to different customer groups more effectively, boosting customer satisfaction and sales.</a:t>
            </a:r>
            <a:endParaRPr lang="en-US" b="0" i="0" dirty="0">
              <a:solidFill>
                <a:srgbClr val="D1D5DB"/>
              </a:solidFill>
              <a:effectLst/>
              <a:latin typeface="Söhne"/>
            </a:endParaRPr>
          </a:p>
        </p:txBody>
      </p:sp>
      <p:sp>
        <p:nvSpPr>
          <p:cNvPr id="4" name="Slide Number Placeholder 3"/>
          <p:cNvSpPr>
            <a:spLocks noGrp="1"/>
          </p:cNvSpPr>
          <p:nvPr>
            <p:ph type="sldNum" sz="quarter" idx="5"/>
          </p:nvPr>
        </p:nvSpPr>
        <p:spPr/>
        <p:txBody>
          <a:bodyPr/>
          <a:lstStyle/>
          <a:p>
            <a:fld id="{0BFC31E6-9817-4ADD-82D7-FAC1C8ED9A92}" type="slidenum">
              <a:rPr lang="en-US" smtClean="0"/>
              <a:t>31</a:t>
            </a:fld>
            <a:endParaRPr lang="en-US"/>
          </a:p>
        </p:txBody>
      </p:sp>
    </p:spTree>
    <p:extLst>
      <p:ext uri="{BB962C8B-B14F-4D97-AF65-F5344CB8AC3E}">
        <p14:creationId xmlns:p14="http://schemas.microsoft.com/office/powerpoint/2010/main" val="2898321748"/>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tr-TR" dirty="0"/>
              <a:t>c</a:t>
            </a:r>
            <a:endParaRPr lang="en-US" dirty="0"/>
          </a:p>
        </p:txBody>
      </p:sp>
      <p:sp>
        <p:nvSpPr>
          <p:cNvPr id="4" name="Slide Number Placeholder 3"/>
          <p:cNvSpPr>
            <a:spLocks noGrp="1"/>
          </p:cNvSpPr>
          <p:nvPr>
            <p:ph type="sldNum" sz="quarter" idx="5"/>
          </p:nvPr>
        </p:nvSpPr>
        <p:spPr/>
        <p:txBody>
          <a:bodyPr/>
          <a:lstStyle/>
          <a:p>
            <a:fld id="{0BFC31E6-9817-4ADD-82D7-FAC1C8ED9A92}" type="slidenum">
              <a:rPr lang="en-US" smtClean="0"/>
              <a:t>32</a:t>
            </a:fld>
            <a:endParaRPr lang="en-US"/>
          </a:p>
        </p:txBody>
      </p:sp>
    </p:spTree>
    <p:extLst>
      <p:ext uri="{BB962C8B-B14F-4D97-AF65-F5344CB8AC3E}">
        <p14:creationId xmlns:p14="http://schemas.microsoft.com/office/powerpoint/2010/main" val="492825229"/>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algn="l"/>
            <a:r>
              <a:rPr lang="en-US" b="0" i="0" dirty="0">
                <a:solidFill>
                  <a:srgbClr val="FFFFFF"/>
                </a:solidFill>
                <a:effectLst/>
                <a:latin typeface="Söhne"/>
              </a:rPr>
              <a:t>A) Customer segmentation in marketing: This is a common application of unsupervised learning where customer data is clustered into groups based on their purchasing behavior, demographics, or other features to tailor marketing strategies.</a:t>
            </a:r>
          </a:p>
          <a:p>
            <a:pPr algn="l"/>
            <a:r>
              <a:rPr lang="en-US" b="0" i="0" dirty="0">
                <a:solidFill>
                  <a:srgbClr val="FFFFFF"/>
                </a:solidFill>
                <a:effectLst/>
                <a:latin typeface="Söhne"/>
              </a:rPr>
              <a:t>B) Handwriting recognition: Handwriting recognition is typically a supervised learning task where a model is trained on labeled data (handwritten characters with corresponding labels) to recognize and classify handwritten text.</a:t>
            </a:r>
          </a:p>
          <a:p>
            <a:pPr algn="l"/>
            <a:r>
              <a:rPr lang="en-US" b="0" i="0" dirty="0">
                <a:solidFill>
                  <a:srgbClr val="FFFFFF"/>
                </a:solidFill>
                <a:effectLst/>
                <a:latin typeface="Söhne"/>
              </a:rPr>
              <a:t>C) Anomaly detection in cybersecurity: Unsupervised learning is often used for anomaly detection where the algorithm learns the normal behavior of a system and flags instances that deviate significantly from this norm as potential anomalies or threats.</a:t>
            </a:r>
          </a:p>
          <a:p>
            <a:pPr algn="l"/>
            <a:r>
              <a:rPr lang="en-US" b="0" i="0" dirty="0">
                <a:solidFill>
                  <a:srgbClr val="FFFFFF"/>
                </a:solidFill>
                <a:effectLst/>
                <a:latin typeface="Söhne"/>
              </a:rPr>
              <a:t>D) Image compression: Unsupervised learning can be used for image compression, where the algorithm identifies patterns and redundancies in an image and represents it more efficiently. Techniques like Principal Component Analysis (PCA) can be employed for dimensionality reduction in image data.</a:t>
            </a:r>
          </a:p>
          <a:p>
            <a:pPr algn="l"/>
            <a:r>
              <a:rPr lang="en-US" b="0" i="0" dirty="0">
                <a:solidFill>
                  <a:srgbClr val="FFFFFF"/>
                </a:solidFill>
                <a:effectLst/>
                <a:latin typeface="Söhne"/>
              </a:rPr>
              <a:t>So, the correct answer is B) Handwriting recognition because it typically involves supervised learning, not unsupervised learning.</a:t>
            </a:r>
          </a:p>
          <a:p>
            <a:br>
              <a:rPr lang="en-US" b="0" i="0" dirty="0">
                <a:solidFill>
                  <a:srgbClr val="FFFFFF"/>
                </a:solidFill>
                <a:effectLst/>
                <a:latin typeface="Söhne"/>
              </a:rPr>
            </a:br>
            <a:endParaRPr lang="en-US" b="1" dirty="0"/>
          </a:p>
        </p:txBody>
      </p:sp>
      <p:sp>
        <p:nvSpPr>
          <p:cNvPr id="4" name="Slide Number Placeholder 3"/>
          <p:cNvSpPr>
            <a:spLocks noGrp="1"/>
          </p:cNvSpPr>
          <p:nvPr>
            <p:ph type="sldNum" sz="quarter" idx="5"/>
          </p:nvPr>
        </p:nvSpPr>
        <p:spPr/>
        <p:txBody>
          <a:bodyPr/>
          <a:lstStyle/>
          <a:p>
            <a:fld id="{0BFC31E6-9817-4ADD-82D7-FAC1C8ED9A92}" type="slidenum">
              <a:rPr lang="en-US" smtClean="0"/>
              <a:t>33</a:t>
            </a:fld>
            <a:endParaRPr lang="en-US"/>
          </a:p>
        </p:txBody>
      </p:sp>
    </p:spTree>
    <p:extLst>
      <p:ext uri="{BB962C8B-B14F-4D97-AF65-F5344CB8AC3E}">
        <p14:creationId xmlns:p14="http://schemas.microsoft.com/office/powerpoint/2010/main" val="2146216298"/>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"Alright everyone, let’s go a bit deeper into </a:t>
            </a:r>
            <a:r>
              <a:rPr lang="en-US" b="1" dirty="0"/>
              <a:t>regression</a:t>
            </a:r>
            <a:r>
              <a:rPr lang="en-US" dirty="0"/>
              <a:t>. I’m sure some of you remember this example — house prices and sizes. Let’s take another look.</a:t>
            </a:r>
          </a:p>
          <a:p>
            <a:r>
              <a:rPr lang="en-US" dirty="0"/>
              <a:t>So, we’re talking about </a:t>
            </a:r>
            <a:r>
              <a:rPr lang="en-US" b="1" dirty="0"/>
              <a:t>linear regression</a:t>
            </a:r>
            <a:r>
              <a:rPr lang="en-US" dirty="0"/>
              <a:t> — probably one of the most widely used algorithms in machine learning. Why? Because it’s simple and powerful. Basically, we’re just trying to fit a </a:t>
            </a:r>
            <a:r>
              <a:rPr lang="en-US" b="1" dirty="0"/>
              <a:t>straight line</a:t>
            </a:r>
            <a:r>
              <a:rPr lang="en-US" dirty="0"/>
              <a:t> to our data. That line helps us </a:t>
            </a:r>
            <a:r>
              <a:rPr lang="en-US" b="1" dirty="0"/>
              <a:t>predict</a:t>
            </a:r>
            <a:r>
              <a:rPr lang="en-US" dirty="0"/>
              <a:t> something.</a:t>
            </a:r>
          </a:p>
          <a:p>
            <a:r>
              <a:rPr lang="en-US" dirty="0"/>
              <a:t>Now look at the graph. Each blue star is a house. On the x-axis we have the </a:t>
            </a:r>
            <a:r>
              <a:rPr lang="en-US" b="1" dirty="0"/>
              <a:t>house size</a:t>
            </a:r>
            <a:r>
              <a:rPr lang="en-US" dirty="0"/>
              <a:t>, and on the y-axis we have the </a:t>
            </a:r>
            <a:r>
              <a:rPr lang="en-US" b="1" dirty="0"/>
              <a:t>price</a:t>
            </a:r>
            <a:r>
              <a:rPr lang="en-US" dirty="0"/>
              <a:t>. You can think of it like this:</a:t>
            </a:r>
          </a:p>
          <a:p>
            <a:r>
              <a:rPr lang="en-US" dirty="0"/>
              <a:t>'If I know the size of a house, can I guess how much it will cost?'</a:t>
            </a:r>
          </a:p>
          <a:p>
            <a:r>
              <a:rPr lang="en-US" dirty="0"/>
              <a:t>That’s exactly what linear regression does.</a:t>
            </a:r>
          </a:p>
          <a:p>
            <a:r>
              <a:rPr lang="en-US" dirty="0"/>
              <a:t>Let’s say you want to estimate the price of a house that’s </a:t>
            </a:r>
            <a:r>
              <a:rPr lang="en-US" b="1" dirty="0"/>
              <a:t>2000 square feet</a:t>
            </a:r>
            <a:r>
              <a:rPr lang="en-US" dirty="0"/>
              <a:t>. You just go to 2000 on the x-axis, move up to the red line, and check the y-axis.</a:t>
            </a:r>
            <a:br>
              <a:rPr lang="en-US" dirty="0"/>
            </a:br>
            <a:r>
              <a:rPr lang="en-US" dirty="0"/>
              <a:t>➡️ It tells you the price is somewhere between </a:t>
            </a:r>
            <a:r>
              <a:rPr lang="en-US" b="1" dirty="0"/>
              <a:t>300 and 400 thousand dollars</a:t>
            </a:r>
            <a:r>
              <a:rPr lang="en-US" dirty="0"/>
              <a:t>.</a:t>
            </a:r>
          </a:p>
          <a:p>
            <a:r>
              <a:rPr lang="en-US" dirty="0"/>
              <a:t>Pretty cool, right? You’re predicting a number — a continuous value.</a:t>
            </a:r>
          </a:p>
          <a:p>
            <a:r>
              <a:rPr lang="en-US" dirty="0"/>
              <a:t>Now let’s pause for a second and </a:t>
            </a:r>
            <a:r>
              <a:rPr lang="en-US" b="1" dirty="0"/>
              <a:t>compare this with classification</a:t>
            </a:r>
            <a:r>
              <a:rPr lang="en-US" dirty="0"/>
              <a:t>.</a:t>
            </a:r>
          </a:p>
          <a:p>
            <a:r>
              <a:rPr lang="en-US" dirty="0"/>
              <a:t>In </a:t>
            </a:r>
            <a:r>
              <a:rPr lang="en-US" b="1" dirty="0"/>
              <a:t>classification</a:t>
            </a:r>
            <a:r>
              <a:rPr lang="en-US" dirty="0"/>
              <a:t>, you don’t predict a number — you predict a </a:t>
            </a:r>
            <a:r>
              <a:rPr lang="en-US" b="1" dirty="0"/>
              <a:t>category</a:t>
            </a:r>
            <a:r>
              <a:rPr lang="en-US" dirty="0"/>
              <a:t>. For example:</a:t>
            </a:r>
          </a:p>
          <a:p>
            <a:r>
              <a:rPr lang="en-US" dirty="0"/>
              <a:t>Is this tumor benign or malignant?</a:t>
            </a:r>
            <a:br>
              <a:rPr lang="en-US" dirty="0"/>
            </a:br>
            <a:r>
              <a:rPr lang="en-US" dirty="0"/>
              <a:t>Is this email spam or not spam?</a:t>
            </a:r>
          </a:p>
          <a:p>
            <a:r>
              <a:rPr lang="en-US" dirty="0"/>
              <a:t>So here’s the difference:</a:t>
            </a:r>
          </a:p>
          <a:p>
            <a:pPr>
              <a:buFont typeface="Arial" panose="020B0604020202020204" pitchFamily="34" charset="0"/>
              <a:buChar char="•"/>
            </a:pPr>
            <a:r>
              <a:rPr lang="en-US" b="1" dirty="0"/>
              <a:t>Regression = predicting numbers</a:t>
            </a:r>
            <a:r>
              <a:rPr lang="en-US" dirty="0"/>
              <a:t> (like price, temperature)</a:t>
            </a:r>
          </a:p>
          <a:p>
            <a:pPr>
              <a:buFont typeface="Arial" panose="020B0604020202020204" pitchFamily="34" charset="0"/>
              <a:buChar char="•"/>
            </a:pPr>
            <a:r>
              <a:rPr lang="en-US" b="1" dirty="0"/>
              <a:t>Classification = predicting categories</a:t>
            </a:r>
            <a:r>
              <a:rPr lang="en-US" dirty="0"/>
              <a:t> (like labels, types)</a:t>
            </a:r>
          </a:p>
          <a:p>
            <a:r>
              <a:rPr lang="en-US" dirty="0"/>
              <a:t>Simple rule:</a:t>
            </a:r>
          </a:p>
          <a:p>
            <a:r>
              <a:rPr lang="en-US" dirty="0"/>
              <a:t>🎯 If your output is a number → use regression</a:t>
            </a:r>
            <a:br>
              <a:rPr lang="en-US" dirty="0"/>
            </a:br>
            <a:r>
              <a:rPr lang="en-US" dirty="0"/>
              <a:t>🏷️ If your output is a class or label → use classification</a:t>
            </a:r>
          </a:p>
          <a:p>
            <a:r>
              <a:rPr lang="en-US" dirty="0"/>
              <a:t>Make sense?"</a:t>
            </a:r>
          </a:p>
        </p:txBody>
      </p:sp>
      <p:sp>
        <p:nvSpPr>
          <p:cNvPr id="4" name="Slide Number Placeholder 3"/>
          <p:cNvSpPr>
            <a:spLocks noGrp="1"/>
          </p:cNvSpPr>
          <p:nvPr>
            <p:ph type="sldNum" sz="quarter" idx="5"/>
          </p:nvPr>
        </p:nvSpPr>
        <p:spPr/>
        <p:txBody>
          <a:bodyPr/>
          <a:lstStyle/>
          <a:p>
            <a:fld id="{0BFC31E6-9817-4ADD-82D7-FAC1C8ED9A92}" type="slidenum">
              <a:rPr lang="en-US" smtClean="0"/>
              <a:t>34</a:t>
            </a:fld>
            <a:endParaRPr lang="en-US"/>
          </a:p>
        </p:txBody>
      </p:sp>
    </p:spTree>
    <p:extLst>
      <p:ext uri="{BB962C8B-B14F-4D97-AF65-F5344CB8AC3E}">
        <p14:creationId xmlns:p14="http://schemas.microsoft.com/office/powerpoint/2010/main" val="1021089527"/>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algn="l"/>
            <a:r>
              <a:rPr lang="en-US" dirty="0"/>
              <a:t>Okay everyone, before we go deeper into the math of linear regression, let’s pause and make sure we understand the </a:t>
            </a:r>
            <a:r>
              <a:rPr lang="en-US" b="1" dirty="0"/>
              <a:t>basic terms</a:t>
            </a:r>
            <a:r>
              <a:rPr lang="en-US" dirty="0"/>
              <a:t>. These will come up again and again, so it’s important that we’re all on the same page.</a:t>
            </a:r>
            <a:endParaRPr lang="tr-TR" dirty="0"/>
          </a:p>
          <a:p>
            <a:pPr algn="l"/>
            <a:endParaRPr lang="tr-TR" dirty="0"/>
          </a:p>
          <a:p>
            <a:r>
              <a:rPr lang="en-US" dirty="0"/>
              <a:t>🔤 </a:t>
            </a:r>
            <a:r>
              <a:rPr lang="en-US" b="1" dirty="0"/>
              <a:t>Terminology Time!</a:t>
            </a:r>
            <a:endParaRPr lang="en-US" dirty="0"/>
          </a:p>
          <a:p>
            <a:r>
              <a:rPr lang="en-US" dirty="0"/>
              <a:t>We’re working with a dataset — here, it’s a table showing </a:t>
            </a:r>
            <a:r>
              <a:rPr lang="en-US" b="1" dirty="0"/>
              <a:t>house sizes</a:t>
            </a:r>
            <a:r>
              <a:rPr lang="en-US" dirty="0"/>
              <a:t> and their corresponding </a:t>
            </a:r>
            <a:r>
              <a:rPr lang="en-US" b="1" dirty="0"/>
              <a:t>prices</a:t>
            </a:r>
            <a:r>
              <a:rPr lang="en-US" dirty="0"/>
              <a:t>.</a:t>
            </a:r>
          </a:p>
          <a:p>
            <a:pPr>
              <a:buFont typeface="Arial" panose="020B0604020202020204" pitchFamily="34" charset="0"/>
              <a:buChar char="•"/>
            </a:pPr>
            <a:r>
              <a:rPr lang="en-US" dirty="0"/>
              <a:t>x is the </a:t>
            </a:r>
            <a:r>
              <a:rPr lang="en-US" b="1" dirty="0"/>
              <a:t>input</a:t>
            </a:r>
            <a:r>
              <a:rPr lang="en-US" dirty="0"/>
              <a:t> — in this case, the size of the house, measured in square feet.</a:t>
            </a:r>
          </a:p>
          <a:p>
            <a:pPr>
              <a:buFont typeface="Arial" panose="020B0604020202020204" pitchFamily="34" charset="0"/>
              <a:buChar char="•"/>
            </a:pPr>
            <a:r>
              <a:rPr lang="en-US" dirty="0"/>
              <a:t>y is the </a:t>
            </a:r>
            <a:r>
              <a:rPr lang="en-US" b="1" dirty="0"/>
              <a:t>output</a:t>
            </a:r>
            <a:r>
              <a:rPr lang="en-US" dirty="0"/>
              <a:t> — the price of the house, in thousands of dollars.</a:t>
            </a:r>
          </a:p>
          <a:p>
            <a:r>
              <a:rPr lang="en-US" dirty="0"/>
              <a:t>Each row in the table is one </a:t>
            </a:r>
            <a:r>
              <a:rPr lang="en-US" b="1" dirty="0"/>
              <a:t>training example</a:t>
            </a:r>
            <a:r>
              <a:rPr lang="en-US" dirty="0"/>
              <a:t> — basically, one house.</a:t>
            </a:r>
          </a:p>
          <a:p>
            <a:r>
              <a:rPr lang="en-US" dirty="0"/>
              <a:t>Let’s look at the first one:</a:t>
            </a:r>
          </a:p>
          <a:p>
            <a:r>
              <a:rPr lang="en-US" dirty="0"/>
              <a:t>House size = 2104 square feet,</a:t>
            </a:r>
            <a:br>
              <a:rPr lang="en-US" dirty="0"/>
            </a:br>
            <a:r>
              <a:rPr lang="en-US" dirty="0"/>
              <a:t>Price = 460 thousand dollars</a:t>
            </a:r>
            <a:br>
              <a:rPr lang="en-US" dirty="0"/>
            </a:br>
            <a:r>
              <a:rPr lang="en-US" dirty="0"/>
              <a:t>So, this example is written as a pair: x = 2104, y = 460.</a:t>
            </a:r>
          </a:p>
          <a:p>
            <a:r>
              <a:rPr lang="en-US" b="1" dirty="0"/>
              <a:t>✏️ Notation Breakdown:</a:t>
            </a:r>
          </a:p>
          <a:p>
            <a:pPr>
              <a:buFont typeface="Arial" panose="020B0604020202020204" pitchFamily="34" charset="0"/>
              <a:buChar char="•"/>
            </a:pPr>
            <a:r>
              <a:rPr lang="en-US" dirty="0"/>
              <a:t>m is the total number of training examples — here, we have 47 houses, so m = 47.</a:t>
            </a:r>
          </a:p>
          <a:p>
            <a:pPr>
              <a:buFont typeface="Arial" panose="020B0604020202020204" pitchFamily="34" charset="0"/>
              <a:buChar char="•"/>
            </a:pPr>
            <a:r>
              <a:rPr lang="en-US" dirty="0"/>
              <a:t>(x, y) is a </a:t>
            </a:r>
            <a:r>
              <a:rPr lang="en-US" b="1" dirty="0"/>
              <a:t>single training example</a:t>
            </a:r>
            <a:r>
              <a:rPr lang="en-US" dirty="0"/>
              <a:t>.</a:t>
            </a:r>
          </a:p>
          <a:p>
            <a:pPr>
              <a:buFont typeface="Arial" panose="020B0604020202020204" pitchFamily="34" charset="0"/>
              <a:buChar char="•"/>
            </a:pPr>
            <a:r>
              <a:rPr lang="en-US" dirty="0"/>
              <a:t>If we want to talk about the </a:t>
            </a:r>
            <a:r>
              <a:rPr lang="en-US" dirty="0" err="1"/>
              <a:t>i-th</a:t>
            </a:r>
            <a:r>
              <a:rPr lang="en-US" dirty="0"/>
              <a:t> example in the dataset, we write it like this:</a:t>
            </a:r>
            <a:br>
              <a:rPr lang="en-US" dirty="0"/>
            </a:br>
            <a:r>
              <a:rPr lang="en-US" dirty="0"/>
              <a:t>(x^{(</a:t>
            </a:r>
            <a:r>
              <a:rPr lang="en-US" dirty="0" err="1"/>
              <a:t>i</a:t>
            </a:r>
            <a:r>
              <a:rPr lang="en-US" dirty="0"/>
              <a:t>)}, y^{(</a:t>
            </a:r>
            <a:r>
              <a:rPr lang="en-US" dirty="0" err="1"/>
              <a:t>i</a:t>
            </a:r>
            <a:r>
              <a:rPr lang="en-US" dirty="0"/>
              <a:t>)})</a:t>
            </a:r>
            <a:br>
              <a:rPr lang="en-US" dirty="0"/>
            </a:br>
            <a:r>
              <a:rPr lang="en-US" dirty="0"/>
              <a:t>That just means: “The </a:t>
            </a:r>
            <a:r>
              <a:rPr lang="en-US" dirty="0" err="1"/>
              <a:t>i-th</a:t>
            </a:r>
            <a:r>
              <a:rPr lang="en-US" dirty="0"/>
              <a:t> house and its price.”</a:t>
            </a:r>
          </a:p>
          <a:p>
            <a:r>
              <a:rPr lang="en-US" dirty="0"/>
              <a:t>So for example:</a:t>
            </a:r>
          </a:p>
          <a:p>
            <a:pPr>
              <a:buFont typeface="Arial" panose="020B0604020202020204" pitchFamily="34" charset="0"/>
              <a:buChar char="•"/>
            </a:pPr>
            <a:r>
              <a:rPr lang="en-US" dirty="0"/>
              <a:t>(x(3),y(3))=(1534,315)</a:t>
            </a:r>
            <a:endParaRPr lang="tr-TR" dirty="0"/>
          </a:p>
          <a:p>
            <a:pPr>
              <a:buFont typeface="Arial" panose="020B0604020202020204" pitchFamily="34" charset="0"/>
              <a:buChar char="•"/>
            </a:pPr>
            <a:r>
              <a:rPr lang="en-US" dirty="0"/>
              <a:t>🧠 </a:t>
            </a:r>
            <a:r>
              <a:rPr lang="en-US" b="1" dirty="0"/>
              <a:t>Why is this important?</a:t>
            </a:r>
            <a:r>
              <a:rPr lang="en-US" dirty="0"/>
              <a:t> Because when we build a model, we’re going to loop through all these examples — and we need to understand what each piece means. So this notation helps us write the algorithm clearly and consistently.</a:t>
            </a:r>
          </a:p>
          <a:p>
            <a:pPr algn="l"/>
            <a:endParaRPr lang="en-US" dirty="0"/>
          </a:p>
        </p:txBody>
      </p:sp>
      <p:sp>
        <p:nvSpPr>
          <p:cNvPr id="4" name="Slide Number Placeholder 3"/>
          <p:cNvSpPr>
            <a:spLocks noGrp="1"/>
          </p:cNvSpPr>
          <p:nvPr>
            <p:ph type="sldNum" sz="quarter" idx="5"/>
          </p:nvPr>
        </p:nvSpPr>
        <p:spPr/>
        <p:txBody>
          <a:bodyPr/>
          <a:lstStyle/>
          <a:p>
            <a:fld id="{0BFC31E6-9817-4ADD-82D7-FAC1C8ED9A92}" type="slidenum">
              <a:rPr lang="en-US" smtClean="0"/>
              <a:t>35</a:t>
            </a:fld>
            <a:endParaRPr lang="en-US"/>
          </a:p>
        </p:txBody>
      </p:sp>
    </p:spTree>
    <p:extLst>
      <p:ext uri="{BB962C8B-B14F-4D97-AF65-F5344CB8AC3E}">
        <p14:creationId xmlns:p14="http://schemas.microsoft.com/office/powerpoint/2010/main" val="2516663925"/>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"Let’s talk about </a:t>
            </a:r>
            <a:r>
              <a:rPr lang="en-US" b="1" dirty="0"/>
              <a:t>how supervised learning works</a:t>
            </a:r>
            <a:r>
              <a:rPr lang="en-US" dirty="0"/>
              <a:t> — and we’ll break it down step by step.</a:t>
            </a:r>
          </a:p>
          <a:p>
            <a:r>
              <a:rPr lang="en-US" dirty="0"/>
              <a:t>So, imagine you have a </a:t>
            </a:r>
            <a:r>
              <a:rPr lang="en-US" b="1" dirty="0"/>
              <a:t>training set</a:t>
            </a:r>
            <a:r>
              <a:rPr lang="en-US" dirty="0"/>
              <a:t>. That means we’re giving the model two things:</a:t>
            </a:r>
          </a:p>
          <a:p>
            <a:pPr>
              <a:buFont typeface="+mj-lt"/>
              <a:buAutoNum type="arabicPeriod"/>
            </a:pPr>
            <a:r>
              <a:rPr lang="en-US" b="1" dirty="0"/>
              <a:t>Inputs</a:t>
            </a:r>
            <a:r>
              <a:rPr lang="en-US" dirty="0"/>
              <a:t> — for example, the size of a house</a:t>
            </a:r>
          </a:p>
          <a:p>
            <a:pPr>
              <a:buFont typeface="+mj-lt"/>
              <a:buAutoNum type="arabicPeriod"/>
            </a:pPr>
            <a:r>
              <a:rPr lang="en-US" b="1" dirty="0"/>
              <a:t>Outputs</a:t>
            </a:r>
            <a:r>
              <a:rPr lang="en-US" dirty="0"/>
              <a:t> — like the actual price of that house</a:t>
            </a:r>
          </a:p>
          <a:p>
            <a:r>
              <a:rPr lang="en-US" dirty="0"/>
              <a:t>These outputs are what we call the </a:t>
            </a:r>
            <a:r>
              <a:rPr lang="en-US" b="1" dirty="0"/>
              <a:t>right answers</a:t>
            </a:r>
            <a:r>
              <a:rPr lang="en-US" dirty="0"/>
              <a:t> — they’re what the model is trying to learn to predict.</a:t>
            </a:r>
            <a:endParaRPr lang="tr-TR" dirty="0"/>
          </a:p>
          <a:p>
            <a:endParaRPr lang="en-US" dirty="0"/>
          </a:p>
          <a:p>
            <a:r>
              <a:rPr lang="en-US" dirty="0"/>
              <a:t>🧠 Now here’s the idea:</a:t>
            </a:r>
            <a:br>
              <a:rPr lang="en-US" dirty="0"/>
            </a:br>
            <a:r>
              <a:rPr lang="en-US" dirty="0"/>
              <a:t>We give both the inputs and outputs to a </a:t>
            </a:r>
            <a:r>
              <a:rPr lang="en-US" b="1" dirty="0"/>
              <a:t>learning algorithm</a:t>
            </a:r>
            <a:r>
              <a:rPr lang="en-US" dirty="0"/>
              <a:t>. This algorithm tries to find a pattern — a rule — that connects the two.</a:t>
            </a:r>
            <a:br>
              <a:rPr lang="en-US" dirty="0"/>
            </a:br>
            <a:r>
              <a:rPr lang="en-US" dirty="0"/>
              <a:t>In machine learning, we often call this rule a </a:t>
            </a:r>
            <a:r>
              <a:rPr lang="en-US" b="1" dirty="0"/>
              <a:t>function</a:t>
            </a:r>
            <a:r>
              <a:rPr lang="en-US" dirty="0"/>
              <a:t>, and we write it as a little </a:t>
            </a:r>
            <a:r>
              <a:rPr lang="en-US" b="1" dirty="0"/>
              <a:t>f</a:t>
            </a:r>
            <a:r>
              <a:rPr lang="en-US" dirty="0"/>
              <a:t>.</a:t>
            </a:r>
          </a:p>
          <a:p>
            <a:r>
              <a:rPr lang="en-US" dirty="0"/>
              <a:t>So we say:</a:t>
            </a:r>
          </a:p>
          <a:p>
            <a:r>
              <a:rPr lang="en-US" dirty="0"/>
              <a:t>Y</a:t>
            </a:r>
            <a:r>
              <a:rPr lang="tr-TR" dirty="0"/>
              <a:t>_hat</a:t>
            </a:r>
            <a:r>
              <a:rPr lang="en-US" dirty="0"/>
              <a:t>= f(x</a:t>
            </a:r>
            <a:r>
              <a:rPr lang="tr-TR" dirty="0"/>
              <a:t>)</a:t>
            </a:r>
            <a:r>
              <a:rPr lang="en-US" dirty="0"/>
              <a:t> This just means: “the prediction y-hat is the result of applying f to the input x.”</a:t>
            </a:r>
          </a:p>
          <a:p>
            <a:r>
              <a:rPr lang="en-US" dirty="0"/>
              <a:t>We call </a:t>
            </a:r>
            <a:r>
              <a:rPr lang="en-US" b="1" dirty="0"/>
              <a:t>f</a:t>
            </a:r>
            <a:r>
              <a:rPr lang="en-US" dirty="0"/>
              <a:t> our model. It takes an input (like house size) and gives us an output (a predicted price).</a:t>
            </a:r>
          </a:p>
          <a:p>
            <a:r>
              <a:rPr lang="en-US" b="1" dirty="0"/>
              <a:t>📏 But how do we represent this function f?</a:t>
            </a:r>
          </a:p>
          <a:p>
            <a:r>
              <a:rPr lang="en-US" dirty="0"/>
              <a:t>In this example, we’re using a </a:t>
            </a:r>
            <a:r>
              <a:rPr lang="en-US" b="1" dirty="0"/>
              <a:t>line</a:t>
            </a:r>
            <a:r>
              <a:rPr lang="en-US" dirty="0"/>
              <a:t>, because it’s simple and easy to understand.</a:t>
            </a:r>
          </a:p>
          <a:p>
            <a:r>
              <a:rPr lang="en-US" dirty="0"/>
              <a:t>So the function looks like this:</a:t>
            </a:r>
          </a:p>
          <a:p>
            <a:pPr>
              <a:buFont typeface="Arial" panose="020B0604020202020204" pitchFamily="34" charset="0"/>
              <a:buChar char="•"/>
            </a:pPr>
            <a:r>
              <a:rPr lang="en-US" dirty="0"/>
              <a:t>f(x)=</a:t>
            </a:r>
            <a:r>
              <a:rPr lang="en-US" dirty="0" err="1"/>
              <a:t>w⋅x</a:t>
            </a:r>
            <a:r>
              <a:rPr lang="en-US" dirty="0"/>
              <a:t>+</a:t>
            </a:r>
            <a:r>
              <a:rPr lang="tr-TR" dirty="0"/>
              <a:t> b </a:t>
            </a:r>
          </a:p>
          <a:p>
            <a:pPr>
              <a:buFont typeface="Arial" panose="020B0604020202020204" pitchFamily="34" charset="0"/>
              <a:buChar char="•"/>
            </a:pPr>
            <a:r>
              <a:rPr lang="en-US" dirty="0"/>
              <a:t>w is the </a:t>
            </a:r>
            <a:r>
              <a:rPr lang="en-US" b="1" dirty="0"/>
              <a:t>weight</a:t>
            </a:r>
            <a:r>
              <a:rPr lang="en-US" dirty="0"/>
              <a:t> — how strongly x affects the output</a:t>
            </a:r>
          </a:p>
          <a:p>
            <a:pPr>
              <a:buFont typeface="Arial" panose="020B0604020202020204" pitchFamily="34" charset="0"/>
              <a:buChar char="•"/>
            </a:pPr>
            <a:r>
              <a:rPr lang="en-US" dirty="0"/>
              <a:t>b is the </a:t>
            </a:r>
            <a:r>
              <a:rPr lang="en-US" b="1" dirty="0"/>
              <a:t>bias</a:t>
            </a:r>
            <a:r>
              <a:rPr lang="en-US" dirty="0"/>
              <a:t> — the starting point (where the line crosses the y-axis)</a:t>
            </a:r>
          </a:p>
          <a:p>
            <a:r>
              <a:rPr lang="en-US" dirty="0"/>
              <a:t>This is what we call </a:t>
            </a:r>
            <a:r>
              <a:rPr lang="en-US" b="1" dirty="0"/>
              <a:t>linear regression with one variable</a:t>
            </a:r>
            <a:r>
              <a:rPr lang="en-US" dirty="0"/>
              <a:t>, or </a:t>
            </a:r>
            <a:r>
              <a:rPr lang="en-US" b="1" dirty="0"/>
              <a:t>univariate linear regression</a:t>
            </a:r>
            <a:r>
              <a:rPr lang="en-US" dirty="0"/>
              <a:t>.</a:t>
            </a:r>
            <a:endParaRPr lang="tr-TR" dirty="0"/>
          </a:p>
          <a:p>
            <a:endParaRPr lang="en-US" dirty="0"/>
          </a:p>
          <a:p>
            <a:r>
              <a:rPr lang="en-US" dirty="0"/>
              <a:t>🌀 Sometimes a straight line isn’t enough. If the data doesn’t follow a nice linear trend, we might use:</a:t>
            </a:r>
          </a:p>
          <a:p>
            <a:pPr>
              <a:buFont typeface="Arial" panose="020B0604020202020204" pitchFamily="34" charset="0"/>
              <a:buChar char="•"/>
            </a:pPr>
            <a:r>
              <a:rPr lang="en-US" dirty="0"/>
              <a:t>More complex functions</a:t>
            </a:r>
          </a:p>
          <a:p>
            <a:pPr>
              <a:buFont typeface="Arial" panose="020B0604020202020204" pitchFamily="34" charset="0"/>
              <a:buChar char="•"/>
            </a:pPr>
            <a:r>
              <a:rPr lang="en-US" dirty="0"/>
              <a:t>Curves or even deep models</a:t>
            </a:r>
            <a:br>
              <a:rPr lang="en-US" dirty="0"/>
            </a:br>
            <a:r>
              <a:rPr lang="en-US" dirty="0"/>
              <a:t>That way, we can capture the </a:t>
            </a:r>
            <a:r>
              <a:rPr lang="en-US" b="1" dirty="0"/>
              <a:t>real pattern</a:t>
            </a:r>
            <a:r>
              <a:rPr lang="en-US" dirty="0"/>
              <a:t> in the data more accurately.</a:t>
            </a:r>
          </a:p>
          <a:p>
            <a:pPr algn="l"/>
            <a:endParaRPr lang="en-US" b="0" i="0" dirty="0">
              <a:solidFill>
                <a:srgbClr val="333333"/>
              </a:solidFill>
              <a:effectLst/>
              <a:latin typeface="OpenSans"/>
            </a:endParaRPr>
          </a:p>
          <a:p>
            <a:pPr algn="l"/>
            <a:endParaRPr lang="en-US" b="0" i="0" dirty="0">
              <a:solidFill>
                <a:srgbClr val="333333"/>
              </a:solidFill>
              <a:effectLst/>
              <a:latin typeface="OpenSans"/>
            </a:endParaRPr>
          </a:p>
          <a:p>
            <a:endParaRPr lang="en-US" dirty="0"/>
          </a:p>
        </p:txBody>
      </p:sp>
      <p:sp>
        <p:nvSpPr>
          <p:cNvPr id="4" name="Slide Number Placeholder 3"/>
          <p:cNvSpPr>
            <a:spLocks noGrp="1"/>
          </p:cNvSpPr>
          <p:nvPr>
            <p:ph type="sldNum" sz="quarter" idx="5"/>
          </p:nvPr>
        </p:nvSpPr>
        <p:spPr/>
        <p:txBody>
          <a:bodyPr/>
          <a:lstStyle/>
          <a:p>
            <a:fld id="{0BFC31E6-9817-4ADD-82D7-FAC1C8ED9A92}" type="slidenum">
              <a:rPr lang="en-US" smtClean="0"/>
              <a:t>36</a:t>
            </a:fld>
            <a:endParaRPr lang="en-US"/>
          </a:p>
        </p:txBody>
      </p:sp>
    </p:spTree>
    <p:extLst>
      <p:ext uri="{BB962C8B-B14F-4D97-AF65-F5344CB8AC3E}">
        <p14:creationId xmlns:p14="http://schemas.microsoft.com/office/powerpoint/2010/main" val="3291715017"/>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"Okay class, now that we know our model is trying to learn a function like</a:t>
            </a:r>
          </a:p>
          <a:p>
            <a:r>
              <a:rPr lang="en-US" dirty="0"/>
              <a:t>f(x)=</a:t>
            </a:r>
            <a:r>
              <a:rPr lang="en-US" dirty="0" err="1"/>
              <a:t>wx+b</a:t>
            </a:r>
            <a:r>
              <a:rPr lang="en-US" dirty="0"/>
              <a:t>,</a:t>
            </a:r>
            <a:endParaRPr lang="tr-TR" dirty="0"/>
          </a:p>
          <a:p>
            <a:r>
              <a:rPr lang="en-US" dirty="0"/>
              <a:t>, the big question is:</a:t>
            </a:r>
            <a:br>
              <a:rPr lang="en-US" dirty="0"/>
            </a:br>
            <a:r>
              <a:rPr lang="en-US" dirty="0"/>
              <a:t>👉 </a:t>
            </a:r>
            <a:r>
              <a:rPr lang="en-US" b="1" dirty="0"/>
              <a:t>How do we know if our model is doing a good job?</a:t>
            </a:r>
            <a:endParaRPr lang="en-US" dirty="0"/>
          </a:p>
          <a:p>
            <a:r>
              <a:rPr lang="en-US" dirty="0"/>
              <a:t>This is where the </a:t>
            </a:r>
            <a:r>
              <a:rPr lang="en-US" b="1" dirty="0"/>
              <a:t>cost function</a:t>
            </a:r>
            <a:r>
              <a:rPr lang="en-US" dirty="0"/>
              <a:t> comes in.</a:t>
            </a:r>
            <a:endParaRPr lang="tr-TR" dirty="0"/>
          </a:p>
          <a:p>
            <a:endParaRPr lang="en-US" dirty="0"/>
          </a:p>
          <a:p>
            <a:r>
              <a:rPr lang="en-US" b="1" dirty="0"/>
              <a:t>💰 What is a Cost Function?</a:t>
            </a:r>
          </a:p>
          <a:p>
            <a:r>
              <a:rPr lang="en-US" dirty="0"/>
              <a:t>The </a:t>
            </a:r>
            <a:r>
              <a:rPr lang="en-US" b="1" dirty="0"/>
              <a:t>cost function</a:t>
            </a:r>
            <a:r>
              <a:rPr lang="en-US" dirty="0"/>
              <a:t> tells us </a:t>
            </a:r>
            <a:r>
              <a:rPr lang="en-US" b="1" dirty="0"/>
              <a:t>how far off our model’s predictions are</a:t>
            </a:r>
            <a:r>
              <a:rPr lang="en-US" dirty="0"/>
              <a:t> from the actual data.</a:t>
            </a:r>
            <a:br>
              <a:rPr lang="en-US" dirty="0"/>
            </a:br>
            <a:r>
              <a:rPr lang="en-US" dirty="0"/>
              <a:t>It measures the </a:t>
            </a:r>
            <a:r>
              <a:rPr lang="en-US" b="1" dirty="0"/>
              <a:t>error</a:t>
            </a:r>
            <a:r>
              <a:rPr lang="en-US" dirty="0"/>
              <a:t> — how wrong the model is — for a particular set of parameters, like w and b.</a:t>
            </a:r>
          </a:p>
          <a:p>
            <a:r>
              <a:rPr lang="en-US" dirty="0"/>
              <a:t>Let’s look at these three examples in the slide</a:t>
            </a:r>
          </a:p>
          <a:p>
            <a:endParaRPr lang="tr-TR" b="1" dirty="0"/>
          </a:p>
          <a:p>
            <a:endParaRPr lang="tr-TR" b="1" dirty="0"/>
          </a:p>
          <a:p>
            <a:r>
              <a:rPr lang="en-US" b="1" dirty="0"/>
              <a:t>🔹 First graph:</a:t>
            </a:r>
          </a:p>
          <a:p>
            <a:pPr>
              <a:buFont typeface="Arial" panose="020B0604020202020204" pitchFamily="34" charset="0"/>
              <a:buChar char="•"/>
            </a:pPr>
            <a:r>
              <a:rPr lang="en-US" dirty="0"/>
              <a:t>The function is: f(x) = 0*x + 1.5</a:t>
            </a:r>
          </a:p>
          <a:p>
            <a:pPr>
              <a:buFont typeface="Arial" panose="020B0604020202020204" pitchFamily="34" charset="0"/>
              <a:buChar char="•"/>
            </a:pPr>
            <a:r>
              <a:rPr lang="en-US" dirty="0"/>
              <a:t>That means it's just a flat horizontal line at 1.5.</a:t>
            </a:r>
          </a:p>
          <a:p>
            <a:pPr>
              <a:buFont typeface="Arial" panose="020B0604020202020204" pitchFamily="34" charset="0"/>
              <a:buChar char="•"/>
            </a:pPr>
            <a:r>
              <a:rPr lang="en-US" dirty="0"/>
              <a:t>It doesn’t really match the data, right?</a:t>
            </a:r>
          </a:p>
          <a:p>
            <a:r>
              <a:rPr lang="en-US" dirty="0"/>
              <a:t>So, the </a:t>
            </a:r>
            <a:r>
              <a:rPr lang="en-US" b="1" dirty="0"/>
              <a:t>cost</a:t>
            </a:r>
            <a:r>
              <a:rPr lang="en-US" dirty="0"/>
              <a:t> is high here.</a:t>
            </a:r>
          </a:p>
          <a:p>
            <a:r>
              <a:rPr lang="en-US" b="1" dirty="0"/>
              <a:t>🔹 Second graph:</a:t>
            </a:r>
          </a:p>
          <a:p>
            <a:pPr>
              <a:buFont typeface="Arial" panose="020B0604020202020204" pitchFamily="34" charset="0"/>
              <a:buChar char="•"/>
            </a:pPr>
            <a:r>
              <a:rPr lang="en-US" dirty="0"/>
              <a:t>Now we try f(x) = 0.5*x.</a:t>
            </a:r>
          </a:p>
          <a:p>
            <a:pPr>
              <a:buFont typeface="Arial" panose="020B0604020202020204" pitchFamily="34" charset="0"/>
              <a:buChar char="•"/>
            </a:pPr>
            <a:r>
              <a:rPr lang="en-US" dirty="0"/>
              <a:t>It starts to move in the right direction — it’s sloped.</a:t>
            </a:r>
          </a:p>
          <a:p>
            <a:r>
              <a:rPr lang="en-US" dirty="0"/>
              <a:t>Still not perfect, but better. The cost is lower than before.</a:t>
            </a:r>
          </a:p>
          <a:p>
            <a:r>
              <a:rPr lang="en-US" b="1" dirty="0"/>
              <a:t>🔹 Third graph:</a:t>
            </a:r>
          </a:p>
          <a:p>
            <a:pPr>
              <a:buFont typeface="Arial" panose="020B0604020202020204" pitchFamily="34" charset="0"/>
              <a:buChar char="•"/>
            </a:pPr>
            <a:r>
              <a:rPr lang="en-US" dirty="0"/>
              <a:t>f(x) = 0.5*x + 1</a:t>
            </a:r>
          </a:p>
          <a:p>
            <a:pPr>
              <a:buFont typeface="Arial" panose="020B0604020202020204" pitchFamily="34" charset="0"/>
              <a:buChar char="•"/>
            </a:pPr>
            <a:r>
              <a:rPr lang="en-US" dirty="0"/>
              <a:t>This line fits the data </a:t>
            </a:r>
            <a:r>
              <a:rPr lang="en-US" b="1" dirty="0"/>
              <a:t>much better</a:t>
            </a:r>
            <a:r>
              <a:rPr lang="en-US" dirty="0"/>
              <a:t>.</a:t>
            </a:r>
          </a:p>
          <a:p>
            <a:r>
              <a:rPr lang="en-US" dirty="0"/>
              <a:t>Predictions are closer to the actual values, so the </a:t>
            </a:r>
            <a:r>
              <a:rPr lang="en-US" b="1" dirty="0"/>
              <a:t>cost goes down</a:t>
            </a:r>
            <a:r>
              <a:rPr lang="en-US" dirty="0"/>
              <a:t> even more.</a:t>
            </a:r>
          </a:p>
          <a:p>
            <a:r>
              <a:rPr lang="en-US" dirty="0"/>
              <a:t>🧠 So what's the goal of our learning algorithm?</a:t>
            </a:r>
          </a:p>
          <a:p>
            <a:r>
              <a:rPr lang="en-US" dirty="0"/>
              <a:t>✔️ Try different w and b values</a:t>
            </a:r>
            <a:br>
              <a:rPr lang="en-US" dirty="0"/>
            </a:br>
            <a:r>
              <a:rPr lang="en-US" dirty="0"/>
              <a:t>✔️ Calculate the cost each time</a:t>
            </a:r>
            <a:br>
              <a:rPr lang="en-US" dirty="0"/>
            </a:br>
            <a:r>
              <a:rPr lang="en-US" dirty="0"/>
              <a:t>✔️ </a:t>
            </a:r>
            <a:r>
              <a:rPr lang="en-US" b="1" dirty="0"/>
              <a:t>Find the values that give us the lowest cost</a:t>
            </a:r>
            <a:endParaRPr lang="en-US" dirty="0"/>
          </a:p>
          <a:p>
            <a:r>
              <a:rPr lang="en-US" dirty="0"/>
              <a:t>That’s how we train a model — by finding the best-fitting line with the </a:t>
            </a:r>
            <a:r>
              <a:rPr lang="en-US" b="1" dirty="0"/>
              <a:t>smallest possible error</a:t>
            </a:r>
            <a:r>
              <a:rPr lang="en-US" dirty="0"/>
              <a:t>.</a:t>
            </a:r>
            <a:endParaRPr lang="tr-TR" dirty="0"/>
          </a:p>
          <a:p>
            <a:endParaRPr lang="tr-TR" dirty="0"/>
          </a:p>
          <a:p>
            <a:r>
              <a:rPr lang="en-US" dirty="0"/>
              <a:t>The most common cost function we use in linear regression is called </a:t>
            </a:r>
            <a:r>
              <a:rPr lang="en-US" b="1" dirty="0"/>
              <a:t>Mean Squared Error (MSE)</a:t>
            </a:r>
            <a:r>
              <a:rPr lang="en-US" dirty="0"/>
              <a:t>.</a:t>
            </a:r>
            <a:br>
              <a:rPr lang="en-US" dirty="0"/>
            </a:br>
            <a:r>
              <a:rPr lang="en-US" dirty="0"/>
              <a:t>It just means:</a:t>
            </a:r>
          </a:p>
          <a:p>
            <a:r>
              <a:rPr lang="en-US" dirty="0"/>
              <a:t>“Take the difference between predicted and actual values, square them, and average the result.”</a:t>
            </a:r>
          </a:p>
          <a:p>
            <a:endParaRPr lang="en-US" dirty="0"/>
          </a:p>
          <a:p>
            <a:pPr algn="just"/>
            <a:endParaRPr lang="en-US" dirty="0"/>
          </a:p>
        </p:txBody>
      </p:sp>
      <p:sp>
        <p:nvSpPr>
          <p:cNvPr id="4" name="Slide Number Placeholder 3"/>
          <p:cNvSpPr>
            <a:spLocks noGrp="1"/>
          </p:cNvSpPr>
          <p:nvPr>
            <p:ph type="sldNum" sz="quarter" idx="5"/>
          </p:nvPr>
        </p:nvSpPr>
        <p:spPr/>
        <p:txBody>
          <a:bodyPr/>
          <a:lstStyle/>
          <a:p>
            <a:fld id="{0BFC31E6-9817-4ADD-82D7-FAC1C8ED9A92}" type="slidenum">
              <a:rPr lang="en-US" smtClean="0"/>
              <a:t>37</a:t>
            </a:fld>
            <a:endParaRPr lang="en-US"/>
          </a:p>
        </p:txBody>
      </p:sp>
    </p:spTree>
    <p:extLst>
      <p:ext uri="{BB962C8B-B14F-4D97-AF65-F5344CB8AC3E}">
        <p14:creationId xmlns:p14="http://schemas.microsoft.com/office/powerpoint/2010/main" val="4270241515"/>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algn="l"/>
            <a:r>
              <a:rPr lang="en-US" dirty="0"/>
              <a:t>Okay everyone, now let’s see </a:t>
            </a:r>
            <a:r>
              <a:rPr lang="en-US" b="1" dirty="0"/>
              <a:t>how we actually calculate the cost function</a:t>
            </a:r>
            <a:r>
              <a:rPr lang="en-US" dirty="0"/>
              <a:t> — this is the part where our model learns from its mistakes.</a:t>
            </a:r>
            <a:endParaRPr lang="tr-TR" dirty="0"/>
          </a:p>
          <a:p>
            <a:r>
              <a:rPr lang="en-US" dirty="0"/>
              <a:t>We’re using a linear model:</a:t>
            </a:r>
          </a:p>
          <a:p>
            <a:r>
              <a:rPr lang="en-US" dirty="0"/>
              <a:t>f(x)=</a:t>
            </a:r>
            <a:r>
              <a:rPr lang="en-US" dirty="0" err="1"/>
              <a:t>wx+b</a:t>
            </a:r>
            <a:endParaRPr lang="tr-TR" dirty="0"/>
          </a:p>
          <a:p>
            <a:r>
              <a:rPr lang="en-US" dirty="0"/>
              <a:t>And we want to </a:t>
            </a:r>
            <a:r>
              <a:rPr lang="en-US" b="1" dirty="0"/>
              <a:t>measure how well it fits our data</a:t>
            </a:r>
            <a:r>
              <a:rPr lang="en-US" dirty="0"/>
              <a:t>.</a:t>
            </a:r>
          </a:p>
          <a:p>
            <a:r>
              <a:rPr lang="en-US" dirty="0"/>
              <a:t>To do that, we use a </a:t>
            </a:r>
            <a:r>
              <a:rPr lang="en-US" b="1" dirty="0"/>
              <a:t>cost function</a:t>
            </a:r>
            <a:r>
              <a:rPr lang="en-US" dirty="0"/>
              <a:t>, which tells us:</a:t>
            </a:r>
          </a:p>
          <a:p>
            <a:r>
              <a:rPr lang="en-US" dirty="0"/>
              <a:t>❗️How far off are our predictions from the actual values?</a:t>
            </a:r>
            <a:endParaRPr lang="tr-TR" dirty="0"/>
          </a:p>
          <a:p>
            <a:endParaRPr lang="tr-TR" dirty="0"/>
          </a:p>
          <a:p>
            <a:r>
              <a:rPr lang="en-US" b="1" dirty="0"/>
              <a:t>🧠 Here’s the formula:</a:t>
            </a:r>
          </a:p>
          <a:p>
            <a:pPr>
              <a:buFont typeface="Arial" panose="020B0604020202020204" pitchFamily="34" charset="0"/>
              <a:buChar char="•"/>
            </a:pPr>
            <a:endParaRPr lang="tr-TR" dirty="0"/>
          </a:p>
          <a:p>
            <a:pPr>
              <a:buFont typeface="Arial" panose="020B0604020202020204" pitchFamily="34" charset="0"/>
              <a:buChar char="•"/>
            </a:pPr>
            <a:r>
              <a:rPr lang="en-US" dirty="0"/>
              <a:t>m is the number of examples</a:t>
            </a:r>
          </a:p>
          <a:p>
            <a:pPr>
              <a:buFont typeface="Arial" panose="020B0604020202020204" pitchFamily="34" charset="0"/>
              <a:buChar char="•"/>
            </a:pPr>
            <a:r>
              <a:rPr lang="en-US" dirty="0"/>
              <a:t>ŷ is the predicted value</a:t>
            </a:r>
          </a:p>
          <a:p>
            <a:pPr>
              <a:buFont typeface="Arial" panose="020B0604020202020204" pitchFamily="34" charset="0"/>
              <a:buChar char="•"/>
            </a:pPr>
            <a:r>
              <a:rPr lang="en-US" dirty="0"/>
              <a:t>y is the actual value</a:t>
            </a:r>
          </a:p>
          <a:p>
            <a:pPr>
              <a:buFont typeface="Arial" panose="020B0604020202020204" pitchFamily="34" charset="0"/>
              <a:buChar char="•"/>
            </a:pPr>
            <a:r>
              <a:rPr lang="en-US" dirty="0"/>
              <a:t>We square the difference to make all errors positive, and then average them</a:t>
            </a:r>
          </a:p>
          <a:p>
            <a:r>
              <a:rPr lang="en-US" dirty="0"/>
              <a:t>This is called </a:t>
            </a:r>
            <a:r>
              <a:rPr lang="en-US" b="1" dirty="0"/>
              <a:t>Mean Squared Error (MSE)</a:t>
            </a:r>
            <a:r>
              <a:rPr lang="en-US" dirty="0"/>
              <a:t> — with a factor of ½ just to make the math cleaner later.</a:t>
            </a:r>
            <a:endParaRPr lang="tr-TR" dirty="0"/>
          </a:p>
          <a:p>
            <a:endParaRPr lang="tr-TR" dirty="0"/>
          </a:p>
          <a:p>
            <a:r>
              <a:rPr lang="en-US" b="1" dirty="0"/>
              <a:t>👇 Let’s walk through the example below:</a:t>
            </a:r>
          </a:p>
          <a:p>
            <a:r>
              <a:rPr lang="en-US" dirty="0"/>
              <a:t>Our model is:</a:t>
            </a:r>
          </a:p>
          <a:p>
            <a:r>
              <a:rPr lang="en-US" dirty="0"/>
              <a:t>f(x)=0.5x+1f(x) = 0.5x + 1f(x)=0.5x+1 We have </a:t>
            </a:r>
            <a:r>
              <a:rPr lang="en-US" b="1" dirty="0"/>
              <a:t>3 data points</a:t>
            </a:r>
            <a:r>
              <a:rPr lang="en-US" dirty="0"/>
              <a:t>:</a:t>
            </a:r>
          </a:p>
          <a:p>
            <a:pPr>
              <a:buFont typeface="Arial" panose="020B0604020202020204" pitchFamily="34" charset="0"/>
              <a:buChar char="•"/>
            </a:pPr>
            <a:r>
              <a:rPr lang="en-US" dirty="0"/>
              <a:t>When x = 1, the true value y = 1</a:t>
            </a:r>
          </a:p>
          <a:p>
            <a:pPr>
              <a:buFont typeface="Arial" panose="020B0604020202020204" pitchFamily="34" charset="0"/>
              <a:buChar char="•"/>
            </a:pPr>
            <a:r>
              <a:rPr lang="en-US" dirty="0"/>
              <a:t>When x = 2, y = 4</a:t>
            </a:r>
          </a:p>
          <a:p>
            <a:pPr>
              <a:buFont typeface="Arial" panose="020B0604020202020204" pitchFamily="34" charset="0"/>
              <a:buChar char="•"/>
            </a:pPr>
            <a:r>
              <a:rPr lang="en-US" dirty="0"/>
              <a:t>When x = 3, y = 2</a:t>
            </a:r>
          </a:p>
          <a:p>
            <a:r>
              <a:rPr lang="en-US" dirty="0"/>
              <a:t>Let’s compute the predictions:</a:t>
            </a:r>
          </a:p>
          <a:p>
            <a:pPr>
              <a:buFont typeface="Arial" panose="020B0604020202020204" pitchFamily="34" charset="0"/>
              <a:buChar char="•"/>
            </a:pPr>
            <a:r>
              <a:rPr lang="en-US" dirty="0"/>
              <a:t>f(1) = 1.5</a:t>
            </a:r>
          </a:p>
          <a:p>
            <a:pPr>
              <a:buFont typeface="Arial" panose="020B0604020202020204" pitchFamily="34" charset="0"/>
              <a:buChar char="•"/>
            </a:pPr>
            <a:r>
              <a:rPr lang="en-US" dirty="0"/>
              <a:t>f(2) = 2</a:t>
            </a:r>
          </a:p>
          <a:p>
            <a:pPr>
              <a:buFont typeface="Arial" panose="020B0604020202020204" pitchFamily="34" charset="0"/>
              <a:buChar char="•"/>
            </a:pPr>
            <a:r>
              <a:rPr lang="en-US" dirty="0"/>
              <a:t>f(3) = 2.5</a:t>
            </a:r>
          </a:p>
          <a:p>
            <a:r>
              <a:rPr lang="en-US" dirty="0"/>
              <a:t>Now let’s compute the squared errors:</a:t>
            </a:r>
          </a:p>
          <a:p>
            <a:pPr>
              <a:buFont typeface="Arial" panose="020B0604020202020204" pitchFamily="34" charset="0"/>
              <a:buChar char="•"/>
            </a:pPr>
            <a:r>
              <a:rPr lang="en-US" dirty="0"/>
              <a:t>(1.5 - 1)^2 = 0.25</a:t>
            </a:r>
          </a:p>
          <a:p>
            <a:pPr>
              <a:buFont typeface="Arial" panose="020B0604020202020204" pitchFamily="34" charset="0"/>
              <a:buChar char="•"/>
            </a:pPr>
            <a:r>
              <a:rPr lang="en-US" dirty="0"/>
              <a:t>(2 - 4)^2 = 4</a:t>
            </a:r>
          </a:p>
          <a:p>
            <a:pPr>
              <a:buFont typeface="Arial" panose="020B0604020202020204" pitchFamily="34" charset="0"/>
              <a:buChar char="•"/>
            </a:pPr>
            <a:r>
              <a:rPr lang="en-US" dirty="0"/>
              <a:t>(2.5 - 2)^2 = 0.25</a:t>
            </a:r>
          </a:p>
          <a:p>
            <a:r>
              <a:rPr lang="en-US" dirty="0"/>
              <a:t>So the total cost becomes:</a:t>
            </a:r>
          </a:p>
          <a:p>
            <a:r>
              <a:rPr lang="en-US" dirty="0"/>
              <a:t>J(</a:t>
            </a:r>
            <a:r>
              <a:rPr lang="en-US" dirty="0" err="1"/>
              <a:t>w,b</a:t>
            </a:r>
            <a:r>
              <a:rPr lang="en-US" dirty="0"/>
              <a:t>)=</a:t>
            </a:r>
            <a:r>
              <a:rPr lang="tr-TR" dirty="0"/>
              <a:t>0.75</a:t>
            </a:r>
            <a:r>
              <a:rPr lang="en-US" b="1" dirty="0"/>
              <a:t>💡 What does this mean?</a:t>
            </a:r>
          </a:p>
          <a:p>
            <a:r>
              <a:rPr lang="en-US" dirty="0"/>
              <a:t>This cost value — 0.75 — tells us how good or bad our model is.</a:t>
            </a:r>
          </a:p>
          <a:p>
            <a:r>
              <a:rPr lang="en-US" dirty="0"/>
              <a:t>The </a:t>
            </a:r>
            <a:r>
              <a:rPr lang="en-US" b="1" dirty="0"/>
              <a:t>lower the cost</a:t>
            </a:r>
            <a:r>
              <a:rPr lang="en-US" dirty="0"/>
              <a:t>, the better our line fits the data.</a:t>
            </a:r>
          </a:p>
          <a:p>
            <a:endParaRPr lang="en-US" dirty="0"/>
          </a:p>
          <a:p>
            <a:endParaRPr lang="en-US" dirty="0"/>
          </a:p>
          <a:p>
            <a:pPr algn="l"/>
            <a:endParaRPr lang="en-US" dirty="0"/>
          </a:p>
        </p:txBody>
      </p:sp>
      <p:sp>
        <p:nvSpPr>
          <p:cNvPr id="4" name="Slide Number Placeholder 3"/>
          <p:cNvSpPr>
            <a:spLocks noGrp="1"/>
          </p:cNvSpPr>
          <p:nvPr>
            <p:ph type="sldNum" sz="quarter" idx="5"/>
          </p:nvPr>
        </p:nvSpPr>
        <p:spPr/>
        <p:txBody>
          <a:bodyPr/>
          <a:lstStyle/>
          <a:p>
            <a:fld id="{0BFC31E6-9817-4ADD-82D7-FAC1C8ED9A92}" type="slidenum">
              <a:rPr lang="en-US" smtClean="0"/>
              <a:t>38</a:t>
            </a:fld>
            <a:endParaRPr lang="en-US"/>
          </a:p>
        </p:txBody>
      </p:sp>
    </p:spTree>
    <p:extLst>
      <p:ext uri="{BB962C8B-B14F-4D97-AF65-F5344CB8AC3E}">
        <p14:creationId xmlns:p14="http://schemas.microsoft.com/office/powerpoint/2010/main" val="1666595848"/>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now let’s </a:t>
            </a:r>
            <a:r>
              <a:rPr lang="en-US" b="1" dirty="0"/>
              <a:t>visualize</a:t>
            </a:r>
            <a:r>
              <a:rPr lang="en-US" dirty="0"/>
              <a:t> what we’ve been talking about.</a:t>
            </a:r>
          </a:p>
          <a:p>
            <a:r>
              <a:rPr lang="en-US" dirty="0"/>
              <a:t>This is a 3D plot of the </a:t>
            </a:r>
            <a:r>
              <a:rPr lang="en-US" b="1" dirty="0"/>
              <a:t>cost function</a:t>
            </a:r>
            <a:r>
              <a:rPr lang="en-US" dirty="0"/>
              <a:t> — it shows how the cost changes depending on the values of w (the slope) and b (the intercept).</a:t>
            </a:r>
          </a:p>
          <a:p>
            <a:r>
              <a:rPr lang="en-US" b="1" dirty="0"/>
              <a:t>🧠 Let’s break it down:</a:t>
            </a:r>
          </a:p>
          <a:p>
            <a:pPr>
              <a:buFont typeface="Arial" panose="020B0604020202020204" pitchFamily="34" charset="0"/>
              <a:buChar char="•"/>
            </a:pPr>
            <a:r>
              <a:rPr lang="en-US" dirty="0"/>
              <a:t>The </a:t>
            </a:r>
            <a:r>
              <a:rPr lang="en-US" b="1" dirty="0"/>
              <a:t>horizontal axes (X and Y)</a:t>
            </a:r>
            <a:r>
              <a:rPr lang="en-US" dirty="0"/>
              <a:t> represent different values of the model parameters w and b.</a:t>
            </a:r>
          </a:p>
          <a:p>
            <a:pPr>
              <a:buFont typeface="Arial" panose="020B0604020202020204" pitchFamily="34" charset="0"/>
              <a:buChar char="•"/>
            </a:pPr>
            <a:r>
              <a:rPr lang="en-US" dirty="0"/>
              <a:t>The </a:t>
            </a:r>
            <a:r>
              <a:rPr lang="en-US" b="1" dirty="0"/>
              <a:t>vertical axis</a:t>
            </a:r>
            <a:r>
              <a:rPr lang="en-US" dirty="0"/>
              <a:t> shows the </a:t>
            </a:r>
            <a:r>
              <a:rPr lang="en-US" b="1" dirty="0"/>
              <a:t>cost</a:t>
            </a:r>
            <a:r>
              <a:rPr lang="en-US" dirty="0"/>
              <a:t> — how wrong our model is with those specific parameter values.</a:t>
            </a:r>
          </a:p>
          <a:p>
            <a:r>
              <a:rPr lang="en-US" dirty="0"/>
              <a:t>Each point on this surface tells us:</a:t>
            </a:r>
          </a:p>
          <a:p>
            <a:r>
              <a:rPr lang="en-US" dirty="0"/>
              <a:t>'If I use this particular w and b, what’s the cost I get?'</a:t>
            </a:r>
          </a:p>
          <a:p>
            <a:r>
              <a:rPr lang="en-US" dirty="0"/>
              <a:t>🕳️ As you can see, the shape of the surface looks like a </a:t>
            </a:r>
            <a:r>
              <a:rPr lang="en-US" b="1" dirty="0"/>
              <a:t>bowl</a:t>
            </a:r>
            <a:r>
              <a:rPr lang="en-US" dirty="0"/>
              <a:t>.</a:t>
            </a:r>
          </a:p>
          <a:p>
            <a:pPr>
              <a:buFont typeface="Arial" panose="020B0604020202020204" pitchFamily="34" charset="0"/>
              <a:buChar char="•"/>
            </a:pPr>
            <a:r>
              <a:rPr lang="en-US" dirty="0"/>
              <a:t>The sides are high — that’s where the cost is large</a:t>
            </a:r>
          </a:p>
          <a:p>
            <a:pPr>
              <a:buFont typeface="Arial" panose="020B0604020202020204" pitchFamily="34" charset="0"/>
              <a:buChar char="•"/>
            </a:pPr>
            <a:r>
              <a:rPr lang="en-US" dirty="0"/>
              <a:t>The bottom of the bowl — that’s the </a:t>
            </a:r>
            <a:r>
              <a:rPr lang="en-US" b="1" dirty="0"/>
              <a:t>lowest cost</a:t>
            </a:r>
            <a:r>
              <a:rPr lang="en-US" dirty="0"/>
              <a:t> → the </a:t>
            </a:r>
            <a:r>
              <a:rPr lang="en-US" b="1" dirty="0"/>
              <a:t>best combination</a:t>
            </a:r>
            <a:r>
              <a:rPr lang="en-US" dirty="0"/>
              <a:t> of w and b</a:t>
            </a:r>
          </a:p>
          <a:p>
            <a:r>
              <a:rPr lang="en-US" dirty="0"/>
              <a:t>That’s exactly what our algorithm is trying to find.</a:t>
            </a:r>
          </a:p>
          <a:p>
            <a:r>
              <a:rPr lang="en-US" b="1" dirty="0"/>
              <a:t>❓But how do we find that minimum point?</a:t>
            </a:r>
          </a:p>
          <a:p>
            <a:r>
              <a:rPr lang="en-US" dirty="0"/>
              <a:t>We could try every possible combination manually…</a:t>
            </a:r>
            <a:br>
              <a:rPr lang="en-US" dirty="0"/>
            </a:br>
            <a:r>
              <a:rPr lang="en-US" dirty="0"/>
              <a:t>🤔 But that would take forever — especially with more dimensions.</a:t>
            </a:r>
          </a:p>
          <a:p>
            <a:r>
              <a:rPr lang="en-US" dirty="0"/>
              <a:t>Instead, we use a </a:t>
            </a:r>
            <a:r>
              <a:rPr lang="en-US" b="1" dirty="0"/>
              <a:t>smarter method</a:t>
            </a:r>
            <a:r>
              <a:rPr lang="en-US" dirty="0"/>
              <a:t> called:</a:t>
            </a:r>
          </a:p>
          <a:p>
            <a:r>
              <a:rPr lang="en-US" dirty="0"/>
              <a:t>🔽 </a:t>
            </a:r>
            <a:r>
              <a:rPr lang="en-US" b="1" dirty="0"/>
              <a:t>Gradient Descent</a:t>
            </a:r>
            <a:endParaRPr lang="en-US" dirty="0"/>
          </a:p>
          <a:p>
            <a:r>
              <a:rPr lang="en-US" dirty="0"/>
              <a:t>It’s an optimization algorithm that takes small steps downhill — always moving toward lower and lower cost — until it reaches the bottom.</a:t>
            </a:r>
          </a:p>
        </p:txBody>
      </p:sp>
      <p:sp>
        <p:nvSpPr>
          <p:cNvPr id="4" name="Slide Number Placeholder 3"/>
          <p:cNvSpPr>
            <a:spLocks noGrp="1"/>
          </p:cNvSpPr>
          <p:nvPr>
            <p:ph type="sldNum" sz="quarter" idx="5"/>
          </p:nvPr>
        </p:nvSpPr>
        <p:spPr/>
        <p:txBody>
          <a:bodyPr/>
          <a:lstStyle/>
          <a:p>
            <a:fld id="{0BFC31E6-9817-4ADD-82D7-FAC1C8ED9A92}" type="slidenum">
              <a:rPr lang="en-US" smtClean="0"/>
              <a:t>39</a:t>
            </a:fld>
            <a:endParaRPr lang="en-US"/>
          </a:p>
        </p:txBody>
      </p:sp>
    </p:spTree>
    <p:extLst>
      <p:ext uri="{BB962C8B-B14F-4D97-AF65-F5344CB8AC3E}">
        <p14:creationId xmlns:p14="http://schemas.microsoft.com/office/powerpoint/2010/main" val="2174066818"/>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tr-TR" dirty="0" err="1"/>
              <a:t>Lets</a:t>
            </a:r>
            <a:r>
              <a:rPr lang="tr-TR" dirty="0"/>
              <a:t> </a:t>
            </a:r>
            <a:r>
              <a:rPr lang="tr-TR" dirty="0" err="1"/>
              <a:t>mention</a:t>
            </a:r>
            <a:r>
              <a:rPr lang="tr-TR" dirty="0"/>
              <a:t> </a:t>
            </a:r>
            <a:r>
              <a:rPr lang="tr-TR" dirty="0" err="1"/>
              <a:t>what</a:t>
            </a:r>
            <a:r>
              <a:rPr lang="tr-TR" dirty="0"/>
              <a:t> is </a:t>
            </a:r>
            <a:r>
              <a:rPr lang="tr-TR" dirty="0" err="1"/>
              <a:t>gradient</a:t>
            </a:r>
            <a:r>
              <a:rPr lang="tr-TR" dirty="0"/>
              <a:t> </a:t>
            </a:r>
            <a:r>
              <a:rPr lang="tr-TR" dirty="0" err="1"/>
              <a:t>descent</a:t>
            </a:r>
            <a:r>
              <a:rPr lang="tr-TR" dirty="0"/>
              <a:t> </a:t>
            </a:r>
            <a:r>
              <a:rPr lang="tr-TR" dirty="0" err="1"/>
              <a:t>and</a:t>
            </a:r>
            <a:r>
              <a:rPr lang="tr-TR" dirty="0"/>
              <a:t> how it is </a:t>
            </a:r>
            <a:r>
              <a:rPr lang="tr-TR" dirty="0" err="1"/>
              <a:t>work</a:t>
            </a:r>
            <a:r>
              <a:rPr lang="tr-TR" dirty="0"/>
              <a:t> </a:t>
            </a:r>
            <a:r>
              <a:rPr lang="tr-TR" dirty="0" err="1"/>
              <a:t>more</a:t>
            </a:r>
            <a:endParaRPr lang="tr-TR" dirty="0"/>
          </a:p>
          <a:p>
            <a:r>
              <a:rPr lang="en-US" dirty="0"/>
              <a:t>Gradient Descent is a method we use to help our model improve by reducing the error step by step. We start by picking some initial values for our parameters (like w and b), then we calculate the gradient — </a:t>
            </a:r>
            <a:r>
              <a:rPr lang="tr-TR" dirty="0" err="1"/>
              <a:t>It</a:t>
            </a:r>
            <a:r>
              <a:rPr lang="en-US" dirty="0"/>
              <a:t> tells us in which direction the error increases the most. But instead of going that way, we move in the </a:t>
            </a:r>
            <a:r>
              <a:rPr lang="en-US" b="1" dirty="0"/>
              <a:t>opposite direction</a:t>
            </a:r>
            <a:r>
              <a:rPr lang="en-US" dirty="0"/>
              <a:t> — toward where the error decreases. We update the parameters a little bit, and then repeat the process again and again. With each step, the model gets a little bit better and gets closer to the lowest point — the </a:t>
            </a:r>
            <a:r>
              <a:rPr lang="en-US" b="1" dirty="0"/>
              <a:t>minimum of the cost function</a:t>
            </a:r>
            <a:r>
              <a:rPr lang="en-US" dirty="0"/>
              <a:t> — </a:t>
            </a:r>
            <a:r>
              <a:rPr lang="tr-TR" dirty="0" err="1"/>
              <a:t>It</a:t>
            </a:r>
            <a:r>
              <a:rPr lang="en-US" dirty="0"/>
              <a:t> means our predictions are getting more accurate.</a:t>
            </a:r>
          </a:p>
        </p:txBody>
      </p:sp>
      <p:sp>
        <p:nvSpPr>
          <p:cNvPr id="4" name="Slide Number Placeholder 3"/>
          <p:cNvSpPr>
            <a:spLocks noGrp="1"/>
          </p:cNvSpPr>
          <p:nvPr>
            <p:ph type="sldNum" sz="quarter" idx="5"/>
          </p:nvPr>
        </p:nvSpPr>
        <p:spPr/>
        <p:txBody>
          <a:bodyPr/>
          <a:lstStyle/>
          <a:p>
            <a:fld id="{0BFC31E6-9817-4ADD-82D7-FAC1C8ED9A92}" type="slidenum">
              <a:rPr lang="en-US" smtClean="0"/>
              <a:t>40</a:t>
            </a:fld>
            <a:endParaRPr lang="en-US"/>
          </a:p>
        </p:txBody>
      </p:sp>
    </p:spTree>
    <p:extLst>
      <p:ext uri="{BB962C8B-B14F-4D97-AF65-F5344CB8AC3E}">
        <p14:creationId xmlns:p14="http://schemas.microsoft.com/office/powerpoint/2010/main" val="4145079467"/>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Now imagine we’re looking at the </a:t>
            </a:r>
            <a:r>
              <a:rPr lang="en-US" b="1" dirty="0"/>
              <a:t>cost function from above</a:t>
            </a:r>
            <a:r>
              <a:rPr lang="en-US" dirty="0"/>
              <a:t>, like a map — and this bowl shape shows the cost. The center is the lowest point — that’s the best w and b values for our model.</a:t>
            </a:r>
          </a:p>
          <a:p>
            <a:r>
              <a:rPr lang="en-US" dirty="0"/>
              <a:t>These circles show </a:t>
            </a:r>
            <a:r>
              <a:rPr lang="en-US" b="1" dirty="0"/>
              <a:t>levels of cost</a:t>
            </a:r>
            <a:r>
              <a:rPr lang="en-US" dirty="0"/>
              <a:t> — kind of like elevation lines on a hiking map.</a:t>
            </a:r>
            <a:br>
              <a:rPr lang="en-US" dirty="0"/>
            </a:br>
            <a:r>
              <a:rPr lang="en-US" dirty="0"/>
              <a:t>And that </a:t>
            </a:r>
            <a:r>
              <a:rPr lang="en-US" b="1" dirty="0"/>
              <a:t>red line</a:t>
            </a:r>
            <a:r>
              <a:rPr lang="en-US" dirty="0"/>
              <a:t> you see is the path our model takes as it learns.</a:t>
            </a:r>
          </a:p>
          <a:p>
            <a:r>
              <a:rPr lang="en-US" dirty="0"/>
              <a:t>At the beginning (down near -5), the steps are big. But as we get closer to the middle, the steps become smaller and smaller — because the model is being careful not to overshoot the minimum.</a:t>
            </a:r>
          </a:p>
          <a:p>
            <a:r>
              <a:rPr lang="en-US" dirty="0"/>
              <a:t>🧠 This is how gradient descent works:</a:t>
            </a:r>
            <a:br>
              <a:rPr lang="en-US" dirty="0"/>
            </a:br>
            <a:r>
              <a:rPr lang="en-US" dirty="0"/>
              <a:t>It starts somewhere random, checks which way is downhill, takes a step, and keeps repeating. Over time, it gets closer and closer to the best spot — the center — where the cost is lowest and the predictions are most accurate."</a:t>
            </a:r>
          </a:p>
        </p:txBody>
      </p:sp>
      <p:sp>
        <p:nvSpPr>
          <p:cNvPr id="4" name="Slide Number Placeholder 3"/>
          <p:cNvSpPr>
            <a:spLocks noGrp="1"/>
          </p:cNvSpPr>
          <p:nvPr>
            <p:ph type="sldNum" sz="quarter" idx="5"/>
          </p:nvPr>
        </p:nvSpPr>
        <p:spPr/>
        <p:txBody>
          <a:bodyPr/>
          <a:lstStyle/>
          <a:p>
            <a:fld id="{0BFC31E6-9817-4ADD-82D7-FAC1C8ED9A92}" type="slidenum">
              <a:rPr lang="en-US" smtClean="0"/>
              <a:t>41</a:t>
            </a:fld>
            <a:endParaRPr lang="en-US"/>
          </a:p>
        </p:txBody>
      </p:sp>
    </p:spTree>
    <p:extLst>
      <p:ext uri="{BB962C8B-B14F-4D97-AF65-F5344CB8AC3E}">
        <p14:creationId xmlns:p14="http://schemas.microsoft.com/office/powerpoint/2010/main" val="2798772805"/>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algn="l"/>
            <a:r>
              <a:rPr lang="en-US" b="0" i="0" dirty="0">
                <a:solidFill>
                  <a:srgbClr val="333333"/>
                </a:solidFill>
                <a:effectLst/>
                <a:latin typeface="OpenSans"/>
              </a:rPr>
              <a:t>Let's take a look at how you can actually </a:t>
            </a:r>
            <a:r>
              <a:rPr lang="tr-TR" b="0" i="0" dirty="0">
                <a:solidFill>
                  <a:srgbClr val="333333"/>
                </a:solidFill>
                <a:effectLst/>
                <a:latin typeface="OpenSans"/>
              </a:rPr>
              <a:t>i</a:t>
            </a:r>
            <a:r>
              <a:rPr lang="en-US" b="0" i="0" dirty="0" err="1">
                <a:solidFill>
                  <a:srgbClr val="333333"/>
                </a:solidFill>
                <a:effectLst/>
                <a:latin typeface="OpenSans"/>
              </a:rPr>
              <a:t>mplement</a:t>
            </a:r>
            <a:r>
              <a:rPr lang="en-US" b="0" i="0" dirty="0">
                <a:solidFill>
                  <a:srgbClr val="333333"/>
                </a:solidFill>
                <a:effectLst/>
                <a:latin typeface="OpenSans"/>
              </a:rPr>
              <a:t> the gradient descent algorithm</a:t>
            </a:r>
            <a:r>
              <a:rPr lang="tr-TR" b="0" i="0" dirty="0">
                <a:solidFill>
                  <a:srgbClr val="333333"/>
                </a:solidFill>
                <a:effectLst/>
                <a:latin typeface="OpenSans"/>
              </a:rPr>
              <a:t>. </a:t>
            </a:r>
            <a:r>
              <a:rPr lang="tr-TR" b="0" i="0" dirty="0" err="1">
                <a:solidFill>
                  <a:srgbClr val="333333"/>
                </a:solidFill>
                <a:effectLst/>
                <a:latin typeface="OpenSans"/>
              </a:rPr>
              <a:t>Lets</a:t>
            </a:r>
            <a:r>
              <a:rPr lang="tr-TR" b="0" i="0" dirty="0">
                <a:solidFill>
                  <a:srgbClr val="333333"/>
                </a:solidFill>
                <a:effectLst/>
                <a:latin typeface="OpenSans"/>
              </a:rPr>
              <a:t> </a:t>
            </a:r>
            <a:r>
              <a:rPr lang="tr-TR" b="0" i="0" dirty="0" err="1">
                <a:solidFill>
                  <a:srgbClr val="333333"/>
                </a:solidFill>
                <a:effectLst/>
                <a:latin typeface="OpenSans"/>
              </a:rPr>
              <a:t>explain</a:t>
            </a:r>
            <a:r>
              <a:rPr lang="tr-TR" b="0" i="0" dirty="0">
                <a:solidFill>
                  <a:srgbClr val="333333"/>
                </a:solidFill>
                <a:effectLst/>
                <a:latin typeface="OpenSans"/>
              </a:rPr>
              <a:t> </a:t>
            </a:r>
            <a:r>
              <a:rPr lang="tr-TR" b="0" i="0" dirty="0" err="1">
                <a:solidFill>
                  <a:srgbClr val="333333"/>
                </a:solidFill>
                <a:effectLst/>
                <a:latin typeface="OpenSans"/>
              </a:rPr>
              <a:t>the</a:t>
            </a:r>
            <a:r>
              <a:rPr lang="tr-TR" b="0" i="0" dirty="0">
                <a:solidFill>
                  <a:srgbClr val="333333"/>
                </a:solidFill>
                <a:effectLst/>
                <a:latin typeface="OpenSans"/>
              </a:rPr>
              <a:t> </a:t>
            </a:r>
            <a:r>
              <a:rPr lang="tr-TR" b="0" i="0" dirty="0" err="1">
                <a:solidFill>
                  <a:srgbClr val="333333"/>
                </a:solidFill>
                <a:effectLst/>
                <a:latin typeface="OpenSans"/>
              </a:rPr>
              <a:t>parameter</a:t>
            </a:r>
            <a:r>
              <a:rPr lang="tr-TR" b="0" i="0" dirty="0">
                <a:solidFill>
                  <a:srgbClr val="333333"/>
                </a:solidFill>
                <a:effectLst/>
                <a:latin typeface="OpenSans"/>
              </a:rPr>
              <a:t> </a:t>
            </a:r>
            <a:r>
              <a:rPr lang="tr-TR" b="0" i="0" dirty="0" err="1">
                <a:solidFill>
                  <a:srgbClr val="333333"/>
                </a:solidFill>
                <a:effectLst/>
                <a:latin typeface="OpenSans"/>
              </a:rPr>
              <a:t>ones</a:t>
            </a:r>
            <a:r>
              <a:rPr lang="tr-TR" b="0" i="0" dirty="0">
                <a:solidFill>
                  <a:srgbClr val="333333"/>
                </a:solidFill>
                <a:effectLst/>
                <a:latin typeface="OpenSans"/>
              </a:rPr>
              <a:t> </a:t>
            </a:r>
            <a:r>
              <a:rPr lang="tr-TR" b="0" i="0" dirty="0" err="1">
                <a:solidFill>
                  <a:srgbClr val="333333"/>
                </a:solidFill>
                <a:effectLst/>
                <a:latin typeface="OpenSans"/>
              </a:rPr>
              <a:t>more</a:t>
            </a:r>
            <a:r>
              <a:rPr lang="tr-TR" b="0" i="0" dirty="0">
                <a:solidFill>
                  <a:srgbClr val="333333"/>
                </a:solidFill>
                <a:effectLst/>
                <a:latin typeface="OpenSans"/>
              </a:rPr>
              <a:t>.</a:t>
            </a:r>
          </a:p>
          <a:p>
            <a:pPr algn="l"/>
            <a:r>
              <a:rPr lang="tr-TR" b="0" i="0" dirty="0">
                <a:solidFill>
                  <a:srgbClr val="333333"/>
                </a:solidFill>
                <a:effectLst/>
                <a:latin typeface="OpenSans"/>
              </a:rPr>
              <a:t> </a:t>
            </a:r>
            <a:r>
              <a:rPr lang="en-US" b="1" i="0" dirty="0">
                <a:effectLst/>
                <a:latin typeface="Söhne"/>
              </a:rPr>
              <a:t>𝑤_𝑗</a:t>
            </a:r>
            <a:r>
              <a:rPr lang="en-US" b="0" i="0" dirty="0">
                <a:solidFill>
                  <a:srgbClr val="D1D5DB"/>
                </a:solidFill>
                <a:effectLst/>
                <a:latin typeface="Söhne"/>
              </a:rPr>
              <a:t>: This represents a specific weight in a machine learning model.</a:t>
            </a:r>
            <a:endParaRPr lang="tr-TR" b="0" i="0" dirty="0">
              <a:solidFill>
                <a:srgbClr val="D1D5DB"/>
              </a:solidFill>
              <a:effectLst/>
              <a:latin typeface="Söhne"/>
            </a:endParaRPr>
          </a:p>
          <a:p>
            <a:pPr algn="l"/>
            <a:r>
              <a:rPr lang="en-US" b="1" i="0" dirty="0">
                <a:effectLst/>
                <a:latin typeface="Söhne"/>
              </a:rPr>
              <a:t> α (Alpha)</a:t>
            </a:r>
            <a:r>
              <a:rPr lang="en-US" b="0" i="0" dirty="0">
                <a:solidFill>
                  <a:srgbClr val="D1D5DB"/>
                </a:solidFill>
                <a:effectLst/>
                <a:latin typeface="Söhne"/>
              </a:rPr>
              <a:t>: This is the learning rate, </a:t>
            </a:r>
            <a:r>
              <a:rPr lang="tr-TR" b="0" i="0" dirty="0" err="1">
                <a:solidFill>
                  <a:srgbClr val="D1D5DB"/>
                </a:solidFill>
                <a:effectLst/>
                <a:latin typeface="Söhne"/>
              </a:rPr>
              <a:t>generally</a:t>
            </a:r>
            <a:r>
              <a:rPr lang="tr-TR" b="0" i="0" dirty="0">
                <a:solidFill>
                  <a:srgbClr val="D1D5DB"/>
                </a:solidFill>
                <a:effectLst/>
                <a:latin typeface="Söhne"/>
              </a:rPr>
              <a:t> </a:t>
            </a:r>
            <a:r>
              <a:rPr lang="tr-TR" b="0" i="0" dirty="0" err="1">
                <a:solidFill>
                  <a:srgbClr val="D1D5DB"/>
                </a:solidFill>
                <a:effectLst/>
                <a:latin typeface="Söhne"/>
              </a:rPr>
              <a:t>take</a:t>
            </a:r>
            <a:r>
              <a:rPr lang="en-US" b="0" i="0" dirty="0">
                <a:solidFill>
                  <a:srgbClr val="D1D5DB"/>
                </a:solidFill>
                <a:effectLst/>
                <a:latin typeface="Söhne"/>
              </a:rPr>
              <a:t>  small positive number. The learning rate controls the step size in the gradient descent algorithm. It determines how much the weight is updated in each iteration of training.</a:t>
            </a:r>
            <a:endParaRPr lang="tr-TR" b="0" i="0" dirty="0">
              <a:solidFill>
                <a:srgbClr val="D1D5DB"/>
              </a:solidFill>
              <a:effectLst/>
              <a:latin typeface="Söhne"/>
            </a:endParaRPr>
          </a:p>
          <a:p>
            <a:pPr algn="l"/>
            <a:r>
              <a:rPr lang="tr-TR" b="0" i="0" dirty="0">
                <a:solidFill>
                  <a:srgbClr val="D1D5DB"/>
                </a:solidFill>
                <a:effectLst/>
                <a:latin typeface="Söhne"/>
              </a:rPr>
              <a:t> </a:t>
            </a:r>
            <a:r>
              <a:rPr lang="en-US" b="1" i="0" dirty="0">
                <a:effectLst/>
                <a:latin typeface="Söhne"/>
              </a:rPr>
              <a:t>𝐽(¯𝑤,𝑏)</a:t>
            </a:r>
            <a:r>
              <a:rPr lang="en-US" b="0" i="0" dirty="0">
                <a:solidFill>
                  <a:srgbClr val="D1D5DB"/>
                </a:solidFill>
                <a:effectLst/>
                <a:latin typeface="Söhne"/>
              </a:rPr>
              <a:t>: This represents the cost or loss function</a:t>
            </a:r>
            <a:r>
              <a:rPr lang="tr-TR" b="0" i="0" dirty="0">
                <a:solidFill>
                  <a:srgbClr val="D1D5DB"/>
                </a:solidFill>
                <a:effectLst/>
                <a:latin typeface="Söhne"/>
              </a:rPr>
              <a:t>.</a:t>
            </a:r>
            <a:r>
              <a:rPr lang="en-US" b="0" i="0" dirty="0">
                <a:solidFill>
                  <a:srgbClr val="D1D5DB"/>
                </a:solidFill>
                <a:effectLst/>
                <a:latin typeface="Söhne"/>
              </a:rPr>
              <a:t> The cost function measures how well the model's predictions match the actual target values. </a:t>
            </a:r>
            <a:endParaRPr lang="tr-TR" b="0" i="0" dirty="0">
              <a:solidFill>
                <a:srgbClr val="D1D5DB"/>
              </a:solidFill>
              <a:effectLst/>
              <a:latin typeface="Söhne"/>
            </a:endParaRPr>
          </a:p>
          <a:p>
            <a:pPr algn="l"/>
            <a:r>
              <a:rPr lang="en-US" b="1" i="0" dirty="0">
                <a:effectLst/>
                <a:latin typeface="Söhne"/>
              </a:rPr>
              <a:t>∂/∂𝑤_𝑗</a:t>
            </a:r>
            <a:r>
              <a:rPr lang="en-US" b="0" i="0" dirty="0">
                <a:solidFill>
                  <a:srgbClr val="D1D5DB"/>
                </a:solidFill>
                <a:effectLst/>
                <a:latin typeface="Söhne"/>
              </a:rPr>
              <a:t>: This denotes the partial derivative of the cost function J with respect to the weight 𝑤_𝑗. In simpler terms, it measures how the cost function changes as you make a small change in the weight 𝑤_𝑗. This gradient tells you the direction and magnitude of the steepest ascent of the cost function.</a:t>
            </a:r>
            <a:endParaRPr lang="en-US" b="0" i="0" dirty="0">
              <a:solidFill>
                <a:srgbClr val="333333"/>
              </a:solidFill>
              <a:effectLst/>
              <a:latin typeface="OpenSans"/>
            </a:endParaRPr>
          </a:p>
          <a:p>
            <a:endParaRPr lang="tr-TR" dirty="0"/>
          </a:p>
          <a:p>
            <a:pPr algn="l"/>
            <a:r>
              <a:rPr lang="en-US" b="0" i="0" dirty="0">
                <a:solidFill>
                  <a:srgbClr val="D1D5DB"/>
                </a:solidFill>
                <a:effectLst/>
                <a:latin typeface="Söhne"/>
              </a:rPr>
              <a:t>Now, let's put it all together:</a:t>
            </a:r>
          </a:p>
          <a:p>
            <a:pPr algn="l">
              <a:buFont typeface="Arial" panose="020B0604020202020204" pitchFamily="34" charset="0"/>
              <a:buChar char="•"/>
            </a:pPr>
            <a:r>
              <a:rPr lang="en-US" b="0" i="0" dirty="0">
                <a:solidFill>
                  <a:srgbClr val="D1D5DB"/>
                </a:solidFill>
                <a:effectLst/>
                <a:latin typeface="Söhne"/>
              </a:rPr>
              <a:t>We start with an initial set of weights (¯𝑤,𝑏).</a:t>
            </a:r>
          </a:p>
          <a:p>
            <a:pPr algn="l">
              <a:buFont typeface="Arial" panose="020B0604020202020204" pitchFamily="34" charset="0"/>
              <a:buChar char="•"/>
            </a:pPr>
            <a:r>
              <a:rPr lang="en-US" b="0" i="0" dirty="0">
                <a:solidFill>
                  <a:srgbClr val="D1D5DB"/>
                </a:solidFill>
                <a:effectLst/>
                <a:latin typeface="Söhne"/>
              </a:rPr>
              <a:t>We calculate the gradient (∂/∂𝑤_𝑗) 𝐽(¯𝑤,𝑏) for each weight 𝑤_𝑗. This tells us the direction and magnitude to adjust 𝑤_𝑗 to reduce the cost function J.</a:t>
            </a:r>
          </a:p>
          <a:p>
            <a:pPr algn="l">
              <a:buFont typeface="Arial" panose="020B0604020202020204" pitchFamily="34" charset="0"/>
              <a:buChar char="•"/>
            </a:pPr>
            <a:r>
              <a:rPr lang="en-US" b="0" i="0" dirty="0">
                <a:solidFill>
                  <a:srgbClr val="D1D5DB"/>
                </a:solidFill>
                <a:effectLst/>
                <a:latin typeface="Söhne"/>
              </a:rPr>
              <a:t>We multiply the gradient by the learning rate α. This scales the update step to ensure we don't take too large of a step.</a:t>
            </a:r>
          </a:p>
          <a:p>
            <a:pPr algn="l">
              <a:buFont typeface="Arial" panose="020B0604020202020204" pitchFamily="34" charset="0"/>
              <a:buChar char="•"/>
            </a:pPr>
            <a:r>
              <a:rPr lang="en-US" b="0" i="0" dirty="0">
                <a:solidFill>
                  <a:srgbClr val="D1D5DB"/>
                </a:solidFill>
                <a:effectLst/>
                <a:latin typeface="Söhne"/>
              </a:rPr>
              <a:t>We subtract this scaled gradient from the current weight 𝑤_𝑗. This step updates the weight in the direction that reduces the cost function.</a:t>
            </a:r>
          </a:p>
          <a:p>
            <a:endParaRPr lang="tr-TR" dirty="0"/>
          </a:p>
          <a:p>
            <a:r>
              <a:rPr lang="en-US" b="0" i="0" dirty="0">
                <a:solidFill>
                  <a:srgbClr val="D1D5DB"/>
                </a:solidFill>
                <a:effectLst/>
                <a:latin typeface="Söhne"/>
              </a:rPr>
              <a:t>By iteratively updating the weights using this formula, the model gradually converges to the set of weights that minimizes the cost function</a:t>
            </a:r>
            <a:r>
              <a:rPr lang="tr-TR" b="0" i="0" dirty="0">
                <a:solidFill>
                  <a:srgbClr val="D1D5DB"/>
                </a:solidFill>
                <a:effectLst/>
                <a:latin typeface="Söhne"/>
              </a:rPr>
              <a:t>.</a:t>
            </a:r>
          </a:p>
          <a:p>
            <a:endParaRPr lang="tr-TR" b="0" i="0" dirty="0">
              <a:solidFill>
                <a:srgbClr val="D1D5DB"/>
              </a:solidFill>
              <a:effectLst/>
              <a:latin typeface="Söhne"/>
            </a:endParaRPr>
          </a:p>
          <a:p>
            <a:r>
              <a:rPr lang="tr-TR" b="0" i="0" dirty="0" err="1">
                <a:solidFill>
                  <a:srgbClr val="D1D5DB"/>
                </a:solidFill>
                <a:effectLst/>
                <a:latin typeface="Söhne"/>
              </a:rPr>
              <a:t>And</a:t>
            </a:r>
            <a:r>
              <a:rPr lang="tr-TR" b="0" i="0" dirty="0">
                <a:solidFill>
                  <a:srgbClr val="D1D5DB"/>
                </a:solidFill>
                <a:effectLst/>
                <a:latin typeface="Söhne"/>
              </a:rPr>
              <a:t> </a:t>
            </a:r>
            <a:r>
              <a:rPr lang="tr-TR" b="0" i="0" dirty="0" err="1">
                <a:solidFill>
                  <a:srgbClr val="D1D5DB"/>
                </a:solidFill>
                <a:effectLst/>
                <a:latin typeface="Söhne"/>
              </a:rPr>
              <a:t>simultineous</a:t>
            </a:r>
            <a:r>
              <a:rPr lang="tr-TR" b="0" i="0" dirty="0">
                <a:solidFill>
                  <a:srgbClr val="D1D5DB"/>
                </a:solidFill>
                <a:effectLst/>
                <a:latin typeface="Söhne"/>
              </a:rPr>
              <a:t> </a:t>
            </a:r>
            <a:r>
              <a:rPr lang="tr-TR" b="0" i="0" dirty="0" err="1">
                <a:solidFill>
                  <a:srgbClr val="D1D5DB"/>
                </a:solidFill>
                <a:effectLst/>
                <a:latin typeface="Söhne"/>
              </a:rPr>
              <a:t>update</a:t>
            </a:r>
            <a:r>
              <a:rPr lang="tr-TR" b="0" i="0" dirty="0">
                <a:solidFill>
                  <a:srgbClr val="D1D5DB"/>
                </a:solidFill>
                <a:effectLst/>
                <a:latin typeface="Söhne"/>
              </a:rPr>
              <a:t> is </a:t>
            </a:r>
            <a:r>
              <a:rPr lang="tr-TR" b="0" i="0" dirty="0" err="1">
                <a:solidFill>
                  <a:srgbClr val="D1D5DB"/>
                </a:solidFill>
                <a:effectLst/>
                <a:latin typeface="Söhne"/>
              </a:rPr>
              <a:t>very</a:t>
            </a:r>
            <a:r>
              <a:rPr lang="tr-TR" b="0" i="0" dirty="0">
                <a:solidFill>
                  <a:srgbClr val="D1D5DB"/>
                </a:solidFill>
                <a:effectLst/>
                <a:latin typeface="Söhne"/>
              </a:rPr>
              <a:t> </a:t>
            </a:r>
            <a:r>
              <a:rPr lang="tr-TR" b="0" i="0" dirty="0" err="1">
                <a:solidFill>
                  <a:srgbClr val="D1D5DB"/>
                </a:solidFill>
                <a:effectLst/>
                <a:latin typeface="Söhne"/>
              </a:rPr>
              <a:t>important</a:t>
            </a:r>
            <a:r>
              <a:rPr lang="tr-TR" b="0" i="0" dirty="0">
                <a:solidFill>
                  <a:srgbClr val="D1D5DB"/>
                </a:solidFill>
                <a:effectLst/>
                <a:latin typeface="Söhne"/>
              </a:rPr>
              <a:t> </a:t>
            </a:r>
            <a:r>
              <a:rPr lang="tr-TR" b="0" i="0" dirty="0" err="1">
                <a:solidFill>
                  <a:srgbClr val="D1D5DB"/>
                </a:solidFill>
                <a:effectLst/>
                <a:latin typeface="Söhne"/>
              </a:rPr>
              <a:t>you</a:t>
            </a:r>
            <a:r>
              <a:rPr lang="tr-TR" b="0" i="0" dirty="0">
                <a:solidFill>
                  <a:srgbClr val="D1D5DB"/>
                </a:solidFill>
                <a:effectLst/>
                <a:latin typeface="Söhne"/>
              </a:rPr>
              <a:t> </a:t>
            </a:r>
            <a:r>
              <a:rPr lang="tr-TR" b="0" i="0" dirty="0" err="1">
                <a:solidFill>
                  <a:srgbClr val="D1D5DB"/>
                </a:solidFill>
                <a:effectLst/>
                <a:latin typeface="Söhne"/>
              </a:rPr>
              <a:t>shoud</a:t>
            </a:r>
            <a:r>
              <a:rPr lang="tr-TR" b="0" i="0" dirty="0">
                <a:solidFill>
                  <a:srgbClr val="D1D5DB"/>
                </a:solidFill>
                <a:effectLst/>
                <a:latin typeface="Söhne"/>
              </a:rPr>
              <a:t> do </a:t>
            </a:r>
            <a:r>
              <a:rPr lang="tr-TR" b="0" i="0" dirty="0" err="1">
                <a:solidFill>
                  <a:srgbClr val="D1D5DB"/>
                </a:solidFill>
                <a:effectLst/>
                <a:latin typeface="Söhne"/>
              </a:rPr>
              <a:t>like</a:t>
            </a:r>
            <a:r>
              <a:rPr lang="tr-TR" b="0" i="0" dirty="0">
                <a:solidFill>
                  <a:srgbClr val="D1D5DB"/>
                </a:solidFill>
                <a:effectLst/>
                <a:latin typeface="Söhne"/>
              </a:rPr>
              <a:t> </a:t>
            </a:r>
            <a:r>
              <a:rPr lang="tr-TR" b="0" i="0" dirty="0" err="1">
                <a:solidFill>
                  <a:srgbClr val="D1D5DB"/>
                </a:solidFill>
                <a:effectLst/>
                <a:latin typeface="Söhne"/>
              </a:rPr>
              <a:t>first</a:t>
            </a:r>
            <a:r>
              <a:rPr lang="tr-TR" b="0" i="0" dirty="0">
                <a:solidFill>
                  <a:srgbClr val="D1D5DB"/>
                </a:solidFill>
                <a:effectLst/>
                <a:latin typeface="Söhne"/>
              </a:rPr>
              <a:t> </a:t>
            </a:r>
            <a:r>
              <a:rPr lang="tr-TR" b="0" i="0" dirty="0" err="1">
                <a:solidFill>
                  <a:srgbClr val="D1D5DB"/>
                </a:solidFill>
                <a:effectLst/>
                <a:latin typeface="Söhne"/>
              </a:rPr>
              <a:t>one</a:t>
            </a:r>
            <a:r>
              <a:rPr lang="tr-TR" b="0" i="0" dirty="0">
                <a:solidFill>
                  <a:srgbClr val="D1D5DB"/>
                </a:solidFill>
                <a:effectLst/>
                <a:latin typeface="Söhne"/>
              </a:rPr>
              <a:t>. </a:t>
            </a:r>
            <a:r>
              <a:rPr lang="tr-TR" b="0" i="0" dirty="0" err="1">
                <a:solidFill>
                  <a:srgbClr val="D1D5DB"/>
                </a:solidFill>
                <a:effectLst/>
                <a:latin typeface="Söhne"/>
              </a:rPr>
              <a:t>İf</a:t>
            </a:r>
            <a:r>
              <a:rPr lang="tr-TR" b="0" i="0" dirty="0">
                <a:solidFill>
                  <a:srgbClr val="D1D5DB"/>
                </a:solidFill>
                <a:effectLst/>
                <a:latin typeface="Söhne"/>
              </a:rPr>
              <a:t> </a:t>
            </a:r>
            <a:r>
              <a:rPr lang="tr-TR" b="0" i="0" dirty="0" err="1">
                <a:solidFill>
                  <a:srgbClr val="D1D5DB"/>
                </a:solidFill>
                <a:effectLst/>
                <a:latin typeface="Söhne"/>
              </a:rPr>
              <a:t>you</a:t>
            </a:r>
            <a:r>
              <a:rPr lang="tr-TR" b="0" i="0" dirty="0">
                <a:solidFill>
                  <a:srgbClr val="D1D5DB"/>
                </a:solidFill>
                <a:effectLst/>
                <a:latin typeface="Söhne"/>
              </a:rPr>
              <a:t> do </a:t>
            </a:r>
            <a:r>
              <a:rPr lang="tr-TR" b="0" i="0" dirty="0" err="1">
                <a:solidFill>
                  <a:srgbClr val="D1D5DB"/>
                </a:solidFill>
                <a:effectLst/>
                <a:latin typeface="Söhne"/>
              </a:rPr>
              <a:t>using</a:t>
            </a:r>
            <a:r>
              <a:rPr lang="tr-TR" b="0" i="0" dirty="0">
                <a:solidFill>
                  <a:srgbClr val="D1D5DB"/>
                </a:solidFill>
                <a:effectLst/>
                <a:latin typeface="Söhne"/>
              </a:rPr>
              <a:t> </a:t>
            </a:r>
            <a:r>
              <a:rPr lang="tr-TR" b="0" i="0" dirty="0" err="1">
                <a:solidFill>
                  <a:srgbClr val="D1D5DB"/>
                </a:solidFill>
                <a:effectLst/>
                <a:latin typeface="Söhne"/>
              </a:rPr>
              <a:t>the</a:t>
            </a:r>
            <a:r>
              <a:rPr lang="tr-TR" b="0" i="0" dirty="0">
                <a:solidFill>
                  <a:srgbClr val="D1D5DB"/>
                </a:solidFill>
                <a:effectLst/>
                <a:latin typeface="Söhne"/>
              </a:rPr>
              <a:t> </a:t>
            </a:r>
            <a:r>
              <a:rPr lang="tr-TR" b="0" i="0" dirty="0" err="1">
                <a:solidFill>
                  <a:srgbClr val="D1D5DB"/>
                </a:solidFill>
                <a:effectLst/>
                <a:latin typeface="Söhne"/>
              </a:rPr>
              <a:t>second</a:t>
            </a:r>
            <a:r>
              <a:rPr lang="tr-TR" b="0" i="0" dirty="0">
                <a:solidFill>
                  <a:srgbClr val="D1D5DB"/>
                </a:solidFill>
                <a:effectLst/>
                <a:latin typeface="Söhne"/>
              </a:rPr>
              <a:t> </a:t>
            </a:r>
            <a:r>
              <a:rPr lang="tr-TR" b="0" i="0" dirty="0" err="1">
                <a:solidFill>
                  <a:srgbClr val="D1D5DB"/>
                </a:solidFill>
                <a:effectLst/>
                <a:latin typeface="Söhne"/>
              </a:rPr>
              <a:t>one</a:t>
            </a:r>
            <a:r>
              <a:rPr lang="tr-TR" b="0" i="0" dirty="0">
                <a:solidFill>
                  <a:srgbClr val="D1D5DB"/>
                </a:solidFill>
                <a:effectLst/>
                <a:latin typeface="Söhne"/>
              </a:rPr>
              <a:t> </a:t>
            </a:r>
            <a:r>
              <a:rPr lang="tr-TR" b="0" i="0" dirty="0" err="1">
                <a:solidFill>
                  <a:srgbClr val="D1D5DB"/>
                </a:solidFill>
                <a:effectLst/>
                <a:latin typeface="Söhne"/>
              </a:rPr>
              <a:t>you</a:t>
            </a:r>
            <a:r>
              <a:rPr lang="tr-TR" b="0" i="0" dirty="0">
                <a:solidFill>
                  <a:srgbClr val="D1D5DB"/>
                </a:solidFill>
                <a:effectLst/>
                <a:latin typeface="Söhne"/>
              </a:rPr>
              <a:t> </a:t>
            </a:r>
            <a:r>
              <a:rPr lang="tr-TR" b="0" i="0" dirty="0" err="1">
                <a:solidFill>
                  <a:srgbClr val="D1D5DB"/>
                </a:solidFill>
                <a:effectLst/>
                <a:latin typeface="Söhne"/>
              </a:rPr>
              <a:t>will</a:t>
            </a:r>
            <a:r>
              <a:rPr lang="tr-TR" b="0" i="0" dirty="0">
                <a:solidFill>
                  <a:srgbClr val="D1D5DB"/>
                </a:solidFill>
                <a:effectLst/>
                <a:latin typeface="Söhne"/>
              </a:rPr>
              <a:t> </a:t>
            </a:r>
            <a:r>
              <a:rPr lang="tr-TR" b="0" i="0" dirty="0" err="1">
                <a:solidFill>
                  <a:srgbClr val="D1D5DB"/>
                </a:solidFill>
                <a:effectLst/>
                <a:latin typeface="Söhne"/>
              </a:rPr>
              <a:t>use</a:t>
            </a:r>
            <a:r>
              <a:rPr lang="tr-TR" b="0" i="0" dirty="0">
                <a:solidFill>
                  <a:srgbClr val="D1D5DB"/>
                </a:solidFill>
                <a:effectLst/>
                <a:latin typeface="Söhne"/>
              </a:rPr>
              <a:t> </a:t>
            </a:r>
            <a:r>
              <a:rPr lang="tr-TR" b="0" i="0" dirty="0" err="1">
                <a:solidFill>
                  <a:srgbClr val="D1D5DB"/>
                </a:solidFill>
                <a:effectLst/>
                <a:latin typeface="Söhne"/>
              </a:rPr>
              <a:t>updated</a:t>
            </a:r>
            <a:r>
              <a:rPr lang="tr-TR" b="0" i="0" dirty="0">
                <a:solidFill>
                  <a:srgbClr val="D1D5DB"/>
                </a:solidFill>
                <a:effectLst/>
                <a:latin typeface="Söhne"/>
              </a:rPr>
              <a:t> w in b.</a:t>
            </a:r>
            <a:endParaRPr lang="en-US" dirty="0"/>
          </a:p>
        </p:txBody>
      </p:sp>
      <p:sp>
        <p:nvSpPr>
          <p:cNvPr id="4" name="Slide Number Placeholder 3"/>
          <p:cNvSpPr>
            <a:spLocks noGrp="1"/>
          </p:cNvSpPr>
          <p:nvPr>
            <p:ph type="sldNum" sz="quarter" idx="5"/>
          </p:nvPr>
        </p:nvSpPr>
        <p:spPr/>
        <p:txBody>
          <a:bodyPr/>
          <a:lstStyle/>
          <a:p>
            <a:fld id="{0BFC31E6-9817-4ADD-82D7-FAC1C8ED9A92}" type="slidenum">
              <a:rPr lang="en-US" smtClean="0"/>
              <a:t>42</a:t>
            </a:fld>
            <a:endParaRPr lang="en-US"/>
          </a:p>
        </p:txBody>
      </p:sp>
    </p:spTree>
    <p:extLst>
      <p:ext uri="{BB962C8B-B14F-4D97-AF65-F5344CB8AC3E}">
        <p14:creationId xmlns:p14="http://schemas.microsoft.com/office/powerpoint/2010/main" val="3194963776"/>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Let’s talk about </a:t>
            </a:r>
            <a:r>
              <a:rPr lang="en-US" b="1" dirty="0"/>
              <a:t>why gradient descent works</a:t>
            </a:r>
            <a:r>
              <a:rPr lang="en-US" dirty="0"/>
              <a:t> — and why we subtract the gradient instead of adding it.</a:t>
            </a:r>
          </a:p>
          <a:p>
            <a:r>
              <a:rPr lang="en-US" dirty="0"/>
              <a:t>So look at the first graph. The slope is </a:t>
            </a:r>
            <a:r>
              <a:rPr lang="en-US" b="1" dirty="0"/>
              <a:t>positive</a:t>
            </a:r>
            <a:r>
              <a:rPr lang="en-US" dirty="0"/>
              <a:t> — that means if we move to the right, the cost gets worse (goes up). So we don’t want to go that way!</a:t>
            </a:r>
            <a:br>
              <a:rPr lang="en-US" dirty="0"/>
            </a:br>
            <a:r>
              <a:rPr lang="en-US" dirty="0"/>
              <a:t>👉 Instead, we move in the </a:t>
            </a:r>
            <a:r>
              <a:rPr lang="en-US" b="1" dirty="0"/>
              <a:t>opposite direction</a:t>
            </a:r>
            <a:r>
              <a:rPr lang="en-US" dirty="0"/>
              <a:t> — to the left — to make the cost go down.</a:t>
            </a:r>
          </a:p>
          <a:p>
            <a:r>
              <a:rPr lang="en-US" dirty="0"/>
              <a:t>Now look at the second graph. The slope is </a:t>
            </a:r>
            <a:r>
              <a:rPr lang="en-US" b="1" dirty="0"/>
              <a:t>negative</a:t>
            </a:r>
            <a:r>
              <a:rPr lang="en-US" dirty="0"/>
              <a:t> — so the cost goes down when we move right.</a:t>
            </a:r>
            <a:br>
              <a:rPr lang="en-US" dirty="0"/>
            </a:br>
            <a:r>
              <a:rPr lang="en-US" dirty="0"/>
              <a:t>👉 Again, we move in the opposite direction of the slope — which now means stepping to the </a:t>
            </a:r>
            <a:r>
              <a:rPr lang="en-US" b="1" dirty="0"/>
              <a:t>right</a:t>
            </a:r>
            <a:r>
              <a:rPr lang="en-US" dirty="0"/>
              <a:t>.</a:t>
            </a:r>
          </a:p>
        </p:txBody>
      </p:sp>
      <p:sp>
        <p:nvSpPr>
          <p:cNvPr id="4" name="Slide Number Placeholder 3"/>
          <p:cNvSpPr>
            <a:spLocks noGrp="1"/>
          </p:cNvSpPr>
          <p:nvPr>
            <p:ph type="sldNum" sz="quarter" idx="5"/>
          </p:nvPr>
        </p:nvSpPr>
        <p:spPr/>
        <p:txBody>
          <a:bodyPr/>
          <a:lstStyle/>
          <a:p>
            <a:fld id="{0BFC31E6-9817-4ADD-82D7-FAC1C8ED9A92}" type="slidenum">
              <a:rPr lang="en-US" smtClean="0"/>
              <a:t>43</a:t>
            </a:fld>
            <a:endParaRPr lang="en-US"/>
          </a:p>
        </p:txBody>
      </p:sp>
    </p:spTree>
    <p:extLst>
      <p:ext uri="{BB962C8B-B14F-4D97-AF65-F5344CB8AC3E}">
        <p14:creationId xmlns:p14="http://schemas.microsoft.com/office/powerpoint/2010/main" val="3509888879"/>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Okay, now let’s talk about something really important in training our model — it’s called the </a:t>
            </a:r>
            <a:r>
              <a:rPr lang="en-US" b="1" dirty="0"/>
              <a:t>learning rate</a:t>
            </a:r>
            <a:r>
              <a:rPr lang="en-US" dirty="0"/>
              <a:t>.</a:t>
            </a:r>
          </a:p>
          <a:p>
            <a:r>
              <a:rPr lang="en-US" dirty="0"/>
              <a:t>Basically, the learning rate decides:</a:t>
            </a:r>
            <a:br>
              <a:rPr lang="en-US" dirty="0"/>
            </a:br>
            <a:r>
              <a:rPr lang="en-US" dirty="0"/>
              <a:t>👉 </a:t>
            </a:r>
            <a:r>
              <a:rPr lang="en-US" b="1" dirty="0"/>
              <a:t>How big of a step</a:t>
            </a:r>
            <a:r>
              <a:rPr lang="en-US" dirty="0"/>
              <a:t> we take during each update in gradient descent.</a:t>
            </a:r>
          </a:p>
          <a:p>
            <a:r>
              <a:rPr lang="en-US" dirty="0"/>
              <a:t>Look at the first graph on the left:</a:t>
            </a:r>
            <a:br>
              <a:rPr lang="en-US" dirty="0"/>
            </a:br>
            <a:r>
              <a:rPr lang="en-US" dirty="0"/>
              <a:t>🟢 Here, the step size is just right. The model is making nice, small steps downhill — getting closer to the bottom in a smooth way.</a:t>
            </a:r>
          </a:p>
          <a:p>
            <a:r>
              <a:rPr lang="en-US" dirty="0"/>
              <a:t>Now look at the second graph on the right:</a:t>
            </a:r>
            <a:br>
              <a:rPr lang="en-US" dirty="0"/>
            </a:br>
            <a:r>
              <a:rPr lang="en-US" dirty="0"/>
              <a:t>🔴 The learning rate is too big! The model takes a huge step and </a:t>
            </a:r>
            <a:r>
              <a:rPr lang="en-US" b="1" dirty="0"/>
              <a:t>jumps across the valley</a:t>
            </a:r>
            <a:r>
              <a:rPr lang="en-US" dirty="0"/>
              <a:t> instead of carefully stepping down. It misses the minimum completely — and might even bounce back and forth or never settle.</a:t>
            </a:r>
          </a:p>
        </p:txBody>
      </p:sp>
      <p:sp>
        <p:nvSpPr>
          <p:cNvPr id="4" name="Slide Number Placeholder 3"/>
          <p:cNvSpPr>
            <a:spLocks noGrp="1"/>
          </p:cNvSpPr>
          <p:nvPr>
            <p:ph type="sldNum" sz="quarter" idx="5"/>
          </p:nvPr>
        </p:nvSpPr>
        <p:spPr/>
        <p:txBody>
          <a:bodyPr/>
          <a:lstStyle/>
          <a:p>
            <a:fld id="{0BFC31E6-9817-4ADD-82D7-FAC1C8ED9A92}" type="slidenum">
              <a:rPr lang="en-US" smtClean="0"/>
              <a:t>44</a:t>
            </a:fld>
            <a:endParaRPr lang="en-US"/>
          </a:p>
        </p:txBody>
      </p:sp>
    </p:spTree>
    <p:extLst>
      <p:ext uri="{BB962C8B-B14F-4D97-AF65-F5344CB8AC3E}">
        <p14:creationId xmlns:p14="http://schemas.microsoft.com/office/powerpoint/2010/main" val="1411737503"/>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Let’s zoom in on what happens when gradient descent reaches a </a:t>
            </a:r>
            <a:r>
              <a:rPr lang="en-US" b="1" dirty="0"/>
              <a:t>local minimum</a:t>
            </a:r>
            <a:r>
              <a:rPr lang="en-US" dirty="0"/>
              <a:t>.</a:t>
            </a:r>
          </a:p>
          <a:p>
            <a:r>
              <a:rPr lang="en-US" dirty="0"/>
              <a:t>So here’s our cost function — it’s not a perfect U shape this time. It’s a bit more wavy, and it actually has </a:t>
            </a:r>
            <a:r>
              <a:rPr lang="en-US" b="1" dirty="0"/>
              <a:t>two valleys</a:t>
            </a:r>
            <a:r>
              <a:rPr lang="en-US" dirty="0"/>
              <a:t>. We call these 'local minima'. That means there might be more than one low point, but only one of them is the absolute lowest — the </a:t>
            </a:r>
            <a:r>
              <a:rPr lang="en-US" b="1" dirty="0"/>
              <a:t>global minimum</a:t>
            </a:r>
            <a:r>
              <a:rPr lang="en-US" dirty="0"/>
              <a:t>.</a:t>
            </a:r>
          </a:p>
          <a:p>
            <a:r>
              <a:rPr lang="en-US" dirty="0"/>
              <a:t>Now imagine our model has been training and finally lands at the point where </a:t>
            </a:r>
            <a:r>
              <a:rPr lang="en-US" b="1" dirty="0"/>
              <a:t>w = 5</a:t>
            </a:r>
            <a:r>
              <a:rPr lang="en-US" dirty="0"/>
              <a:t>. That’s where we are on this graph — sitting in one of those valleys.</a:t>
            </a:r>
          </a:p>
          <a:p>
            <a:r>
              <a:rPr lang="en-US" dirty="0"/>
              <a:t>At that point, look at the slope of the curve — it’s </a:t>
            </a:r>
            <a:r>
              <a:rPr lang="en-US" b="1" dirty="0"/>
              <a:t>flat</a:t>
            </a:r>
            <a:r>
              <a:rPr lang="en-US" dirty="0"/>
              <a:t>. The slope is </a:t>
            </a:r>
            <a:r>
              <a:rPr lang="en-US" b="1" dirty="0"/>
              <a:t>zero</a:t>
            </a:r>
            <a:r>
              <a:rPr lang="en-US" dirty="0"/>
              <a:t>, which means the derivative is zero. So if you plug that into the gradient descent formula:</a:t>
            </a:r>
          </a:p>
          <a:p>
            <a:r>
              <a:rPr lang="en-US" dirty="0"/>
              <a:t>w=w−α⋅</a:t>
            </a:r>
            <a:r>
              <a:rPr lang="tr-TR" dirty="0"/>
              <a:t>0</a:t>
            </a:r>
          </a:p>
          <a:p>
            <a:r>
              <a:rPr lang="en-US" dirty="0"/>
              <a:t>That just becomes:</a:t>
            </a:r>
          </a:p>
          <a:p>
            <a:r>
              <a:rPr lang="en-US" dirty="0"/>
              <a:t>w=w</a:t>
            </a:r>
            <a:r>
              <a:rPr lang="tr-TR" dirty="0"/>
              <a:t> </a:t>
            </a:r>
          </a:p>
          <a:p>
            <a:r>
              <a:rPr lang="en-US" dirty="0"/>
              <a:t>So… nothing changes. The model stops moving. That’s how we know we’ve hit a </a:t>
            </a:r>
            <a:r>
              <a:rPr lang="en-US" b="1" dirty="0"/>
              <a:t>minimum</a:t>
            </a:r>
            <a:r>
              <a:rPr lang="en-US" dirty="0"/>
              <a:t> — because gradient descent has nowhere else to go. It just stays there.</a:t>
            </a:r>
          </a:p>
          <a:p>
            <a:r>
              <a:rPr lang="en-US" dirty="0"/>
              <a:t>Now the tricky part is:</a:t>
            </a:r>
            <a:br>
              <a:rPr lang="en-US" dirty="0"/>
            </a:br>
            <a:r>
              <a:rPr lang="en-US" dirty="0"/>
              <a:t>Sometimes this might be the best possible spot (global minimum),</a:t>
            </a:r>
            <a:br>
              <a:rPr lang="en-US" dirty="0"/>
            </a:br>
            <a:r>
              <a:rPr lang="en-US" dirty="0"/>
              <a:t>but other times, it’s </a:t>
            </a:r>
            <a:r>
              <a:rPr lang="en-US" b="1" dirty="0"/>
              <a:t>just okay</a:t>
            </a:r>
            <a:r>
              <a:rPr lang="en-US" dirty="0"/>
              <a:t>, not the best (local minimum)."</a:t>
            </a:r>
          </a:p>
        </p:txBody>
      </p:sp>
      <p:sp>
        <p:nvSpPr>
          <p:cNvPr id="4" name="Slide Number Placeholder 3"/>
          <p:cNvSpPr>
            <a:spLocks noGrp="1"/>
          </p:cNvSpPr>
          <p:nvPr>
            <p:ph type="sldNum" sz="quarter" idx="5"/>
          </p:nvPr>
        </p:nvSpPr>
        <p:spPr/>
        <p:txBody>
          <a:bodyPr/>
          <a:lstStyle/>
          <a:p>
            <a:fld id="{0BFC31E6-9817-4ADD-82D7-FAC1C8ED9A92}" type="slidenum">
              <a:rPr lang="en-US" smtClean="0"/>
              <a:t>45</a:t>
            </a:fld>
            <a:endParaRPr lang="en-US"/>
          </a:p>
        </p:txBody>
      </p:sp>
    </p:spTree>
    <p:extLst>
      <p:ext uri="{BB962C8B-B14F-4D97-AF65-F5344CB8AC3E}">
        <p14:creationId xmlns:p14="http://schemas.microsoft.com/office/powerpoint/2010/main" val="489406750"/>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tr-TR" dirty="0" err="1"/>
              <a:t>When</a:t>
            </a:r>
            <a:r>
              <a:rPr lang="tr-TR" dirty="0"/>
              <a:t> </a:t>
            </a:r>
            <a:r>
              <a:rPr lang="tr-TR" dirty="0" err="1"/>
              <a:t>we</a:t>
            </a:r>
            <a:r>
              <a:rPr lang="tr-TR" dirty="0"/>
              <a:t> </a:t>
            </a:r>
            <a:r>
              <a:rPr lang="tr-TR" dirty="0" err="1"/>
              <a:t>look</a:t>
            </a:r>
            <a:r>
              <a:rPr lang="tr-TR" dirty="0"/>
              <a:t> </a:t>
            </a:r>
            <a:r>
              <a:rPr lang="tr-TR" dirty="0" err="1"/>
              <a:t>this</a:t>
            </a:r>
            <a:r>
              <a:rPr lang="tr-TR" dirty="0"/>
              <a:t> </a:t>
            </a:r>
            <a:r>
              <a:rPr lang="tr-TR" dirty="0" err="1"/>
              <a:t>example</a:t>
            </a:r>
            <a:r>
              <a:rPr lang="tr-TR" dirty="0"/>
              <a:t> </a:t>
            </a:r>
            <a:r>
              <a:rPr lang="tr-TR" dirty="0" err="1"/>
              <a:t>we</a:t>
            </a:r>
            <a:r>
              <a:rPr lang="tr-TR" dirty="0"/>
              <a:t> can </a:t>
            </a:r>
            <a:r>
              <a:rPr lang="tr-TR" dirty="0" err="1"/>
              <a:t>see</a:t>
            </a:r>
            <a:r>
              <a:rPr lang="tr-TR" dirty="0"/>
              <a:t> </a:t>
            </a:r>
            <a:r>
              <a:rPr lang="tr-TR" dirty="0" err="1"/>
              <a:t>different</a:t>
            </a:r>
            <a:r>
              <a:rPr lang="tr-TR" dirty="0"/>
              <a:t> size of </a:t>
            </a:r>
            <a:r>
              <a:rPr lang="tr-TR" dirty="0" err="1"/>
              <a:t>arrow</a:t>
            </a:r>
            <a:r>
              <a:rPr lang="tr-TR" dirty="0"/>
              <a:t>. </a:t>
            </a:r>
            <a:r>
              <a:rPr lang="tr-TR" dirty="0" err="1"/>
              <a:t>Should</a:t>
            </a:r>
            <a:r>
              <a:rPr lang="tr-TR" dirty="0"/>
              <a:t>  </a:t>
            </a:r>
            <a:r>
              <a:rPr lang="tr-TR" dirty="0" err="1"/>
              <a:t>Gradient</a:t>
            </a:r>
            <a:r>
              <a:rPr lang="tr-TR" dirty="0"/>
              <a:t> </a:t>
            </a:r>
            <a:r>
              <a:rPr lang="tr-TR" dirty="0" err="1"/>
              <a:t>descent</a:t>
            </a:r>
            <a:r>
              <a:rPr lang="tr-TR" dirty="0"/>
              <a:t> step </a:t>
            </a:r>
            <a:r>
              <a:rPr lang="tr-TR" dirty="0" err="1"/>
              <a:t>fixed</a:t>
            </a:r>
            <a:r>
              <a:rPr lang="tr-TR" dirty="0"/>
              <a:t>?</a:t>
            </a:r>
            <a:r>
              <a:rPr lang="en-US" dirty="0"/>
              <a:t>. Let's have a look at example. The cost function of W that we wish to reduce is shown</a:t>
            </a:r>
            <a:r>
              <a:rPr lang="tr-TR" dirty="0"/>
              <a:t>. </a:t>
            </a:r>
            <a:r>
              <a:rPr lang="en-US" dirty="0"/>
              <a:t>let's start the gradient descent algorithm. We </a:t>
            </a:r>
            <a:r>
              <a:rPr lang="tr-TR" dirty="0" err="1"/>
              <a:t>may</a:t>
            </a:r>
            <a:r>
              <a:rPr lang="en-US" dirty="0"/>
              <a:t> get there if we make only one more update step. </a:t>
            </a:r>
            <a:r>
              <a:rPr lang="en-US" dirty="0" err="1"/>
              <a:t>Gradi</a:t>
            </a:r>
            <a:r>
              <a:rPr lang="tr-TR" dirty="0" err="1"/>
              <a:t>ent</a:t>
            </a:r>
            <a:r>
              <a:rPr lang="en-US" dirty="0"/>
              <a:t>, descent also moves rather far to the right since its derivative is so substantial.</a:t>
            </a:r>
            <a:r>
              <a:rPr lang="tr-TR" dirty="0"/>
              <a:t> </a:t>
            </a:r>
            <a:r>
              <a:rPr lang="en-US" dirty="0"/>
              <a:t>At this second stage, we are about to take another step. The slope is not as steep now as it was at the starting position, you </a:t>
            </a:r>
            <a:r>
              <a:rPr lang="tr-TR" dirty="0"/>
              <a:t>can </a:t>
            </a:r>
            <a:r>
              <a:rPr lang="tr-TR" dirty="0" err="1"/>
              <a:t>see</a:t>
            </a:r>
            <a:r>
              <a:rPr lang="tr-TR" dirty="0"/>
              <a:t> </a:t>
            </a:r>
            <a:r>
              <a:rPr lang="tr-TR" dirty="0" err="1"/>
              <a:t>easly</a:t>
            </a:r>
            <a:r>
              <a:rPr lang="en-US" dirty="0"/>
              <a:t>. As a result, the derivative is smaller. Therefore, the following update step won't be as substantial as the previous one. The derivative is now less than it was in the prior phase when you </a:t>
            </a:r>
            <a:r>
              <a:rPr lang="tr-TR" dirty="0" err="1"/>
              <a:t>look</a:t>
            </a:r>
            <a:r>
              <a:rPr lang="en-US" dirty="0"/>
              <a:t> </a:t>
            </a:r>
            <a:r>
              <a:rPr lang="tr-TR" dirty="0" err="1"/>
              <a:t>third</a:t>
            </a:r>
            <a:r>
              <a:rPr lang="tr-TR" dirty="0"/>
              <a:t> </a:t>
            </a:r>
            <a:r>
              <a:rPr lang="tr-TR" dirty="0" err="1"/>
              <a:t>one</a:t>
            </a:r>
            <a:r>
              <a:rPr lang="tr-TR" dirty="0"/>
              <a:t> </a:t>
            </a:r>
            <a:r>
              <a:rPr lang="en-US" dirty="0"/>
              <a:t>and will move even more slowly as we get closer to the minimum.. when a result, when we descend the gradient, we gradually move in very little steps until we achieve a local minimum.</a:t>
            </a:r>
            <a:r>
              <a:rPr lang="tr-TR" dirty="0"/>
              <a:t> </a:t>
            </a:r>
            <a:r>
              <a:rPr lang="tr-TR" dirty="0" err="1"/>
              <a:t>Then</a:t>
            </a:r>
            <a:r>
              <a:rPr lang="tr-TR" dirty="0"/>
              <a:t> </a:t>
            </a:r>
            <a:r>
              <a:rPr lang="tr-TR" dirty="0" err="1"/>
              <a:t>our</a:t>
            </a:r>
            <a:r>
              <a:rPr lang="tr-TR" dirty="0"/>
              <a:t> </a:t>
            </a:r>
            <a:r>
              <a:rPr lang="tr-TR" dirty="0" err="1"/>
              <a:t>slope</a:t>
            </a:r>
            <a:r>
              <a:rPr lang="tr-TR" dirty="0"/>
              <a:t> </a:t>
            </a:r>
            <a:r>
              <a:rPr lang="tr-TR" dirty="0" err="1"/>
              <a:t>will</a:t>
            </a:r>
            <a:r>
              <a:rPr lang="tr-TR" dirty="0"/>
              <a:t> </a:t>
            </a:r>
            <a:r>
              <a:rPr lang="tr-TR" dirty="0" err="1"/>
              <a:t>give</a:t>
            </a:r>
            <a:r>
              <a:rPr lang="tr-TR" dirty="0"/>
              <a:t> us a 0  </a:t>
            </a:r>
            <a:r>
              <a:rPr lang="tr-TR" dirty="0" err="1"/>
              <a:t>then</a:t>
            </a:r>
            <a:r>
              <a:rPr lang="tr-TR" dirty="0"/>
              <a:t>  </a:t>
            </a:r>
            <a:r>
              <a:rPr lang="tr-TR" dirty="0" err="1"/>
              <a:t>we</a:t>
            </a:r>
            <a:r>
              <a:rPr lang="tr-TR" dirty="0"/>
              <a:t> can say here is </a:t>
            </a:r>
            <a:r>
              <a:rPr lang="tr-TR" dirty="0" err="1"/>
              <a:t>local</a:t>
            </a:r>
            <a:r>
              <a:rPr lang="tr-TR" dirty="0"/>
              <a:t> </a:t>
            </a:r>
            <a:r>
              <a:rPr lang="tr-TR" dirty="0" err="1"/>
              <a:t>minima</a:t>
            </a:r>
            <a:r>
              <a:rPr lang="tr-TR" dirty="0"/>
              <a:t>.</a:t>
            </a:r>
            <a:endParaRPr lang="en-US" dirty="0"/>
          </a:p>
        </p:txBody>
      </p:sp>
      <p:sp>
        <p:nvSpPr>
          <p:cNvPr id="4" name="Slide Number Placeholder 3"/>
          <p:cNvSpPr>
            <a:spLocks noGrp="1"/>
          </p:cNvSpPr>
          <p:nvPr>
            <p:ph type="sldNum" sz="quarter" idx="5"/>
          </p:nvPr>
        </p:nvSpPr>
        <p:spPr/>
        <p:txBody>
          <a:bodyPr/>
          <a:lstStyle/>
          <a:p>
            <a:fld id="{0BFC31E6-9817-4ADD-82D7-FAC1C8ED9A92}" type="slidenum">
              <a:rPr lang="en-US" smtClean="0"/>
              <a:t>46</a:t>
            </a:fld>
            <a:endParaRPr lang="en-US"/>
          </a:p>
        </p:txBody>
      </p:sp>
    </p:spTree>
    <p:extLst>
      <p:ext uri="{BB962C8B-B14F-4D97-AF65-F5344CB8AC3E}">
        <p14:creationId xmlns:p14="http://schemas.microsoft.com/office/powerpoint/2010/main" val="954551335"/>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Imagine this graph represents the loss function of a machine learning model, where our goal is to minimize the loss. The curve shows various peaks and valleys. A </a:t>
            </a:r>
            <a:r>
              <a:rPr lang="en-US" b="1" dirty="0"/>
              <a:t>local minimum</a:t>
            </a:r>
            <a:r>
              <a:rPr lang="en-US" dirty="0"/>
              <a:t> is a point where the loss is lower than the surrounding points, but it is not the lowest possible value. </a:t>
            </a:r>
            <a:r>
              <a:rPr lang="tr-TR" dirty="0"/>
              <a:t>But</a:t>
            </a:r>
            <a:r>
              <a:rPr lang="en-US" dirty="0"/>
              <a:t>, the </a:t>
            </a:r>
            <a:r>
              <a:rPr lang="en-US" b="1" dirty="0"/>
              <a:t>global minimum</a:t>
            </a:r>
            <a:r>
              <a:rPr lang="en-US" dirty="0"/>
              <a:t> is the absolute lowest point on the curve, representing the best possible parameter values for our model.</a:t>
            </a:r>
          </a:p>
          <a:p>
            <a:r>
              <a:rPr lang="en-US" dirty="0"/>
              <a:t>During optimization, algorithms like Gradient Descent follow the slope of the curve to reduce the loss. However, if the algorithm encounters a local minimum, it might get 'stuck' there, believing it's the lowest point, even though the global minimum is further away. Similarly, </a:t>
            </a:r>
            <a:r>
              <a:rPr lang="en-US" b="1" dirty="0"/>
              <a:t>local maxima</a:t>
            </a:r>
            <a:r>
              <a:rPr lang="en-US" dirty="0"/>
              <a:t> and </a:t>
            </a:r>
            <a:r>
              <a:rPr lang="en-US" b="1" dirty="0"/>
              <a:t>global maxima</a:t>
            </a:r>
            <a:r>
              <a:rPr lang="en-US" dirty="0"/>
              <a:t> represent the highest points on the curve, but they are less relevant here since we're focused on minimizing loss.</a:t>
            </a:r>
          </a:p>
          <a:p>
            <a:r>
              <a:rPr lang="en-US" dirty="0"/>
              <a:t>To avoid getting stuck in local minima and reach the global minimum, we use techniques like:</a:t>
            </a:r>
          </a:p>
          <a:p>
            <a:pPr>
              <a:buFont typeface="Arial" panose="020B0604020202020204" pitchFamily="34" charset="0"/>
              <a:buChar char="•"/>
            </a:pPr>
            <a:r>
              <a:rPr lang="en-US" b="1" dirty="0"/>
              <a:t>Adding noise</a:t>
            </a:r>
            <a:r>
              <a:rPr lang="en-US" dirty="0"/>
              <a:t> through Stochastic Gradient Descent to 'shake' the algorithm out of local minima.</a:t>
            </a:r>
          </a:p>
          <a:p>
            <a:pPr>
              <a:buFont typeface="Arial" panose="020B0604020202020204" pitchFamily="34" charset="0"/>
              <a:buChar char="•"/>
            </a:pPr>
            <a:r>
              <a:rPr lang="en-US" b="1" dirty="0"/>
              <a:t>Momentum</a:t>
            </a:r>
            <a:r>
              <a:rPr lang="en-US" dirty="0"/>
              <a:t>, which helps carry the optimization forward through small dips.</a:t>
            </a:r>
          </a:p>
          <a:p>
            <a:pPr>
              <a:buFont typeface="Arial" panose="020B0604020202020204" pitchFamily="34" charset="0"/>
              <a:buChar char="•"/>
            </a:pPr>
            <a:r>
              <a:rPr lang="en-US" b="1" dirty="0"/>
              <a:t>Learning rate adjustment</a:t>
            </a:r>
            <a:r>
              <a:rPr lang="en-US" dirty="0"/>
              <a:t>, where a larger learning rate in the beginning allows exploration, followed by a smaller learning rate for fine-tuning.</a:t>
            </a:r>
          </a:p>
          <a:p>
            <a:endParaRPr lang="en-US" dirty="0"/>
          </a:p>
        </p:txBody>
      </p:sp>
      <p:sp>
        <p:nvSpPr>
          <p:cNvPr id="4" name="Slide Number Placeholder 3"/>
          <p:cNvSpPr>
            <a:spLocks noGrp="1"/>
          </p:cNvSpPr>
          <p:nvPr>
            <p:ph type="sldNum" sz="quarter" idx="5"/>
          </p:nvPr>
        </p:nvSpPr>
        <p:spPr/>
        <p:txBody>
          <a:bodyPr/>
          <a:lstStyle/>
          <a:p>
            <a:fld id="{0BFC31E6-9817-4ADD-82D7-FAC1C8ED9A92}" type="slidenum">
              <a:rPr lang="en-US" smtClean="0"/>
              <a:t>47</a:t>
            </a:fld>
            <a:endParaRPr lang="en-US"/>
          </a:p>
        </p:txBody>
      </p:sp>
    </p:spTree>
    <p:extLst>
      <p:ext uri="{BB962C8B-B14F-4D97-AF65-F5344CB8AC3E}">
        <p14:creationId xmlns:p14="http://schemas.microsoft.com/office/powerpoint/2010/main" val="4212559386"/>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There are three primary types of gradient descent used in modern machine learning and deep learning algorithms.</a:t>
            </a:r>
          </a:p>
        </p:txBody>
      </p:sp>
      <p:sp>
        <p:nvSpPr>
          <p:cNvPr id="4" name="Slide Number Placeholder 3"/>
          <p:cNvSpPr>
            <a:spLocks noGrp="1"/>
          </p:cNvSpPr>
          <p:nvPr>
            <p:ph type="sldNum" sz="quarter" idx="5"/>
          </p:nvPr>
        </p:nvSpPr>
        <p:spPr/>
        <p:txBody>
          <a:bodyPr/>
          <a:lstStyle/>
          <a:p>
            <a:fld id="{0BFC31E6-9817-4ADD-82D7-FAC1C8ED9A92}" type="slidenum">
              <a:rPr lang="en-US" smtClean="0"/>
              <a:t>48</a:t>
            </a:fld>
            <a:endParaRPr lang="en-US"/>
          </a:p>
        </p:txBody>
      </p:sp>
    </p:spTree>
    <p:extLst>
      <p:ext uri="{BB962C8B-B14F-4D97-AF65-F5344CB8AC3E}">
        <p14:creationId xmlns:p14="http://schemas.microsoft.com/office/powerpoint/2010/main" val="2182264886"/>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As we’ve discussed earlier, gradient descent is an optimization algorithm used to minimize the cost function by updating the model’s parameters iteratively. It helps find the best-fit line or boundary that makes predictions as accurate as possible.</a:t>
            </a:r>
            <a:endParaRPr lang="tr-TR" dirty="0"/>
          </a:p>
          <a:p>
            <a:endParaRPr lang="tr-TR" dirty="0"/>
          </a:p>
          <a:p>
            <a:r>
              <a:rPr lang="en-US" dirty="0"/>
              <a:t>Batch Gradient Descent is one of the variations of gradient descent. It calculates the gradient of the cost function using the entire dataset at each step of the optimization process</a:t>
            </a:r>
            <a:endParaRPr lang="tr-TR" b="0" dirty="0"/>
          </a:p>
          <a:p>
            <a:endParaRPr lang="tr-TR" b="0" dirty="0"/>
          </a:p>
          <a:p>
            <a:r>
              <a:rPr lang="en-US" b="1" dirty="0"/>
              <a:t>Challenges of Batch Gradient Descent</a:t>
            </a:r>
          </a:p>
          <a:p>
            <a:pPr>
              <a:buFont typeface="Arial" panose="020B0604020202020204" pitchFamily="34" charset="0"/>
              <a:buChar char="•"/>
            </a:pPr>
            <a:r>
              <a:rPr lang="en-US" b="1" dirty="0"/>
              <a:t>"While precise, batch gradient descent can be computationally expensive, especially for large datasets. Since it requires loading the entire dataset into memory, it might not be feasible for very large datasets.«</a:t>
            </a:r>
            <a:endParaRPr lang="tr-TR" dirty="0"/>
          </a:p>
          <a:p>
            <a:endParaRPr lang="tr-TR" dirty="0"/>
          </a:p>
        </p:txBody>
      </p:sp>
      <p:sp>
        <p:nvSpPr>
          <p:cNvPr id="4" name="Slide Number Placeholder 3"/>
          <p:cNvSpPr>
            <a:spLocks noGrp="1"/>
          </p:cNvSpPr>
          <p:nvPr>
            <p:ph type="sldNum" sz="quarter" idx="5"/>
          </p:nvPr>
        </p:nvSpPr>
        <p:spPr/>
        <p:txBody>
          <a:bodyPr/>
          <a:lstStyle/>
          <a:p>
            <a:fld id="{0BFC31E6-9817-4ADD-82D7-FAC1C8ED9A92}" type="slidenum">
              <a:rPr lang="en-US" smtClean="0"/>
              <a:t>49</a:t>
            </a:fld>
            <a:endParaRPr lang="en-US"/>
          </a:p>
        </p:txBody>
      </p:sp>
    </p:spTree>
    <p:extLst>
      <p:ext uri="{BB962C8B-B14F-4D97-AF65-F5344CB8AC3E}">
        <p14:creationId xmlns:p14="http://schemas.microsoft.com/office/powerpoint/2010/main" val="530058593"/>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If you use a single observation to calculate the cost function it is known as </a:t>
            </a:r>
            <a:r>
              <a:rPr lang="en-US" b="1" dirty="0"/>
              <a:t>Stochastic Gradient Descent, </a:t>
            </a:r>
            <a:r>
              <a:rPr lang="en-US" dirty="0"/>
              <a:t>commonly abbreviated as </a:t>
            </a:r>
            <a:r>
              <a:rPr lang="en-US" b="1" dirty="0"/>
              <a:t>SGD</a:t>
            </a:r>
            <a:r>
              <a:rPr lang="en-US" dirty="0"/>
              <a:t>. We pass a single observation at a time, calculate the cost and update the parameters.</a:t>
            </a:r>
            <a:endParaRPr lang="tr-TR" dirty="0"/>
          </a:p>
          <a:p>
            <a:endParaRPr lang="tr-TR" dirty="0"/>
          </a:p>
          <a:p>
            <a:r>
              <a:rPr lang="en-US" dirty="0"/>
              <a:t>Let’s say we have 5 observations and each observation has three features and the values that I’ve taken are completely random.</a:t>
            </a:r>
            <a:endParaRPr lang="tr-TR" dirty="0"/>
          </a:p>
          <a:p>
            <a:r>
              <a:rPr lang="en-US" dirty="0"/>
              <a:t>Then will take the second observation and perform similar steps with it. This step will be repeated until all observations have been passed through the network and the parameters have been updated.</a:t>
            </a:r>
          </a:p>
        </p:txBody>
      </p:sp>
      <p:sp>
        <p:nvSpPr>
          <p:cNvPr id="4" name="Slide Number Placeholder 3"/>
          <p:cNvSpPr>
            <a:spLocks noGrp="1"/>
          </p:cNvSpPr>
          <p:nvPr>
            <p:ph type="sldNum" sz="quarter" idx="5"/>
          </p:nvPr>
        </p:nvSpPr>
        <p:spPr/>
        <p:txBody>
          <a:bodyPr/>
          <a:lstStyle/>
          <a:p>
            <a:fld id="{0BFC31E6-9817-4ADD-82D7-FAC1C8ED9A92}" type="slidenum">
              <a:rPr lang="en-US" smtClean="0"/>
              <a:t>50</a:t>
            </a:fld>
            <a:endParaRPr lang="en-US"/>
          </a:p>
        </p:txBody>
      </p:sp>
    </p:spTree>
    <p:extLst>
      <p:ext uri="{BB962C8B-B14F-4D97-AF65-F5344CB8AC3E}">
        <p14:creationId xmlns:p14="http://schemas.microsoft.com/office/powerpoint/2010/main" val="611609884"/>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5711982-E713-5A39-EAF9-6729599FE0F0}"/>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23F2B37B-990D-2CCA-55A2-8B4B7C07A447}"/>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E11C2170-B2C3-3FF3-FA27-C28D38EDDA44}"/>
              </a:ext>
            </a:extLst>
          </p:cNvPr>
          <p:cNvSpPr>
            <a:spLocks noGrp="1"/>
          </p:cNvSpPr>
          <p:nvPr>
            <p:ph type="body" idx="1"/>
          </p:nvPr>
        </p:nvSpPr>
        <p:spPr/>
        <p:txBody>
          <a:bodyPr/>
          <a:lstStyle/>
          <a:p>
            <a:r>
              <a:rPr lang="en-US" dirty="0"/>
              <a:t>Each time the parameter is updated, it is known as an Iteration. Here since we have 5 observations, the parameters will be updated 5 times or we can say that there will be 5 iterations. Had this been the Batch Gradient Descent we would have passed all the observations together and the parameters have been updated only once. In the case of SGD, there will be ‘m’ iterations per epoch, where ‘m’ is the number of observations in a dataset.</a:t>
            </a:r>
          </a:p>
          <a:p>
            <a:r>
              <a:rPr lang="en-US" dirty="0"/>
              <a:t>So far we’ve seen that if we use the entire dataset to calculate the cost function, it is known as Batch Gradient Descent and if use a single observation to calculate the cost it is known as SGD.</a:t>
            </a:r>
          </a:p>
          <a:p>
            <a:endParaRPr lang="en-US" dirty="0"/>
          </a:p>
        </p:txBody>
      </p:sp>
      <p:sp>
        <p:nvSpPr>
          <p:cNvPr id="4" name="Slide Number Placeholder 3">
            <a:extLst>
              <a:ext uri="{FF2B5EF4-FFF2-40B4-BE49-F238E27FC236}">
                <a16:creationId xmlns:a16="http://schemas.microsoft.com/office/drawing/2014/main" id="{405F5B56-2A86-5EC1-CEC7-1AD8DB75AC90}"/>
              </a:ext>
            </a:extLst>
          </p:cNvPr>
          <p:cNvSpPr>
            <a:spLocks noGrp="1"/>
          </p:cNvSpPr>
          <p:nvPr>
            <p:ph type="sldNum" sz="quarter" idx="5"/>
          </p:nvPr>
        </p:nvSpPr>
        <p:spPr/>
        <p:txBody>
          <a:bodyPr/>
          <a:lstStyle/>
          <a:p>
            <a:fld id="{0BFC31E6-9817-4ADD-82D7-FAC1C8ED9A92}" type="slidenum">
              <a:rPr lang="en-US" smtClean="0"/>
              <a:t>51</a:t>
            </a:fld>
            <a:endParaRPr lang="en-US"/>
          </a:p>
        </p:txBody>
      </p:sp>
    </p:spTree>
    <p:extLst>
      <p:ext uri="{BB962C8B-B14F-4D97-AF65-F5344CB8AC3E}">
        <p14:creationId xmlns:p14="http://schemas.microsoft.com/office/powerpoint/2010/main" val="1881253392"/>
      </p:ext>
    </p:extLst>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DF45ED1-C015-2CDC-5624-6975069B0A70}"/>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3E76D00F-D140-3E50-B36B-983C83675002}"/>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0452A8D5-834B-5D72-AC92-66B1F20029F2}"/>
              </a:ext>
            </a:extLst>
          </p:cNvPr>
          <p:cNvSpPr>
            <a:spLocks noGrp="1"/>
          </p:cNvSpPr>
          <p:nvPr>
            <p:ph type="body" idx="1"/>
          </p:nvPr>
        </p:nvSpPr>
        <p:spPr/>
        <p:txBody>
          <a:bodyPr/>
          <a:lstStyle/>
          <a:p>
            <a:r>
              <a:rPr lang="en-US" dirty="0"/>
              <a:t>Another type of Gradient Descent is the Mini-batch Gradient Descent. It takes a subset of the entire dataset to calculate the cost function</a:t>
            </a:r>
            <a:r>
              <a:rPr lang="tr-TR" dirty="0"/>
              <a:t>. </a:t>
            </a:r>
            <a:r>
              <a:rPr lang="en-US" dirty="0"/>
              <a:t>Imagine you have a dataset with </a:t>
            </a:r>
            <a:r>
              <a:rPr lang="en-US" b="1" dirty="0"/>
              <a:t>800 observations</a:t>
            </a:r>
            <a:r>
              <a:rPr lang="en-US" dirty="0"/>
              <a:t>, and you’re using </a:t>
            </a:r>
            <a:r>
              <a:rPr lang="en-US" b="1" dirty="0"/>
              <a:t>Mini-Batch Gradient Descent</a:t>
            </a:r>
            <a:r>
              <a:rPr lang="en-US" dirty="0"/>
              <a:t> with a </a:t>
            </a:r>
            <a:r>
              <a:rPr lang="en-US" b="1" dirty="0"/>
              <a:t>batch size of 32</a:t>
            </a:r>
            <a:r>
              <a:rPr lang="en-US" dirty="0"/>
              <a:t>. Instead of processing all 800 observations at once (like Batch Gradient Descent) or one at a time (like Stochastic Gradient Descent), Mini-Batch Gradient Descent splits the dataset into smaller groups called mini-batches. In this case, 800 observations will be divided into </a:t>
            </a:r>
            <a:r>
              <a:rPr lang="en-US" b="1" dirty="0"/>
              <a:t>25 mini-batches</a:t>
            </a:r>
            <a:r>
              <a:rPr lang="en-US" dirty="0"/>
              <a:t> (since 800/32=25). Each mini-batch, containing 32 observations, is processed in a single iteration: the model predicts outputs for those 32 observations, calculates the loss, computes gradients, and updates the parameters. For example, in the first iteration, the algorithm uses data points 1–32 to update weights and biases; in the next iteration, it uses data points 33–64, and so on, until all 25 mini-batches are processed, completing </a:t>
            </a:r>
            <a:r>
              <a:rPr lang="en-US" b="1" dirty="0"/>
              <a:t>1 epoch</a:t>
            </a:r>
            <a:r>
              <a:rPr lang="en-US" dirty="0"/>
              <a:t>. This approach balances speed and stability, making it efficient for large datasets while avoiding the noisiness of Stochastic Gradient Descent.</a:t>
            </a:r>
          </a:p>
        </p:txBody>
      </p:sp>
      <p:sp>
        <p:nvSpPr>
          <p:cNvPr id="4" name="Slide Number Placeholder 3">
            <a:extLst>
              <a:ext uri="{FF2B5EF4-FFF2-40B4-BE49-F238E27FC236}">
                <a16:creationId xmlns:a16="http://schemas.microsoft.com/office/drawing/2014/main" id="{9AC42ECB-A993-B1A1-8C2A-CD2A6D3248AD}"/>
              </a:ext>
            </a:extLst>
          </p:cNvPr>
          <p:cNvSpPr>
            <a:spLocks noGrp="1"/>
          </p:cNvSpPr>
          <p:nvPr>
            <p:ph type="sldNum" sz="quarter" idx="5"/>
          </p:nvPr>
        </p:nvSpPr>
        <p:spPr/>
        <p:txBody>
          <a:bodyPr/>
          <a:lstStyle/>
          <a:p>
            <a:fld id="{0BFC31E6-9817-4ADD-82D7-FAC1C8ED9A92}" type="slidenum">
              <a:rPr lang="en-US" smtClean="0"/>
              <a:t>52</a:t>
            </a:fld>
            <a:endParaRPr lang="en-US"/>
          </a:p>
        </p:txBody>
      </p:sp>
    </p:spTree>
    <p:extLst>
      <p:ext uri="{BB962C8B-B14F-4D97-AF65-F5344CB8AC3E}">
        <p14:creationId xmlns:p14="http://schemas.microsoft.com/office/powerpoint/2010/main" val="1863874970"/>
      </p:ext>
    </p:extLst>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a:buFont typeface="Arial" panose="020B0604020202020204" pitchFamily="34" charset="0"/>
              <a:buChar char="•"/>
            </a:pPr>
            <a:r>
              <a:rPr lang="en-US" dirty="0"/>
              <a:t>To wrap up today's topic, we explored the three main types of Gradient Descent: </a:t>
            </a:r>
            <a:r>
              <a:rPr lang="en-US" b="1" dirty="0"/>
              <a:t>Batch</a:t>
            </a:r>
            <a:r>
              <a:rPr lang="en-US" dirty="0"/>
              <a:t>, </a:t>
            </a:r>
            <a:r>
              <a:rPr lang="en-US" b="1" dirty="0"/>
              <a:t>Stochastic (SGD)</a:t>
            </a:r>
            <a:r>
              <a:rPr lang="en-US" dirty="0"/>
              <a:t>, and </a:t>
            </a:r>
            <a:r>
              <a:rPr lang="en-US" b="1" dirty="0"/>
              <a:t>Mini-Batch</a:t>
            </a:r>
            <a:r>
              <a:rPr lang="en-US" dirty="0"/>
              <a:t>. Batch Gradient Descent uses the entire dataset to update the model, resulting in smooth but sometimes slow progress. SGD updates the model using just one data point at a time — it’s faster but introduces a lot of noise and variation in the cost function. Mini-Batch strikes a balance by using small groups of data, giving us faster updates with less noise than SGD. As shown in the graphs, each method impacts how smoothly or quickly the cost function decreases over time. Great work understanding the differences — we’ll see how to apply these techniques in practice next! 🚀</a:t>
            </a:r>
          </a:p>
        </p:txBody>
      </p:sp>
      <p:sp>
        <p:nvSpPr>
          <p:cNvPr id="4" name="Slide Number Placeholder 3"/>
          <p:cNvSpPr>
            <a:spLocks noGrp="1"/>
          </p:cNvSpPr>
          <p:nvPr>
            <p:ph type="sldNum" sz="quarter" idx="5"/>
          </p:nvPr>
        </p:nvSpPr>
        <p:spPr/>
        <p:txBody>
          <a:bodyPr/>
          <a:lstStyle/>
          <a:p>
            <a:fld id="{0BFC31E6-9817-4ADD-82D7-FAC1C8ED9A92}" type="slidenum">
              <a:rPr lang="en-US" smtClean="0"/>
              <a:t>53</a:t>
            </a:fld>
            <a:endParaRPr lang="en-US"/>
          </a:p>
        </p:txBody>
      </p:sp>
    </p:spTree>
    <p:extLst>
      <p:ext uri="{BB962C8B-B14F-4D97-AF65-F5344CB8AC3E}">
        <p14:creationId xmlns:p14="http://schemas.microsoft.com/office/powerpoint/2010/main" val="765848698"/>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6B454A7-69D9-5B8E-FAE2-C91B76A472C3}"/>
              </a:ext>
            </a:extLst>
          </p:cNvPr>
          <p:cNvSpPr>
            <a:spLocks noGrp="1"/>
          </p:cNvSpPr>
          <p:nvPr>
            <p:ph type="ctrTitle"/>
          </p:nvPr>
        </p:nvSpPr>
        <p:spPr>
          <a:xfrm>
            <a:off x="1524000" y="1122363"/>
            <a:ext cx="9144000" cy="2387600"/>
          </a:xfrm>
        </p:spPr>
        <p:txBody>
          <a:bodyPr anchor="b"/>
          <a:lstStyle>
            <a:lvl1pPr algn="ctr">
              <a:defRPr sz="6000"/>
            </a:lvl1pPr>
          </a:lstStyle>
          <a:p>
            <a:r>
              <a:rPr lang="en-GB"/>
              <a:t>Click to edit Master title style</a:t>
            </a:r>
            <a:endParaRPr lang="en-US"/>
          </a:p>
        </p:txBody>
      </p:sp>
      <p:sp>
        <p:nvSpPr>
          <p:cNvPr id="3" name="Subtitle 2">
            <a:extLst>
              <a:ext uri="{FF2B5EF4-FFF2-40B4-BE49-F238E27FC236}">
                <a16:creationId xmlns:a16="http://schemas.microsoft.com/office/drawing/2014/main" id="{D4F63EE1-3440-7BB9-9532-5DBEF44A7144}"/>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GB"/>
              <a:t>Click to edit Master subtitle style</a:t>
            </a:r>
            <a:endParaRPr lang="en-US"/>
          </a:p>
        </p:txBody>
      </p:sp>
      <p:sp>
        <p:nvSpPr>
          <p:cNvPr id="4" name="Date Placeholder 3">
            <a:extLst>
              <a:ext uri="{FF2B5EF4-FFF2-40B4-BE49-F238E27FC236}">
                <a16:creationId xmlns:a16="http://schemas.microsoft.com/office/drawing/2014/main" id="{575B185A-436E-6B94-ECCC-228C7CDF7341}"/>
              </a:ext>
            </a:extLst>
          </p:cNvPr>
          <p:cNvSpPr>
            <a:spLocks noGrp="1"/>
          </p:cNvSpPr>
          <p:nvPr>
            <p:ph type="dt" sz="half" idx="10"/>
          </p:nvPr>
        </p:nvSpPr>
        <p:spPr/>
        <p:txBody>
          <a:bodyPr/>
          <a:lstStyle/>
          <a:p>
            <a:fld id="{017D1E63-9AFA-A548-A8C2-2F234F5ADBB3}" type="datetimeFigureOut">
              <a:rPr lang="en-US" smtClean="0"/>
              <a:t>10/19/26</a:t>
            </a:fld>
            <a:endParaRPr lang="en-US"/>
          </a:p>
        </p:txBody>
      </p:sp>
      <p:sp>
        <p:nvSpPr>
          <p:cNvPr id="5" name="Footer Placeholder 4">
            <a:extLst>
              <a:ext uri="{FF2B5EF4-FFF2-40B4-BE49-F238E27FC236}">
                <a16:creationId xmlns:a16="http://schemas.microsoft.com/office/drawing/2014/main" id="{98350314-B274-A269-323D-40E7A242BF7E}"/>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762CB661-D678-4F3C-F7F6-489577705098}"/>
              </a:ext>
            </a:extLst>
          </p:cNvPr>
          <p:cNvSpPr>
            <a:spLocks noGrp="1"/>
          </p:cNvSpPr>
          <p:nvPr>
            <p:ph type="sldNum" sz="quarter" idx="12"/>
          </p:nvPr>
        </p:nvSpPr>
        <p:spPr/>
        <p:txBody>
          <a:bodyPr/>
          <a:lstStyle/>
          <a:p>
            <a:fld id="{69338C85-4586-074D-841C-334BADD7628F}" type="slidenum">
              <a:rPr lang="en-US" smtClean="0"/>
              <a:t>‹#›</a:t>
            </a:fld>
            <a:endParaRPr lang="en-US"/>
          </a:p>
        </p:txBody>
      </p:sp>
    </p:spTree>
    <p:extLst>
      <p:ext uri="{BB962C8B-B14F-4D97-AF65-F5344CB8AC3E}">
        <p14:creationId xmlns:p14="http://schemas.microsoft.com/office/powerpoint/2010/main" val="3461090940"/>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8FF8AAF-27F7-BB5D-38B8-5F8673B333B9}"/>
              </a:ext>
            </a:extLst>
          </p:cNvPr>
          <p:cNvSpPr>
            <a:spLocks noGrp="1"/>
          </p:cNvSpPr>
          <p:nvPr>
            <p:ph type="title"/>
          </p:nvPr>
        </p:nvSpPr>
        <p:spPr/>
        <p:txBody>
          <a:bodyPr/>
          <a:lstStyle/>
          <a:p>
            <a:r>
              <a:rPr lang="en-GB"/>
              <a:t>Click to edit Master title style</a:t>
            </a:r>
            <a:endParaRPr lang="en-US"/>
          </a:p>
        </p:txBody>
      </p:sp>
      <p:sp>
        <p:nvSpPr>
          <p:cNvPr id="3" name="Content Placeholder 2">
            <a:extLst>
              <a:ext uri="{FF2B5EF4-FFF2-40B4-BE49-F238E27FC236}">
                <a16:creationId xmlns:a16="http://schemas.microsoft.com/office/drawing/2014/main" id="{3258EEFC-3313-8824-078D-117DC139AAFD}"/>
              </a:ext>
            </a:extLst>
          </p:cNvPr>
          <p:cNvSpPr>
            <a:spLocks noGrp="1"/>
          </p:cNvSpPr>
          <p:nvPr>
            <p:ph idx="1"/>
          </p:nvPr>
        </p:nvSpPr>
        <p:spPr/>
        <p:txBody>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
        <p:nvSpPr>
          <p:cNvPr id="4" name="Date Placeholder 3">
            <a:extLst>
              <a:ext uri="{FF2B5EF4-FFF2-40B4-BE49-F238E27FC236}">
                <a16:creationId xmlns:a16="http://schemas.microsoft.com/office/drawing/2014/main" id="{B7F122C7-6B96-25CD-31B4-F98AD58FB5BC}"/>
              </a:ext>
            </a:extLst>
          </p:cNvPr>
          <p:cNvSpPr>
            <a:spLocks noGrp="1"/>
          </p:cNvSpPr>
          <p:nvPr>
            <p:ph type="dt" sz="half" idx="10"/>
          </p:nvPr>
        </p:nvSpPr>
        <p:spPr/>
        <p:txBody>
          <a:bodyPr/>
          <a:lstStyle/>
          <a:p>
            <a:fld id="{017D1E63-9AFA-A548-A8C2-2F234F5ADBB3}" type="datetimeFigureOut">
              <a:rPr lang="en-US" smtClean="0"/>
              <a:t>10/19/26</a:t>
            </a:fld>
            <a:endParaRPr lang="en-US"/>
          </a:p>
        </p:txBody>
      </p:sp>
      <p:sp>
        <p:nvSpPr>
          <p:cNvPr id="5" name="Footer Placeholder 4">
            <a:extLst>
              <a:ext uri="{FF2B5EF4-FFF2-40B4-BE49-F238E27FC236}">
                <a16:creationId xmlns:a16="http://schemas.microsoft.com/office/drawing/2014/main" id="{64DBF397-9C1D-7F7B-B9FC-AE1FA25F68D8}"/>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A88FAD25-D524-460A-12A9-B9A27A725B24}"/>
              </a:ext>
            </a:extLst>
          </p:cNvPr>
          <p:cNvSpPr>
            <a:spLocks noGrp="1"/>
          </p:cNvSpPr>
          <p:nvPr>
            <p:ph type="sldNum" sz="quarter" idx="12"/>
          </p:nvPr>
        </p:nvSpPr>
        <p:spPr/>
        <p:txBody>
          <a:bodyPr/>
          <a:lstStyle/>
          <a:p>
            <a:fld id="{69338C85-4586-074D-841C-334BADD7628F}" type="slidenum">
              <a:rPr lang="en-US" smtClean="0"/>
              <a:t>‹#›</a:t>
            </a:fld>
            <a:endParaRPr lang="en-US"/>
          </a:p>
        </p:txBody>
      </p:sp>
    </p:spTree>
    <p:extLst>
      <p:ext uri="{BB962C8B-B14F-4D97-AF65-F5344CB8AC3E}">
        <p14:creationId xmlns:p14="http://schemas.microsoft.com/office/powerpoint/2010/main" val="1369156567"/>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A64E708-B957-7309-AB4C-EB21B3935AF3}"/>
              </a:ext>
            </a:extLst>
          </p:cNvPr>
          <p:cNvSpPr>
            <a:spLocks noGrp="1"/>
          </p:cNvSpPr>
          <p:nvPr>
            <p:ph type="title"/>
          </p:nvPr>
        </p:nvSpPr>
        <p:spPr>
          <a:xfrm>
            <a:off x="831850" y="1709738"/>
            <a:ext cx="10515600" cy="2852737"/>
          </a:xfrm>
        </p:spPr>
        <p:txBody>
          <a:bodyPr anchor="b"/>
          <a:lstStyle>
            <a:lvl1pPr>
              <a:defRPr sz="6000"/>
            </a:lvl1pPr>
          </a:lstStyle>
          <a:p>
            <a:r>
              <a:rPr lang="en-GB"/>
              <a:t>Click to edit Master title style</a:t>
            </a:r>
            <a:endParaRPr lang="en-US"/>
          </a:p>
        </p:txBody>
      </p:sp>
      <p:sp>
        <p:nvSpPr>
          <p:cNvPr id="3" name="Text Placeholder 2">
            <a:extLst>
              <a:ext uri="{FF2B5EF4-FFF2-40B4-BE49-F238E27FC236}">
                <a16:creationId xmlns:a16="http://schemas.microsoft.com/office/drawing/2014/main" id="{56D3B06E-E366-BFC3-39F7-AF6553E1F7B5}"/>
              </a:ext>
            </a:extLst>
          </p:cNvPr>
          <p:cNvSpPr>
            <a:spLocks noGrp="1"/>
          </p:cNvSpPr>
          <p:nvPr>
            <p:ph type="body" idx="1"/>
          </p:nvPr>
        </p:nvSpPr>
        <p:spPr>
          <a:xfrm>
            <a:off x="831850" y="4589463"/>
            <a:ext cx="10515600" cy="1500187"/>
          </a:xfrm>
        </p:spPr>
        <p:txBody>
          <a:bodyPr/>
          <a:lstStyle>
            <a:lvl1pPr marL="0" indent="0">
              <a:buNone/>
              <a:defRPr sz="2400">
                <a:solidFill>
                  <a:schemeClr val="tx1">
                    <a:tint val="82000"/>
                  </a:schemeClr>
                </a:solidFill>
              </a:defRPr>
            </a:lvl1pPr>
            <a:lvl2pPr marL="457200" indent="0">
              <a:buNone/>
              <a:defRPr sz="2000">
                <a:solidFill>
                  <a:schemeClr val="tx1">
                    <a:tint val="82000"/>
                  </a:schemeClr>
                </a:solidFill>
              </a:defRPr>
            </a:lvl2pPr>
            <a:lvl3pPr marL="914400" indent="0">
              <a:buNone/>
              <a:defRPr sz="1800">
                <a:solidFill>
                  <a:schemeClr val="tx1">
                    <a:tint val="82000"/>
                  </a:schemeClr>
                </a:solidFill>
              </a:defRPr>
            </a:lvl3pPr>
            <a:lvl4pPr marL="1371600" indent="0">
              <a:buNone/>
              <a:defRPr sz="1600">
                <a:solidFill>
                  <a:schemeClr val="tx1">
                    <a:tint val="82000"/>
                  </a:schemeClr>
                </a:solidFill>
              </a:defRPr>
            </a:lvl4pPr>
            <a:lvl5pPr marL="1828800" indent="0">
              <a:buNone/>
              <a:defRPr sz="1600">
                <a:solidFill>
                  <a:schemeClr val="tx1">
                    <a:tint val="82000"/>
                  </a:schemeClr>
                </a:solidFill>
              </a:defRPr>
            </a:lvl5pPr>
            <a:lvl6pPr marL="2286000" indent="0">
              <a:buNone/>
              <a:defRPr sz="1600">
                <a:solidFill>
                  <a:schemeClr val="tx1">
                    <a:tint val="82000"/>
                  </a:schemeClr>
                </a:solidFill>
              </a:defRPr>
            </a:lvl6pPr>
            <a:lvl7pPr marL="2743200" indent="0">
              <a:buNone/>
              <a:defRPr sz="1600">
                <a:solidFill>
                  <a:schemeClr val="tx1">
                    <a:tint val="82000"/>
                  </a:schemeClr>
                </a:solidFill>
              </a:defRPr>
            </a:lvl7pPr>
            <a:lvl8pPr marL="3200400" indent="0">
              <a:buNone/>
              <a:defRPr sz="1600">
                <a:solidFill>
                  <a:schemeClr val="tx1">
                    <a:tint val="82000"/>
                  </a:schemeClr>
                </a:solidFill>
              </a:defRPr>
            </a:lvl8pPr>
            <a:lvl9pPr marL="3657600" indent="0">
              <a:buNone/>
              <a:defRPr sz="1600">
                <a:solidFill>
                  <a:schemeClr val="tx1">
                    <a:tint val="82000"/>
                  </a:schemeClr>
                </a:solidFill>
              </a:defRPr>
            </a:lvl9pPr>
          </a:lstStyle>
          <a:p>
            <a:pPr lvl="0"/>
            <a:r>
              <a:rPr lang="en-GB"/>
              <a:t>Click to edit Master text styles</a:t>
            </a:r>
          </a:p>
        </p:txBody>
      </p:sp>
      <p:sp>
        <p:nvSpPr>
          <p:cNvPr id="4" name="Date Placeholder 3">
            <a:extLst>
              <a:ext uri="{FF2B5EF4-FFF2-40B4-BE49-F238E27FC236}">
                <a16:creationId xmlns:a16="http://schemas.microsoft.com/office/drawing/2014/main" id="{B54B2492-8CEB-AECC-E809-9F1EB25099C2}"/>
              </a:ext>
            </a:extLst>
          </p:cNvPr>
          <p:cNvSpPr>
            <a:spLocks noGrp="1"/>
          </p:cNvSpPr>
          <p:nvPr>
            <p:ph type="dt" sz="half" idx="10"/>
          </p:nvPr>
        </p:nvSpPr>
        <p:spPr/>
        <p:txBody>
          <a:bodyPr/>
          <a:lstStyle/>
          <a:p>
            <a:fld id="{017D1E63-9AFA-A548-A8C2-2F234F5ADBB3}" type="datetimeFigureOut">
              <a:rPr lang="en-US" smtClean="0"/>
              <a:t>10/19/26</a:t>
            </a:fld>
            <a:endParaRPr lang="en-US"/>
          </a:p>
        </p:txBody>
      </p:sp>
      <p:sp>
        <p:nvSpPr>
          <p:cNvPr id="5" name="Footer Placeholder 4">
            <a:extLst>
              <a:ext uri="{FF2B5EF4-FFF2-40B4-BE49-F238E27FC236}">
                <a16:creationId xmlns:a16="http://schemas.microsoft.com/office/drawing/2014/main" id="{99D54E8C-3504-546A-3827-0204DB89765C}"/>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AE2426D9-25E6-7CE7-2F70-9CBA3CCD7BCB}"/>
              </a:ext>
            </a:extLst>
          </p:cNvPr>
          <p:cNvSpPr>
            <a:spLocks noGrp="1"/>
          </p:cNvSpPr>
          <p:nvPr>
            <p:ph type="sldNum" sz="quarter" idx="12"/>
          </p:nvPr>
        </p:nvSpPr>
        <p:spPr/>
        <p:txBody>
          <a:bodyPr/>
          <a:lstStyle/>
          <a:p>
            <a:fld id="{69338C85-4586-074D-841C-334BADD7628F}" type="slidenum">
              <a:rPr lang="en-US" smtClean="0"/>
              <a:t>‹#›</a:t>
            </a:fld>
            <a:endParaRPr lang="en-US"/>
          </a:p>
        </p:txBody>
      </p:sp>
    </p:spTree>
    <p:extLst>
      <p:ext uri="{BB962C8B-B14F-4D97-AF65-F5344CB8AC3E}">
        <p14:creationId xmlns:p14="http://schemas.microsoft.com/office/powerpoint/2010/main" val="3131342219"/>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94FCF4C-63DD-B997-9A14-9DA78B24333D}"/>
              </a:ext>
            </a:extLst>
          </p:cNvPr>
          <p:cNvSpPr>
            <a:spLocks noGrp="1"/>
          </p:cNvSpPr>
          <p:nvPr>
            <p:ph type="title"/>
          </p:nvPr>
        </p:nvSpPr>
        <p:spPr/>
        <p:txBody>
          <a:bodyPr/>
          <a:lstStyle/>
          <a:p>
            <a:r>
              <a:rPr lang="en-GB"/>
              <a:t>Click to edit Master title style</a:t>
            </a:r>
            <a:endParaRPr lang="en-US"/>
          </a:p>
        </p:txBody>
      </p:sp>
      <p:sp>
        <p:nvSpPr>
          <p:cNvPr id="3" name="Content Placeholder 2">
            <a:extLst>
              <a:ext uri="{FF2B5EF4-FFF2-40B4-BE49-F238E27FC236}">
                <a16:creationId xmlns:a16="http://schemas.microsoft.com/office/drawing/2014/main" id="{660A2F71-C516-482C-1C15-089A6A9CC627}"/>
              </a:ext>
            </a:extLst>
          </p:cNvPr>
          <p:cNvSpPr>
            <a:spLocks noGrp="1"/>
          </p:cNvSpPr>
          <p:nvPr>
            <p:ph sz="half" idx="1"/>
          </p:nvPr>
        </p:nvSpPr>
        <p:spPr>
          <a:xfrm>
            <a:off x="838200" y="1825625"/>
            <a:ext cx="5181600" cy="4351338"/>
          </a:xfrm>
        </p:spPr>
        <p:txBody>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
        <p:nvSpPr>
          <p:cNvPr id="4" name="Content Placeholder 3">
            <a:extLst>
              <a:ext uri="{FF2B5EF4-FFF2-40B4-BE49-F238E27FC236}">
                <a16:creationId xmlns:a16="http://schemas.microsoft.com/office/drawing/2014/main" id="{ED5E1F87-F726-CD99-3964-4C62E578BF24}"/>
              </a:ext>
            </a:extLst>
          </p:cNvPr>
          <p:cNvSpPr>
            <a:spLocks noGrp="1"/>
          </p:cNvSpPr>
          <p:nvPr>
            <p:ph sz="half" idx="2"/>
          </p:nvPr>
        </p:nvSpPr>
        <p:spPr>
          <a:xfrm>
            <a:off x="6172200" y="1825625"/>
            <a:ext cx="5181600" cy="4351338"/>
          </a:xfrm>
        </p:spPr>
        <p:txBody>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
        <p:nvSpPr>
          <p:cNvPr id="5" name="Date Placeholder 4">
            <a:extLst>
              <a:ext uri="{FF2B5EF4-FFF2-40B4-BE49-F238E27FC236}">
                <a16:creationId xmlns:a16="http://schemas.microsoft.com/office/drawing/2014/main" id="{02D2EEF8-560D-DD17-ECC8-95A343CAA4AF}"/>
              </a:ext>
            </a:extLst>
          </p:cNvPr>
          <p:cNvSpPr>
            <a:spLocks noGrp="1"/>
          </p:cNvSpPr>
          <p:nvPr>
            <p:ph type="dt" sz="half" idx="10"/>
          </p:nvPr>
        </p:nvSpPr>
        <p:spPr/>
        <p:txBody>
          <a:bodyPr/>
          <a:lstStyle/>
          <a:p>
            <a:fld id="{017D1E63-9AFA-A548-A8C2-2F234F5ADBB3}" type="datetimeFigureOut">
              <a:rPr lang="en-US" smtClean="0"/>
              <a:t>10/19/26</a:t>
            </a:fld>
            <a:endParaRPr lang="en-US"/>
          </a:p>
        </p:txBody>
      </p:sp>
      <p:sp>
        <p:nvSpPr>
          <p:cNvPr id="6" name="Footer Placeholder 5">
            <a:extLst>
              <a:ext uri="{FF2B5EF4-FFF2-40B4-BE49-F238E27FC236}">
                <a16:creationId xmlns:a16="http://schemas.microsoft.com/office/drawing/2014/main" id="{7FE8AABE-5516-2807-76BA-1291DA53E43E}"/>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014D8509-36CF-75C7-2481-FC64BBD8C4D9}"/>
              </a:ext>
            </a:extLst>
          </p:cNvPr>
          <p:cNvSpPr>
            <a:spLocks noGrp="1"/>
          </p:cNvSpPr>
          <p:nvPr>
            <p:ph type="sldNum" sz="quarter" idx="12"/>
          </p:nvPr>
        </p:nvSpPr>
        <p:spPr/>
        <p:txBody>
          <a:bodyPr/>
          <a:lstStyle/>
          <a:p>
            <a:fld id="{69338C85-4586-074D-841C-334BADD7628F}" type="slidenum">
              <a:rPr lang="en-US" smtClean="0"/>
              <a:t>‹#›</a:t>
            </a:fld>
            <a:endParaRPr lang="en-US"/>
          </a:p>
        </p:txBody>
      </p:sp>
    </p:spTree>
    <p:extLst>
      <p:ext uri="{BB962C8B-B14F-4D97-AF65-F5344CB8AC3E}">
        <p14:creationId xmlns:p14="http://schemas.microsoft.com/office/powerpoint/2010/main" val="132066840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150ECA1-60F2-18CE-34F9-E479D8550EF3}"/>
              </a:ext>
            </a:extLst>
          </p:cNvPr>
          <p:cNvSpPr>
            <a:spLocks noGrp="1"/>
          </p:cNvSpPr>
          <p:nvPr>
            <p:ph type="title"/>
          </p:nvPr>
        </p:nvSpPr>
        <p:spPr>
          <a:xfrm>
            <a:off x="839788" y="365125"/>
            <a:ext cx="10515600" cy="1325563"/>
          </a:xfrm>
        </p:spPr>
        <p:txBody>
          <a:bodyPr/>
          <a:lstStyle/>
          <a:p>
            <a:r>
              <a:rPr lang="en-GB"/>
              <a:t>Click to edit Master title style</a:t>
            </a:r>
            <a:endParaRPr lang="en-US"/>
          </a:p>
        </p:txBody>
      </p:sp>
      <p:sp>
        <p:nvSpPr>
          <p:cNvPr id="3" name="Text Placeholder 2">
            <a:extLst>
              <a:ext uri="{FF2B5EF4-FFF2-40B4-BE49-F238E27FC236}">
                <a16:creationId xmlns:a16="http://schemas.microsoft.com/office/drawing/2014/main" id="{DD88C72E-01F7-2B7A-F3A4-4742D48876B0}"/>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GB"/>
              <a:t>Click to edit Master text styles</a:t>
            </a:r>
          </a:p>
        </p:txBody>
      </p:sp>
      <p:sp>
        <p:nvSpPr>
          <p:cNvPr id="4" name="Content Placeholder 3">
            <a:extLst>
              <a:ext uri="{FF2B5EF4-FFF2-40B4-BE49-F238E27FC236}">
                <a16:creationId xmlns:a16="http://schemas.microsoft.com/office/drawing/2014/main" id="{1EB03C8E-CCAC-D9FB-ED5B-3173EA3BD0FE}"/>
              </a:ext>
            </a:extLst>
          </p:cNvPr>
          <p:cNvSpPr>
            <a:spLocks noGrp="1"/>
          </p:cNvSpPr>
          <p:nvPr>
            <p:ph sz="half" idx="2"/>
          </p:nvPr>
        </p:nvSpPr>
        <p:spPr>
          <a:xfrm>
            <a:off x="839788" y="2505075"/>
            <a:ext cx="5157787" cy="3684588"/>
          </a:xfrm>
        </p:spPr>
        <p:txBody>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
        <p:nvSpPr>
          <p:cNvPr id="5" name="Text Placeholder 4">
            <a:extLst>
              <a:ext uri="{FF2B5EF4-FFF2-40B4-BE49-F238E27FC236}">
                <a16:creationId xmlns:a16="http://schemas.microsoft.com/office/drawing/2014/main" id="{1B1BD0ED-9252-3D27-BC35-AC6BFFCEB8D8}"/>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GB"/>
              <a:t>Click to edit Master text styles</a:t>
            </a:r>
          </a:p>
        </p:txBody>
      </p:sp>
      <p:sp>
        <p:nvSpPr>
          <p:cNvPr id="6" name="Content Placeholder 5">
            <a:extLst>
              <a:ext uri="{FF2B5EF4-FFF2-40B4-BE49-F238E27FC236}">
                <a16:creationId xmlns:a16="http://schemas.microsoft.com/office/drawing/2014/main" id="{9FFD9613-4905-4EAD-2727-13F38E827ECF}"/>
              </a:ext>
            </a:extLst>
          </p:cNvPr>
          <p:cNvSpPr>
            <a:spLocks noGrp="1"/>
          </p:cNvSpPr>
          <p:nvPr>
            <p:ph sz="quarter" idx="4"/>
          </p:nvPr>
        </p:nvSpPr>
        <p:spPr>
          <a:xfrm>
            <a:off x="6172200" y="2505075"/>
            <a:ext cx="5183188" cy="3684588"/>
          </a:xfrm>
        </p:spPr>
        <p:txBody>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
        <p:nvSpPr>
          <p:cNvPr id="7" name="Date Placeholder 6">
            <a:extLst>
              <a:ext uri="{FF2B5EF4-FFF2-40B4-BE49-F238E27FC236}">
                <a16:creationId xmlns:a16="http://schemas.microsoft.com/office/drawing/2014/main" id="{60B90A63-C5A5-9FC2-6C62-A9DAF9ABBB54}"/>
              </a:ext>
            </a:extLst>
          </p:cNvPr>
          <p:cNvSpPr>
            <a:spLocks noGrp="1"/>
          </p:cNvSpPr>
          <p:nvPr>
            <p:ph type="dt" sz="half" idx="10"/>
          </p:nvPr>
        </p:nvSpPr>
        <p:spPr/>
        <p:txBody>
          <a:bodyPr/>
          <a:lstStyle/>
          <a:p>
            <a:fld id="{017D1E63-9AFA-A548-A8C2-2F234F5ADBB3}" type="datetimeFigureOut">
              <a:rPr lang="en-US" smtClean="0"/>
              <a:t>10/19/26</a:t>
            </a:fld>
            <a:endParaRPr lang="en-US"/>
          </a:p>
        </p:txBody>
      </p:sp>
      <p:sp>
        <p:nvSpPr>
          <p:cNvPr id="8" name="Footer Placeholder 7">
            <a:extLst>
              <a:ext uri="{FF2B5EF4-FFF2-40B4-BE49-F238E27FC236}">
                <a16:creationId xmlns:a16="http://schemas.microsoft.com/office/drawing/2014/main" id="{BD4B1779-4D4F-0899-C751-34393D8DD37A}"/>
              </a:ext>
            </a:extLst>
          </p:cNvPr>
          <p:cNvSpPr>
            <a:spLocks noGrp="1"/>
          </p:cNvSpPr>
          <p:nvPr>
            <p:ph type="ftr" sz="quarter" idx="11"/>
          </p:nvPr>
        </p:nvSpPr>
        <p:spPr/>
        <p:txBody>
          <a:bodyPr/>
          <a:lstStyle/>
          <a:p>
            <a:endParaRPr lang="en-US"/>
          </a:p>
        </p:txBody>
      </p:sp>
      <p:sp>
        <p:nvSpPr>
          <p:cNvPr id="9" name="Slide Number Placeholder 8">
            <a:extLst>
              <a:ext uri="{FF2B5EF4-FFF2-40B4-BE49-F238E27FC236}">
                <a16:creationId xmlns:a16="http://schemas.microsoft.com/office/drawing/2014/main" id="{4B65DAEA-3D89-DCDA-D35E-1DC0CA723034}"/>
              </a:ext>
            </a:extLst>
          </p:cNvPr>
          <p:cNvSpPr>
            <a:spLocks noGrp="1"/>
          </p:cNvSpPr>
          <p:nvPr>
            <p:ph type="sldNum" sz="quarter" idx="12"/>
          </p:nvPr>
        </p:nvSpPr>
        <p:spPr/>
        <p:txBody>
          <a:bodyPr/>
          <a:lstStyle/>
          <a:p>
            <a:fld id="{69338C85-4586-074D-841C-334BADD7628F}" type="slidenum">
              <a:rPr lang="en-US" smtClean="0"/>
              <a:t>‹#›</a:t>
            </a:fld>
            <a:endParaRPr lang="en-US"/>
          </a:p>
        </p:txBody>
      </p:sp>
    </p:spTree>
    <p:extLst>
      <p:ext uri="{BB962C8B-B14F-4D97-AF65-F5344CB8AC3E}">
        <p14:creationId xmlns:p14="http://schemas.microsoft.com/office/powerpoint/2010/main" val="3954066528"/>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6E520FC-79D6-23AE-E3E2-177CAA39A3BF}"/>
              </a:ext>
            </a:extLst>
          </p:cNvPr>
          <p:cNvSpPr>
            <a:spLocks noGrp="1"/>
          </p:cNvSpPr>
          <p:nvPr>
            <p:ph type="title"/>
          </p:nvPr>
        </p:nvSpPr>
        <p:spPr/>
        <p:txBody>
          <a:bodyPr/>
          <a:lstStyle/>
          <a:p>
            <a:r>
              <a:rPr lang="en-GB"/>
              <a:t>Click to edit Master title style</a:t>
            </a:r>
            <a:endParaRPr lang="en-US"/>
          </a:p>
        </p:txBody>
      </p:sp>
      <p:sp>
        <p:nvSpPr>
          <p:cNvPr id="3" name="Date Placeholder 2">
            <a:extLst>
              <a:ext uri="{FF2B5EF4-FFF2-40B4-BE49-F238E27FC236}">
                <a16:creationId xmlns:a16="http://schemas.microsoft.com/office/drawing/2014/main" id="{456A65A7-2D3C-A735-5520-BB342A53B48B}"/>
              </a:ext>
            </a:extLst>
          </p:cNvPr>
          <p:cNvSpPr>
            <a:spLocks noGrp="1"/>
          </p:cNvSpPr>
          <p:nvPr>
            <p:ph type="dt" sz="half" idx="10"/>
          </p:nvPr>
        </p:nvSpPr>
        <p:spPr/>
        <p:txBody>
          <a:bodyPr/>
          <a:lstStyle/>
          <a:p>
            <a:fld id="{017D1E63-9AFA-A548-A8C2-2F234F5ADBB3}" type="datetimeFigureOut">
              <a:rPr lang="en-US" smtClean="0"/>
              <a:t>10/19/26</a:t>
            </a:fld>
            <a:endParaRPr lang="en-US"/>
          </a:p>
        </p:txBody>
      </p:sp>
      <p:sp>
        <p:nvSpPr>
          <p:cNvPr id="4" name="Footer Placeholder 3">
            <a:extLst>
              <a:ext uri="{FF2B5EF4-FFF2-40B4-BE49-F238E27FC236}">
                <a16:creationId xmlns:a16="http://schemas.microsoft.com/office/drawing/2014/main" id="{07C9E59B-9F77-D7A8-0810-DB2269C3FC1F}"/>
              </a:ext>
            </a:extLst>
          </p:cNvPr>
          <p:cNvSpPr>
            <a:spLocks noGrp="1"/>
          </p:cNvSpPr>
          <p:nvPr>
            <p:ph type="ftr" sz="quarter" idx="11"/>
          </p:nvPr>
        </p:nvSpPr>
        <p:spPr/>
        <p:txBody>
          <a:bodyPr/>
          <a:lstStyle/>
          <a:p>
            <a:endParaRPr lang="en-US"/>
          </a:p>
        </p:txBody>
      </p:sp>
      <p:sp>
        <p:nvSpPr>
          <p:cNvPr id="5" name="Slide Number Placeholder 4">
            <a:extLst>
              <a:ext uri="{FF2B5EF4-FFF2-40B4-BE49-F238E27FC236}">
                <a16:creationId xmlns:a16="http://schemas.microsoft.com/office/drawing/2014/main" id="{FFFAF1DD-6C27-B6D5-53D9-792C1C0A48E7}"/>
              </a:ext>
            </a:extLst>
          </p:cNvPr>
          <p:cNvSpPr>
            <a:spLocks noGrp="1"/>
          </p:cNvSpPr>
          <p:nvPr>
            <p:ph type="sldNum" sz="quarter" idx="12"/>
          </p:nvPr>
        </p:nvSpPr>
        <p:spPr/>
        <p:txBody>
          <a:bodyPr/>
          <a:lstStyle/>
          <a:p>
            <a:fld id="{69338C85-4586-074D-841C-334BADD7628F}" type="slidenum">
              <a:rPr lang="en-US" smtClean="0"/>
              <a:t>‹#›</a:t>
            </a:fld>
            <a:endParaRPr lang="en-US"/>
          </a:p>
        </p:txBody>
      </p:sp>
    </p:spTree>
    <p:extLst>
      <p:ext uri="{BB962C8B-B14F-4D97-AF65-F5344CB8AC3E}">
        <p14:creationId xmlns:p14="http://schemas.microsoft.com/office/powerpoint/2010/main" val="1785535470"/>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88AF0161-51B6-DF55-3E05-C22349B063FF}"/>
              </a:ext>
            </a:extLst>
          </p:cNvPr>
          <p:cNvSpPr>
            <a:spLocks noGrp="1"/>
          </p:cNvSpPr>
          <p:nvPr>
            <p:ph type="dt" sz="half" idx="10"/>
          </p:nvPr>
        </p:nvSpPr>
        <p:spPr/>
        <p:txBody>
          <a:bodyPr/>
          <a:lstStyle/>
          <a:p>
            <a:fld id="{017D1E63-9AFA-A548-A8C2-2F234F5ADBB3}" type="datetimeFigureOut">
              <a:rPr lang="en-US" smtClean="0"/>
              <a:t>10/19/26</a:t>
            </a:fld>
            <a:endParaRPr lang="en-US"/>
          </a:p>
        </p:txBody>
      </p:sp>
      <p:sp>
        <p:nvSpPr>
          <p:cNvPr id="3" name="Footer Placeholder 2">
            <a:extLst>
              <a:ext uri="{FF2B5EF4-FFF2-40B4-BE49-F238E27FC236}">
                <a16:creationId xmlns:a16="http://schemas.microsoft.com/office/drawing/2014/main" id="{AA82D888-FE70-8198-A980-97304AE53BD5}"/>
              </a:ext>
            </a:extLst>
          </p:cNvPr>
          <p:cNvSpPr>
            <a:spLocks noGrp="1"/>
          </p:cNvSpPr>
          <p:nvPr>
            <p:ph type="ftr" sz="quarter" idx="11"/>
          </p:nvPr>
        </p:nvSpPr>
        <p:spPr/>
        <p:txBody>
          <a:bodyPr/>
          <a:lstStyle/>
          <a:p>
            <a:endParaRPr lang="en-US"/>
          </a:p>
        </p:txBody>
      </p:sp>
      <p:sp>
        <p:nvSpPr>
          <p:cNvPr id="4" name="Slide Number Placeholder 3">
            <a:extLst>
              <a:ext uri="{FF2B5EF4-FFF2-40B4-BE49-F238E27FC236}">
                <a16:creationId xmlns:a16="http://schemas.microsoft.com/office/drawing/2014/main" id="{F2817A50-D88C-1DF6-3739-6D165688B4F9}"/>
              </a:ext>
            </a:extLst>
          </p:cNvPr>
          <p:cNvSpPr>
            <a:spLocks noGrp="1"/>
          </p:cNvSpPr>
          <p:nvPr>
            <p:ph type="sldNum" sz="quarter" idx="12"/>
          </p:nvPr>
        </p:nvSpPr>
        <p:spPr/>
        <p:txBody>
          <a:bodyPr/>
          <a:lstStyle/>
          <a:p>
            <a:fld id="{69338C85-4586-074D-841C-334BADD7628F}" type="slidenum">
              <a:rPr lang="en-US" smtClean="0"/>
              <a:t>‹#›</a:t>
            </a:fld>
            <a:endParaRPr lang="en-US"/>
          </a:p>
        </p:txBody>
      </p:sp>
    </p:spTree>
    <p:extLst>
      <p:ext uri="{BB962C8B-B14F-4D97-AF65-F5344CB8AC3E}">
        <p14:creationId xmlns:p14="http://schemas.microsoft.com/office/powerpoint/2010/main" val="441532434"/>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2843079-00AF-EA33-39D0-2C4C26CB029D}"/>
              </a:ext>
            </a:extLst>
          </p:cNvPr>
          <p:cNvSpPr>
            <a:spLocks noGrp="1"/>
          </p:cNvSpPr>
          <p:nvPr>
            <p:ph type="title"/>
          </p:nvPr>
        </p:nvSpPr>
        <p:spPr>
          <a:xfrm>
            <a:off x="839788" y="457200"/>
            <a:ext cx="3932237" cy="1600200"/>
          </a:xfrm>
        </p:spPr>
        <p:txBody>
          <a:bodyPr anchor="b"/>
          <a:lstStyle>
            <a:lvl1pPr>
              <a:defRPr sz="3200"/>
            </a:lvl1pPr>
          </a:lstStyle>
          <a:p>
            <a:r>
              <a:rPr lang="en-GB"/>
              <a:t>Click to edit Master title style</a:t>
            </a:r>
            <a:endParaRPr lang="en-US"/>
          </a:p>
        </p:txBody>
      </p:sp>
      <p:sp>
        <p:nvSpPr>
          <p:cNvPr id="3" name="Content Placeholder 2">
            <a:extLst>
              <a:ext uri="{FF2B5EF4-FFF2-40B4-BE49-F238E27FC236}">
                <a16:creationId xmlns:a16="http://schemas.microsoft.com/office/drawing/2014/main" id="{9CE0473B-50FC-784C-3CE6-0541E361833A}"/>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
        <p:nvSpPr>
          <p:cNvPr id="4" name="Text Placeholder 3">
            <a:extLst>
              <a:ext uri="{FF2B5EF4-FFF2-40B4-BE49-F238E27FC236}">
                <a16:creationId xmlns:a16="http://schemas.microsoft.com/office/drawing/2014/main" id="{F6A38809-0019-78E2-0341-5056A26A5062}"/>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GB"/>
              <a:t>Click to edit Master text styles</a:t>
            </a:r>
          </a:p>
        </p:txBody>
      </p:sp>
      <p:sp>
        <p:nvSpPr>
          <p:cNvPr id="5" name="Date Placeholder 4">
            <a:extLst>
              <a:ext uri="{FF2B5EF4-FFF2-40B4-BE49-F238E27FC236}">
                <a16:creationId xmlns:a16="http://schemas.microsoft.com/office/drawing/2014/main" id="{DCF53BCD-CB47-4098-FC7D-33F531594299}"/>
              </a:ext>
            </a:extLst>
          </p:cNvPr>
          <p:cNvSpPr>
            <a:spLocks noGrp="1"/>
          </p:cNvSpPr>
          <p:nvPr>
            <p:ph type="dt" sz="half" idx="10"/>
          </p:nvPr>
        </p:nvSpPr>
        <p:spPr/>
        <p:txBody>
          <a:bodyPr/>
          <a:lstStyle/>
          <a:p>
            <a:fld id="{017D1E63-9AFA-A548-A8C2-2F234F5ADBB3}" type="datetimeFigureOut">
              <a:rPr lang="en-US" smtClean="0"/>
              <a:t>10/19/26</a:t>
            </a:fld>
            <a:endParaRPr lang="en-US"/>
          </a:p>
        </p:txBody>
      </p:sp>
      <p:sp>
        <p:nvSpPr>
          <p:cNvPr id="6" name="Footer Placeholder 5">
            <a:extLst>
              <a:ext uri="{FF2B5EF4-FFF2-40B4-BE49-F238E27FC236}">
                <a16:creationId xmlns:a16="http://schemas.microsoft.com/office/drawing/2014/main" id="{7DEF4FA2-0FC8-0AE8-8D14-C8F2B27F093E}"/>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67187FD4-C36F-148B-F527-94CB8DA45882}"/>
              </a:ext>
            </a:extLst>
          </p:cNvPr>
          <p:cNvSpPr>
            <a:spLocks noGrp="1"/>
          </p:cNvSpPr>
          <p:nvPr>
            <p:ph type="sldNum" sz="quarter" idx="12"/>
          </p:nvPr>
        </p:nvSpPr>
        <p:spPr/>
        <p:txBody>
          <a:bodyPr/>
          <a:lstStyle/>
          <a:p>
            <a:fld id="{69338C85-4586-074D-841C-334BADD7628F}" type="slidenum">
              <a:rPr lang="en-US" smtClean="0"/>
              <a:t>‹#›</a:t>
            </a:fld>
            <a:endParaRPr lang="en-US"/>
          </a:p>
        </p:txBody>
      </p:sp>
    </p:spTree>
    <p:extLst>
      <p:ext uri="{BB962C8B-B14F-4D97-AF65-F5344CB8AC3E}">
        <p14:creationId xmlns:p14="http://schemas.microsoft.com/office/powerpoint/2010/main" val="53118837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40CFEBF-16A2-95C2-691B-4DCE6C852FE0}"/>
              </a:ext>
            </a:extLst>
          </p:cNvPr>
          <p:cNvSpPr>
            <a:spLocks noGrp="1"/>
          </p:cNvSpPr>
          <p:nvPr>
            <p:ph type="title"/>
          </p:nvPr>
        </p:nvSpPr>
        <p:spPr>
          <a:xfrm>
            <a:off x="839788" y="457200"/>
            <a:ext cx="3932237" cy="1600200"/>
          </a:xfrm>
        </p:spPr>
        <p:txBody>
          <a:bodyPr anchor="b"/>
          <a:lstStyle>
            <a:lvl1pPr>
              <a:defRPr sz="3200"/>
            </a:lvl1pPr>
          </a:lstStyle>
          <a:p>
            <a:r>
              <a:rPr lang="en-GB"/>
              <a:t>Click to edit Master title style</a:t>
            </a:r>
            <a:endParaRPr lang="en-US"/>
          </a:p>
        </p:txBody>
      </p:sp>
      <p:sp>
        <p:nvSpPr>
          <p:cNvPr id="3" name="Picture Placeholder 2">
            <a:extLst>
              <a:ext uri="{FF2B5EF4-FFF2-40B4-BE49-F238E27FC236}">
                <a16:creationId xmlns:a16="http://schemas.microsoft.com/office/drawing/2014/main" id="{7D85D949-72AD-2B9E-865B-49704DD73CF0}"/>
              </a:ext>
            </a:extLst>
          </p:cNvPr>
          <p:cNvSpPr>
            <a:spLocks noGrp="1" noChangeAspect="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a:extLst>
              <a:ext uri="{FF2B5EF4-FFF2-40B4-BE49-F238E27FC236}">
                <a16:creationId xmlns:a16="http://schemas.microsoft.com/office/drawing/2014/main" id="{E6EF82E4-74F8-081D-8ED3-69ECDC56595A}"/>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GB"/>
              <a:t>Click to edit Master text styles</a:t>
            </a:r>
          </a:p>
        </p:txBody>
      </p:sp>
      <p:sp>
        <p:nvSpPr>
          <p:cNvPr id="5" name="Date Placeholder 4">
            <a:extLst>
              <a:ext uri="{FF2B5EF4-FFF2-40B4-BE49-F238E27FC236}">
                <a16:creationId xmlns:a16="http://schemas.microsoft.com/office/drawing/2014/main" id="{18F1A119-05B8-9774-5438-5BEA40A98F35}"/>
              </a:ext>
            </a:extLst>
          </p:cNvPr>
          <p:cNvSpPr>
            <a:spLocks noGrp="1"/>
          </p:cNvSpPr>
          <p:nvPr>
            <p:ph type="dt" sz="half" idx="10"/>
          </p:nvPr>
        </p:nvSpPr>
        <p:spPr/>
        <p:txBody>
          <a:bodyPr/>
          <a:lstStyle/>
          <a:p>
            <a:fld id="{017D1E63-9AFA-A548-A8C2-2F234F5ADBB3}" type="datetimeFigureOut">
              <a:rPr lang="en-US" smtClean="0"/>
              <a:t>10/19/26</a:t>
            </a:fld>
            <a:endParaRPr lang="en-US"/>
          </a:p>
        </p:txBody>
      </p:sp>
      <p:sp>
        <p:nvSpPr>
          <p:cNvPr id="6" name="Footer Placeholder 5">
            <a:extLst>
              <a:ext uri="{FF2B5EF4-FFF2-40B4-BE49-F238E27FC236}">
                <a16:creationId xmlns:a16="http://schemas.microsoft.com/office/drawing/2014/main" id="{EBEDCE17-49E1-DA0A-CF5D-C7C30358B92C}"/>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27EDFA10-D5F4-8A0E-5C0A-6667682831AA}"/>
              </a:ext>
            </a:extLst>
          </p:cNvPr>
          <p:cNvSpPr>
            <a:spLocks noGrp="1"/>
          </p:cNvSpPr>
          <p:nvPr>
            <p:ph type="sldNum" sz="quarter" idx="12"/>
          </p:nvPr>
        </p:nvSpPr>
        <p:spPr/>
        <p:txBody>
          <a:bodyPr/>
          <a:lstStyle/>
          <a:p>
            <a:fld id="{69338C85-4586-074D-841C-334BADD7628F}" type="slidenum">
              <a:rPr lang="en-US" smtClean="0"/>
              <a:t>‹#›</a:t>
            </a:fld>
            <a:endParaRPr lang="en-US"/>
          </a:p>
        </p:txBody>
      </p:sp>
    </p:spTree>
    <p:extLst>
      <p:ext uri="{BB962C8B-B14F-4D97-AF65-F5344CB8AC3E}">
        <p14:creationId xmlns:p14="http://schemas.microsoft.com/office/powerpoint/2010/main" val="1277014422"/>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67AFE5C-03A2-C0C4-578D-7C3B8366F0D5}"/>
              </a:ext>
            </a:extLst>
          </p:cNvPr>
          <p:cNvSpPr>
            <a:spLocks noGrp="1"/>
          </p:cNvSpPr>
          <p:nvPr>
            <p:ph type="title"/>
          </p:nvPr>
        </p:nvSpPr>
        <p:spPr/>
        <p:txBody>
          <a:bodyPr/>
          <a:lstStyle/>
          <a:p>
            <a:r>
              <a:rPr lang="en-GB"/>
              <a:t>Click to edit Master title style</a:t>
            </a:r>
            <a:endParaRPr lang="en-US"/>
          </a:p>
        </p:txBody>
      </p:sp>
      <p:sp>
        <p:nvSpPr>
          <p:cNvPr id="3" name="Vertical Text Placeholder 2">
            <a:extLst>
              <a:ext uri="{FF2B5EF4-FFF2-40B4-BE49-F238E27FC236}">
                <a16:creationId xmlns:a16="http://schemas.microsoft.com/office/drawing/2014/main" id="{BF700C26-3DF8-2030-E913-90820089AC1D}"/>
              </a:ext>
            </a:extLst>
          </p:cNvPr>
          <p:cNvSpPr>
            <a:spLocks noGrp="1"/>
          </p:cNvSpPr>
          <p:nvPr>
            <p:ph type="body" orient="vert" idx="1"/>
          </p:nvPr>
        </p:nvSpPr>
        <p:spPr/>
        <p:txBody>
          <a:bodyPr vert="eaVert"/>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
        <p:nvSpPr>
          <p:cNvPr id="4" name="Date Placeholder 3">
            <a:extLst>
              <a:ext uri="{FF2B5EF4-FFF2-40B4-BE49-F238E27FC236}">
                <a16:creationId xmlns:a16="http://schemas.microsoft.com/office/drawing/2014/main" id="{576C2218-5817-DBF7-194C-89F7EE58AC84}"/>
              </a:ext>
            </a:extLst>
          </p:cNvPr>
          <p:cNvSpPr>
            <a:spLocks noGrp="1"/>
          </p:cNvSpPr>
          <p:nvPr>
            <p:ph type="dt" sz="half" idx="10"/>
          </p:nvPr>
        </p:nvSpPr>
        <p:spPr/>
        <p:txBody>
          <a:bodyPr/>
          <a:lstStyle/>
          <a:p>
            <a:fld id="{017D1E63-9AFA-A548-A8C2-2F234F5ADBB3}" type="datetimeFigureOut">
              <a:rPr lang="en-US" smtClean="0"/>
              <a:t>10/19/26</a:t>
            </a:fld>
            <a:endParaRPr lang="en-US"/>
          </a:p>
        </p:txBody>
      </p:sp>
      <p:sp>
        <p:nvSpPr>
          <p:cNvPr id="5" name="Footer Placeholder 4">
            <a:extLst>
              <a:ext uri="{FF2B5EF4-FFF2-40B4-BE49-F238E27FC236}">
                <a16:creationId xmlns:a16="http://schemas.microsoft.com/office/drawing/2014/main" id="{B334FFFD-D777-97D8-F74D-46B530DCED61}"/>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48C1FD2B-49C6-3A56-58CC-A6091D176EE7}"/>
              </a:ext>
            </a:extLst>
          </p:cNvPr>
          <p:cNvSpPr>
            <a:spLocks noGrp="1"/>
          </p:cNvSpPr>
          <p:nvPr>
            <p:ph type="sldNum" sz="quarter" idx="12"/>
          </p:nvPr>
        </p:nvSpPr>
        <p:spPr/>
        <p:txBody>
          <a:bodyPr/>
          <a:lstStyle/>
          <a:p>
            <a:fld id="{69338C85-4586-074D-841C-334BADD7628F}" type="slidenum">
              <a:rPr lang="en-US" smtClean="0"/>
              <a:t>‹#›</a:t>
            </a:fld>
            <a:endParaRPr lang="en-US"/>
          </a:p>
        </p:txBody>
      </p:sp>
    </p:spTree>
    <p:extLst>
      <p:ext uri="{BB962C8B-B14F-4D97-AF65-F5344CB8AC3E}">
        <p14:creationId xmlns:p14="http://schemas.microsoft.com/office/powerpoint/2010/main" val="492181017"/>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52F75512-EBA9-FE9F-D2CF-2236CA32191D}"/>
              </a:ext>
            </a:extLst>
          </p:cNvPr>
          <p:cNvSpPr>
            <a:spLocks noGrp="1"/>
          </p:cNvSpPr>
          <p:nvPr>
            <p:ph type="title" orient="vert"/>
          </p:nvPr>
        </p:nvSpPr>
        <p:spPr>
          <a:xfrm>
            <a:off x="8724900" y="365125"/>
            <a:ext cx="2628900" cy="5811838"/>
          </a:xfrm>
        </p:spPr>
        <p:txBody>
          <a:bodyPr vert="eaVert"/>
          <a:lstStyle/>
          <a:p>
            <a:r>
              <a:rPr lang="en-GB"/>
              <a:t>Click to edit Master title style</a:t>
            </a:r>
            <a:endParaRPr lang="en-US"/>
          </a:p>
        </p:txBody>
      </p:sp>
      <p:sp>
        <p:nvSpPr>
          <p:cNvPr id="3" name="Vertical Text Placeholder 2">
            <a:extLst>
              <a:ext uri="{FF2B5EF4-FFF2-40B4-BE49-F238E27FC236}">
                <a16:creationId xmlns:a16="http://schemas.microsoft.com/office/drawing/2014/main" id="{50023512-2E41-7A3A-42EC-D224F88E407E}"/>
              </a:ext>
            </a:extLst>
          </p:cNvPr>
          <p:cNvSpPr>
            <a:spLocks noGrp="1"/>
          </p:cNvSpPr>
          <p:nvPr>
            <p:ph type="body" orient="vert" idx="1"/>
          </p:nvPr>
        </p:nvSpPr>
        <p:spPr>
          <a:xfrm>
            <a:off x="838200" y="365125"/>
            <a:ext cx="7734300" cy="5811838"/>
          </a:xfrm>
        </p:spPr>
        <p:txBody>
          <a:bodyPr vert="eaVert"/>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
        <p:nvSpPr>
          <p:cNvPr id="4" name="Date Placeholder 3">
            <a:extLst>
              <a:ext uri="{FF2B5EF4-FFF2-40B4-BE49-F238E27FC236}">
                <a16:creationId xmlns:a16="http://schemas.microsoft.com/office/drawing/2014/main" id="{0A677C0B-9FD1-A1F2-5E32-22CDA9B68509}"/>
              </a:ext>
            </a:extLst>
          </p:cNvPr>
          <p:cNvSpPr>
            <a:spLocks noGrp="1"/>
          </p:cNvSpPr>
          <p:nvPr>
            <p:ph type="dt" sz="half" idx="10"/>
          </p:nvPr>
        </p:nvSpPr>
        <p:spPr/>
        <p:txBody>
          <a:bodyPr/>
          <a:lstStyle/>
          <a:p>
            <a:fld id="{017D1E63-9AFA-A548-A8C2-2F234F5ADBB3}" type="datetimeFigureOut">
              <a:rPr lang="en-US" smtClean="0"/>
              <a:t>10/19/26</a:t>
            </a:fld>
            <a:endParaRPr lang="en-US"/>
          </a:p>
        </p:txBody>
      </p:sp>
      <p:sp>
        <p:nvSpPr>
          <p:cNvPr id="5" name="Footer Placeholder 4">
            <a:extLst>
              <a:ext uri="{FF2B5EF4-FFF2-40B4-BE49-F238E27FC236}">
                <a16:creationId xmlns:a16="http://schemas.microsoft.com/office/drawing/2014/main" id="{70980325-2368-FFEE-490A-389B70E94164}"/>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78687126-E325-CDFB-B222-F111DA95BA15}"/>
              </a:ext>
            </a:extLst>
          </p:cNvPr>
          <p:cNvSpPr>
            <a:spLocks noGrp="1"/>
          </p:cNvSpPr>
          <p:nvPr>
            <p:ph type="sldNum" sz="quarter" idx="12"/>
          </p:nvPr>
        </p:nvSpPr>
        <p:spPr/>
        <p:txBody>
          <a:bodyPr/>
          <a:lstStyle/>
          <a:p>
            <a:fld id="{69338C85-4586-074D-841C-334BADD7628F}" type="slidenum">
              <a:rPr lang="en-US" smtClean="0"/>
              <a:t>‹#›</a:t>
            </a:fld>
            <a:endParaRPr lang="en-US"/>
          </a:p>
        </p:txBody>
      </p:sp>
    </p:spTree>
    <p:extLst>
      <p:ext uri="{BB962C8B-B14F-4D97-AF65-F5344CB8AC3E}">
        <p14:creationId xmlns:p14="http://schemas.microsoft.com/office/powerpoint/2010/main" val="3960078435"/>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FEE7785B-A6E2-7D51-4A7A-0D95D459845D}"/>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GB"/>
              <a:t>Click to edit Master title style</a:t>
            </a:r>
            <a:endParaRPr lang="en-US"/>
          </a:p>
        </p:txBody>
      </p:sp>
      <p:sp>
        <p:nvSpPr>
          <p:cNvPr id="3" name="Text Placeholder 2">
            <a:extLst>
              <a:ext uri="{FF2B5EF4-FFF2-40B4-BE49-F238E27FC236}">
                <a16:creationId xmlns:a16="http://schemas.microsoft.com/office/drawing/2014/main" id="{9C7EB833-EBA0-FB07-FC2B-5594ECA51732}"/>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
        <p:nvSpPr>
          <p:cNvPr id="4" name="Date Placeholder 3">
            <a:extLst>
              <a:ext uri="{FF2B5EF4-FFF2-40B4-BE49-F238E27FC236}">
                <a16:creationId xmlns:a16="http://schemas.microsoft.com/office/drawing/2014/main" id="{AB668E40-D77C-57AF-A5D2-D3DF5BC51E50}"/>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82000"/>
                  </a:schemeClr>
                </a:solidFill>
              </a:defRPr>
            </a:lvl1pPr>
          </a:lstStyle>
          <a:p>
            <a:fld id="{017D1E63-9AFA-A548-A8C2-2F234F5ADBB3}" type="datetimeFigureOut">
              <a:rPr lang="en-US" smtClean="0"/>
              <a:t>10/19/26</a:t>
            </a:fld>
            <a:endParaRPr lang="en-US"/>
          </a:p>
        </p:txBody>
      </p:sp>
      <p:sp>
        <p:nvSpPr>
          <p:cNvPr id="5" name="Footer Placeholder 4">
            <a:extLst>
              <a:ext uri="{FF2B5EF4-FFF2-40B4-BE49-F238E27FC236}">
                <a16:creationId xmlns:a16="http://schemas.microsoft.com/office/drawing/2014/main" id="{32641F03-0B60-FA88-F79B-CC2A0A472E85}"/>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82000"/>
                  </a:schemeClr>
                </a:solidFill>
              </a:defRPr>
            </a:lvl1pPr>
          </a:lstStyle>
          <a:p>
            <a:endParaRPr lang="en-US"/>
          </a:p>
        </p:txBody>
      </p:sp>
      <p:sp>
        <p:nvSpPr>
          <p:cNvPr id="6" name="Slide Number Placeholder 5">
            <a:extLst>
              <a:ext uri="{FF2B5EF4-FFF2-40B4-BE49-F238E27FC236}">
                <a16:creationId xmlns:a16="http://schemas.microsoft.com/office/drawing/2014/main" id="{A74652CC-D9E8-F4DD-40CD-85A91D5772D6}"/>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82000"/>
                  </a:schemeClr>
                </a:solidFill>
              </a:defRPr>
            </a:lvl1pPr>
          </a:lstStyle>
          <a:p>
            <a:fld id="{69338C85-4586-074D-841C-334BADD7628F}" type="slidenum">
              <a:rPr lang="en-US" smtClean="0"/>
              <a:t>‹#›</a:t>
            </a:fld>
            <a:endParaRPr lang="en-US"/>
          </a:p>
        </p:txBody>
      </p:sp>
    </p:spTree>
    <p:extLst>
      <p:ext uri="{BB962C8B-B14F-4D97-AF65-F5344CB8AC3E}">
        <p14:creationId xmlns:p14="http://schemas.microsoft.com/office/powerpoint/2010/main" val="1291270300"/>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image" Target="../media/image1.jpg"/><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3" Type="http://schemas.openxmlformats.org/officeDocument/2006/relationships/image" Target="../media/image2.jpeg"/><Relationship Id="rId2" Type="http://schemas.openxmlformats.org/officeDocument/2006/relationships/image" Target="../media/image1.jpg"/><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1.jpg"/><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3" Type="http://schemas.openxmlformats.org/officeDocument/2006/relationships/image" Target="../media/image1.jpg"/><Relationship Id="rId2" Type="http://schemas.openxmlformats.org/officeDocument/2006/relationships/image" Target="../media/image4.png"/><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3" Type="http://schemas.openxmlformats.org/officeDocument/2006/relationships/image" Target="../media/image1.jpg"/><Relationship Id="rId2" Type="http://schemas.openxmlformats.org/officeDocument/2006/relationships/image" Target="../media/image5.png"/><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2" Type="http://schemas.openxmlformats.org/officeDocument/2006/relationships/image" Target="../media/image1.jpg"/><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image" Target="../media/image6.png"/><Relationship Id="rId1" Type="http://schemas.openxmlformats.org/officeDocument/2006/relationships/slideLayout" Target="../slideLayouts/slideLayout2.xml"/><Relationship Id="rId5" Type="http://schemas.openxmlformats.org/officeDocument/2006/relationships/image" Target="../media/image1.jpg"/><Relationship Id="rId4" Type="http://schemas.openxmlformats.org/officeDocument/2006/relationships/image" Target="../media/image8.png"/></Relationships>
</file>

<file path=ppt/slides/_rels/slide9.xml.rels><?xml version="1.0" encoding="UTF-8" standalone="yes"?>
<Relationships xmlns="http://schemas.openxmlformats.org/package/2006/relationships"><Relationship Id="rId3" Type="http://schemas.openxmlformats.org/officeDocument/2006/relationships/image" Target="../media/image1.jpg"/><Relationship Id="rId2" Type="http://schemas.openxmlformats.org/officeDocument/2006/relationships/image" Target="../media/image9.png"/><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2" Type="http://schemas.openxmlformats.org/officeDocument/2006/relationships/image" Target="../media/image1.jpg"/><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3" Type="http://schemas.openxmlformats.org/officeDocument/2006/relationships/image" Target="../media/image1.jpg"/><Relationship Id="rId2" Type="http://schemas.openxmlformats.org/officeDocument/2006/relationships/image" Target="../media/image10.png"/><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2" Type="http://schemas.openxmlformats.org/officeDocument/2006/relationships/image" Target="../media/image1.jpg"/><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3" Type="http://schemas.openxmlformats.org/officeDocument/2006/relationships/image" Target="../media/image1.jpg"/><Relationship Id="rId2" Type="http://schemas.openxmlformats.org/officeDocument/2006/relationships/image" Target="../media/image11.png"/><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3" Type="http://schemas.openxmlformats.org/officeDocument/2006/relationships/image" Target="../media/image1.jpg"/><Relationship Id="rId2" Type="http://schemas.openxmlformats.org/officeDocument/2006/relationships/image" Target="../media/image12.png"/><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2" Type="http://schemas.openxmlformats.org/officeDocument/2006/relationships/image" Target="../media/image1.jpg"/><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3" Type="http://schemas.openxmlformats.org/officeDocument/2006/relationships/image" Target="../media/image1.jpg"/><Relationship Id="rId2" Type="http://schemas.openxmlformats.org/officeDocument/2006/relationships/image" Target="../media/image13.png"/><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2" Type="http://schemas.openxmlformats.org/officeDocument/2006/relationships/image" Target="../media/image1.jpg"/><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3" Type="http://schemas.openxmlformats.org/officeDocument/2006/relationships/image" Target="../media/image14.png"/><Relationship Id="rId2" Type="http://schemas.openxmlformats.org/officeDocument/2006/relationships/image" Target="../media/image1.jpg"/><Relationship Id="rId1" Type="http://schemas.openxmlformats.org/officeDocument/2006/relationships/slideLayout" Target="../slideLayouts/slideLayout2.xml"/><Relationship Id="rId4" Type="http://schemas.openxmlformats.org/officeDocument/2006/relationships/image" Target="../media/image15.png"/></Relationships>
</file>

<file path=ppt/slides/_rels/slide19.xml.rels><?xml version="1.0" encoding="UTF-8" standalone="yes"?>
<Relationships xmlns="http://schemas.openxmlformats.org/package/2006/relationships"><Relationship Id="rId3" Type="http://schemas.openxmlformats.org/officeDocument/2006/relationships/image" Target="../media/image1.jpg"/><Relationship Id="rId2" Type="http://schemas.openxmlformats.org/officeDocument/2006/relationships/image" Target="../media/image16.png"/><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2" Type="http://schemas.openxmlformats.org/officeDocument/2006/relationships/image" Target="../media/image1.jpg"/><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2" Type="http://schemas.openxmlformats.org/officeDocument/2006/relationships/image" Target="../media/image1.jpg"/><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3" Type="http://schemas.openxmlformats.org/officeDocument/2006/relationships/diagramData" Target="../diagrams/data1.xml"/><Relationship Id="rId7" Type="http://schemas.microsoft.com/office/2007/relationships/diagramDrawing" Target="../diagrams/drawing1.xml"/><Relationship Id="rId2" Type="http://schemas.openxmlformats.org/officeDocument/2006/relationships/notesSlide" Target="../notesSlides/notesSlide1.xml"/><Relationship Id="rId1" Type="http://schemas.openxmlformats.org/officeDocument/2006/relationships/slideLayout" Target="../slideLayouts/slideLayout2.xml"/><Relationship Id="rId6" Type="http://schemas.openxmlformats.org/officeDocument/2006/relationships/diagramColors" Target="../diagrams/colors1.xml"/><Relationship Id="rId5" Type="http://schemas.openxmlformats.org/officeDocument/2006/relationships/diagramQuickStyle" Target="../diagrams/quickStyle1.xml"/><Relationship Id="rId4" Type="http://schemas.openxmlformats.org/officeDocument/2006/relationships/diagramLayout" Target="../diagrams/layout1.xml"/></Relationships>
</file>

<file path=ppt/slides/_rels/slide23.xml.rels><?xml version="1.0" encoding="UTF-8" standalone="yes"?>
<Relationships xmlns="http://schemas.openxmlformats.org/package/2006/relationships"><Relationship Id="rId3" Type="http://schemas.openxmlformats.org/officeDocument/2006/relationships/image" Target="../media/image17.png"/><Relationship Id="rId2" Type="http://schemas.openxmlformats.org/officeDocument/2006/relationships/notesSlide" Target="../notesSlides/notesSlide2.xml"/><Relationship Id="rId1" Type="http://schemas.openxmlformats.org/officeDocument/2006/relationships/slideLayout" Target="../slideLayouts/slideLayout2.xml"/><Relationship Id="rId5" Type="http://schemas.openxmlformats.org/officeDocument/2006/relationships/image" Target="../media/image1.jpg"/><Relationship Id="rId4" Type="http://schemas.openxmlformats.org/officeDocument/2006/relationships/image" Target="../media/image18.png"/></Relationships>
</file>

<file path=ppt/slides/_rels/slide24.xml.rels><?xml version="1.0" encoding="UTF-8" standalone="yes"?>
<Relationships xmlns="http://schemas.openxmlformats.org/package/2006/relationships"><Relationship Id="rId3" Type="http://schemas.openxmlformats.org/officeDocument/2006/relationships/image" Target="../media/image19.png"/><Relationship Id="rId2" Type="http://schemas.openxmlformats.org/officeDocument/2006/relationships/notesSlide" Target="../notesSlides/notesSlide3.xml"/><Relationship Id="rId1" Type="http://schemas.openxmlformats.org/officeDocument/2006/relationships/slideLayout" Target="../slideLayouts/slideLayout2.xml"/><Relationship Id="rId4" Type="http://schemas.openxmlformats.org/officeDocument/2006/relationships/image" Target="../media/image1.jpg"/></Relationships>
</file>

<file path=ppt/slides/_rels/slide25.xml.rels><?xml version="1.0" encoding="UTF-8" standalone="yes"?>
<Relationships xmlns="http://schemas.openxmlformats.org/package/2006/relationships"><Relationship Id="rId3" Type="http://schemas.openxmlformats.org/officeDocument/2006/relationships/customXml" Target="../ink/ink1.xml"/><Relationship Id="rId2" Type="http://schemas.openxmlformats.org/officeDocument/2006/relationships/notesSlide" Target="../notesSlides/notesSlide4.xml"/><Relationship Id="rId1" Type="http://schemas.openxmlformats.org/officeDocument/2006/relationships/slideLayout" Target="../slideLayouts/slideLayout2.xml"/><Relationship Id="rId5" Type="http://schemas.openxmlformats.org/officeDocument/2006/relationships/image" Target="../media/image1.jpg"/><Relationship Id="rId4" Type="http://schemas.openxmlformats.org/officeDocument/2006/relationships/image" Target="../media/image56.png"/></Relationships>
</file>

<file path=ppt/slides/_rels/slide26.xml.rels><?xml version="1.0" encoding="UTF-8" standalone="yes"?>
<Relationships xmlns="http://schemas.openxmlformats.org/package/2006/relationships"><Relationship Id="rId3" Type="http://schemas.openxmlformats.org/officeDocument/2006/relationships/image" Target="../media/image1.jpg"/><Relationship Id="rId2" Type="http://schemas.openxmlformats.org/officeDocument/2006/relationships/notesSlide" Target="../notesSlides/notesSlide5.xml"/><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3" Type="http://schemas.openxmlformats.org/officeDocument/2006/relationships/image" Target="../media/image1.jpg"/><Relationship Id="rId2" Type="http://schemas.openxmlformats.org/officeDocument/2006/relationships/notesSlide" Target="../notesSlides/notesSlide6.xml"/><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8" Type="http://schemas.openxmlformats.org/officeDocument/2006/relationships/image" Target="../media/image100.png"/><Relationship Id="rId3" Type="http://schemas.openxmlformats.org/officeDocument/2006/relationships/image" Target="../media/image60.png"/><Relationship Id="rId7" Type="http://schemas.openxmlformats.org/officeDocument/2006/relationships/image" Target="../media/image90.png"/><Relationship Id="rId2" Type="http://schemas.openxmlformats.org/officeDocument/2006/relationships/notesSlide" Target="../notesSlides/notesSlide7.xml"/><Relationship Id="rId1" Type="http://schemas.openxmlformats.org/officeDocument/2006/relationships/slideLayout" Target="../slideLayouts/slideLayout2.xml"/><Relationship Id="rId6" Type="http://schemas.openxmlformats.org/officeDocument/2006/relationships/customXml" Target="../ink/ink2.xml"/><Relationship Id="rId5" Type="http://schemas.openxmlformats.org/officeDocument/2006/relationships/image" Target="../media/image80.png"/><Relationship Id="rId4" Type="http://schemas.openxmlformats.org/officeDocument/2006/relationships/image" Target="../media/image70.png"/><Relationship Id="rId9" Type="http://schemas.openxmlformats.org/officeDocument/2006/relationships/image" Target="../media/image1.jpg"/></Relationships>
</file>

<file path=ppt/slides/_rels/slide29.xml.rels><?xml version="1.0" encoding="UTF-8" standalone="yes"?>
<Relationships xmlns="http://schemas.openxmlformats.org/package/2006/relationships"><Relationship Id="rId8" Type="http://schemas.openxmlformats.org/officeDocument/2006/relationships/image" Target="../media/image23.png"/><Relationship Id="rId3" Type="http://schemas.openxmlformats.org/officeDocument/2006/relationships/image" Target="../media/image20.png"/><Relationship Id="rId7" Type="http://schemas.microsoft.com/office/2017/06/relationships/model3d" Target="../media/model3d2.glb"/><Relationship Id="rId2" Type="http://schemas.openxmlformats.org/officeDocument/2006/relationships/notesSlide" Target="../notesSlides/notesSlide8.xml"/><Relationship Id="rId1" Type="http://schemas.openxmlformats.org/officeDocument/2006/relationships/slideLayout" Target="../slideLayouts/slideLayout2.xml"/><Relationship Id="rId6" Type="http://schemas.openxmlformats.org/officeDocument/2006/relationships/image" Target="../media/image22.png"/><Relationship Id="rId11" Type="http://schemas.openxmlformats.org/officeDocument/2006/relationships/image" Target="../media/image1.jpg"/><Relationship Id="rId5" Type="http://schemas.microsoft.com/office/2017/06/relationships/model3d" Target="../media/model3d1.glb"/><Relationship Id="rId10" Type="http://schemas.openxmlformats.org/officeDocument/2006/relationships/image" Target="../media/image25.png"/><Relationship Id="rId4" Type="http://schemas.openxmlformats.org/officeDocument/2006/relationships/image" Target="../media/image21.png"/><Relationship Id="rId9" Type="http://schemas.openxmlformats.org/officeDocument/2006/relationships/image" Target="../media/image24.png"/></Relationships>
</file>

<file path=ppt/slides/_rels/slide30.xml.rels><?xml version="1.0" encoding="UTF-8" standalone="yes"?>
<Relationships xmlns="http://schemas.openxmlformats.org/package/2006/relationships"><Relationship Id="rId8" Type="http://schemas.openxmlformats.org/officeDocument/2006/relationships/image" Target="../media/image210.png"/><Relationship Id="rId3" Type="http://schemas.openxmlformats.org/officeDocument/2006/relationships/image" Target="../media/image180.png"/><Relationship Id="rId7" Type="http://schemas.openxmlformats.org/officeDocument/2006/relationships/image" Target="../media/image110.png"/><Relationship Id="rId2" Type="http://schemas.openxmlformats.org/officeDocument/2006/relationships/notesSlide" Target="../notesSlides/notesSlide9.xml"/><Relationship Id="rId1" Type="http://schemas.openxmlformats.org/officeDocument/2006/relationships/slideLayout" Target="../slideLayouts/slideLayout2.xml"/><Relationship Id="rId6" Type="http://schemas.openxmlformats.org/officeDocument/2006/relationships/customXml" Target="../ink/ink3.xml"/><Relationship Id="rId11" Type="http://schemas.openxmlformats.org/officeDocument/2006/relationships/image" Target="../media/image1.jpg"/><Relationship Id="rId5" Type="http://schemas.openxmlformats.org/officeDocument/2006/relationships/image" Target="../media/image200.png"/><Relationship Id="rId10" Type="http://schemas.openxmlformats.org/officeDocument/2006/relationships/image" Target="../media/image230.png"/><Relationship Id="rId4" Type="http://schemas.openxmlformats.org/officeDocument/2006/relationships/image" Target="../media/image190.png"/><Relationship Id="rId9" Type="http://schemas.openxmlformats.org/officeDocument/2006/relationships/image" Target="../media/image220.png"/></Relationships>
</file>

<file path=ppt/slides/_rels/slide31.xml.rels><?xml version="1.0" encoding="UTF-8" standalone="yes"?>
<Relationships xmlns="http://schemas.openxmlformats.org/package/2006/relationships"><Relationship Id="rId3" Type="http://schemas.openxmlformats.org/officeDocument/2006/relationships/image" Target="../media/image26.png"/><Relationship Id="rId2" Type="http://schemas.openxmlformats.org/officeDocument/2006/relationships/notesSlide" Target="../notesSlides/notesSlide10.xml"/><Relationship Id="rId1" Type="http://schemas.openxmlformats.org/officeDocument/2006/relationships/slideLayout" Target="../slideLayouts/slideLayout2.xml"/><Relationship Id="rId5" Type="http://schemas.openxmlformats.org/officeDocument/2006/relationships/image" Target="../media/image1.jpg"/><Relationship Id="rId4" Type="http://schemas.openxmlformats.org/officeDocument/2006/relationships/image" Target="../media/image27.png"/></Relationships>
</file>

<file path=ppt/slides/_rels/slide32.xml.rels><?xml version="1.0" encoding="UTF-8" standalone="yes"?>
<Relationships xmlns="http://schemas.openxmlformats.org/package/2006/relationships"><Relationship Id="rId3" Type="http://schemas.openxmlformats.org/officeDocument/2006/relationships/image" Target="../media/image1.jpg"/><Relationship Id="rId2" Type="http://schemas.openxmlformats.org/officeDocument/2006/relationships/notesSlide" Target="../notesSlides/notesSlide11.xml"/><Relationship Id="rId1" Type="http://schemas.openxmlformats.org/officeDocument/2006/relationships/slideLayout" Target="../slideLayouts/slideLayout2.xml"/></Relationships>
</file>

<file path=ppt/slides/_rels/slide33.xml.rels><?xml version="1.0" encoding="UTF-8" standalone="yes"?>
<Relationships xmlns="http://schemas.openxmlformats.org/package/2006/relationships"><Relationship Id="rId3" Type="http://schemas.openxmlformats.org/officeDocument/2006/relationships/image" Target="../media/image1.jpg"/><Relationship Id="rId2" Type="http://schemas.openxmlformats.org/officeDocument/2006/relationships/notesSlide" Target="../notesSlides/notesSlide12.xml"/><Relationship Id="rId1" Type="http://schemas.openxmlformats.org/officeDocument/2006/relationships/slideLayout" Target="../slideLayouts/slideLayout2.xml"/></Relationships>
</file>

<file path=ppt/slides/_rels/slide34.xml.rels><?xml version="1.0" encoding="UTF-8" standalone="yes"?>
<Relationships xmlns="http://schemas.openxmlformats.org/package/2006/relationships"><Relationship Id="rId3" Type="http://schemas.openxmlformats.org/officeDocument/2006/relationships/image" Target="../media/image1.jpg"/><Relationship Id="rId2" Type="http://schemas.openxmlformats.org/officeDocument/2006/relationships/notesSlide" Target="../notesSlides/notesSlide13.xml"/><Relationship Id="rId1" Type="http://schemas.openxmlformats.org/officeDocument/2006/relationships/slideLayout" Target="../slideLayouts/slideLayout2.xml"/></Relationships>
</file>

<file path=ppt/slides/_rels/slide35.xml.rels><?xml version="1.0" encoding="UTF-8" standalone="yes"?>
<Relationships xmlns="http://schemas.openxmlformats.org/package/2006/relationships"><Relationship Id="rId3" Type="http://schemas.openxmlformats.org/officeDocument/2006/relationships/image" Target="../media/image191.png"/><Relationship Id="rId2" Type="http://schemas.openxmlformats.org/officeDocument/2006/relationships/notesSlide" Target="../notesSlides/notesSlide14.xml"/><Relationship Id="rId1" Type="http://schemas.openxmlformats.org/officeDocument/2006/relationships/slideLayout" Target="../slideLayouts/slideLayout2.xml"/><Relationship Id="rId4" Type="http://schemas.openxmlformats.org/officeDocument/2006/relationships/image" Target="../media/image1.jpg"/></Relationships>
</file>

<file path=ppt/slides/_rels/slide36.xml.rels><?xml version="1.0" encoding="UTF-8" standalone="yes"?>
<Relationships xmlns="http://schemas.openxmlformats.org/package/2006/relationships"><Relationship Id="rId3" Type="http://schemas.openxmlformats.org/officeDocument/2006/relationships/image" Target="../media/image250.png"/><Relationship Id="rId2" Type="http://schemas.openxmlformats.org/officeDocument/2006/relationships/notesSlide" Target="../notesSlides/notesSlide15.xml"/><Relationship Id="rId1" Type="http://schemas.openxmlformats.org/officeDocument/2006/relationships/slideLayout" Target="../slideLayouts/slideLayout2.xml"/><Relationship Id="rId5" Type="http://schemas.openxmlformats.org/officeDocument/2006/relationships/image" Target="../media/image1.jpg"/><Relationship Id="rId4" Type="http://schemas.openxmlformats.org/officeDocument/2006/relationships/image" Target="../media/image280.png"/></Relationships>
</file>

<file path=ppt/slides/_rels/slide37.xml.rels><?xml version="1.0" encoding="UTF-8" standalone="yes"?>
<Relationships xmlns="http://schemas.openxmlformats.org/package/2006/relationships"><Relationship Id="rId3" Type="http://schemas.openxmlformats.org/officeDocument/2006/relationships/image" Target="../media/image181.png"/><Relationship Id="rId2" Type="http://schemas.openxmlformats.org/officeDocument/2006/relationships/notesSlide" Target="../notesSlides/notesSlide16.xml"/><Relationship Id="rId1" Type="http://schemas.openxmlformats.org/officeDocument/2006/relationships/slideLayout" Target="../slideLayouts/slideLayout2.xml"/></Relationships>
</file>

<file path=ppt/slides/_rels/slide38.xml.rels><?xml version="1.0" encoding="UTF-8" standalone="yes"?>
<Relationships xmlns="http://schemas.openxmlformats.org/package/2006/relationships"><Relationship Id="rId3" Type="http://schemas.openxmlformats.org/officeDocument/2006/relationships/image" Target="../media/image300.png"/><Relationship Id="rId2" Type="http://schemas.openxmlformats.org/officeDocument/2006/relationships/notesSlide" Target="../notesSlides/notesSlide17.xml"/><Relationship Id="rId1" Type="http://schemas.openxmlformats.org/officeDocument/2006/relationships/slideLayout" Target="../slideLayouts/slideLayout2.xml"/><Relationship Id="rId5" Type="http://schemas.openxmlformats.org/officeDocument/2006/relationships/image" Target="../media/image182.png"/><Relationship Id="rId4" Type="http://schemas.openxmlformats.org/officeDocument/2006/relationships/image" Target="../media/image31.png"/></Relationships>
</file>

<file path=ppt/slides/_rels/slide39.xml.rels><?xml version="1.0" encoding="UTF-8" standalone="yes"?>
<Relationships xmlns="http://schemas.openxmlformats.org/package/2006/relationships"><Relationship Id="rId3" Type="http://schemas.openxmlformats.org/officeDocument/2006/relationships/image" Target="../media/image28.gif"/><Relationship Id="rId2" Type="http://schemas.openxmlformats.org/officeDocument/2006/relationships/notesSlide" Target="../notesSlides/notesSlide18.xml"/><Relationship Id="rId1" Type="http://schemas.openxmlformats.org/officeDocument/2006/relationships/slideLayout" Target="../slideLayouts/slideLayout2.xml"/><Relationship Id="rId4" Type="http://schemas.openxmlformats.org/officeDocument/2006/relationships/image" Target="../media/image1.jpg"/></Relationships>
</file>

<file path=ppt/slides/_rels/slide40.xml.rels><?xml version="1.0" encoding="UTF-8" standalone="yes"?>
<Relationships xmlns="http://schemas.openxmlformats.org/package/2006/relationships"><Relationship Id="rId3" Type="http://schemas.openxmlformats.org/officeDocument/2006/relationships/image" Target="../media/image34.png"/><Relationship Id="rId2" Type="http://schemas.openxmlformats.org/officeDocument/2006/relationships/notesSlide" Target="../notesSlides/notesSlide19.xml"/><Relationship Id="rId1" Type="http://schemas.openxmlformats.org/officeDocument/2006/relationships/slideLayout" Target="../slideLayouts/slideLayout2.xml"/><Relationship Id="rId5" Type="http://schemas.openxmlformats.org/officeDocument/2006/relationships/image" Target="../media/image1.jpg"/><Relationship Id="rId4" Type="http://schemas.openxmlformats.org/officeDocument/2006/relationships/image" Target="../media/image35.png"/></Relationships>
</file>

<file path=ppt/slides/_rels/slide41.xml.rels><?xml version="1.0" encoding="UTF-8" standalone="yes"?>
<Relationships xmlns="http://schemas.openxmlformats.org/package/2006/relationships"><Relationship Id="rId3" Type="http://schemas.openxmlformats.org/officeDocument/2006/relationships/image" Target="../media/image29.png"/><Relationship Id="rId2" Type="http://schemas.openxmlformats.org/officeDocument/2006/relationships/notesSlide" Target="../notesSlides/notesSlide20.xml"/><Relationship Id="rId1" Type="http://schemas.openxmlformats.org/officeDocument/2006/relationships/slideLayout" Target="../slideLayouts/slideLayout2.xml"/><Relationship Id="rId4" Type="http://schemas.openxmlformats.org/officeDocument/2006/relationships/image" Target="../media/image1.jpg"/></Relationships>
</file>

<file path=ppt/slides/_rels/slide42.xml.rels><?xml version="1.0" encoding="UTF-8" standalone="yes"?>
<Relationships xmlns="http://schemas.openxmlformats.org/package/2006/relationships"><Relationship Id="rId3" Type="http://schemas.openxmlformats.org/officeDocument/2006/relationships/image" Target="../media/image251.png"/><Relationship Id="rId7" Type="http://schemas.openxmlformats.org/officeDocument/2006/relationships/image" Target="../media/image1.jpg"/><Relationship Id="rId2" Type="http://schemas.openxmlformats.org/officeDocument/2006/relationships/notesSlide" Target="../notesSlides/notesSlide21.xml"/><Relationship Id="rId1" Type="http://schemas.openxmlformats.org/officeDocument/2006/relationships/slideLayout" Target="../slideLayouts/slideLayout2.xml"/><Relationship Id="rId6" Type="http://schemas.openxmlformats.org/officeDocument/2006/relationships/image" Target="../media/image290.png"/><Relationship Id="rId5" Type="http://schemas.openxmlformats.org/officeDocument/2006/relationships/image" Target="../media/image270.png"/><Relationship Id="rId4" Type="http://schemas.openxmlformats.org/officeDocument/2006/relationships/image" Target="../media/image260.png"/></Relationships>
</file>

<file path=ppt/slides/_rels/slide43.xml.rels><?xml version="1.0" encoding="UTF-8" standalone="yes"?>
<Relationships xmlns="http://schemas.openxmlformats.org/package/2006/relationships"><Relationship Id="rId8" Type="http://schemas.openxmlformats.org/officeDocument/2006/relationships/image" Target="../media/image46.png"/><Relationship Id="rId7" Type="http://schemas.openxmlformats.org/officeDocument/2006/relationships/image" Target="../media/image45.png"/><Relationship Id="rId2" Type="http://schemas.openxmlformats.org/officeDocument/2006/relationships/notesSlide" Target="../notesSlides/notesSlide22.xml"/><Relationship Id="rId1" Type="http://schemas.openxmlformats.org/officeDocument/2006/relationships/slideLayout" Target="../slideLayouts/slideLayout2.xml"/><Relationship Id="rId6" Type="http://schemas.openxmlformats.org/officeDocument/2006/relationships/image" Target="../media/image44.png"/><Relationship Id="rId11" Type="http://schemas.openxmlformats.org/officeDocument/2006/relationships/image" Target="../media/image1.jpg"/><Relationship Id="rId5" Type="http://schemas.openxmlformats.org/officeDocument/2006/relationships/image" Target="../media/image43.png"/><Relationship Id="rId10" Type="http://schemas.openxmlformats.org/officeDocument/2006/relationships/image" Target="../media/image330.png"/><Relationship Id="rId4" Type="http://schemas.openxmlformats.org/officeDocument/2006/relationships/image" Target="../media/image42.png"/><Relationship Id="rId9" Type="http://schemas.openxmlformats.org/officeDocument/2006/relationships/image" Target="../media/image47.png"/></Relationships>
</file>

<file path=ppt/slides/_rels/slide44.xml.rels><?xml version="1.0" encoding="UTF-8" standalone="yes"?>
<Relationships xmlns="http://schemas.openxmlformats.org/package/2006/relationships"><Relationship Id="rId8" Type="http://schemas.openxmlformats.org/officeDocument/2006/relationships/image" Target="../media/image32.png"/><Relationship Id="rId3" Type="http://schemas.microsoft.com/office/2007/relationships/media" Target="../media/media2.mp4"/><Relationship Id="rId7" Type="http://schemas.openxmlformats.org/officeDocument/2006/relationships/image" Target="../media/image30.png"/><Relationship Id="rId2" Type="http://schemas.openxmlformats.org/officeDocument/2006/relationships/video" Target="../media/media1.mp4"/><Relationship Id="rId1" Type="http://schemas.microsoft.com/office/2007/relationships/media" Target="../media/media1.mp4"/><Relationship Id="rId6" Type="http://schemas.openxmlformats.org/officeDocument/2006/relationships/notesSlide" Target="../notesSlides/notesSlide23.xml"/><Relationship Id="rId5" Type="http://schemas.openxmlformats.org/officeDocument/2006/relationships/slideLayout" Target="../slideLayouts/slideLayout2.xml"/><Relationship Id="rId10" Type="http://schemas.openxmlformats.org/officeDocument/2006/relationships/image" Target="../media/image1.jpg"/><Relationship Id="rId4" Type="http://schemas.openxmlformats.org/officeDocument/2006/relationships/video" Target="../media/media2.mp4"/><Relationship Id="rId9" Type="http://schemas.openxmlformats.org/officeDocument/2006/relationships/image" Target="../media/image380.png"/></Relationships>
</file>

<file path=ppt/slides/_rels/slide45.xml.rels><?xml version="1.0" encoding="UTF-8" standalone="yes"?>
<Relationships xmlns="http://schemas.openxmlformats.org/package/2006/relationships"><Relationship Id="rId8" Type="http://schemas.openxmlformats.org/officeDocument/2006/relationships/image" Target="../media/image1.jpg"/><Relationship Id="rId3" Type="http://schemas.openxmlformats.org/officeDocument/2006/relationships/image" Target="../media/image50.png"/><Relationship Id="rId7" Type="http://schemas.openxmlformats.org/officeDocument/2006/relationships/image" Target="../media/image54.png"/><Relationship Id="rId2" Type="http://schemas.openxmlformats.org/officeDocument/2006/relationships/notesSlide" Target="../notesSlides/notesSlide24.xml"/><Relationship Id="rId1" Type="http://schemas.openxmlformats.org/officeDocument/2006/relationships/slideLayout" Target="../slideLayouts/slideLayout2.xml"/><Relationship Id="rId6" Type="http://schemas.openxmlformats.org/officeDocument/2006/relationships/image" Target="../media/image53.png"/><Relationship Id="rId5" Type="http://schemas.openxmlformats.org/officeDocument/2006/relationships/image" Target="../media/image52.png"/><Relationship Id="rId4" Type="http://schemas.openxmlformats.org/officeDocument/2006/relationships/image" Target="../media/image51.png"/></Relationships>
</file>

<file path=ppt/slides/_rels/slide46.xml.rels><?xml version="1.0" encoding="UTF-8" standalone="yes"?>
<Relationships xmlns="http://schemas.openxmlformats.org/package/2006/relationships"><Relationship Id="rId3" Type="http://schemas.openxmlformats.org/officeDocument/2006/relationships/image" Target="../media/image42.png"/><Relationship Id="rId2" Type="http://schemas.openxmlformats.org/officeDocument/2006/relationships/notesSlide" Target="../notesSlides/notesSlide25.xml"/><Relationship Id="rId1" Type="http://schemas.openxmlformats.org/officeDocument/2006/relationships/slideLayout" Target="../slideLayouts/slideLayout2.xml"/><Relationship Id="rId6" Type="http://schemas.openxmlformats.org/officeDocument/2006/relationships/image" Target="../media/image1.jpg"/><Relationship Id="rId5" Type="http://schemas.openxmlformats.org/officeDocument/2006/relationships/image" Target="../media/image55.png"/><Relationship Id="rId4" Type="http://schemas.openxmlformats.org/officeDocument/2006/relationships/image" Target="../media/image43.png"/></Relationships>
</file>

<file path=ppt/slides/_rels/slide47.xml.rels><?xml version="1.0" encoding="UTF-8" standalone="yes"?>
<Relationships xmlns="http://schemas.openxmlformats.org/package/2006/relationships"><Relationship Id="rId3" Type="http://schemas.openxmlformats.org/officeDocument/2006/relationships/image" Target="../media/image33.png"/><Relationship Id="rId2" Type="http://schemas.openxmlformats.org/officeDocument/2006/relationships/notesSlide" Target="../notesSlides/notesSlide26.xml"/><Relationship Id="rId1" Type="http://schemas.openxmlformats.org/officeDocument/2006/relationships/slideLayout" Target="../slideLayouts/slideLayout2.xml"/><Relationship Id="rId4" Type="http://schemas.openxmlformats.org/officeDocument/2006/relationships/image" Target="../media/image1.jpg"/></Relationships>
</file>

<file path=ppt/slides/_rels/slide48.xml.rels><?xml version="1.0" encoding="UTF-8" standalone="yes"?>
<Relationships xmlns="http://schemas.openxmlformats.org/package/2006/relationships"><Relationship Id="rId3" Type="http://schemas.openxmlformats.org/officeDocument/2006/relationships/image" Target="../media/image36.png"/><Relationship Id="rId2" Type="http://schemas.openxmlformats.org/officeDocument/2006/relationships/notesSlide" Target="../notesSlides/notesSlide27.xml"/><Relationship Id="rId1" Type="http://schemas.openxmlformats.org/officeDocument/2006/relationships/slideLayout" Target="../slideLayouts/slideLayout2.xml"/><Relationship Id="rId4" Type="http://schemas.openxmlformats.org/officeDocument/2006/relationships/image" Target="../media/image1.jpg"/></Relationships>
</file>

<file path=ppt/slides/_rels/slide49.xml.rels><?xml version="1.0" encoding="UTF-8" standalone="yes"?>
<Relationships xmlns="http://schemas.openxmlformats.org/package/2006/relationships"><Relationship Id="rId3" Type="http://schemas.openxmlformats.org/officeDocument/2006/relationships/image" Target="../media/image37.png"/><Relationship Id="rId2" Type="http://schemas.openxmlformats.org/officeDocument/2006/relationships/notesSlide" Target="../notesSlides/notesSlide28.xml"/><Relationship Id="rId1" Type="http://schemas.openxmlformats.org/officeDocument/2006/relationships/slideLayout" Target="../slideLayouts/slideLayout2.xml"/><Relationship Id="rId4" Type="http://schemas.openxmlformats.org/officeDocument/2006/relationships/image" Target="../media/image1.jpg"/></Relationships>
</file>

<file path=ppt/slides/_rels/slide50.xml.rels><?xml version="1.0" encoding="UTF-8" standalone="yes"?>
<Relationships xmlns="http://schemas.openxmlformats.org/package/2006/relationships"><Relationship Id="rId3" Type="http://schemas.openxmlformats.org/officeDocument/2006/relationships/image" Target="../media/image38.png"/><Relationship Id="rId2" Type="http://schemas.openxmlformats.org/officeDocument/2006/relationships/notesSlide" Target="../notesSlides/notesSlide29.xml"/><Relationship Id="rId1" Type="http://schemas.openxmlformats.org/officeDocument/2006/relationships/slideLayout" Target="../slideLayouts/slideLayout2.xml"/><Relationship Id="rId5" Type="http://schemas.openxmlformats.org/officeDocument/2006/relationships/image" Target="../media/image1.jpg"/><Relationship Id="rId4" Type="http://schemas.openxmlformats.org/officeDocument/2006/relationships/image" Target="../media/image39.png"/></Relationships>
</file>

<file path=ppt/slides/_rels/slide51.xml.rels><?xml version="1.0" encoding="UTF-8" standalone="yes"?>
<Relationships xmlns="http://schemas.openxmlformats.org/package/2006/relationships"><Relationship Id="rId3" Type="http://schemas.openxmlformats.org/officeDocument/2006/relationships/image" Target="../media/image39.png"/><Relationship Id="rId2" Type="http://schemas.openxmlformats.org/officeDocument/2006/relationships/notesSlide" Target="../notesSlides/notesSlide30.xml"/><Relationship Id="rId1" Type="http://schemas.openxmlformats.org/officeDocument/2006/relationships/slideLayout" Target="../slideLayouts/slideLayout2.xml"/><Relationship Id="rId5" Type="http://schemas.openxmlformats.org/officeDocument/2006/relationships/image" Target="../media/image1.jpg"/><Relationship Id="rId4" Type="http://schemas.openxmlformats.org/officeDocument/2006/relationships/image" Target="../media/image40.png"/></Relationships>
</file>

<file path=ppt/slides/_rels/slide52.xml.rels><?xml version="1.0" encoding="UTF-8" standalone="yes"?>
<Relationships xmlns="http://schemas.openxmlformats.org/package/2006/relationships"><Relationship Id="rId3" Type="http://schemas.openxmlformats.org/officeDocument/2006/relationships/image" Target="../media/image39.png"/><Relationship Id="rId2" Type="http://schemas.openxmlformats.org/officeDocument/2006/relationships/notesSlide" Target="../notesSlides/notesSlide31.xml"/><Relationship Id="rId1" Type="http://schemas.openxmlformats.org/officeDocument/2006/relationships/slideLayout" Target="../slideLayouts/slideLayout2.xml"/><Relationship Id="rId5" Type="http://schemas.openxmlformats.org/officeDocument/2006/relationships/image" Target="../media/image1.jpg"/><Relationship Id="rId4" Type="http://schemas.openxmlformats.org/officeDocument/2006/relationships/image" Target="../media/image41.png"/></Relationships>
</file>

<file path=ppt/slides/_rels/slide53.xml.rels><?xml version="1.0" encoding="UTF-8" standalone="yes"?>
<Relationships xmlns="http://schemas.openxmlformats.org/package/2006/relationships"><Relationship Id="rId3" Type="http://schemas.openxmlformats.org/officeDocument/2006/relationships/image" Target="../media/image48.png"/><Relationship Id="rId2" Type="http://schemas.openxmlformats.org/officeDocument/2006/relationships/notesSlide" Target="../notesSlides/notesSlide32.xml"/><Relationship Id="rId1" Type="http://schemas.openxmlformats.org/officeDocument/2006/relationships/slideLayout" Target="../slideLayouts/slideLayout2.xml"/><Relationship Id="rId5" Type="http://schemas.openxmlformats.org/officeDocument/2006/relationships/image" Target="../media/image1.jpg"/><Relationship Id="rId4" Type="http://schemas.openxmlformats.org/officeDocument/2006/relationships/image" Target="../media/image49.png"/></Relationships>
</file>

<file path=ppt/slides/_rels/slide54.xml.rels><?xml version="1.0" encoding="UTF-8" standalone="yes"?>
<Relationships xmlns="http://schemas.openxmlformats.org/package/2006/relationships"><Relationship Id="rId3" Type="http://schemas.openxmlformats.org/officeDocument/2006/relationships/image" Target="../media/image57.png"/><Relationship Id="rId2" Type="http://schemas.microsoft.com/office/2017/06/relationships/model3d" Target="../media/model3d3.glb"/><Relationship Id="rId1" Type="http://schemas.openxmlformats.org/officeDocument/2006/relationships/slideLayout" Target="../slideLayouts/slideLayout2.xml"/><Relationship Id="rId5" Type="http://schemas.openxmlformats.org/officeDocument/2006/relationships/image" Target="../media/image61.png"/><Relationship Id="rId4" Type="http://schemas.openxmlformats.org/officeDocument/2006/relationships/customXml" Target="../ink/ink4.xml"/></Relationships>
</file>

<file path=ppt/slides/_rels/slide55.xml.rels><?xml version="1.0" encoding="UTF-8" standalone="yes"?>
<Relationships xmlns="http://schemas.openxmlformats.org/package/2006/relationships"><Relationship Id="rId3" Type="http://schemas.openxmlformats.org/officeDocument/2006/relationships/image" Target="../media/image59.png"/><Relationship Id="rId2" Type="http://schemas.openxmlformats.org/officeDocument/2006/relationships/image" Target="../media/image58.png"/><Relationship Id="rId1" Type="http://schemas.openxmlformats.org/officeDocument/2006/relationships/slideLayout" Target="../slideLayouts/slideLayout2.xml"/><Relationship Id="rId5" Type="http://schemas.openxmlformats.org/officeDocument/2006/relationships/hyperlink" Target="https://www.youtube.com/watch?v=iv8rSLsi1xo" TargetMode="External"/><Relationship Id="rId4" Type="http://schemas.openxmlformats.org/officeDocument/2006/relationships/hyperlink" Target="https://www.youtube.com/watch?v=HW29067qVWk" TargetMode="Externa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EB60519-0576-1983-232F-25E4DD832F21}"/>
              </a:ext>
            </a:extLst>
          </p:cNvPr>
          <p:cNvSpPr>
            <a:spLocks noGrp="1"/>
          </p:cNvSpPr>
          <p:nvPr>
            <p:ph type="ctrTitle"/>
          </p:nvPr>
        </p:nvSpPr>
        <p:spPr/>
        <p:txBody>
          <a:bodyPr>
            <a:normAutofit fontScale="90000"/>
          </a:bodyPr>
          <a:lstStyle/>
          <a:p>
            <a:pPr algn="l"/>
            <a:r>
              <a:rPr lang="en-GB" b="1" dirty="0"/>
              <a:t>Lesson 1 — Introduction to Artificial Intelligence and Machine Learning</a:t>
            </a:r>
            <a:endParaRPr lang="en-US" dirty="0"/>
          </a:p>
        </p:txBody>
      </p:sp>
      <p:sp>
        <p:nvSpPr>
          <p:cNvPr id="3" name="Subtitle 2">
            <a:extLst>
              <a:ext uri="{FF2B5EF4-FFF2-40B4-BE49-F238E27FC236}">
                <a16:creationId xmlns:a16="http://schemas.microsoft.com/office/drawing/2014/main" id="{B476EDD4-63C7-C615-F8B9-2424F4C31904}"/>
              </a:ext>
            </a:extLst>
          </p:cNvPr>
          <p:cNvSpPr>
            <a:spLocks noGrp="1"/>
          </p:cNvSpPr>
          <p:nvPr>
            <p:ph type="subTitle" idx="1"/>
          </p:nvPr>
        </p:nvSpPr>
        <p:spPr>
          <a:xfrm>
            <a:off x="1404078" y="3674854"/>
            <a:ext cx="8750311" cy="1655762"/>
          </a:xfrm>
        </p:spPr>
        <p:txBody>
          <a:bodyPr/>
          <a:lstStyle/>
          <a:p>
            <a:r>
              <a:rPr lang="en-GB" b="1" dirty="0"/>
              <a:t>Lesson 1: Concepts, Terminology and Learning Approaches</a:t>
            </a:r>
            <a:endParaRPr lang="en-GB" dirty="0"/>
          </a:p>
          <a:p>
            <a:endParaRPr lang="en-US" dirty="0"/>
          </a:p>
        </p:txBody>
      </p:sp>
      <p:sp>
        <p:nvSpPr>
          <p:cNvPr id="4" name="Rectangle">
            <a:extLst>
              <a:ext uri="{FF2B5EF4-FFF2-40B4-BE49-F238E27FC236}">
                <a16:creationId xmlns:a16="http://schemas.microsoft.com/office/drawing/2014/main" id="{14521923-A073-4C5E-A7C6-44D4EC7A8CCD}"/>
              </a:ext>
            </a:extLst>
          </p:cNvPr>
          <p:cNvSpPr/>
          <p:nvPr/>
        </p:nvSpPr>
        <p:spPr>
          <a:xfrm>
            <a:off x="-11767" y="6545179"/>
            <a:ext cx="12203767" cy="315200"/>
          </a:xfrm>
          <a:prstGeom prst="rect">
            <a:avLst/>
          </a:prstGeom>
          <a:solidFill>
            <a:schemeClr val="tx1"/>
          </a:solidFill>
          <a:ln w="12700">
            <a:noFill/>
            <a:miter lim="400000"/>
          </a:ln>
        </p:spPr>
        <p:txBody>
          <a:bodyPr lIns="45719" rIns="45719" anchor="ctr"/>
          <a:lstStyle/>
          <a:p>
            <a:endParaRPr/>
          </a:p>
        </p:txBody>
      </p:sp>
      <p:pic>
        <p:nvPicPr>
          <p:cNvPr id="5" name="Picture 4" descr="Frontier Tech Leaders (@FTLeadersProg) / X">
            <a:extLst>
              <a:ext uri="{FF2B5EF4-FFF2-40B4-BE49-F238E27FC236}">
                <a16:creationId xmlns:a16="http://schemas.microsoft.com/office/drawing/2014/main" id="{7E8AB5E7-4C0E-4969-0E18-4CB6F78C3B45}"/>
              </a:ext>
            </a:extLst>
          </p:cNvPr>
          <p:cNvPicPr>
            <a:picLocks noChangeAspect="1"/>
          </p:cNvPicPr>
          <p:nvPr/>
        </p:nvPicPr>
        <p:blipFill>
          <a:blip r:embed="rId2"/>
          <a:stretch>
            <a:fillRect/>
          </a:stretch>
        </p:blipFill>
        <p:spPr>
          <a:xfrm>
            <a:off x="10668000" y="94470"/>
            <a:ext cx="1027893" cy="1027893"/>
          </a:xfrm>
          <a:prstGeom prst="rect">
            <a:avLst/>
          </a:prstGeom>
        </p:spPr>
      </p:pic>
    </p:spTree>
    <p:extLst>
      <p:ext uri="{BB962C8B-B14F-4D97-AF65-F5344CB8AC3E}">
        <p14:creationId xmlns:p14="http://schemas.microsoft.com/office/powerpoint/2010/main" val="91846876"/>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1634254-F7F1-951A-089B-E835CB1BA389}"/>
              </a:ext>
            </a:extLst>
          </p:cNvPr>
          <p:cNvSpPr>
            <a:spLocks noGrp="1"/>
          </p:cNvSpPr>
          <p:nvPr>
            <p:ph type="title"/>
          </p:nvPr>
        </p:nvSpPr>
        <p:spPr/>
        <p:txBody>
          <a:bodyPr/>
          <a:lstStyle/>
          <a:p>
            <a:r>
              <a:rPr lang="en-GB" b="1" dirty="0"/>
              <a:t>Learning Objectives</a:t>
            </a:r>
            <a:endParaRPr lang="en-US" dirty="0"/>
          </a:p>
        </p:txBody>
      </p:sp>
      <p:sp>
        <p:nvSpPr>
          <p:cNvPr id="3" name="Content Placeholder 2">
            <a:extLst>
              <a:ext uri="{FF2B5EF4-FFF2-40B4-BE49-F238E27FC236}">
                <a16:creationId xmlns:a16="http://schemas.microsoft.com/office/drawing/2014/main" id="{5C9ABB1B-BC79-4D28-691E-8DAD3335E500}"/>
              </a:ext>
            </a:extLst>
          </p:cNvPr>
          <p:cNvSpPr>
            <a:spLocks noGrp="1"/>
          </p:cNvSpPr>
          <p:nvPr>
            <p:ph idx="1"/>
          </p:nvPr>
        </p:nvSpPr>
        <p:spPr>
          <a:xfrm>
            <a:off x="2338465" y="1942264"/>
            <a:ext cx="6526967" cy="4351338"/>
          </a:xfrm>
        </p:spPr>
        <p:txBody>
          <a:bodyPr>
            <a:normAutofit/>
          </a:bodyPr>
          <a:lstStyle/>
          <a:p>
            <a:pPr lvl="0"/>
            <a:r>
              <a:rPr lang="en-GB" sz="1800" dirty="0"/>
              <a:t>Distinguish artificial intelligence, machine learning and deep learning.</a:t>
            </a:r>
          </a:p>
          <a:p>
            <a:pPr lvl="0"/>
            <a:r>
              <a:rPr lang="en-GB" sz="1800" dirty="0"/>
              <a:t>Explain the main terminology used in a machine learning project.</a:t>
            </a:r>
          </a:p>
          <a:p>
            <a:pPr lvl="0"/>
            <a:r>
              <a:rPr lang="en-GB" sz="1800" dirty="0"/>
              <a:t>Distinguish supervised, unsupervised and reinforcement learning.</a:t>
            </a:r>
          </a:p>
          <a:p>
            <a:pPr lvl="0"/>
            <a:r>
              <a:rPr lang="en-GB" sz="1800" dirty="0"/>
              <a:t>Recognise regression, classification, clustering and dimensionality reduction.</a:t>
            </a:r>
          </a:p>
          <a:p>
            <a:pPr lvl="0"/>
            <a:r>
              <a:rPr lang="en-GB" sz="1800" dirty="0"/>
              <a:t>Identify common algorithms and the tasks they address.</a:t>
            </a:r>
          </a:p>
          <a:p>
            <a:pPr lvl="0"/>
            <a:r>
              <a:rPr lang="en-GB" sz="1800" dirty="0"/>
              <a:t>Formulate a climate problem as a machine learning task.</a:t>
            </a:r>
          </a:p>
        </p:txBody>
      </p:sp>
      <p:sp>
        <p:nvSpPr>
          <p:cNvPr id="4" name="Rectangle">
            <a:extLst>
              <a:ext uri="{FF2B5EF4-FFF2-40B4-BE49-F238E27FC236}">
                <a16:creationId xmlns:a16="http://schemas.microsoft.com/office/drawing/2014/main" id="{43CA9EC6-15EE-2C68-30BB-357EA62BCFAB}"/>
              </a:ext>
            </a:extLst>
          </p:cNvPr>
          <p:cNvSpPr/>
          <p:nvPr/>
        </p:nvSpPr>
        <p:spPr>
          <a:xfrm>
            <a:off x="-11767" y="6545179"/>
            <a:ext cx="12203767" cy="315200"/>
          </a:xfrm>
          <a:prstGeom prst="rect">
            <a:avLst/>
          </a:prstGeom>
          <a:solidFill>
            <a:schemeClr val="tx1"/>
          </a:solidFill>
          <a:ln w="12700">
            <a:noFill/>
            <a:miter lim="400000"/>
          </a:ln>
        </p:spPr>
        <p:txBody>
          <a:bodyPr lIns="45719" rIns="45719" anchor="ctr"/>
          <a:lstStyle/>
          <a:p>
            <a:endParaRPr/>
          </a:p>
        </p:txBody>
      </p:sp>
      <p:sp>
        <p:nvSpPr>
          <p:cNvPr id="5" name="Rectangle 4">
            <a:extLst>
              <a:ext uri="{FF2B5EF4-FFF2-40B4-BE49-F238E27FC236}">
                <a16:creationId xmlns:a16="http://schemas.microsoft.com/office/drawing/2014/main" id="{D6F55D77-D07C-BD9A-BBEC-2EAD0EBE647C}"/>
              </a:ext>
            </a:extLst>
          </p:cNvPr>
          <p:cNvSpPr/>
          <p:nvPr/>
        </p:nvSpPr>
        <p:spPr>
          <a:xfrm>
            <a:off x="2113613" y="1690688"/>
            <a:ext cx="7959777" cy="4065535"/>
          </a:xfrm>
          <a:prstGeom prst="rect">
            <a:avLst/>
          </a:prstGeom>
          <a:no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1523273470"/>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42CD28C-94E3-BE0C-6811-CE83FFCC522C}"/>
              </a:ext>
            </a:extLst>
          </p:cNvPr>
          <p:cNvSpPr>
            <a:spLocks noGrp="1"/>
          </p:cNvSpPr>
          <p:nvPr>
            <p:ph type="title"/>
          </p:nvPr>
        </p:nvSpPr>
        <p:spPr>
          <a:xfrm>
            <a:off x="838200" y="365125"/>
            <a:ext cx="9220200" cy="1325563"/>
          </a:xfrm>
        </p:spPr>
        <p:txBody>
          <a:bodyPr>
            <a:normAutofit/>
          </a:bodyPr>
          <a:lstStyle/>
          <a:p>
            <a:r>
              <a:rPr lang="en-GB" sz="3000" b="1" dirty="0"/>
              <a:t>Artificial Intelligence, Machine Learning and Deep Learning</a:t>
            </a:r>
            <a:endParaRPr lang="en-US" sz="3000" b="1" dirty="0"/>
          </a:p>
        </p:txBody>
      </p:sp>
      <p:sp>
        <p:nvSpPr>
          <p:cNvPr id="3" name="Content Placeholder 2">
            <a:extLst>
              <a:ext uri="{FF2B5EF4-FFF2-40B4-BE49-F238E27FC236}">
                <a16:creationId xmlns:a16="http://schemas.microsoft.com/office/drawing/2014/main" id="{3F9814BF-1FED-49E2-2205-9E742B2C0E26}"/>
              </a:ext>
            </a:extLst>
          </p:cNvPr>
          <p:cNvSpPr>
            <a:spLocks noGrp="1"/>
          </p:cNvSpPr>
          <p:nvPr>
            <p:ph idx="1"/>
          </p:nvPr>
        </p:nvSpPr>
        <p:spPr>
          <a:xfrm>
            <a:off x="838200" y="2695055"/>
            <a:ext cx="7046626" cy="3256041"/>
          </a:xfrm>
        </p:spPr>
        <p:txBody>
          <a:bodyPr>
            <a:normAutofit/>
          </a:bodyPr>
          <a:lstStyle/>
          <a:p>
            <a:r>
              <a:rPr lang="en-GB" sz="2000" b="1" dirty="0"/>
              <a:t>Artificial intelligence — AI</a:t>
            </a:r>
            <a:endParaRPr lang="en-GB" sz="2000" dirty="0"/>
          </a:p>
          <a:p>
            <a:pPr lvl="1"/>
            <a:r>
              <a:rPr lang="en-GB" sz="1600" dirty="0"/>
              <a:t>The broad field of building computational systems that perform tasks involving capabilities such as perception, reasoning, language understanding, planning and decision-making.</a:t>
            </a:r>
          </a:p>
          <a:p>
            <a:r>
              <a:rPr lang="en-GB" sz="2000" b="1" dirty="0"/>
              <a:t>Machine learning — ML</a:t>
            </a:r>
            <a:endParaRPr lang="en-GB" sz="2000" dirty="0"/>
          </a:p>
          <a:p>
            <a:pPr lvl="1"/>
            <a:r>
              <a:rPr lang="en-GB" sz="1600" dirty="0"/>
              <a:t>A family of AI methods that learns patterns or relationships from data to perform a task.</a:t>
            </a:r>
          </a:p>
          <a:p>
            <a:r>
              <a:rPr lang="en-GB" sz="2000" b="1" dirty="0"/>
              <a:t>Deep learning — DL</a:t>
            </a:r>
            <a:endParaRPr lang="en-GB" sz="2000" dirty="0"/>
          </a:p>
          <a:p>
            <a:pPr lvl="1"/>
            <a:r>
              <a:rPr lang="en-GB" sz="1600" dirty="0"/>
              <a:t>A family of machine learning methods based on neural networks with multiple processing layers that learn representations of data.</a:t>
            </a:r>
          </a:p>
          <a:p>
            <a:endParaRPr lang="en-US" sz="2000" dirty="0"/>
          </a:p>
        </p:txBody>
      </p:sp>
      <p:sp>
        <p:nvSpPr>
          <p:cNvPr id="4" name="Rectangle">
            <a:extLst>
              <a:ext uri="{FF2B5EF4-FFF2-40B4-BE49-F238E27FC236}">
                <a16:creationId xmlns:a16="http://schemas.microsoft.com/office/drawing/2014/main" id="{FE869B7C-02FE-B576-BA72-BC8AB2E8468D}"/>
              </a:ext>
            </a:extLst>
          </p:cNvPr>
          <p:cNvSpPr/>
          <p:nvPr/>
        </p:nvSpPr>
        <p:spPr>
          <a:xfrm>
            <a:off x="-11767" y="6545179"/>
            <a:ext cx="12203767" cy="315200"/>
          </a:xfrm>
          <a:prstGeom prst="rect">
            <a:avLst/>
          </a:prstGeom>
          <a:solidFill>
            <a:schemeClr val="tx1"/>
          </a:solidFill>
          <a:ln w="12700">
            <a:noFill/>
            <a:miter lim="400000"/>
          </a:ln>
        </p:spPr>
        <p:txBody>
          <a:bodyPr lIns="45719" rIns="45719" anchor="ctr"/>
          <a:lstStyle/>
          <a:p>
            <a:endParaRPr/>
          </a:p>
        </p:txBody>
      </p:sp>
      <p:pic>
        <p:nvPicPr>
          <p:cNvPr id="5" name="Picture 4" descr="Frontier Tech Leaders (@FTLeadersProg) / X">
            <a:extLst>
              <a:ext uri="{FF2B5EF4-FFF2-40B4-BE49-F238E27FC236}">
                <a16:creationId xmlns:a16="http://schemas.microsoft.com/office/drawing/2014/main" id="{FA7EF6BA-BF72-589B-7C8A-B6277252B404}"/>
              </a:ext>
            </a:extLst>
          </p:cNvPr>
          <p:cNvPicPr>
            <a:picLocks noChangeAspect="1"/>
          </p:cNvPicPr>
          <p:nvPr/>
        </p:nvPicPr>
        <p:blipFill>
          <a:blip r:embed="rId2"/>
          <a:stretch>
            <a:fillRect/>
          </a:stretch>
        </p:blipFill>
        <p:spPr>
          <a:xfrm>
            <a:off x="10668000" y="94470"/>
            <a:ext cx="1027893" cy="1027893"/>
          </a:xfrm>
          <a:prstGeom prst="rect">
            <a:avLst/>
          </a:prstGeom>
        </p:spPr>
      </p:pic>
      <p:pic>
        <p:nvPicPr>
          <p:cNvPr id="7" name="Picture 6" descr="The Relationship Between Artificial Intelligence (AI), Machine Learning (ML)  and Deep Learning (DL) - The Blog of Daniel J Hand">
            <a:extLst>
              <a:ext uri="{FF2B5EF4-FFF2-40B4-BE49-F238E27FC236}">
                <a16:creationId xmlns:a16="http://schemas.microsoft.com/office/drawing/2014/main" id="{D0B38D69-37AC-1AF4-D153-DCCA59DE04BE}"/>
              </a:ext>
            </a:extLst>
          </p:cNvPr>
          <p:cNvPicPr>
            <a:picLocks noChangeAspect="1"/>
          </p:cNvPicPr>
          <p:nvPr/>
        </p:nvPicPr>
        <p:blipFill>
          <a:blip r:embed="rId3"/>
          <a:stretch>
            <a:fillRect/>
          </a:stretch>
        </p:blipFill>
        <p:spPr>
          <a:xfrm>
            <a:off x="8058150" y="1871205"/>
            <a:ext cx="4000500" cy="4127500"/>
          </a:xfrm>
          <a:prstGeom prst="rect">
            <a:avLst/>
          </a:prstGeom>
        </p:spPr>
      </p:pic>
    </p:spTree>
    <p:extLst>
      <p:ext uri="{BB962C8B-B14F-4D97-AF65-F5344CB8AC3E}">
        <p14:creationId xmlns:p14="http://schemas.microsoft.com/office/powerpoint/2010/main" val="3069758750"/>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EC2BFDB-4B2B-02B6-9ECA-4FE191249720}"/>
              </a:ext>
            </a:extLst>
          </p:cNvPr>
          <p:cNvSpPr>
            <a:spLocks noGrp="1"/>
          </p:cNvSpPr>
          <p:nvPr>
            <p:ph type="title"/>
          </p:nvPr>
        </p:nvSpPr>
        <p:spPr/>
        <p:txBody>
          <a:bodyPr>
            <a:normAutofit/>
          </a:bodyPr>
          <a:lstStyle/>
          <a:p>
            <a:r>
              <a:rPr lang="en-GB" sz="3000" b="1" dirty="0"/>
              <a:t>Data Science and Related Fields</a:t>
            </a:r>
            <a:endParaRPr lang="en-US" sz="3000" b="1" dirty="0"/>
          </a:p>
        </p:txBody>
      </p:sp>
      <p:graphicFrame>
        <p:nvGraphicFramePr>
          <p:cNvPr id="4" name="Table 3">
            <a:extLst>
              <a:ext uri="{FF2B5EF4-FFF2-40B4-BE49-F238E27FC236}">
                <a16:creationId xmlns:a16="http://schemas.microsoft.com/office/drawing/2014/main" id="{0F30D94F-1FC7-9506-F463-450E64E7CC2E}"/>
              </a:ext>
            </a:extLst>
          </p:cNvPr>
          <p:cNvGraphicFramePr>
            <a:graphicFrameLocks noGrp="1"/>
          </p:cNvGraphicFramePr>
          <p:nvPr>
            <p:extLst>
              <p:ext uri="{D42A27DB-BD31-4B8C-83A1-F6EECF244321}">
                <p14:modId xmlns:p14="http://schemas.microsoft.com/office/powerpoint/2010/main" val="3767664846"/>
              </p:ext>
            </p:extLst>
          </p:nvPr>
        </p:nvGraphicFramePr>
        <p:xfrm>
          <a:off x="553388" y="1512659"/>
          <a:ext cx="6896724" cy="4993229"/>
        </p:xfrm>
        <a:graphic>
          <a:graphicData uri="http://schemas.openxmlformats.org/drawingml/2006/table">
            <a:tbl>
              <a:tblPr/>
              <a:tblGrid>
                <a:gridCol w="2298908">
                  <a:extLst>
                    <a:ext uri="{9D8B030D-6E8A-4147-A177-3AD203B41FA5}">
                      <a16:colId xmlns:a16="http://schemas.microsoft.com/office/drawing/2014/main" val="2645959153"/>
                    </a:ext>
                  </a:extLst>
                </a:gridCol>
                <a:gridCol w="2298908">
                  <a:extLst>
                    <a:ext uri="{9D8B030D-6E8A-4147-A177-3AD203B41FA5}">
                      <a16:colId xmlns:a16="http://schemas.microsoft.com/office/drawing/2014/main" val="1314731019"/>
                    </a:ext>
                  </a:extLst>
                </a:gridCol>
                <a:gridCol w="2298908">
                  <a:extLst>
                    <a:ext uri="{9D8B030D-6E8A-4147-A177-3AD203B41FA5}">
                      <a16:colId xmlns:a16="http://schemas.microsoft.com/office/drawing/2014/main" val="749138005"/>
                    </a:ext>
                  </a:extLst>
                </a:gridCol>
              </a:tblGrid>
              <a:tr h="390749">
                <a:tc>
                  <a:txBody>
                    <a:bodyPr/>
                    <a:lstStyle/>
                    <a:p>
                      <a:pPr>
                        <a:buNone/>
                      </a:pPr>
                      <a:r>
                        <a:rPr lang="en-GB" sz="1600" b="1">
                          <a:solidFill>
                            <a:schemeClr val="bg1"/>
                          </a:solidFill>
                        </a:rPr>
                        <a:t>Concept</a:t>
                      </a:r>
                    </a:p>
                  </a:txBody>
                  <a:tcPr anchor="ctr">
                    <a:solidFill>
                      <a:schemeClr val="tx1"/>
                    </a:solidFill>
                  </a:tcPr>
                </a:tc>
                <a:tc>
                  <a:txBody>
                    <a:bodyPr/>
                    <a:lstStyle/>
                    <a:p>
                      <a:pPr>
                        <a:buNone/>
                      </a:pPr>
                      <a:r>
                        <a:rPr lang="en-GB" sz="1600" b="1" dirty="0">
                          <a:solidFill>
                            <a:schemeClr val="bg1"/>
                          </a:solidFill>
                        </a:rPr>
                        <a:t>Main purpose</a:t>
                      </a:r>
                    </a:p>
                  </a:txBody>
                  <a:tcPr anchor="ctr">
                    <a:solidFill>
                      <a:schemeClr val="tx1"/>
                    </a:solidFill>
                  </a:tcPr>
                </a:tc>
                <a:tc>
                  <a:txBody>
                    <a:bodyPr/>
                    <a:lstStyle/>
                    <a:p>
                      <a:pPr>
                        <a:buNone/>
                      </a:pPr>
                      <a:r>
                        <a:rPr lang="en-GB" sz="1600" b="1" dirty="0">
                          <a:solidFill>
                            <a:schemeClr val="bg1"/>
                          </a:solidFill>
                        </a:rPr>
                        <a:t>Climate example</a:t>
                      </a:r>
                    </a:p>
                  </a:txBody>
                  <a:tcPr anchor="ctr">
                    <a:solidFill>
                      <a:schemeClr val="tx1"/>
                    </a:solidFill>
                  </a:tcPr>
                </a:tc>
                <a:extLst>
                  <a:ext uri="{0D108BD9-81ED-4DB2-BD59-A6C34878D82A}">
                    <a16:rowId xmlns:a16="http://schemas.microsoft.com/office/drawing/2014/main" val="2852124589"/>
                  </a:ext>
                </a:extLst>
              </a:tr>
              <a:tr h="1269934">
                <a:tc>
                  <a:txBody>
                    <a:bodyPr/>
                    <a:lstStyle/>
                    <a:p>
                      <a:pPr>
                        <a:buNone/>
                      </a:pPr>
                      <a:r>
                        <a:rPr lang="en-GB" sz="1600" dirty="0"/>
                        <a:t>Data science</a:t>
                      </a:r>
                    </a:p>
                  </a:txBody>
                  <a:tcPr anchor="ctr"/>
                </a:tc>
                <a:tc>
                  <a:txBody>
                    <a:bodyPr/>
                    <a:lstStyle/>
                    <a:p>
                      <a:pPr>
                        <a:buNone/>
                      </a:pPr>
                      <a:r>
                        <a:rPr lang="en-GB" sz="1600" dirty="0"/>
                        <a:t>Extract knowledge and useful results from data using statistics, computing and domain knowledge</a:t>
                      </a:r>
                    </a:p>
                  </a:txBody>
                  <a:tcPr anchor="ctr"/>
                </a:tc>
                <a:tc>
                  <a:txBody>
                    <a:bodyPr/>
                    <a:lstStyle/>
                    <a:p>
                      <a:pPr>
                        <a:buNone/>
                      </a:pPr>
                      <a:r>
                        <a:rPr lang="en-GB" sz="1600" dirty="0"/>
                        <a:t>Analyse rainfall records and communicate trends</a:t>
                      </a:r>
                    </a:p>
                  </a:txBody>
                  <a:tcPr anchor="ctr"/>
                </a:tc>
                <a:extLst>
                  <a:ext uri="{0D108BD9-81ED-4DB2-BD59-A6C34878D82A}">
                    <a16:rowId xmlns:a16="http://schemas.microsoft.com/office/drawing/2014/main" val="2848194562"/>
                  </a:ext>
                </a:extLst>
              </a:tr>
              <a:tr h="683810">
                <a:tc>
                  <a:txBody>
                    <a:bodyPr/>
                    <a:lstStyle/>
                    <a:p>
                      <a:pPr>
                        <a:buNone/>
                      </a:pPr>
                      <a:r>
                        <a:rPr lang="en-GB" sz="1600" dirty="0"/>
                        <a:t>Machine learning</a:t>
                      </a:r>
                    </a:p>
                  </a:txBody>
                  <a:tcPr anchor="ctr"/>
                </a:tc>
                <a:tc>
                  <a:txBody>
                    <a:bodyPr/>
                    <a:lstStyle/>
                    <a:p>
                      <a:pPr>
                        <a:buNone/>
                      </a:pPr>
                      <a:r>
                        <a:rPr lang="en-GB" sz="1600"/>
                        <a:t>Learn relationships or structure from examples</a:t>
                      </a:r>
                    </a:p>
                  </a:txBody>
                  <a:tcPr anchor="ctr"/>
                </a:tc>
                <a:tc>
                  <a:txBody>
                    <a:bodyPr/>
                    <a:lstStyle/>
                    <a:p>
                      <a:pPr>
                        <a:buNone/>
                      </a:pPr>
                      <a:r>
                        <a:rPr lang="en-GB" sz="1600"/>
                        <a:t>Predict solar generation</a:t>
                      </a:r>
                    </a:p>
                  </a:txBody>
                  <a:tcPr anchor="ctr"/>
                </a:tc>
                <a:extLst>
                  <a:ext uri="{0D108BD9-81ED-4DB2-BD59-A6C34878D82A}">
                    <a16:rowId xmlns:a16="http://schemas.microsoft.com/office/drawing/2014/main" val="2532429662"/>
                  </a:ext>
                </a:extLst>
              </a:tr>
              <a:tr h="683810">
                <a:tc>
                  <a:txBody>
                    <a:bodyPr/>
                    <a:lstStyle/>
                    <a:p>
                      <a:pPr>
                        <a:buNone/>
                      </a:pPr>
                      <a:r>
                        <a:rPr lang="en-GB" sz="1600"/>
                        <a:t>Computer vision</a:t>
                      </a:r>
                    </a:p>
                  </a:txBody>
                  <a:tcPr anchor="ctr"/>
                </a:tc>
                <a:tc>
                  <a:txBody>
                    <a:bodyPr/>
                    <a:lstStyle/>
                    <a:p>
                      <a:pPr>
                        <a:buNone/>
                      </a:pPr>
                      <a:r>
                        <a:rPr lang="en-GB" sz="1600"/>
                        <a:t>Extract information from images and video</a:t>
                      </a:r>
                    </a:p>
                  </a:txBody>
                  <a:tcPr anchor="ctr"/>
                </a:tc>
                <a:tc>
                  <a:txBody>
                    <a:bodyPr/>
                    <a:lstStyle/>
                    <a:p>
                      <a:pPr>
                        <a:buNone/>
                      </a:pPr>
                      <a:r>
                        <a:rPr lang="en-GB" sz="1600"/>
                        <a:t>Identify land-cover classes in satellite imagery</a:t>
                      </a:r>
                    </a:p>
                  </a:txBody>
                  <a:tcPr anchor="ctr"/>
                </a:tc>
                <a:extLst>
                  <a:ext uri="{0D108BD9-81ED-4DB2-BD59-A6C34878D82A}">
                    <a16:rowId xmlns:a16="http://schemas.microsoft.com/office/drawing/2014/main" val="3503210953"/>
                  </a:ext>
                </a:extLst>
              </a:tr>
              <a:tr h="683810">
                <a:tc>
                  <a:txBody>
                    <a:bodyPr/>
                    <a:lstStyle/>
                    <a:p>
                      <a:pPr>
                        <a:buNone/>
                      </a:pPr>
                      <a:r>
                        <a:rPr lang="en-GB" sz="1600"/>
                        <a:t>Natural language processing</a:t>
                      </a:r>
                    </a:p>
                  </a:txBody>
                  <a:tcPr anchor="ctr"/>
                </a:tc>
                <a:tc>
                  <a:txBody>
                    <a:bodyPr/>
                    <a:lstStyle/>
                    <a:p>
                      <a:pPr>
                        <a:buNone/>
                      </a:pPr>
                      <a:r>
                        <a:rPr lang="en-GB" sz="1600"/>
                        <a:t>Process and analyse human language</a:t>
                      </a:r>
                    </a:p>
                  </a:txBody>
                  <a:tcPr anchor="ctr"/>
                </a:tc>
                <a:tc>
                  <a:txBody>
                    <a:bodyPr/>
                    <a:lstStyle/>
                    <a:p>
                      <a:pPr>
                        <a:buNone/>
                      </a:pPr>
                      <a:r>
                        <a:rPr lang="en-GB" sz="1600"/>
                        <a:t>Extract information from environmental reports</a:t>
                      </a:r>
                    </a:p>
                  </a:txBody>
                  <a:tcPr anchor="ctr"/>
                </a:tc>
                <a:extLst>
                  <a:ext uri="{0D108BD9-81ED-4DB2-BD59-A6C34878D82A}">
                    <a16:rowId xmlns:a16="http://schemas.microsoft.com/office/drawing/2014/main" val="1253319745"/>
                  </a:ext>
                </a:extLst>
              </a:tr>
              <a:tr h="683810">
                <a:tc>
                  <a:txBody>
                    <a:bodyPr/>
                    <a:lstStyle/>
                    <a:p>
                      <a:pPr>
                        <a:buNone/>
                      </a:pPr>
                      <a:r>
                        <a:rPr lang="en-GB" sz="1600" dirty="0"/>
                        <a:t>Generative AI</a:t>
                      </a:r>
                    </a:p>
                  </a:txBody>
                  <a:tcPr anchor="ctr"/>
                </a:tc>
                <a:tc>
                  <a:txBody>
                    <a:bodyPr/>
                    <a:lstStyle/>
                    <a:p>
                      <a:pPr>
                        <a:buNone/>
                      </a:pPr>
                      <a:r>
                        <a:rPr lang="en-GB" sz="1600"/>
                        <a:t>Generate content such as text, images or other data</a:t>
                      </a:r>
                    </a:p>
                  </a:txBody>
                  <a:tcPr anchor="ctr"/>
                </a:tc>
                <a:tc>
                  <a:txBody>
                    <a:bodyPr/>
                    <a:lstStyle/>
                    <a:p>
                      <a:pPr>
                        <a:buNone/>
                      </a:pPr>
                      <a:r>
                        <a:rPr lang="en-GB" sz="1600" dirty="0"/>
                        <a:t>Draft explanations of verified climate indicators</a:t>
                      </a:r>
                    </a:p>
                  </a:txBody>
                  <a:tcPr anchor="ctr"/>
                </a:tc>
                <a:extLst>
                  <a:ext uri="{0D108BD9-81ED-4DB2-BD59-A6C34878D82A}">
                    <a16:rowId xmlns:a16="http://schemas.microsoft.com/office/drawing/2014/main" val="849561060"/>
                  </a:ext>
                </a:extLst>
              </a:tr>
            </a:tbl>
          </a:graphicData>
        </a:graphic>
      </p:graphicFrame>
      <p:sp>
        <p:nvSpPr>
          <p:cNvPr id="5" name="Rectangle">
            <a:extLst>
              <a:ext uri="{FF2B5EF4-FFF2-40B4-BE49-F238E27FC236}">
                <a16:creationId xmlns:a16="http://schemas.microsoft.com/office/drawing/2014/main" id="{F625EAF0-8898-B360-4EA4-51480E3FDCDC}"/>
              </a:ext>
            </a:extLst>
          </p:cNvPr>
          <p:cNvSpPr/>
          <p:nvPr/>
        </p:nvSpPr>
        <p:spPr>
          <a:xfrm>
            <a:off x="-11767" y="6545179"/>
            <a:ext cx="12203767" cy="315200"/>
          </a:xfrm>
          <a:prstGeom prst="rect">
            <a:avLst/>
          </a:prstGeom>
          <a:solidFill>
            <a:schemeClr val="tx1"/>
          </a:solidFill>
          <a:ln w="12700">
            <a:noFill/>
            <a:miter lim="400000"/>
          </a:ln>
        </p:spPr>
        <p:txBody>
          <a:bodyPr lIns="45719" rIns="45719" anchor="ctr"/>
          <a:lstStyle/>
          <a:p>
            <a:endParaRPr/>
          </a:p>
        </p:txBody>
      </p:sp>
      <p:pic>
        <p:nvPicPr>
          <p:cNvPr id="6" name="Picture 5" descr="Frontier Tech Leaders (@FTLeadersProg) / X">
            <a:extLst>
              <a:ext uri="{FF2B5EF4-FFF2-40B4-BE49-F238E27FC236}">
                <a16:creationId xmlns:a16="http://schemas.microsoft.com/office/drawing/2014/main" id="{ABA7266F-518E-FD17-BC2A-3AF2616D3623}"/>
              </a:ext>
            </a:extLst>
          </p:cNvPr>
          <p:cNvPicPr>
            <a:picLocks noChangeAspect="1"/>
          </p:cNvPicPr>
          <p:nvPr/>
        </p:nvPicPr>
        <p:blipFill>
          <a:blip r:embed="rId2"/>
          <a:stretch>
            <a:fillRect/>
          </a:stretch>
        </p:blipFill>
        <p:spPr>
          <a:xfrm>
            <a:off x="10668000" y="94470"/>
            <a:ext cx="1027893" cy="1027893"/>
          </a:xfrm>
          <a:prstGeom prst="rect">
            <a:avLst/>
          </a:prstGeom>
        </p:spPr>
      </p:pic>
      <p:pic>
        <p:nvPicPr>
          <p:cNvPr id="7" name="Picture 6" descr="Breakdown: Simplify AI, ML, NLP, Deep Learning, Computer Vision | by Palak  Jain | Medium">
            <a:extLst>
              <a:ext uri="{FF2B5EF4-FFF2-40B4-BE49-F238E27FC236}">
                <a16:creationId xmlns:a16="http://schemas.microsoft.com/office/drawing/2014/main" id="{A32640A5-1173-5C85-E0D7-42A67E2739BF}"/>
              </a:ext>
            </a:extLst>
          </p:cNvPr>
          <p:cNvPicPr>
            <a:picLocks noChangeAspect="1"/>
          </p:cNvPicPr>
          <p:nvPr/>
        </p:nvPicPr>
        <p:blipFill>
          <a:blip r:embed="rId3"/>
          <a:stretch>
            <a:fillRect/>
          </a:stretch>
        </p:blipFill>
        <p:spPr>
          <a:xfrm>
            <a:off x="7450112" y="1811311"/>
            <a:ext cx="5424048" cy="4395924"/>
          </a:xfrm>
          <a:prstGeom prst="rect">
            <a:avLst/>
          </a:prstGeom>
        </p:spPr>
      </p:pic>
    </p:spTree>
    <p:extLst>
      <p:ext uri="{BB962C8B-B14F-4D97-AF65-F5344CB8AC3E}">
        <p14:creationId xmlns:p14="http://schemas.microsoft.com/office/powerpoint/2010/main" val="3138659376"/>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F7DA9E6-42C4-F135-31B7-0EB39667220C}"/>
              </a:ext>
            </a:extLst>
          </p:cNvPr>
          <p:cNvSpPr>
            <a:spLocks noGrp="1"/>
          </p:cNvSpPr>
          <p:nvPr>
            <p:ph type="title"/>
          </p:nvPr>
        </p:nvSpPr>
        <p:spPr/>
        <p:txBody>
          <a:bodyPr>
            <a:normAutofit/>
          </a:bodyPr>
          <a:lstStyle/>
          <a:p>
            <a:r>
              <a:rPr lang="en-GB" sz="3000" b="1" dirty="0"/>
              <a:t>Explicit Rules and Learning from Data</a:t>
            </a:r>
            <a:endParaRPr lang="en-US" sz="3000" b="1" dirty="0"/>
          </a:p>
        </p:txBody>
      </p:sp>
      <p:sp>
        <p:nvSpPr>
          <p:cNvPr id="3" name="Content Placeholder 2">
            <a:extLst>
              <a:ext uri="{FF2B5EF4-FFF2-40B4-BE49-F238E27FC236}">
                <a16:creationId xmlns:a16="http://schemas.microsoft.com/office/drawing/2014/main" id="{848F0DE4-5E71-AAAF-A172-707CBCADECA3}"/>
              </a:ext>
            </a:extLst>
          </p:cNvPr>
          <p:cNvSpPr>
            <a:spLocks noGrp="1"/>
          </p:cNvSpPr>
          <p:nvPr>
            <p:ph idx="1"/>
          </p:nvPr>
        </p:nvSpPr>
        <p:spPr/>
        <p:txBody>
          <a:bodyPr>
            <a:normAutofit fontScale="62500" lnSpcReduction="20000"/>
          </a:bodyPr>
          <a:lstStyle/>
          <a:p>
            <a:pPr marL="0" indent="0">
              <a:buNone/>
            </a:pPr>
            <a:r>
              <a:rPr lang="en-GB" dirty="0"/>
              <a:t>A person writes the decision logic.</a:t>
            </a:r>
          </a:p>
          <a:p>
            <a:pPr marL="0" indent="0">
              <a:buNone/>
            </a:pPr>
            <a:r>
              <a:rPr lang="en-GB" dirty="0"/>
              <a:t>If soil moisture is below a chosen threshold:</a:t>
            </a:r>
          </a:p>
          <a:p>
            <a:pPr marL="0" indent="0">
              <a:buNone/>
            </a:pPr>
            <a:r>
              <a:rPr lang="en-GB" dirty="0"/>
              <a:t>    Flag the reading for attention</a:t>
            </a:r>
          </a:p>
          <a:p>
            <a:pPr marL="0" indent="0">
              <a:buNone/>
            </a:pPr>
            <a:endParaRPr lang="en-GB" dirty="0"/>
          </a:p>
          <a:p>
            <a:pPr marL="0" indent="0">
              <a:buNone/>
            </a:pPr>
            <a:r>
              <a:rPr lang="en-GB" b="1" dirty="0"/>
              <a:t>Machine learning approach</a:t>
            </a:r>
            <a:endParaRPr lang="en-GB" dirty="0"/>
          </a:p>
          <a:p>
            <a:pPr marL="457200" lvl="1" indent="0">
              <a:buNone/>
            </a:pPr>
            <a:r>
              <a:rPr lang="en-GB" dirty="0"/>
              <a:t>A model learns a relationship from examples.</a:t>
            </a:r>
          </a:p>
          <a:p>
            <a:pPr marL="457200" lvl="1" indent="0">
              <a:buNone/>
            </a:pPr>
            <a:endParaRPr lang="en-GB" dirty="0"/>
          </a:p>
          <a:p>
            <a:pPr marL="457200" lvl="1" indent="0">
              <a:buNone/>
            </a:pPr>
            <a:r>
              <a:rPr lang="en-GB" b="1" dirty="0"/>
              <a:t>Inputs</a:t>
            </a:r>
            <a:r>
              <a:rPr lang="en-GB" dirty="0"/>
              <a:t>: soil moisture, temperature, crop stage</a:t>
            </a:r>
          </a:p>
          <a:p>
            <a:pPr marL="457200" lvl="1" indent="0">
              <a:buNone/>
            </a:pPr>
            <a:r>
              <a:rPr lang="en-GB" b="1" dirty="0"/>
              <a:t>Target</a:t>
            </a:r>
            <a:r>
              <a:rPr lang="en-GB" dirty="0"/>
              <a:t>: measured water requirement</a:t>
            </a:r>
          </a:p>
          <a:p>
            <a:pPr marL="457200" lvl="1" indent="0">
              <a:buNone/>
            </a:pPr>
            <a:r>
              <a:rPr lang="en-GB" b="1" dirty="0"/>
              <a:t>Output</a:t>
            </a:r>
            <a:r>
              <a:rPr lang="en-GB" dirty="0"/>
              <a:t>: estimated water requirement for a new example</a:t>
            </a:r>
          </a:p>
          <a:p>
            <a:pPr marL="457200" lvl="1" indent="0">
              <a:buNone/>
            </a:pPr>
            <a:endParaRPr lang="en-GB" dirty="0"/>
          </a:p>
          <a:p>
            <a:pPr marL="0" indent="0">
              <a:buNone/>
            </a:pPr>
            <a:r>
              <a:rPr lang="en-GB" b="1" dirty="0"/>
              <a:t>Technical distinction</a:t>
            </a:r>
            <a:endParaRPr lang="en-GB" dirty="0"/>
          </a:p>
          <a:p>
            <a:pPr marL="0" lvl="0" indent="0">
              <a:buNone/>
            </a:pPr>
            <a:r>
              <a:rPr lang="en-GB" dirty="0"/>
              <a:t>A rule-based system uses logic specified by its designer.</a:t>
            </a:r>
          </a:p>
          <a:p>
            <a:pPr marL="0" lvl="0" indent="0">
              <a:buNone/>
            </a:pPr>
            <a:r>
              <a:rPr lang="en-GB" dirty="0"/>
              <a:t>A learned model estimates parameters or decision structures from data.</a:t>
            </a:r>
          </a:p>
          <a:p>
            <a:pPr marL="0" lvl="0" indent="0">
              <a:buNone/>
            </a:pPr>
            <a:r>
              <a:rPr lang="en-GB" dirty="0"/>
              <a:t>A practical system can combine both approaches.</a:t>
            </a:r>
          </a:p>
          <a:p>
            <a:pPr marL="0" indent="0">
              <a:buNone/>
            </a:pPr>
            <a:endParaRPr lang="en-US" dirty="0"/>
          </a:p>
        </p:txBody>
      </p:sp>
      <p:pic>
        <p:nvPicPr>
          <p:cNvPr id="4" name="Picture 3" descr="Comparison of the traditional programming approach and ML. Top:... |  Download Scientific Diagram">
            <a:extLst>
              <a:ext uri="{FF2B5EF4-FFF2-40B4-BE49-F238E27FC236}">
                <a16:creationId xmlns:a16="http://schemas.microsoft.com/office/drawing/2014/main" id="{57006F82-A5A2-A103-440D-92D630942366}"/>
              </a:ext>
            </a:extLst>
          </p:cNvPr>
          <p:cNvPicPr>
            <a:picLocks noChangeAspect="1"/>
          </p:cNvPicPr>
          <p:nvPr/>
        </p:nvPicPr>
        <p:blipFill>
          <a:blip r:embed="rId2"/>
          <a:stretch>
            <a:fillRect/>
          </a:stretch>
        </p:blipFill>
        <p:spPr>
          <a:xfrm>
            <a:off x="8116866" y="1690688"/>
            <a:ext cx="3922491" cy="4139403"/>
          </a:xfrm>
          <a:prstGeom prst="rect">
            <a:avLst/>
          </a:prstGeom>
        </p:spPr>
      </p:pic>
      <p:sp>
        <p:nvSpPr>
          <p:cNvPr id="5" name="Rectangle">
            <a:extLst>
              <a:ext uri="{FF2B5EF4-FFF2-40B4-BE49-F238E27FC236}">
                <a16:creationId xmlns:a16="http://schemas.microsoft.com/office/drawing/2014/main" id="{B1CDC615-4379-4415-9952-EB1E6F0D744E}"/>
              </a:ext>
            </a:extLst>
          </p:cNvPr>
          <p:cNvSpPr/>
          <p:nvPr/>
        </p:nvSpPr>
        <p:spPr>
          <a:xfrm>
            <a:off x="-11767" y="6545179"/>
            <a:ext cx="12203767" cy="315200"/>
          </a:xfrm>
          <a:prstGeom prst="rect">
            <a:avLst/>
          </a:prstGeom>
          <a:solidFill>
            <a:schemeClr val="tx1"/>
          </a:solidFill>
          <a:ln w="12700">
            <a:noFill/>
            <a:miter lim="400000"/>
          </a:ln>
        </p:spPr>
        <p:txBody>
          <a:bodyPr lIns="45719" rIns="45719" anchor="ctr"/>
          <a:lstStyle/>
          <a:p>
            <a:endParaRPr/>
          </a:p>
        </p:txBody>
      </p:sp>
      <p:pic>
        <p:nvPicPr>
          <p:cNvPr id="6" name="Picture 5" descr="Frontier Tech Leaders (@FTLeadersProg) / X">
            <a:extLst>
              <a:ext uri="{FF2B5EF4-FFF2-40B4-BE49-F238E27FC236}">
                <a16:creationId xmlns:a16="http://schemas.microsoft.com/office/drawing/2014/main" id="{A280A3C3-7CB3-9237-4632-41A82336AEF0}"/>
              </a:ext>
            </a:extLst>
          </p:cNvPr>
          <p:cNvPicPr>
            <a:picLocks noChangeAspect="1"/>
          </p:cNvPicPr>
          <p:nvPr/>
        </p:nvPicPr>
        <p:blipFill>
          <a:blip r:embed="rId3"/>
          <a:stretch>
            <a:fillRect/>
          </a:stretch>
        </p:blipFill>
        <p:spPr>
          <a:xfrm>
            <a:off x="10668000" y="94470"/>
            <a:ext cx="1027893" cy="1027893"/>
          </a:xfrm>
          <a:prstGeom prst="rect">
            <a:avLst/>
          </a:prstGeom>
        </p:spPr>
      </p:pic>
    </p:spTree>
    <p:extLst>
      <p:ext uri="{BB962C8B-B14F-4D97-AF65-F5344CB8AC3E}">
        <p14:creationId xmlns:p14="http://schemas.microsoft.com/office/powerpoint/2010/main" val="2395857979"/>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DE54834-4D16-3DE9-36C8-7AF694115EA1}"/>
              </a:ext>
            </a:extLst>
          </p:cNvPr>
          <p:cNvSpPr>
            <a:spLocks noGrp="1"/>
          </p:cNvSpPr>
          <p:nvPr>
            <p:ph type="title"/>
          </p:nvPr>
        </p:nvSpPr>
        <p:spPr/>
        <p:txBody>
          <a:bodyPr>
            <a:normAutofit/>
          </a:bodyPr>
          <a:lstStyle/>
          <a:p>
            <a:r>
              <a:rPr lang="en-GB" sz="3000" b="1" dirty="0"/>
              <a:t>What Does “Learning” Mean?</a:t>
            </a:r>
            <a:endParaRPr lang="en-US" sz="3000" b="1" dirty="0"/>
          </a:p>
        </p:txBody>
      </p:sp>
      <p:sp>
        <p:nvSpPr>
          <p:cNvPr id="3" name="Content Placeholder 2">
            <a:extLst>
              <a:ext uri="{FF2B5EF4-FFF2-40B4-BE49-F238E27FC236}">
                <a16:creationId xmlns:a16="http://schemas.microsoft.com/office/drawing/2014/main" id="{8222CA50-0C41-78E6-0E14-F2D81031C8A9}"/>
              </a:ext>
            </a:extLst>
          </p:cNvPr>
          <p:cNvSpPr>
            <a:spLocks noGrp="1"/>
          </p:cNvSpPr>
          <p:nvPr>
            <p:ph idx="1"/>
          </p:nvPr>
        </p:nvSpPr>
        <p:spPr>
          <a:xfrm>
            <a:off x="838200" y="1499329"/>
            <a:ext cx="7583905" cy="647752"/>
          </a:xfrm>
        </p:spPr>
        <p:txBody>
          <a:bodyPr>
            <a:normAutofit fontScale="92500" lnSpcReduction="10000"/>
          </a:bodyPr>
          <a:lstStyle/>
          <a:p>
            <a:pPr marL="0" indent="0">
              <a:buNone/>
            </a:pPr>
            <a:r>
              <a:rPr lang="en-GB" sz="2400" dirty="0"/>
              <a:t>A model uses examples to improve performance on a defined task.</a:t>
            </a:r>
          </a:p>
          <a:p>
            <a:endParaRPr lang="en-US" sz="2400" dirty="0"/>
          </a:p>
        </p:txBody>
      </p:sp>
      <p:graphicFrame>
        <p:nvGraphicFramePr>
          <p:cNvPr id="4" name="Table 3">
            <a:extLst>
              <a:ext uri="{FF2B5EF4-FFF2-40B4-BE49-F238E27FC236}">
                <a16:creationId xmlns:a16="http://schemas.microsoft.com/office/drawing/2014/main" id="{684C214C-7D9F-B53A-0FA1-1F92611B8E1E}"/>
              </a:ext>
            </a:extLst>
          </p:cNvPr>
          <p:cNvGraphicFramePr>
            <a:graphicFrameLocks noGrp="1"/>
          </p:cNvGraphicFramePr>
          <p:nvPr>
            <p:extLst>
              <p:ext uri="{D42A27DB-BD31-4B8C-83A1-F6EECF244321}">
                <p14:modId xmlns:p14="http://schemas.microsoft.com/office/powerpoint/2010/main" val="3328716376"/>
              </p:ext>
            </p:extLst>
          </p:nvPr>
        </p:nvGraphicFramePr>
        <p:xfrm>
          <a:off x="838200" y="2176633"/>
          <a:ext cx="10515600" cy="1737360"/>
        </p:xfrm>
        <a:graphic>
          <a:graphicData uri="http://schemas.openxmlformats.org/drawingml/2006/table">
            <a:tbl>
              <a:tblPr>
                <a:tableStyleId>{5C22544A-7EE6-4342-B048-85BDC9FD1C3A}</a:tableStyleId>
              </a:tblPr>
              <a:tblGrid>
                <a:gridCol w="3505200">
                  <a:extLst>
                    <a:ext uri="{9D8B030D-6E8A-4147-A177-3AD203B41FA5}">
                      <a16:colId xmlns:a16="http://schemas.microsoft.com/office/drawing/2014/main" val="3160209692"/>
                    </a:ext>
                  </a:extLst>
                </a:gridCol>
                <a:gridCol w="3505200">
                  <a:extLst>
                    <a:ext uri="{9D8B030D-6E8A-4147-A177-3AD203B41FA5}">
                      <a16:colId xmlns:a16="http://schemas.microsoft.com/office/drawing/2014/main" val="867966315"/>
                    </a:ext>
                  </a:extLst>
                </a:gridCol>
                <a:gridCol w="3505200">
                  <a:extLst>
                    <a:ext uri="{9D8B030D-6E8A-4147-A177-3AD203B41FA5}">
                      <a16:colId xmlns:a16="http://schemas.microsoft.com/office/drawing/2014/main" val="3811973037"/>
                    </a:ext>
                  </a:extLst>
                </a:gridCol>
              </a:tblGrid>
              <a:tr h="0">
                <a:tc>
                  <a:txBody>
                    <a:bodyPr/>
                    <a:lstStyle/>
                    <a:p>
                      <a:pPr>
                        <a:buNone/>
                      </a:pPr>
                      <a:r>
                        <a:rPr lang="en-GB"/>
                        <a:t>Element</a:t>
                      </a:r>
                    </a:p>
                  </a:txBody>
                  <a:tcPr anchor="ctr"/>
                </a:tc>
                <a:tc>
                  <a:txBody>
                    <a:bodyPr/>
                    <a:lstStyle/>
                    <a:p>
                      <a:pPr>
                        <a:buNone/>
                      </a:pPr>
                      <a:r>
                        <a:rPr lang="en-GB" dirty="0"/>
                        <a:t>Meaning</a:t>
                      </a:r>
                    </a:p>
                  </a:txBody>
                  <a:tcPr anchor="ctr"/>
                </a:tc>
                <a:tc>
                  <a:txBody>
                    <a:bodyPr/>
                    <a:lstStyle/>
                    <a:p>
                      <a:pPr>
                        <a:buNone/>
                      </a:pPr>
                      <a:r>
                        <a:rPr lang="en-GB"/>
                        <a:t>Example</a:t>
                      </a:r>
                    </a:p>
                  </a:txBody>
                  <a:tcPr anchor="ctr"/>
                </a:tc>
                <a:extLst>
                  <a:ext uri="{0D108BD9-81ED-4DB2-BD59-A6C34878D82A}">
                    <a16:rowId xmlns:a16="http://schemas.microsoft.com/office/drawing/2014/main" val="2959717245"/>
                  </a:ext>
                </a:extLst>
              </a:tr>
              <a:tr h="0">
                <a:tc>
                  <a:txBody>
                    <a:bodyPr/>
                    <a:lstStyle/>
                    <a:p>
                      <a:pPr>
                        <a:buNone/>
                      </a:pPr>
                      <a:r>
                        <a:rPr lang="en-GB"/>
                        <a:t>Task</a:t>
                      </a:r>
                    </a:p>
                  </a:txBody>
                  <a:tcPr anchor="ctr"/>
                </a:tc>
                <a:tc>
                  <a:txBody>
                    <a:bodyPr/>
                    <a:lstStyle/>
                    <a:p>
                      <a:pPr>
                        <a:buNone/>
                      </a:pPr>
                      <a:r>
                        <a:rPr lang="en-GB"/>
                        <a:t>What the system should do</a:t>
                      </a:r>
                    </a:p>
                  </a:txBody>
                  <a:tcPr anchor="ctr"/>
                </a:tc>
                <a:tc>
                  <a:txBody>
                    <a:bodyPr/>
                    <a:lstStyle/>
                    <a:p>
                      <a:pPr>
                        <a:buNone/>
                      </a:pPr>
                      <a:r>
                        <a:rPr lang="en-GB"/>
                        <a:t>Predict next-day solar generation</a:t>
                      </a:r>
                    </a:p>
                  </a:txBody>
                  <a:tcPr anchor="ctr"/>
                </a:tc>
                <a:extLst>
                  <a:ext uri="{0D108BD9-81ED-4DB2-BD59-A6C34878D82A}">
                    <a16:rowId xmlns:a16="http://schemas.microsoft.com/office/drawing/2014/main" val="3063183908"/>
                  </a:ext>
                </a:extLst>
              </a:tr>
              <a:tr h="0">
                <a:tc>
                  <a:txBody>
                    <a:bodyPr/>
                    <a:lstStyle/>
                    <a:p>
                      <a:pPr>
                        <a:buNone/>
                      </a:pPr>
                      <a:r>
                        <a:rPr lang="en-GB"/>
                        <a:t>Experience</a:t>
                      </a:r>
                    </a:p>
                  </a:txBody>
                  <a:tcPr anchor="ctr"/>
                </a:tc>
                <a:tc>
                  <a:txBody>
                    <a:bodyPr/>
                    <a:lstStyle/>
                    <a:p>
                      <a:pPr>
                        <a:buNone/>
                      </a:pPr>
                      <a:r>
                        <a:rPr lang="en-GB"/>
                        <a:t>The data available for learning</a:t>
                      </a:r>
                    </a:p>
                  </a:txBody>
                  <a:tcPr anchor="ctr"/>
                </a:tc>
                <a:tc>
                  <a:txBody>
                    <a:bodyPr/>
                    <a:lstStyle/>
                    <a:p>
                      <a:pPr>
                        <a:buNone/>
                      </a:pPr>
                      <a:r>
                        <a:rPr lang="en-GB"/>
                        <a:t>Historical weather and generation records</a:t>
                      </a:r>
                    </a:p>
                  </a:txBody>
                  <a:tcPr anchor="ctr"/>
                </a:tc>
                <a:extLst>
                  <a:ext uri="{0D108BD9-81ED-4DB2-BD59-A6C34878D82A}">
                    <a16:rowId xmlns:a16="http://schemas.microsoft.com/office/drawing/2014/main" val="1030195907"/>
                  </a:ext>
                </a:extLst>
              </a:tr>
              <a:tr h="0">
                <a:tc>
                  <a:txBody>
                    <a:bodyPr/>
                    <a:lstStyle/>
                    <a:p>
                      <a:pPr>
                        <a:buNone/>
                      </a:pPr>
                      <a:r>
                        <a:rPr lang="en-GB"/>
                        <a:t>Performance measure</a:t>
                      </a:r>
                    </a:p>
                  </a:txBody>
                  <a:tcPr anchor="ctr"/>
                </a:tc>
                <a:tc>
                  <a:txBody>
                    <a:bodyPr/>
                    <a:lstStyle/>
                    <a:p>
                      <a:pPr>
                        <a:buNone/>
                      </a:pPr>
                      <a:r>
                        <a:rPr lang="en-GB"/>
                        <a:t>How we judge success</a:t>
                      </a:r>
                    </a:p>
                  </a:txBody>
                  <a:tcPr anchor="ctr"/>
                </a:tc>
                <a:tc>
                  <a:txBody>
                    <a:bodyPr/>
                    <a:lstStyle/>
                    <a:p>
                      <a:pPr>
                        <a:buNone/>
                      </a:pPr>
                      <a:r>
                        <a:rPr lang="en-GB" dirty="0"/>
                        <a:t>Prediction error in kWh</a:t>
                      </a:r>
                    </a:p>
                  </a:txBody>
                  <a:tcPr anchor="ctr"/>
                </a:tc>
                <a:extLst>
                  <a:ext uri="{0D108BD9-81ED-4DB2-BD59-A6C34878D82A}">
                    <a16:rowId xmlns:a16="http://schemas.microsoft.com/office/drawing/2014/main" val="1119282269"/>
                  </a:ext>
                </a:extLst>
              </a:tr>
            </a:tbl>
          </a:graphicData>
        </a:graphic>
      </p:graphicFrame>
      <p:sp>
        <p:nvSpPr>
          <p:cNvPr id="6" name="TextBox 5">
            <a:extLst>
              <a:ext uri="{FF2B5EF4-FFF2-40B4-BE49-F238E27FC236}">
                <a16:creationId xmlns:a16="http://schemas.microsoft.com/office/drawing/2014/main" id="{4817B74B-A0E3-F8E5-FEB8-AD343EEDF362}"/>
              </a:ext>
            </a:extLst>
          </p:cNvPr>
          <p:cNvSpPr txBox="1"/>
          <p:nvPr/>
        </p:nvSpPr>
        <p:spPr>
          <a:xfrm>
            <a:off x="740415" y="4083706"/>
            <a:ext cx="6100010" cy="369332"/>
          </a:xfrm>
          <a:prstGeom prst="rect">
            <a:avLst/>
          </a:prstGeom>
          <a:noFill/>
        </p:spPr>
        <p:txBody>
          <a:bodyPr wrap="square">
            <a:spAutoFit/>
          </a:bodyPr>
          <a:lstStyle/>
          <a:p>
            <a:pPr>
              <a:buNone/>
            </a:pPr>
            <a:r>
              <a:rPr lang="en-GB" dirty="0"/>
              <a:t>A predictive model can be written as:</a:t>
            </a:r>
          </a:p>
        </p:txBody>
      </p:sp>
      <p:pic>
        <p:nvPicPr>
          <p:cNvPr id="10" name="Picture 9">
            <a:extLst>
              <a:ext uri="{FF2B5EF4-FFF2-40B4-BE49-F238E27FC236}">
                <a16:creationId xmlns:a16="http://schemas.microsoft.com/office/drawing/2014/main" id="{F0F4C85E-E621-C0EC-3BC3-5F1A27E69810}"/>
              </a:ext>
            </a:extLst>
          </p:cNvPr>
          <p:cNvPicPr>
            <a:picLocks noChangeAspect="1"/>
          </p:cNvPicPr>
          <p:nvPr/>
        </p:nvPicPr>
        <p:blipFill>
          <a:blip r:embed="rId2"/>
          <a:stretch>
            <a:fillRect/>
          </a:stretch>
        </p:blipFill>
        <p:spPr>
          <a:xfrm>
            <a:off x="838200" y="4563196"/>
            <a:ext cx="4977984" cy="1743815"/>
          </a:xfrm>
          <a:prstGeom prst="rect">
            <a:avLst/>
          </a:prstGeom>
        </p:spPr>
      </p:pic>
      <p:sp>
        <p:nvSpPr>
          <p:cNvPr id="12" name="TextBox 11">
            <a:extLst>
              <a:ext uri="{FF2B5EF4-FFF2-40B4-BE49-F238E27FC236}">
                <a16:creationId xmlns:a16="http://schemas.microsoft.com/office/drawing/2014/main" id="{47472F40-9797-C6EE-4DF4-5A8E1880CE38}"/>
              </a:ext>
            </a:extLst>
          </p:cNvPr>
          <p:cNvSpPr txBox="1"/>
          <p:nvPr/>
        </p:nvSpPr>
        <p:spPr>
          <a:xfrm>
            <a:off x="6197041" y="5682968"/>
            <a:ext cx="2885605" cy="646331"/>
          </a:xfrm>
          <a:prstGeom prst="rect">
            <a:avLst/>
          </a:prstGeom>
          <a:noFill/>
        </p:spPr>
        <p:txBody>
          <a:bodyPr wrap="square">
            <a:spAutoFit/>
          </a:bodyPr>
          <a:lstStyle/>
          <a:p>
            <a:pPr>
              <a:buNone/>
            </a:pPr>
            <a:r>
              <a:rPr lang="en-GB" b="1" dirty="0"/>
              <a:t>Learning means adjusting the model using data.</a:t>
            </a:r>
            <a:endParaRPr lang="en-GB" dirty="0"/>
          </a:p>
        </p:txBody>
      </p:sp>
      <p:sp>
        <p:nvSpPr>
          <p:cNvPr id="13" name="Rectangle">
            <a:extLst>
              <a:ext uri="{FF2B5EF4-FFF2-40B4-BE49-F238E27FC236}">
                <a16:creationId xmlns:a16="http://schemas.microsoft.com/office/drawing/2014/main" id="{D648DC35-C9E3-8DA8-ED5F-9BB28ADF5CDD}"/>
              </a:ext>
            </a:extLst>
          </p:cNvPr>
          <p:cNvSpPr/>
          <p:nvPr/>
        </p:nvSpPr>
        <p:spPr>
          <a:xfrm>
            <a:off x="-11767" y="6545179"/>
            <a:ext cx="12203767" cy="315200"/>
          </a:xfrm>
          <a:prstGeom prst="rect">
            <a:avLst/>
          </a:prstGeom>
          <a:solidFill>
            <a:schemeClr val="tx1"/>
          </a:solidFill>
          <a:ln w="12700">
            <a:noFill/>
            <a:miter lim="400000"/>
          </a:ln>
        </p:spPr>
        <p:txBody>
          <a:bodyPr lIns="45719" rIns="45719" anchor="ctr"/>
          <a:lstStyle/>
          <a:p>
            <a:endParaRPr/>
          </a:p>
        </p:txBody>
      </p:sp>
      <p:pic>
        <p:nvPicPr>
          <p:cNvPr id="14" name="Picture 13" descr="Frontier Tech Leaders (@FTLeadersProg) / X">
            <a:extLst>
              <a:ext uri="{FF2B5EF4-FFF2-40B4-BE49-F238E27FC236}">
                <a16:creationId xmlns:a16="http://schemas.microsoft.com/office/drawing/2014/main" id="{75266351-1181-7A5F-90DE-1B4FB6AA6A49}"/>
              </a:ext>
            </a:extLst>
          </p:cNvPr>
          <p:cNvPicPr>
            <a:picLocks noChangeAspect="1"/>
          </p:cNvPicPr>
          <p:nvPr/>
        </p:nvPicPr>
        <p:blipFill>
          <a:blip r:embed="rId3"/>
          <a:stretch>
            <a:fillRect/>
          </a:stretch>
        </p:blipFill>
        <p:spPr>
          <a:xfrm>
            <a:off x="10668000" y="94470"/>
            <a:ext cx="1027893" cy="1027893"/>
          </a:xfrm>
          <a:prstGeom prst="rect">
            <a:avLst/>
          </a:prstGeom>
        </p:spPr>
      </p:pic>
    </p:spTree>
    <p:extLst>
      <p:ext uri="{BB962C8B-B14F-4D97-AF65-F5344CB8AC3E}">
        <p14:creationId xmlns:p14="http://schemas.microsoft.com/office/powerpoint/2010/main" val="1681165864"/>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F0CB3E6-0FBB-38D7-CD76-84754948EAD5}"/>
              </a:ext>
            </a:extLst>
          </p:cNvPr>
          <p:cNvSpPr>
            <a:spLocks noGrp="1"/>
          </p:cNvSpPr>
          <p:nvPr>
            <p:ph type="title"/>
          </p:nvPr>
        </p:nvSpPr>
        <p:spPr/>
        <p:txBody>
          <a:bodyPr>
            <a:normAutofit/>
          </a:bodyPr>
          <a:lstStyle/>
          <a:p>
            <a:r>
              <a:rPr lang="en-GB" sz="3200" b="1" dirty="0"/>
              <a:t>The Structure of a Machine Learning Dataset</a:t>
            </a:r>
            <a:endParaRPr lang="en-US" sz="3200" b="1" dirty="0"/>
          </a:p>
        </p:txBody>
      </p:sp>
      <p:sp>
        <p:nvSpPr>
          <p:cNvPr id="3" name="Content Placeholder 2">
            <a:extLst>
              <a:ext uri="{FF2B5EF4-FFF2-40B4-BE49-F238E27FC236}">
                <a16:creationId xmlns:a16="http://schemas.microsoft.com/office/drawing/2014/main" id="{EE5ADE73-AA9F-DC30-BBAA-2E82EEA3D6F7}"/>
              </a:ext>
            </a:extLst>
          </p:cNvPr>
          <p:cNvSpPr>
            <a:spLocks noGrp="1"/>
          </p:cNvSpPr>
          <p:nvPr>
            <p:ph idx="1"/>
          </p:nvPr>
        </p:nvSpPr>
        <p:spPr>
          <a:xfrm>
            <a:off x="832316" y="1541462"/>
            <a:ext cx="10515600" cy="662742"/>
          </a:xfrm>
        </p:spPr>
        <p:txBody>
          <a:bodyPr>
            <a:normAutofit/>
          </a:bodyPr>
          <a:lstStyle/>
          <a:p>
            <a:pPr marL="0" indent="0">
              <a:buNone/>
            </a:pPr>
            <a:r>
              <a:rPr lang="en-GB" sz="2000" dirty="0"/>
              <a:t>Example: predicting daily solar generation</a:t>
            </a:r>
          </a:p>
          <a:p>
            <a:endParaRPr lang="en-US" sz="2000" dirty="0"/>
          </a:p>
        </p:txBody>
      </p:sp>
      <p:graphicFrame>
        <p:nvGraphicFramePr>
          <p:cNvPr id="4" name="Table 3">
            <a:extLst>
              <a:ext uri="{FF2B5EF4-FFF2-40B4-BE49-F238E27FC236}">
                <a16:creationId xmlns:a16="http://schemas.microsoft.com/office/drawing/2014/main" id="{1D01E916-864E-4E0C-2049-0E84CA7C5FB3}"/>
              </a:ext>
            </a:extLst>
          </p:cNvPr>
          <p:cNvGraphicFramePr>
            <a:graphicFrameLocks noGrp="1"/>
          </p:cNvGraphicFramePr>
          <p:nvPr>
            <p:extLst>
              <p:ext uri="{D42A27DB-BD31-4B8C-83A1-F6EECF244321}">
                <p14:modId xmlns:p14="http://schemas.microsoft.com/office/powerpoint/2010/main" val="1105990320"/>
              </p:ext>
            </p:extLst>
          </p:nvPr>
        </p:nvGraphicFramePr>
        <p:xfrm>
          <a:off x="832316" y="2010688"/>
          <a:ext cx="10515600" cy="2286000"/>
        </p:xfrm>
        <a:graphic>
          <a:graphicData uri="http://schemas.openxmlformats.org/drawingml/2006/table">
            <a:tbl>
              <a:tblPr>
                <a:tableStyleId>{5C22544A-7EE6-4342-B048-85BDC9FD1C3A}</a:tableStyleId>
              </a:tblPr>
              <a:tblGrid>
                <a:gridCol w="2103120">
                  <a:extLst>
                    <a:ext uri="{9D8B030D-6E8A-4147-A177-3AD203B41FA5}">
                      <a16:colId xmlns:a16="http://schemas.microsoft.com/office/drawing/2014/main" val="2230615498"/>
                    </a:ext>
                  </a:extLst>
                </a:gridCol>
                <a:gridCol w="2103120">
                  <a:extLst>
                    <a:ext uri="{9D8B030D-6E8A-4147-A177-3AD203B41FA5}">
                      <a16:colId xmlns:a16="http://schemas.microsoft.com/office/drawing/2014/main" val="824141892"/>
                    </a:ext>
                  </a:extLst>
                </a:gridCol>
                <a:gridCol w="2103120">
                  <a:extLst>
                    <a:ext uri="{9D8B030D-6E8A-4147-A177-3AD203B41FA5}">
                      <a16:colId xmlns:a16="http://schemas.microsoft.com/office/drawing/2014/main" val="898333741"/>
                    </a:ext>
                  </a:extLst>
                </a:gridCol>
                <a:gridCol w="2103120">
                  <a:extLst>
                    <a:ext uri="{9D8B030D-6E8A-4147-A177-3AD203B41FA5}">
                      <a16:colId xmlns:a16="http://schemas.microsoft.com/office/drawing/2014/main" val="3121316815"/>
                    </a:ext>
                  </a:extLst>
                </a:gridCol>
                <a:gridCol w="2103120">
                  <a:extLst>
                    <a:ext uri="{9D8B030D-6E8A-4147-A177-3AD203B41FA5}">
                      <a16:colId xmlns:a16="http://schemas.microsoft.com/office/drawing/2014/main" val="943659786"/>
                    </a:ext>
                  </a:extLst>
                </a:gridCol>
              </a:tblGrid>
              <a:tr h="0">
                <a:tc>
                  <a:txBody>
                    <a:bodyPr/>
                    <a:lstStyle/>
                    <a:p>
                      <a:pPr>
                        <a:buNone/>
                      </a:pPr>
                      <a:r>
                        <a:rPr lang="en-GB" dirty="0"/>
                        <a:t>Observation</a:t>
                      </a:r>
                    </a:p>
                  </a:txBody>
                  <a:tcPr anchor="ctr"/>
                </a:tc>
                <a:tc>
                  <a:txBody>
                    <a:bodyPr/>
                    <a:lstStyle/>
                    <a:p>
                      <a:pPr>
                        <a:buNone/>
                      </a:pPr>
                      <a:r>
                        <a:rPr lang="en-GB"/>
                        <a:t>Solar radiation</a:t>
                      </a:r>
                    </a:p>
                  </a:txBody>
                  <a:tcPr anchor="ctr"/>
                </a:tc>
                <a:tc>
                  <a:txBody>
                    <a:bodyPr/>
                    <a:lstStyle/>
                    <a:p>
                      <a:pPr>
                        <a:buNone/>
                      </a:pPr>
                      <a:r>
                        <a:rPr lang="en-GB"/>
                        <a:t>Temperature</a:t>
                      </a:r>
                    </a:p>
                  </a:txBody>
                  <a:tcPr anchor="ctr"/>
                </a:tc>
                <a:tc>
                  <a:txBody>
                    <a:bodyPr/>
                    <a:lstStyle/>
                    <a:p>
                      <a:pPr>
                        <a:buNone/>
                      </a:pPr>
                      <a:r>
                        <a:rPr lang="en-GB"/>
                        <a:t>Installed capacity</a:t>
                      </a:r>
                    </a:p>
                  </a:txBody>
                  <a:tcPr anchor="ctr"/>
                </a:tc>
                <a:tc>
                  <a:txBody>
                    <a:bodyPr/>
                    <a:lstStyle/>
                    <a:p>
                      <a:pPr>
                        <a:buNone/>
                      </a:pPr>
                      <a:r>
                        <a:rPr lang="en-GB"/>
                        <a:t>Energy generated</a:t>
                      </a:r>
                    </a:p>
                  </a:txBody>
                  <a:tcPr anchor="ctr"/>
                </a:tc>
                <a:extLst>
                  <a:ext uri="{0D108BD9-81ED-4DB2-BD59-A6C34878D82A}">
                    <a16:rowId xmlns:a16="http://schemas.microsoft.com/office/drawing/2014/main" val="810060431"/>
                  </a:ext>
                </a:extLst>
              </a:tr>
              <a:tr h="0">
                <a:tc>
                  <a:txBody>
                    <a:bodyPr/>
                    <a:lstStyle/>
                    <a:p>
                      <a:pPr>
                        <a:buNone/>
                      </a:pPr>
                      <a:r>
                        <a:rPr lang="en-GB"/>
                        <a:t>Site A, day 1</a:t>
                      </a:r>
                    </a:p>
                  </a:txBody>
                  <a:tcPr anchor="ctr"/>
                </a:tc>
                <a:tc>
                  <a:txBody>
                    <a:bodyPr/>
                    <a:lstStyle/>
                    <a:p>
                      <a:pPr>
                        <a:buNone/>
                      </a:pPr>
                      <a:r>
                        <a:rPr lang="en-GB" dirty="0"/>
                        <a:t>Input measurement</a:t>
                      </a:r>
                    </a:p>
                  </a:txBody>
                  <a:tcPr anchor="ctr"/>
                </a:tc>
                <a:tc>
                  <a:txBody>
                    <a:bodyPr/>
                    <a:lstStyle/>
                    <a:p>
                      <a:pPr>
                        <a:buNone/>
                      </a:pPr>
                      <a:r>
                        <a:rPr lang="en-GB"/>
                        <a:t>Input measurement</a:t>
                      </a:r>
                    </a:p>
                  </a:txBody>
                  <a:tcPr anchor="ctr"/>
                </a:tc>
                <a:tc>
                  <a:txBody>
                    <a:bodyPr/>
                    <a:lstStyle/>
                    <a:p>
                      <a:pPr>
                        <a:buNone/>
                      </a:pPr>
                      <a:r>
                        <a:rPr lang="en-GB"/>
                        <a:t>Site attribute</a:t>
                      </a:r>
                    </a:p>
                  </a:txBody>
                  <a:tcPr anchor="ctr"/>
                </a:tc>
                <a:tc>
                  <a:txBody>
                    <a:bodyPr/>
                    <a:lstStyle/>
                    <a:p>
                      <a:pPr>
                        <a:buNone/>
                      </a:pPr>
                      <a:r>
                        <a:rPr lang="en-GB"/>
                        <a:t>Target measurement</a:t>
                      </a:r>
                    </a:p>
                  </a:txBody>
                  <a:tcPr anchor="ctr"/>
                </a:tc>
                <a:extLst>
                  <a:ext uri="{0D108BD9-81ED-4DB2-BD59-A6C34878D82A}">
                    <a16:rowId xmlns:a16="http://schemas.microsoft.com/office/drawing/2014/main" val="865545142"/>
                  </a:ext>
                </a:extLst>
              </a:tr>
              <a:tr h="0">
                <a:tc>
                  <a:txBody>
                    <a:bodyPr/>
                    <a:lstStyle/>
                    <a:p>
                      <a:pPr>
                        <a:buNone/>
                      </a:pPr>
                      <a:r>
                        <a:rPr lang="en-GB"/>
                        <a:t>Site A, day 2</a:t>
                      </a:r>
                    </a:p>
                  </a:txBody>
                  <a:tcPr anchor="ctr"/>
                </a:tc>
                <a:tc>
                  <a:txBody>
                    <a:bodyPr/>
                    <a:lstStyle/>
                    <a:p>
                      <a:pPr>
                        <a:buNone/>
                      </a:pPr>
                      <a:r>
                        <a:rPr lang="en-GB"/>
                        <a:t>Input measurement</a:t>
                      </a:r>
                    </a:p>
                  </a:txBody>
                  <a:tcPr anchor="ctr"/>
                </a:tc>
                <a:tc>
                  <a:txBody>
                    <a:bodyPr/>
                    <a:lstStyle/>
                    <a:p>
                      <a:pPr>
                        <a:buNone/>
                      </a:pPr>
                      <a:r>
                        <a:rPr lang="en-GB"/>
                        <a:t>Input measurement</a:t>
                      </a:r>
                    </a:p>
                  </a:txBody>
                  <a:tcPr anchor="ctr"/>
                </a:tc>
                <a:tc>
                  <a:txBody>
                    <a:bodyPr/>
                    <a:lstStyle/>
                    <a:p>
                      <a:pPr>
                        <a:buNone/>
                      </a:pPr>
                      <a:r>
                        <a:rPr lang="en-GB"/>
                        <a:t>Site attribute</a:t>
                      </a:r>
                    </a:p>
                  </a:txBody>
                  <a:tcPr anchor="ctr"/>
                </a:tc>
                <a:tc>
                  <a:txBody>
                    <a:bodyPr/>
                    <a:lstStyle/>
                    <a:p>
                      <a:pPr>
                        <a:buNone/>
                      </a:pPr>
                      <a:r>
                        <a:rPr lang="en-GB"/>
                        <a:t>Target measurement</a:t>
                      </a:r>
                    </a:p>
                  </a:txBody>
                  <a:tcPr anchor="ctr"/>
                </a:tc>
                <a:extLst>
                  <a:ext uri="{0D108BD9-81ED-4DB2-BD59-A6C34878D82A}">
                    <a16:rowId xmlns:a16="http://schemas.microsoft.com/office/drawing/2014/main" val="2108482607"/>
                  </a:ext>
                </a:extLst>
              </a:tr>
              <a:tr h="0">
                <a:tc>
                  <a:txBody>
                    <a:bodyPr/>
                    <a:lstStyle/>
                    <a:p>
                      <a:pPr>
                        <a:buNone/>
                      </a:pPr>
                      <a:r>
                        <a:rPr lang="en-GB"/>
                        <a:t>Site B, day 1</a:t>
                      </a:r>
                    </a:p>
                  </a:txBody>
                  <a:tcPr anchor="ctr"/>
                </a:tc>
                <a:tc>
                  <a:txBody>
                    <a:bodyPr/>
                    <a:lstStyle/>
                    <a:p>
                      <a:pPr>
                        <a:buNone/>
                      </a:pPr>
                      <a:r>
                        <a:rPr lang="en-GB"/>
                        <a:t>Input measurement</a:t>
                      </a:r>
                    </a:p>
                  </a:txBody>
                  <a:tcPr anchor="ctr"/>
                </a:tc>
                <a:tc>
                  <a:txBody>
                    <a:bodyPr/>
                    <a:lstStyle/>
                    <a:p>
                      <a:pPr>
                        <a:buNone/>
                      </a:pPr>
                      <a:r>
                        <a:rPr lang="en-GB"/>
                        <a:t>Input measurement</a:t>
                      </a:r>
                    </a:p>
                  </a:txBody>
                  <a:tcPr anchor="ctr"/>
                </a:tc>
                <a:tc>
                  <a:txBody>
                    <a:bodyPr/>
                    <a:lstStyle/>
                    <a:p>
                      <a:pPr>
                        <a:buNone/>
                      </a:pPr>
                      <a:r>
                        <a:rPr lang="en-GB"/>
                        <a:t>Site attribute</a:t>
                      </a:r>
                    </a:p>
                  </a:txBody>
                  <a:tcPr anchor="ctr"/>
                </a:tc>
                <a:tc>
                  <a:txBody>
                    <a:bodyPr/>
                    <a:lstStyle/>
                    <a:p>
                      <a:pPr>
                        <a:buNone/>
                      </a:pPr>
                      <a:r>
                        <a:rPr lang="en-GB" dirty="0"/>
                        <a:t>Target measurement</a:t>
                      </a:r>
                    </a:p>
                  </a:txBody>
                  <a:tcPr anchor="ctr"/>
                </a:tc>
                <a:extLst>
                  <a:ext uri="{0D108BD9-81ED-4DB2-BD59-A6C34878D82A}">
                    <a16:rowId xmlns:a16="http://schemas.microsoft.com/office/drawing/2014/main" val="3036361934"/>
                  </a:ext>
                </a:extLst>
              </a:tr>
            </a:tbl>
          </a:graphicData>
        </a:graphic>
      </p:graphicFrame>
      <p:sp>
        <p:nvSpPr>
          <p:cNvPr id="6" name="TextBox 5">
            <a:extLst>
              <a:ext uri="{FF2B5EF4-FFF2-40B4-BE49-F238E27FC236}">
                <a16:creationId xmlns:a16="http://schemas.microsoft.com/office/drawing/2014/main" id="{154F346F-9D3D-F5FF-E76C-D27174E5495D}"/>
              </a:ext>
            </a:extLst>
          </p:cNvPr>
          <p:cNvSpPr txBox="1"/>
          <p:nvPr/>
        </p:nvSpPr>
        <p:spPr>
          <a:xfrm>
            <a:off x="832316" y="4513854"/>
            <a:ext cx="9294159" cy="2031325"/>
          </a:xfrm>
          <a:prstGeom prst="rect">
            <a:avLst/>
          </a:prstGeom>
          <a:noFill/>
        </p:spPr>
        <p:txBody>
          <a:bodyPr wrap="square">
            <a:spAutoFit/>
          </a:bodyPr>
          <a:lstStyle/>
          <a:p>
            <a:pPr>
              <a:buNone/>
            </a:pPr>
            <a:r>
              <a:rPr lang="en-GB" b="1" dirty="0"/>
              <a:t>Terminology</a:t>
            </a:r>
            <a:endParaRPr lang="en-GB" dirty="0"/>
          </a:p>
          <a:p>
            <a:pPr marL="342900" lvl="0" indent="-342900">
              <a:buFont typeface="Arial" panose="020B0604020202020204" pitchFamily="34" charset="0"/>
              <a:buChar char="•"/>
            </a:pPr>
            <a:r>
              <a:rPr lang="en-GB" b="1" dirty="0"/>
              <a:t>Dataset:</a:t>
            </a:r>
            <a:r>
              <a:rPr lang="en-GB" dirty="0"/>
              <a:t> the collection of examples.</a:t>
            </a:r>
          </a:p>
          <a:p>
            <a:pPr marL="342900" lvl="0" indent="-342900">
              <a:buFont typeface="Arial" panose="020B0604020202020204" pitchFamily="34" charset="0"/>
              <a:buChar char="•"/>
            </a:pPr>
            <a:r>
              <a:rPr lang="en-GB" b="1" dirty="0"/>
              <a:t>Sample / instance / observation:</a:t>
            </a:r>
            <a:r>
              <a:rPr lang="en-GB" dirty="0"/>
              <a:t> one example.</a:t>
            </a:r>
          </a:p>
          <a:p>
            <a:pPr marL="342900" lvl="0" indent="-342900">
              <a:buFont typeface="Arial" panose="020B0604020202020204" pitchFamily="34" charset="0"/>
              <a:buChar char="•"/>
            </a:pPr>
            <a:r>
              <a:rPr lang="en-GB" b="1" dirty="0"/>
              <a:t>Feature:</a:t>
            </a:r>
            <a:r>
              <a:rPr lang="en-GB" dirty="0"/>
              <a:t> an input variable.</a:t>
            </a:r>
          </a:p>
          <a:p>
            <a:pPr marL="342900" lvl="0" indent="-342900">
              <a:buFont typeface="Arial" panose="020B0604020202020204" pitchFamily="34" charset="0"/>
              <a:buChar char="•"/>
            </a:pPr>
            <a:r>
              <a:rPr lang="en-GB" b="1" dirty="0"/>
              <a:t>Target:</a:t>
            </a:r>
            <a:r>
              <a:rPr lang="en-GB" dirty="0"/>
              <a:t> the quantity or category we want to predict.</a:t>
            </a:r>
          </a:p>
          <a:p>
            <a:pPr marL="342900" lvl="0" indent="-342900">
              <a:buFont typeface="Arial" panose="020B0604020202020204" pitchFamily="34" charset="0"/>
              <a:buChar char="•"/>
            </a:pPr>
            <a:r>
              <a:rPr lang="en-GB" b="1" dirty="0"/>
              <a:t>Label:</a:t>
            </a:r>
            <a:r>
              <a:rPr lang="en-GB" dirty="0"/>
              <a:t> the target value attached to a training example, especially in classification.</a:t>
            </a:r>
          </a:p>
          <a:p>
            <a:pPr marL="342900" lvl="0" indent="-342900">
              <a:buFont typeface="Arial" panose="020B0604020202020204" pitchFamily="34" charset="0"/>
              <a:buChar char="•"/>
            </a:pPr>
            <a:r>
              <a:rPr lang="en-GB" b="1" dirty="0"/>
              <a:t>Metadata:</a:t>
            </a:r>
            <a:r>
              <a:rPr lang="en-GB" dirty="0"/>
              <a:t> information describing the records, such as source or collection method.</a:t>
            </a:r>
          </a:p>
        </p:txBody>
      </p:sp>
      <p:sp>
        <p:nvSpPr>
          <p:cNvPr id="7" name="Rectangle">
            <a:extLst>
              <a:ext uri="{FF2B5EF4-FFF2-40B4-BE49-F238E27FC236}">
                <a16:creationId xmlns:a16="http://schemas.microsoft.com/office/drawing/2014/main" id="{F378C78F-DA10-78BD-A0B5-CD53259EE410}"/>
              </a:ext>
            </a:extLst>
          </p:cNvPr>
          <p:cNvSpPr/>
          <p:nvPr/>
        </p:nvSpPr>
        <p:spPr>
          <a:xfrm>
            <a:off x="-11767" y="6545179"/>
            <a:ext cx="12203767" cy="315200"/>
          </a:xfrm>
          <a:prstGeom prst="rect">
            <a:avLst/>
          </a:prstGeom>
          <a:solidFill>
            <a:schemeClr val="tx1"/>
          </a:solidFill>
          <a:ln w="12700">
            <a:noFill/>
            <a:miter lim="400000"/>
          </a:ln>
        </p:spPr>
        <p:txBody>
          <a:bodyPr lIns="45719" rIns="45719" anchor="ctr"/>
          <a:lstStyle/>
          <a:p>
            <a:endParaRPr/>
          </a:p>
        </p:txBody>
      </p:sp>
      <p:pic>
        <p:nvPicPr>
          <p:cNvPr id="8" name="Picture 7" descr="Frontier Tech Leaders (@FTLeadersProg) / X">
            <a:extLst>
              <a:ext uri="{FF2B5EF4-FFF2-40B4-BE49-F238E27FC236}">
                <a16:creationId xmlns:a16="http://schemas.microsoft.com/office/drawing/2014/main" id="{A2DA2994-7351-FC91-966F-94F3A74A0609}"/>
              </a:ext>
            </a:extLst>
          </p:cNvPr>
          <p:cNvPicPr>
            <a:picLocks noChangeAspect="1"/>
          </p:cNvPicPr>
          <p:nvPr/>
        </p:nvPicPr>
        <p:blipFill>
          <a:blip r:embed="rId2"/>
          <a:stretch>
            <a:fillRect/>
          </a:stretch>
        </p:blipFill>
        <p:spPr>
          <a:xfrm>
            <a:off x="10668000" y="94470"/>
            <a:ext cx="1027893" cy="1027893"/>
          </a:xfrm>
          <a:prstGeom prst="rect">
            <a:avLst/>
          </a:prstGeom>
        </p:spPr>
      </p:pic>
    </p:spTree>
    <p:extLst>
      <p:ext uri="{BB962C8B-B14F-4D97-AF65-F5344CB8AC3E}">
        <p14:creationId xmlns:p14="http://schemas.microsoft.com/office/powerpoint/2010/main" val="169608116"/>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47737A0-B398-7C6B-CAE3-EE472264A688}"/>
              </a:ext>
            </a:extLst>
          </p:cNvPr>
          <p:cNvSpPr>
            <a:spLocks noGrp="1"/>
          </p:cNvSpPr>
          <p:nvPr>
            <p:ph type="title"/>
          </p:nvPr>
        </p:nvSpPr>
        <p:spPr/>
        <p:txBody>
          <a:bodyPr>
            <a:normAutofit/>
          </a:bodyPr>
          <a:lstStyle/>
          <a:p>
            <a:r>
              <a:rPr lang="en-GB" sz="2800" b="1" dirty="0"/>
              <a:t>Features, Targets and Mathematical Notation</a:t>
            </a:r>
            <a:endParaRPr lang="en-US" sz="2800" b="1" dirty="0"/>
          </a:p>
        </p:txBody>
      </p:sp>
      <p:pic>
        <p:nvPicPr>
          <p:cNvPr id="5" name="Content Placeholder 4">
            <a:extLst>
              <a:ext uri="{FF2B5EF4-FFF2-40B4-BE49-F238E27FC236}">
                <a16:creationId xmlns:a16="http://schemas.microsoft.com/office/drawing/2014/main" id="{4863A83A-F142-4400-47A9-B7CD734C4E7A}"/>
              </a:ext>
            </a:extLst>
          </p:cNvPr>
          <p:cNvPicPr>
            <a:picLocks noGrp="1" noChangeAspect="1"/>
          </p:cNvPicPr>
          <p:nvPr>
            <p:ph idx="1"/>
          </p:nvPr>
        </p:nvPicPr>
        <p:blipFill>
          <a:blip r:embed="rId2"/>
          <a:stretch>
            <a:fillRect/>
          </a:stretch>
        </p:blipFill>
        <p:spPr>
          <a:xfrm>
            <a:off x="1071796" y="2717800"/>
            <a:ext cx="3238500" cy="711200"/>
          </a:xfrm>
          <a:prstGeom prst="rect">
            <a:avLst/>
          </a:prstGeom>
        </p:spPr>
      </p:pic>
      <p:sp>
        <p:nvSpPr>
          <p:cNvPr id="8" name="TextBox 7">
            <a:extLst>
              <a:ext uri="{FF2B5EF4-FFF2-40B4-BE49-F238E27FC236}">
                <a16:creationId xmlns:a16="http://schemas.microsoft.com/office/drawing/2014/main" id="{9C9BDF0B-8F56-CC59-069C-90BE0C92FF9E}"/>
              </a:ext>
            </a:extLst>
          </p:cNvPr>
          <p:cNvSpPr txBox="1"/>
          <p:nvPr/>
        </p:nvSpPr>
        <p:spPr>
          <a:xfrm>
            <a:off x="1071796" y="2114193"/>
            <a:ext cx="6100996" cy="369332"/>
          </a:xfrm>
          <a:prstGeom prst="rect">
            <a:avLst/>
          </a:prstGeom>
          <a:noFill/>
        </p:spPr>
        <p:txBody>
          <a:bodyPr wrap="square">
            <a:spAutoFit/>
          </a:bodyPr>
          <a:lstStyle/>
          <a:p>
            <a:r>
              <a:rPr lang="en-GB" dirty="0"/>
              <a:t>For m observations and n features:</a:t>
            </a:r>
            <a:endParaRPr lang="en-US" dirty="0"/>
          </a:p>
        </p:txBody>
      </p:sp>
      <p:sp>
        <p:nvSpPr>
          <p:cNvPr id="10" name="TextBox 9">
            <a:extLst>
              <a:ext uri="{FF2B5EF4-FFF2-40B4-BE49-F238E27FC236}">
                <a16:creationId xmlns:a16="http://schemas.microsoft.com/office/drawing/2014/main" id="{0E600D8A-284D-EE59-D434-8E3D6162F1B9}"/>
              </a:ext>
            </a:extLst>
          </p:cNvPr>
          <p:cNvSpPr txBox="1"/>
          <p:nvPr/>
        </p:nvSpPr>
        <p:spPr>
          <a:xfrm>
            <a:off x="1071796" y="3571633"/>
            <a:ext cx="5149122" cy="923330"/>
          </a:xfrm>
          <a:prstGeom prst="rect">
            <a:avLst/>
          </a:prstGeom>
          <a:noFill/>
        </p:spPr>
        <p:txBody>
          <a:bodyPr wrap="square">
            <a:spAutoFit/>
          </a:bodyPr>
          <a:lstStyle/>
          <a:p>
            <a:pPr>
              <a:buNone/>
            </a:pPr>
            <a:r>
              <a:rPr lang="en-GB" dirty="0"/>
              <a:t>Each row represents an observation. Each column represents a numerical feature after any required encoding.</a:t>
            </a:r>
          </a:p>
        </p:txBody>
      </p:sp>
      <p:pic>
        <p:nvPicPr>
          <p:cNvPr id="12" name="Picture 11">
            <a:extLst>
              <a:ext uri="{FF2B5EF4-FFF2-40B4-BE49-F238E27FC236}">
                <a16:creationId xmlns:a16="http://schemas.microsoft.com/office/drawing/2014/main" id="{35EC6D56-8C8D-E22B-68F3-4C9759AF3C85}"/>
              </a:ext>
            </a:extLst>
          </p:cNvPr>
          <p:cNvPicPr>
            <a:picLocks noChangeAspect="1"/>
          </p:cNvPicPr>
          <p:nvPr/>
        </p:nvPicPr>
        <p:blipFill>
          <a:blip r:embed="rId3"/>
          <a:stretch>
            <a:fillRect/>
          </a:stretch>
        </p:blipFill>
        <p:spPr>
          <a:xfrm>
            <a:off x="1071796" y="4573779"/>
            <a:ext cx="3238500" cy="685800"/>
          </a:xfrm>
          <a:prstGeom prst="rect">
            <a:avLst/>
          </a:prstGeom>
        </p:spPr>
      </p:pic>
      <p:pic>
        <p:nvPicPr>
          <p:cNvPr id="15" name="Picture 14">
            <a:extLst>
              <a:ext uri="{FF2B5EF4-FFF2-40B4-BE49-F238E27FC236}">
                <a16:creationId xmlns:a16="http://schemas.microsoft.com/office/drawing/2014/main" id="{222471B9-E780-8F0C-6739-F1B1BA5CFE76}"/>
              </a:ext>
            </a:extLst>
          </p:cNvPr>
          <p:cNvPicPr>
            <a:picLocks noChangeAspect="1"/>
          </p:cNvPicPr>
          <p:nvPr/>
        </p:nvPicPr>
        <p:blipFill>
          <a:blip r:embed="rId4"/>
          <a:stretch>
            <a:fillRect/>
          </a:stretch>
        </p:blipFill>
        <p:spPr>
          <a:xfrm>
            <a:off x="6615887" y="2014937"/>
            <a:ext cx="5309723" cy="3385463"/>
          </a:xfrm>
          <a:prstGeom prst="rect">
            <a:avLst/>
          </a:prstGeom>
        </p:spPr>
      </p:pic>
      <p:sp>
        <p:nvSpPr>
          <p:cNvPr id="16" name="Rectangle">
            <a:extLst>
              <a:ext uri="{FF2B5EF4-FFF2-40B4-BE49-F238E27FC236}">
                <a16:creationId xmlns:a16="http://schemas.microsoft.com/office/drawing/2014/main" id="{FA4093D0-00C3-F076-F060-CD0583CC6E9A}"/>
              </a:ext>
            </a:extLst>
          </p:cNvPr>
          <p:cNvSpPr/>
          <p:nvPr/>
        </p:nvSpPr>
        <p:spPr>
          <a:xfrm>
            <a:off x="-11767" y="6545179"/>
            <a:ext cx="12203767" cy="315200"/>
          </a:xfrm>
          <a:prstGeom prst="rect">
            <a:avLst/>
          </a:prstGeom>
          <a:solidFill>
            <a:schemeClr val="tx1"/>
          </a:solidFill>
          <a:ln w="12700">
            <a:noFill/>
            <a:miter lim="400000"/>
          </a:ln>
        </p:spPr>
        <p:txBody>
          <a:bodyPr lIns="45719" rIns="45719" anchor="ctr"/>
          <a:lstStyle/>
          <a:p>
            <a:endParaRPr/>
          </a:p>
        </p:txBody>
      </p:sp>
      <p:pic>
        <p:nvPicPr>
          <p:cNvPr id="17" name="Picture 16" descr="Frontier Tech Leaders (@FTLeadersProg) / X">
            <a:extLst>
              <a:ext uri="{FF2B5EF4-FFF2-40B4-BE49-F238E27FC236}">
                <a16:creationId xmlns:a16="http://schemas.microsoft.com/office/drawing/2014/main" id="{9D289166-E7E8-714D-5C46-87E811BC0457}"/>
              </a:ext>
            </a:extLst>
          </p:cNvPr>
          <p:cNvPicPr>
            <a:picLocks noChangeAspect="1"/>
          </p:cNvPicPr>
          <p:nvPr/>
        </p:nvPicPr>
        <p:blipFill>
          <a:blip r:embed="rId5"/>
          <a:stretch>
            <a:fillRect/>
          </a:stretch>
        </p:blipFill>
        <p:spPr>
          <a:xfrm>
            <a:off x="10668000" y="94470"/>
            <a:ext cx="1027893" cy="1027893"/>
          </a:xfrm>
          <a:prstGeom prst="rect">
            <a:avLst/>
          </a:prstGeom>
        </p:spPr>
      </p:pic>
    </p:spTree>
    <p:extLst>
      <p:ext uri="{BB962C8B-B14F-4D97-AF65-F5344CB8AC3E}">
        <p14:creationId xmlns:p14="http://schemas.microsoft.com/office/powerpoint/2010/main" val="1704339216"/>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BC5B497-6514-1B88-A0E3-2AD77C4EC86E}"/>
              </a:ext>
            </a:extLst>
          </p:cNvPr>
          <p:cNvSpPr>
            <a:spLocks noGrp="1"/>
          </p:cNvSpPr>
          <p:nvPr>
            <p:ph type="title"/>
          </p:nvPr>
        </p:nvSpPr>
        <p:spPr/>
        <p:txBody>
          <a:bodyPr/>
          <a:lstStyle/>
          <a:p>
            <a:r>
              <a:rPr lang="en-GB" dirty="0"/>
              <a:t>Example</a:t>
            </a:r>
            <a:endParaRPr lang="en-US" dirty="0"/>
          </a:p>
        </p:txBody>
      </p:sp>
      <p:pic>
        <p:nvPicPr>
          <p:cNvPr id="5" name="Content Placeholder 4">
            <a:extLst>
              <a:ext uri="{FF2B5EF4-FFF2-40B4-BE49-F238E27FC236}">
                <a16:creationId xmlns:a16="http://schemas.microsoft.com/office/drawing/2014/main" id="{8FF8582C-C6C9-FB22-75B4-931006261725}"/>
              </a:ext>
            </a:extLst>
          </p:cNvPr>
          <p:cNvPicPr>
            <a:picLocks noGrp="1" noChangeAspect="1"/>
          </p:cNvPicPr>
          <p:nvPr>
            <p:ph idx="1"/>
          </p:nvPr>
        </p:nvPicPr>
        <p:blipFill>
          <a:blip r:embed="rId2"/>
          <a:stretch>
            <a:fillRect/>
          </a:stretch>
        </p:blipFill>
        <p:spPr>
          <a:xfrm>
            <a:off x="991200" y="1690687"/>
            <a:ext cx="8276063" cy="2900563"/>
          </a:xfrm>
          <a:prstGeom prst="rect">
            <a:avLst/>
          </a:prstGeom>
        </p:spPr>
      </p:pic>
      <p:sp>
        <p:nvSpPr>
          <p:cNvPr id="6" name="Rectangle">
            <a:extLst>
              <a:ext uri="{FF2B5EF4-FFF2-40B4-BE49-F238E27FC236}">
                <a16:creationId xmlns:a16="http://schemas.microsoft.com/office/drawing/2014/main" id="{AD0BF164-5514-A262-BE3E-5F15D9871366}"/>
              </a:ext>
            </a:extLst>
          </p:cNvPr>
          <p:cNvSpPr/>
          <p:nvPr/>
        </p:nvSpPr>
        <p:spPr>
          <a:xfrm>
            <a:off x="-11767" y="6545179"/>
            <a:ext cx="12203767" cy="315200"/>
          </a:xfrm>
          <a:prstGeom prst="rect">
            <a:avLst/>
          </a:prstGeom>
          <a:solidFill>
            <a:schemeClr val="tx1"/>
          </a:solidFill>
          <a:ln w="12700">
            <a:noFill/>
            <a:miter lim="400000"/>
          </a:ln>
        </p:spPr>
        <p:txBody>
          <a:bodyPr lIns="45719" rIns="45719" anchor="ctr"/>
          <a:lstStyle/>
          <a:p>
            <a:endParaRPr/>
          </a:p>
        </p:txBody>
      </p:sp>
      <p:pic>
        <p:nvPicPr>
          <p:cNvPr id="7" name="Picture 6" descr="Frontier Tech Leaders (@FTLeadersProg) / X">
            <a:extLst>
              <a:ext uri="{FF2B5EF4-FFF2-40B4-BE49-F238E27FC236}">
                <a16:creationId xmlns:a16="http://schemas.microsoft.com/office/drawing/2014/main" id="{8403F28A-DC87-B3E4-B11A-107C60E19DCE}"/>
              </a:ext>
            </a:extLst>
          </p:cNvPr>
          <p:cNvPicPr>
            <a:picLocks noChangeAspect="1"/>
          </p:cNvPicPr>
          <p:nvPr/>
        </p:nvPicPr>
        <p:blipFill>
          <a:blip r:embed="rId3"/>
          <a:stretch>
            <a:fillRect/>
          </a:stretch>
        </p:blipFill>
        <p:spPr>
          <a:xfrm>
            <a:off x="10668000" y="94470"/>
            <a:ext cx="1027893" cy="1027893"/>
          </a:xfrm>
          <a:prstGeom prst="rect">
            <a:avLst/>
          </a:prstGeom>
        </p:spPr>
      </p:pic>
    </p:spTree>
    <p:extLst>
      <p:ext uri="{BB962C8B-B14F-4D97-AF65-F5344CB8AC3E}">
        <p14:creationId xmlns:p14="http://schemas.microsoft.com/office/powerpoint/2010/main" val="3332754790"/>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A0887A7-2575-66DB-8595-8BD1E77EFC56}"/>
              </a:ext>
            </a:extLst>
          </p:cNvPr>
          <p:cNvSpPr>
            <a:spLocks noGrp="1"/>
          </p:cNvSpPr>
          <p:nvPr>
            <p:ph type="title"/>
          </p:nvPr>
        </p:nvSpPr>
        <p:spPr/>
        <p:txBody>
          <a:bodyPr>
            <a:normAutofit/>
          </a:bodyPr>
          <a:lstStyle/>
          <a:p>
            <a:r>
              <a:rPr lang="en-GB" sz="2800" b="1" dirty="0"/>
              <a:t>Model, Algorithm, Parameters and Hyperparameters</a:t>
            </a:r>
            <a:endParaRPr lang="en-US" sz="2800" b="1" dirty="0"/>
          </a:p>
        </p:txBody>
      </p:sp>
      <p:graphicFrame>
        <p:nvGraphicFramePr>
          <p:cNvPr id="4" name="Content Placeholder 3">
            <a:extLst>
              <a:ext uri="{FF2B5EF4-FFF2-40B4-BE49-F238E27FC236}">
                <a16:creationId xmlns:a16="http://schemas.microsoft.com/office/drawing/2014/main" id="{96B93033-E51D-F6D8-E489-770224C17773}"/>
              </a:ext>
            </a:extLst>
          </p:cNvPr>
          <p:cNvGraphicFramePr>
            <a:graphicFrameLocks noGrp="1"/>
          </p:cNvGraphicFramePr>
          <p:nvPr>
            <p:ph idx="1"/>
            <p:extLst>
              <p:ext uri="{D42A27DB-BD31-4B8C-83A1-F6EECF244321}">
                <p14:modId xmlns:p14="http://schemas.microsoft.com/office/powerpoint/2010/main" val="1319752437"/>
              </p:ext>
            </p:extLst>
          </p:nvPr>
        </p:nvGraphicFramePr>
        <p:xfrm>
          <a:off x="838200" y="2035334"/>
          <a:ext cx="10515600" cy="3931920"/>
        </p:xfrm>
        <a:graphic>
          <a:graphicData uri="http://schemas.openxmlformats.org/drawingml/2006/table">
            <a:tbl>
              <a:tblPr>
                <a:tableStyleId>{5C22544A-7EE6-4342-B048-85BDC9FD1C3A}</a:tableStyleId>
              </a:tblPr>
              <a:tblGrid>
                <a:gridCol w="3505200">
                  <a:extLst>
                    <a:ext uri="{9D8B030D-6E8A-4147-A177-3AD203B41FA5}">
                      <a16:colId xmlns:a16="http://schemas.microsoft.com/office/drawing/2014/main" val="2448740589"/>
                    </a:ext>
                  </a:extLst>
                </a:gridCol>
                <a:gridCol w="3505200">
                  <a:extLst>
                    <a:ext uri="{9D8B030D-6E8A-4147-A177-3AD203B41FA5}">
                      <a16:colId xmlns:a16="http://schemas.microsoft.com/office/drawing/2014/main" val="93739466"/>
                    </a:ext>
                  </a:extLst>
                </a:gridCol>
                <a:gridCol w="3505200">
                  <a:extLst>
                    <a:ext uri="{9D8B030D-6E8A-4147-A177-3AD203B41FA5}">
                      <a16:colId xmlns:a16="http://schemas.microsoft.com/office/drawing/2014/main" val="3788769240"/>
                    </a:ext>
                  </a:extLst>
                </a:gridCol>
              </a:tblGrid>
              <a:tr h="0">
                <a:tc>
                  <a:txBody>
                    <a:bodyPr/>
                    <a:lstStyle/>
                    <a:p>
                      <a:pPr>
                        <a:buNone/>
                      </a:pPr>
                      <a:r>
                        <a:rPr lang="en-GB" b="1"/>
                        <a:t>Term</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a:buNone/>
                      </a:pPr>
                      <a:r>
                        <a:rPr lang="en-GB" b="1"/>
                        <a:t>Definition</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a:buNone/>
                      </a:pPr>
                      <a:r>
                        <a:rPr lang="en-GB" b="1" dirty="0"/>
                        <a:t>Example</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1102254741"/>
                  </a:ext>
                </a:extLst>
              </a:tr>
              <a:tr h="0">
                <a:tc>
                  <a:txBody>
                    <a:bodyPr/>
                    <a:lstStyle/>
                    <a:p>
                      <a:pPr>
                        <a:buNone/>
                      </a:pPr>
                      <a:r>
                        <a:rPr lang="en-GB" dirty="0"/>
                        <a:t>Model</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buNone/>
                      </a:pPr>
                      <a:r>
                        <a:rPr lang="en-GB"/>
                        <a:t>The mathematical structure used to produce outputs</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buNone/>
                      </a:pPr>
                      <a:r>
                        <a:rPr lang="en-GB"/>
                        <a:t>A linear prediction function</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2351448660"/>
                  </a:ext>
                </a:extLst>
              </a:tr>
              <a:tr h="0">
                <a:tc>
                  <a:txBody>
                    <a:bodyPr/>
                    <a:lstStyle/>
                    <a:p>
                      <a:pPr>
                        <a:buNone/>
                      </a:pPr>
                      <a:r>
                        <a:rPr lang="en-GB"/>
                        <a:t>Learning algorithm</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buNone/>
                      </a:pPr>
                      <a:r>
                        <a:rPr lang="en-GB"/>
                        <a:t>The procedure that fits a model using data</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buNone/>
                      </a:pPr>
                      <a:r>
                        <a:rPr lang="en-GB"/>
                        <a:t>A decision-tree training procedure</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91288876"/>
                  </a:ext>
                </a:extLst>
              </a:tr>
              <a:tr h="0">
                <a:tc>
                  <a:txBody>
                    <a:bodyPr/>
                    <a:lstStyle/>
                    <a:p>
                      <a:pPr>
                        <a:buNone/>
                      </a:pPr>
                      <a:r>
                        <a:rPr lang="en-GB"/>
                        <a:t>Parameter</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buNone/>
                      </a:pPr>
                      <a:r>
                        <a:rPr lang="en-GB" dirty="0"/>
                        <a:t>A value learned during fitting</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buNone/>
                      </a:pPr>
                      <a:r>
                        <a:rPr lang="en-GB"/>
                        <a:t>A regression coefficient</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887338820"/>
                  </a:ext>
                </a:extLst>
              </a:tr>
              <a:tr h="0">
                <a:tc>
                  <a:txBody>
                    <a:bodyPr/>
                    <a:lstStyle/>
                    <a:p>
                      <a:pPr>
                        <a:buNone/>
                      </a:pPr>
                      <a:r>
                        <a:rPr lang="en-GB"/>
                        <a:t>Hyperparameter</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buNone/>
                      </a:pPr>
                      <a:r>
                        <a:rPr lang="en-GB"/>
                        <a:t>A setting chosen outside parameter fitting</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buNone/>
                      </a:pPr>
                      <a:r>
                        <a:rPr lang="en-GB"/>
                        <a:t>Maximum tree depth</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2697484389"/>
                  </a:ext>
                </a:extLst>
              </a:tr>
              <a:tr h="0">
                <a:tc>
                  <a:txBody>
                    <a:bodyPr/>
                    <a:lstStyle/>
                    <a:p>
                      <a:pPr>
                        <a:buNone/>
                      </a:pPr>
                      <a:r>
                        <a:rPr lang="en-GB"/>
                        <a:t>Training / fitting</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buNone/>
                      </a:pPr>
                      <a:r>
                        <a:rPr lang="en-GB" dirty="0"/>
                        <a:t>The process of learning from training data</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buNone/>
                      </a:pPr>
                      <a:r>
                        <a:rPr lang="en-GB"/>
                        <a:t>Estimating coefficients</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3727191860"/>
                  </a:ext>
                </a:extLst>
              </a:tr>
              <a:tr h="0">
                <a:tc>
                  <a:txBody>
                    <a:bodyPr/>
                    <a:lstStyle/>
                    <a:p>
                      <a:pPr>
                        <a:buNone/>
                      </a:pPr>
                      <a:r>
                        <a:rPr lang="en-GB"/>
                        <a:t>Inference</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buNone/>
                      </a:pPr>
                      <a:r>
                        <a:rPr lang="en-GB"/>
                        <a:t>Applying a fitted model to new inputs</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buNone/>
                      </a:pPr>
                      <a:r>
                        <a:rPr lang="en-GB" dirty="0"/>
                        <a:t>Producing a temperature prediction</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3925170841"/>
                  </a:ext>
                </a:extLst>
              </a:tr>
            </a:tbl>
          </a:graphicData>
        </a:graphic>
      </p:graphicFrame>
      <p:sp>
        <p:nvSpPr>
          <p:cNvPr id="5" name="Rectangle">
            <a:extLst>
              <a:ext uri="{FF2B5EF4-FFF2-40B4-BE49-F238E27FC236}">
                <a16:creationId xmlns:a16="http://schemas.microsoft.com/office/drawing/2014/main" id="{798903B4-70EA-7D65-FF93-F491BC654CA5}"/>
              </a:ext>
            </a:extLst>
          </p:cNvPr>
          <p:cNvSpPr/>
          <p:nvPr/>
        </p:nvSpPr>
        <p:spPr>
          <a:xfrm>
            <a:off x="-11767" y="6545179"/>
            <a:ext cx="12203767" cy="315200"/>
          </a:xfrm>
          <a:prstGeom prst="rect">
            <a:avLst/>
          </a:prstGeom>
          <a:solidFill>
            <a:schemeClr val="tx1"/>
          </a:solidFill>
          <a:ln w="12700">
            <a:noFill/>
            <a:miter lim="400000"/>
          </a:ln>
        </p:spPr>
        <p:txBody>
          <a:bodyPr lIns="45719" rIns="45719" anchor="ctr"/>
          <a:lstStyle/>
          <a:p>
            <a:endParaRPr/>
          </a:p>
        </p:txBody>
      </p:sp>
      <p:pic>
        <p:nvPicPr>
          <p:cNvPr id="6" name="Picture 5" descr="Frontier Tech Leaders (@FTLeadersProg) / X">
            <a:extLst>
              <a:ext uri="{FF2B5EF4-FFF2-40B4-BE49-F238E27FC236}">
                <a16:creationId xmlns:a16="http://schemas.microsoft.com/office/drawing/2014/main" id="{5F7F137A-5F10-EB1F-5B74-CAC193F3DD8E}"/>
              </a:ext>
            </a:extLst>
          </p:cNvPr>
          <p:cNvPicPr>
            <a:picLocks noChangeAspect="1"/>
          </p:cNvPicPr>
          <p:nvPr/>
        </p:nvPicPr>
        <p:blipFill>
          <a:blip r:embed="rId2"/>
          <a:stretch>
            <a:fillRect/>
          </a:stretch>
        </p:blipFill>
        <p:spPr>
          <a:xfrm>
            <a:off x="10668000" y="94470"/>
            <a:ext cx="1027893" cy="1027893"/>
          </a:xfrm>
          <a:prstGeom prst="rect">
            <a:avLst/>
          </a:prstGeom>
        </p:spPr>
      </p:pic>
    </p:spTree>
    <p:extLst>
      <p:ext uri="{BB962C8B-B14F-4D97-AF65-F5344CB8AC3E}">
        <p14:creationId xmlns:p14="http://schemas.microsoft.com/office/powerpoint/2010/main" val="2678716915"/>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86942FD-69FD-C303-DD4D-35B8608699FD}"/>
              </a:ext>
            </a:extLst>
          </p:cNvPr>
          <p:cNvSpPr>
            <a:spLocks noGrp="1"/>
          </p:cNvSpPr>
          <p:nvPr>
            <p:ph type="title"/>
          </p:nvPr>
        </p:nvSpPr>
        <p:spPr/>
        <p:txBody>
          <a:bodyPr/>
          <a:lstStyle/>
          <a:p>
            <a:r>
              <a:rPr lang="en-GB" b="1" dirty="0"/>
              <a:t>Example model</a:t>
            </a:r>
            <a:endParaRPr lang="en-US" dirty="0"/>
          </a:p>
        </p:txBody>
      </p:sp>
      <p:pic>
        <p:nvPicPr>
          <p:cNvPr id="5" name="Content Placeholder 4">
            <a:extLst>
              <a:ext uri="{FF2B5EF4-FFF2-40B4-BE49-F238E27FC236}">
                <a16:creationId xmlns:a16="http://schemas.microsoft.com/office/drawing/2014/main" id="{9496CD59-81AE-044E-BE3C-6D823C0BFA1F}"/>
              </a:ext>
            </a:extLst>
          </p:cNvPr>
          <p:cNvPicPr>
            <a:picLocks noGrp="1" noChangeAspect="1"/>
          </p:cNvPicPr>
          <p:nvPr>
            <p:ph idx="1"/>
          </p:nvPr>
        </p:nvPicPr>
        <p:blipFill>
          <a:blip r:embed="rId2"/>
          <a:stretch>
            <a:fillRect/>
          </a:stretch>
        </p:blipFill>
        <p:spPr>
          <a:xfrm>
            <a:off x="838199" y="1885741"/>
            <a:ext cx="8204435" cy="1839236"/>
          </a:xfrm>
          <a:prstGeom prst="rect">
            <a:avLst/>
          </a:prstGeom>
        </p:spPr>
      </p:pic>
      <p:sp>
        <p:nvSpPr>
          <p:cNvPr id="6" name="Rectangle">
            <a:extLst>
              <a:ext uri="{FF2B5EF4-FFF2-40B4-BE49-F238E27FC236}">
                <a16:creationId xmlns:a16="http://schemas.microsoft.com/office/drawing/2014/main" id="{E5D177EF-49BB-AB04-A6AE-8BDC14A4EF09}"/>
              </a:ext>
            </a:extLst>
          </p:cNvPr>
          <p:cNvSpPr/>
          <p:nvPr/>
        </p:nvSpPr>
        <p:spPr>
          <a:xfrm>
            <a:off x="-11767" y="6545179"/>
            <a:ext cx="12203767" cy="315200"/>
          </a:xfrm>
          <a:prstGeom prst="rect">
            <a:avLst/>
          </a:prstGeom>
          <a:solidFill>
            <a:schemeClr val="tx1"/>
          </a:solidFill>
          <a:ln w="12700">
            <a:noFill/>
            <a:miter lim="400000"/>
          </a:ln>
        </p:spPr>
        <p:txBody>
          <a:bodyPr lIns="45719" rIns="45719" anchor="ctr"/>
          <a:lstStyle/>
          <a:p>
            <a:endParaRPr/>
          </a:p>
        </p:txBody>
      </p:sp>
      <p:pic>
        <p:nvPicPr>
          <p:cNvPr id="7" name="Picture 6" descr="Frontier Tech Leaders (@FTLeadersProg) / X">
            <a:extLst>
              <a:ext uri="{FF2B5EF4-FFF2-40B4-BE49-F238E27FC236}">
                <a16:creationId xmlns:a16="http://schemas.microsoft.com/office/drawing/2014/main" id="{5F3A0CA1-CFD0-1C69-8154-1B73763BDE87}"/>
              </a:ext>
            </a:extLst>
          </p:cNvPr>
          <p:cNvPicPr>
            <a:picLocks noChangeAspect="1"/>
          </p:cNvPicPr>
          <p:nvPr/>
        </p:nvPicPr>
        <p:blipFill>
          <a:blip r:embed="rId3"/>
          <a:stretch>
            <a:fillRect/>
          </a:stretch>
        </p:blipFill>
        <p:spPr>
          <a:xfrm>
            <a:off x="10668000" y="94470"/>
            <a:ext cx="1027893" cy="1027893"/>
          </a:xfrm>
          <a:prstGeom prst="rect">
            <a:avLst/>
          </a:prstGeom>
        </p:spPr>
      </p:pic>
    </p:spTree>
    <p:extLst>
      <p:ext uri="{BB962C8B-B14F-4D97-AF65-F5344CB8AC3E}">
        <p14:creationId xmlns:p14="http://schemas.microsoft.com/office/powerpoint/2010/main" val="1005512257"/>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34F837D-49CE-EAB2-19F3-A4A90B168E06}"/>
              </a:ext>
            </a:extLst>
          </p:cNvPr>
          <p:cNvSpPr>
            <a:spLocks noGrp="1"/>
          </p:cNvSpPr>
          <p:nvPr>
            <p:ph type="title"/>
          </p:nvPr>
        </p:nvSpPr>
        <p:spPr/>
        <p:txBody>
          <a:bodyPr>
            <a:normAutofit/>
          </a:bodyPr>
          <a:lstStyle/>
          <a:p>
            <a:r>
              <a:rPr lang="en-GB" sz="3200" b="1" dirty="0"/>
              <a:t>The Main Learning Approaches</a:t>
            </a:r>
            <a:endParaRPr lang="en-US" sz="3200" b="1" dirty="0"/>
          </a:p>
        </p:txBody>
      </p:sp>
      <p:graphicFrame>
        <p:nvGraphicFramePr>
          <p:cNvPr id="4" name="Content Placeholder 3">
            <a:extLst>
              <a:ext uri="{FF2B5EF4-FFF2-40B4-BE49-F238E27FC236}">
                <a16:creationId xmlns:a16="http://schemas.microsoft.com/office/drawing/2014/main" id="{B1148379-EA75-F401-54AB-487D7497E212}"/>
              </a:ext>
            </a:extLst>
          </p:cNvPr>
          <p:cNvGraphicFramePr>
            <a:graphicFrameLocks noGrp="1"/>
          </p:cNvGraphicFramePr>
          <p:nvPr>
            <p:ph idx="1"/>
            <p:extLst>
              <p:ext uri="{D42A27DB-BD31-4B8C-83A1-F6EECF244321}">
                <p14:modId xmlns:p14="http://schemas.microsoft.com/office/powerpoint/2010/main" val="2975806866"/>
              </p:ext>
            </p:extLst>
          </p:nvPr>
        </p:nvGraphicFramePr>
        <p:xfrm>
          <a:off x="838200" y="1690688"/>
          <a:ext cx="10515600" cy="2560320"/>
        </p:xfrm>
        <a:graphic>
          <a:graphicData uri="http://schemas.openxmlformats.org/drawingml/2006/table">
            <a:tbl>
              <a:tblPr>
                <a:tableStyleId>{5C22544A-7EE6-4342-B048-85BDC9FD1C3A}</a:tableStyleId>
              </a:tblPr>
              <a:tblGrid>
                <a:gridCol w="2628900">
                  <a:extLst>
                    <a:ext uri="{9D8B030D-6E8A-4147-A177-3AD203B41FA5}">
                      <a16:colId xmlns:a16="http://schemas.microsoft.com/office/drawing/2014/main" val="209321469"/>
                    </a:ext>
                  </a:extLst>
                </a:gridCol>
                <a:gridCol w="2628900">
                  <a:extLst>
                    <a:ext uri="{9D8B030D-6E8A-4147-A177-3AD203B41FA5}">
                      <a16:colId xmlns:a16="http://schemas.microsoft.com/office/drawing/2014/main" val="1222820692"/>
                    </a:ext>
                  </a:extLst>
                </a:gridCol>
                <a:gridCol w="2628900">
                  <a:extLst>
                    <a:ext uri="{9D8B030D-6E8A-4147-A177-3AD203B41FA5}">
                      <a16:colId xmlns:a16="http://schemas.microsoft.com/office/drawing/2014/main" val="4166878447"/>
                    </a:ext>
                  </a:extLst>
                </a:gridCol>
                <a:gridCol w="2628900">
                  <a:extLst>
                    <a:ext uri="{9D8B030D-6E8A-4147-A177-3AD203B41FA5}">
                      <a16:colId xmlns:a16="http://schemas.microsoft.com/office/drawing/2014/main" val="819066637"/>
                    </a:ext>
                  </a:extLst>
                </a:gridCol>
              </a:tblGrid>
              <a:tr h="0">
                <a:tc>
                  <a:txBody>
                    <a:bodyPr/>
                    <a:lstStyle/>
                    <a:p>
                      <a:pPr>
                        <a:buNone/>
                      </a:pPr>
                      <a:r>
                        <a:rPr lang="en-GB" b="1" dirty="0"/>
                        <a:t>Approach</a:t>
                      </a:r>
                    </a:p>
                  </a:txBody>
                  <a:tcPr anchor="ctr"/>
                </a:tc>
                <a:tc>
                  <a:txBody>
                    <a:bodyPr/>
                    <a:lstStyle/>
                    <a:p>
                      <a:pPr>
                        <a:buNone/>
                      </a:pPr>
                      <a:r>
                        <a:rPr lang="en-GB" b="1"/>
                        <a:t>Learning information</a:t>
                      </a:r>
                    </a:p>
                  </a:txBody>
                  <a:tcPr anchor="ctr"/>
                </a:tc>
                <a:tc>
                  <a:txBody>
                    <a:bodyPr/>
                    <a:lstStyle/>
                    <a:p>
                      <a:pPr>
                        <a:buNone/>
                      </a:pPr>
                      <a:r>
                        <a:rPr lang="en-GB" b="1"/>
                        <a:t>Main objective</a:t>
                      </a:r>
                    </a:p>
                  </a:txBody>
                  <a:tcPr anchor="ctr"/>
                </a:tc>
                <a:tc>
                  <a:txBody>
                    <a:bodyPr/>
                    <a:lstStyle/>
                    <a:p>
                      <a:pPr>
                        <a:buNone/>
                      </a:pPr>
                      <a:r>
                        <a:rPr lang="en-GB" b="1" dirty="0"/>
                        <a:t>Climate example</a:t>
                      </a:r>
                    </a:p>
                  </a:txBody>
                  <a:tcPr anchor="ctr"/>
                </a:tc>
                <a:extLst>
                  <a:ext uri="{0D108BD9-81ED-4DB2-BD59-A6C34878D82A}">
                    <a16:rowId xmlns:a16="http://schemas.microsoft.com/office/drawing/2014/main" val="1612276425"/>
                  </a:ext>
                </a:extLst>
              </a:tr>
              <a:tr h="0">
                <a:tc>
                  <a:txBody>
                    <a:bodyPr/>
                    <a:lstStyle/>
                    <a:p>
                      <a:pPr>
                        <a:buNone/>
                      </a:pPr>
                      <a:r>
                        <a:rPr lang="en-GB"/>
                        <a:t>Supervised learning</a:t>
                      </a:r>
                    </a:p>
                  </a:txBody>
                  <a:tcPr anchor="ctr"/>
                </a:tc>
                <a:tc>
                  <a:txBody>
                    <a:bodyPr/>
                    <a:lstStyle/>
                    <a:p>
                      <a:pPr>
                        <a:buNone/>
                      </a:pPr>
                      <a:r>
                        <a:rPr lang="en-GB"/>
                        <a:t>Inputs paired with targets</a:t>
                      </a:r>
                    </a:p>
                  </a:txBody>
                  <a:tcPr anchor="ctr"/>
                </a:tc>
                <a:tc>
                  <a:txBody>
                    <a:bodyPr/>
                    <a:lstStyle/>
                    <a:p>
                      <a:pPr>
                        <a:buNone/>
                      </a:pPr>
                      <a:r>
                        <a:rPr lang="en-GB"/>
                        <a:t>Learn to predict a target</a:t>
                      </a:r>
                    </a:p>
                  </a:txBody>
                  <a:tcPr anchor="ctr"/>
                </a:tc>
                <a:tc>
                  <a:txBody>
                    <a:bodyPr/>
                    <a:lstStyle/>
                    <a:p>
                      <a:pPr>
                        <a:buNone/>
                      </a:pPr>
                      <a:r>
                        <a:rPr lang="en-GB"/>
                        <a:t>Predict measured energy generation</a:t>
                      </a:r>
                    </a:p>
                  </a:txBody>
                  <a:tcPr anchor="ctr"/>
                </a:tc>
                <a:extLst>
                  <a:ext uri="{0D108BD9-81ED-4DB2-BD59-A6C34878D82A}">
                    <a16:rowId xmlns:a16="http://schemas.microsoft.com/office/drawing/2014/main" val="2862677342"/>
                  </a:ext>
                </a:extLst>
              </a:tr>
              <a:tr h="0">
                <a:tc>
                  <a:txBody>
                    <a:bodyPr/>
                    <a:lstStyle/>
                    <a:p>
                      <a:pPr>
                        <a:buNone/>
                      </a:pPr>
                      <a:r>
                        <a:rPr lang="en-GB"/>
                        <a:t>Unsupervised learning</a:t>
                      </a:r>
                    </a:p>
                  </a:txBody>
                  <a:tcPr anchor="ctr"/>
                </a:tc>
                <a:tc>
                  <a:txBody>
                    <a:bodyPr/>
                    <a:lstStyle/>
                    <a:p>
                      <a:pPr>
                        <a:buNone/>
                      </a:pPr>
                      <a:r>
                        <a:rPr lang="en-GB"/>
                        <a:t>Inputs without task-specific target labels</a:t>
                      </a:r>
                    </a:p>
                  </a:txBody>
                  <a:tcPr anchor="ctr"/>
                </a:tc>
                <a:tc>
                  <a:txBody>
                    <a:bodyPr/>
                    <a:lstStyle/>
                    <a:p>
                      <a:pPr>
                        <a:buNone/>
                      </a:pPr>
                      <a:r>
                        <a:rPr lang="en-GB"/>
                        <a:t>Discover structure or useful representations</a:t>
                      </a:r>
                    </a:p>
                  </a:txBody>
                  <a:tcPr anchor="ctr"/>
                </a:tc>
                <a:tc>
                  <a:txBody>
                    <a:bodyPr/>
                    <a:lstStyle/>
                    <a:p>
                      <a:pPr>
                        <a:buNone/>
                      </a:pPr>
                      <a:r>
                        <a:rPr lang="en-GB"/>
                        <a:t>Group locations by seasonal climate profiles</a:t>
                      </a:r>
                    </a:p>
                  </a:txBody>
                  <a:tcPr anchor="ctr"/>
                </a:tc>
                <a:extLst>
                  <a:ext uri="{0D108BD9-81ED-4DB2-BD59-A6C34878D82A}">
                    <a16:rowId xmlns:a16="http://schemas.microsoft.com/office/drawing/2014/main" val="1086504802"/>
                  </a:ext>
                </a:extLst>
              </a:tr>
              <a:tr h="0">
                <a:tc>
                  <a:txBody>
                    <a:bodyPr/>
                    <a:lstStyle/>
                    <a:p>
                      <a:pPr>
                        <a:buNone/>
                      </a:pPr>
                      <a:r>
                        <a:rPr lang="en-GB"/>
                        <a:t>Reinforcement learning</a:t>
                      </a:r>
                    </a:p>
                  </a:txBody>
                  <a:tcPr anchor="ctr"/>
                </a:tc>
                <a:tc>
                  <a:txBody>
                    <a:bodyPr/>
                    <a:lstStyle/>
                    <a:p>
                      <a:pPr>
                        <a:buNone/>
                      </a:pPr>
                      <a:r>
                        <a:rPr lang="en-GB"/>
                        <a:t>Interactions, actions and rewards</a:t>
                      </a:r>
                    </a:p>
                  </a:txBody>
                  <a:tcPr anchor="ctr"/>
                </a:tc>
                <a:tc>
                  <a:txBody>
                    <a:bodyPr/>
                    <a:lstStyle/>
                    <a:p>
                      <a:pPr>
                        <a:buNone/>
                      </a:pPr>
                      <a:r>
                        <a:rPr lang="en-GB"/>
                        <a:t>Learn a policy for sequential decisions</a:t>
                      </a:r>
                    </a:p>
                  </a:txBody>
                  <a:tcPr anchor="ctr"/>
                </a:tc>
                <a:tc>
                  <a:txBody>
                    <a:bodyPr/>
                    <a:lstStyle/>
                    <a:p>
                      <a:pPr>
                        <a:buNone/>
                      </a:pPr>
                      <a:r>
                        <a:rPr lang="en-GB" dirty="0"/>
                        <a:t>Optimise battery operation in a simulator</a:t>
                      </a:r>
                    </a:p>
                  </a:txBody>
                  <a:tcPr anchor="ctr"/>
                </a:tc>
                <a:extLst>
                  <a:ext uri="{0D108BD9-81ED-4DB2-BD59-A6C34878D82A}">
                    <a16:rowId xmlns:a16="http://schemas.microsoft.com/office/drawing/2014/main" val="1222986277"/>
                  </a:ext>
                </a:extLst>
              </a:tr>
            </a:tbl>
          </a:graphicData>
        </a:graphic>
      </p:graphicFrame>
      <p:sp>
        <p:nvSpPr>
          <p:cNvPr id="5" name="TextBox 4">
            <a:extLst>
              <a:ext uri="{FF2B5EF4-FFF2-40B4-BE49-F238E27FC236}">
                <a16:creationId xmlns:a16="http://schemas.microsoft.com/office/drawing/2014/main" id="{095B50EE-2BFA-BD04-00E8-259C4A1F56E8}"/>
              </a:ext>
            </a:extLst>
          </p:cNvPr>
          <p:cNvSpPr txBox="1"/>
          <p:nvPr/>
        </p:nvSpPr>
        <p:spPr>
          <a:xfrm>
            <a:off x="838200" y="4684032"/>
            <a:ext cx="7301459" cy="1754326"/>
          </a:xfrm>
          <a:prstGeom prst="rect">
            <a:avLst/>
          </a:prstGeom>
          <a:noFill/>
        </p:spPr>
        <p:txBody>
          <a:bodyPr wrap="square" rtlCol="0">
            <a:spAutoFit/>
          </a:bodyPr>
          <a:lstStyle/>
          <a:p>
            <a:r>
              <a:rPr lang="en-GB" b="1" dirty="0"/>
              <a:t>Two additional approaches</a:t>
            </a:r>
            <a:endParaRPr lang="en-GB" dirty="0"/>
          </a:p>
          <a:p>
            <a:pPr lvl="0"/>
            <a:r>
              <a:rPr lang="en-GB" b="1" dirty="0"/>
              <a:t>Semi-supervised learning:</a:t>
            </a:r>
            <a:r>
              <a:rPr lang="en-GB" dirty="0"/>
              <a:t> combines a limited labelled dataset with additional unlabelled data.</a:t>
            </a:r>
          </a:p>
          <a:p>
            <a:pPr lvl="0"/>
            <a:r>
              <a:rPr lang="en-GB" b="1" dirty="0"/>
              <a:t>Self-supervised learning:</a:t>
            </a:r>
            <a:r>
              <a:rPr lang="en-GB" dirty="0"/>
              <a:t> creates learning targets from the data itself, such as predicting masked parts of an input.</a:t>
            </a:r>
          </a:p>
          <a:p>
            <a:endParaRPr lang="en-US" dirty="0"/>
          </a:p>
        </p:txBody>
      </p:sp>
      <p:sp>
        <p:nvSpPr>
          <p:cNvPr id="6" name="Rectangle">
            <a:extLst>
              <a:ext uri="{FF2B5EF4-FFF2-40B4-BE49-F238E27FC236}">
                <a16:creationId xmlns:a16="http://schemas.microsoft.com/office/drawing/2014/main" id="{BEE00F6F-BAB2-A69E-7EAD-7CCD990D2B5F}"/>
              </a:ext>
            </a:extLst>
          </p:cNvPr>
          <p:cNvSpPr/>
          <p:nvPr/>
        </p:nvSpPr>
        <p:spPr>
          <a:xfrm>
            <a:off x="-11767" y="6545179"/>
            <a:ext cx="12203767" cy="315200"/>
          </a:xfrm>
          <a:prstGeom prst="rect">
            <a:avLst/>
          </a:prstGeom>
          <a:solidFill>
            <a:schemeClr val="tx1"/>
          </a:solidFill>
          <a:ln w="12700">
            <a:noFill/>
            <a:miter lim="400000"/>
          </a:ln>
        </p:spPr>
        <p:txBody>
          <a:bodyPr lIns="45719" rIns="45719" anchor="ctr"/>
          <a:lstStyle/>
          <a:p>
            <a:endParaRPr/>
          </a:p>
        </p:txBody>
      </p:sp>
      <p:pic>
        <p:nvPicPr>
          <p:cNvPr id="7" name="Picture 6" descr="Frontier Tech Leaders (@FTLeadersProg) / X">
            <a:extLst>
              <a:ext uri="{FF2B5EF4-FFF2-40B4-BE49-F238E27FC236}">
                <a16:creationId xmlns:a16="http://schemas.microsoft.com/office/drawing/2014/main" id="{FAA121CE-51AD-8014-F631-10D42ED88BB5}"/>
              </a:ext>
            </a:extLst>
          </p:cNvPr>
          <p:cNvPicPr>
            <a:picLocks noChangeAspect="1"/>
          </p:cNvPicPr>
          <p:nvPr/>
        </p:nvPicPr>
        <p:blipFill>
          <a:blip r:embed="rId2"/>
          <a:stretch>
            <a:fillRect/>
          </a:stretch>
        </p:blipFill>
        <p:spPr>
          <a:xfrm>
            <a:off x="10668000" y="94470"/>
            <a:ext cx="1027893" cy="1027893"/>
          </a:xfrm>
          <a:prstGeom prst="rect">
            <a:avLst/>
          </a:prstGeom>
        </p:spPr>
      </p:pic>
    </p:spTree>
    <p:extLst>
      <p:ext uri="{BB962C8B-B14F-4D97-AF65-F5344CB8AC3E}">
        <p14:creationId xmlns:p14="http://schemas.microsoft.com/office/powerpoint/2010/main" val="325353731"/>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43B9F1E-89DE-C513-D746-8D170D40B109}"/>
              </a:ext>
            </a:extLst>
          </p:cNvPr>
          <p:cNvSpPr>
            <a:spLocks noGrp="1"/>
          </p:cNvSpPr>
          <p:nvPr>
            <p:ph type="title"/>
          </p:nvPr>
        </p:nvSpPr>
        <p:spPr/>
        <p:txBody>
          <a:bodyPr>
            <a:normAutofit/>
          </a:bodyPr>
          <a:lstStyle/>
          <a:p>
            <a:r>
              <a:rPr lang="en-GB" sz="3200" b="1" dirty="0"/>
              <a:t>Supervised Learning</a:t>
            </a:r>
            <a:endParaRPr lang="en-US" sz="3200" b="1" dirty="0"/>
          </a:p>
        </p:txBody>
      </p:sp>
      <p:sp>
        <p:nvSpPr>
          <p:cNvPr id="3" name="Content Placeholder 2">
            <a:extLst>
              <a:ext uri="{FF2B5EF4-FFF2-40B4-BE49-F238E27FC236}">
                <a16:creationId xmlns:a16="http://schemas.microsoft.com/office/drawing/2014/main" id="{EFB4AD71-35E3-9576-A464-55C1639BE9C9}"/>
              </a:ext>
            </a:extLst>
          </p:cNvPr>
          <p:cNvSpPr>
            <a:spLocks noGrp="1"/>
          </p:cNvSpPr>
          <p:nvPr>
            <p:ph idx="1"/>
          </p:nvPr>
        </p:nvSpPr>
        <p:spPr>
          <a:xfrm>
            <a:off x="838200" y="1825625"/>
            <a:ext cx="4003623" cy="542821"/>
          </a:xfrm>
        </p:spPr>
        <p:txBody>
          <a:bodyPr>
            <a:normAutofit fontScale="70000" lnSpcReduction="20000"/>
          </a:bodyPr>
          <a:lstStyle/>
          <a:p>
            <a:r>
              <a:rPr lang="en-GB" dirty="0"/>
              <a:t>A supervised dataset contains input–target pairs:</a:t>
            </a:r>
          </a:p>
        </p:txBody>
      </p:sp>
      <p:pic>
        <p:nvPicPr>
          <p:cNvPr id="5" name="Picture 4">
            <a:extLst>
              <a:ext uri="{FF2B5EF4-FFF2-40B4-BE49-F238E27FC236}">
                <a16:creationId xmlns:a16="http://schemas.microsoft.com/office/drawing/2014/main" id="{62ECB741-AC46-89FB-84C4-5F6FEBFF5D62}"/>
              </a:ext>
            </a:extLst>
          </p:cNvPr>
          <p:cNvPicPr>
            <a:picLocks noChangeAspect="1"/>
          </p:cNvPicPr>
          <p:nvPr/>
        </p:nvPicPr>
        <p:blipFill>
          <a:blip r:embed="rId2"/>
          <a:stretch>
            <a:fillRect/>
          </a:stretch>
        </p:blipFill>
        <p:spPr>
          <a:xfrm>
            <a:off x="838200" y="2755900"/>
            <a:ext cx="3162300" cy="673100"/>
          </a:xfrm>
          <a:prstGeom prst="rect">
            <a:avLst/>
          </a:prstGeom>
        </p:spPr>
      </p:pic>
      <p:sp>
        <p:nvSpPr>
          <p:cNvPr id="7" name="TextBox 6">
            <a:extLst>
              <a:ext uri="{FF2B5EF4-FFF2-40B4-BE49-F238E27FC236}">
                <a16:creationId xmlns:a16="http://schemas.microsoft.com/office/drawing/2014/main" id="{381FDDE9-098B-B2F9-F8CF-437027106B24}"/>
              </a:ext>
            </a:extLst>
          </p:cNvPr>
          <p:cNvSpPr txBox="1"/>
          <p:nvPr/>
        </p:nvSpPr>
        <p:spPr>
          <a:xfrm>
            <a:off x="5098093" y="1690688"/>
            <a:ext cx="6909027" cy="3416320"/>
          </a:xfrm>
          <a:prstGeom prst="rect">
            <a:avLst/>
          </a:prstGeom>
          <a:noFill/>
        </p:spPr>
        <p:txBody>
          <a:bodyPr wrap="square">
            <a:spAutoFit/>
          </a:bodyPr>
          <a:lstStyle/>
          <a:p>
            <a:pPr>
              <a:buNone/>
            </a:pPr>
            <a:r>
              <a:rPr lang="en-GB" b="1" dirty="0"/>
              <a:t>Training process</a:t>
            </a:r>
            <a:endParaRPr lang="en-GB" dirty="0"/>
          </a:p>
          <a:p>
            <a:pPr marL="342900" lvl="0" indent="-342900">
              <a:buFont typeface="+mj-lt"/>
              <a:buAutoNum type="arabicPeriod"/>
            </a:pPr>
            <a:r>
              <a:rPr lang="en-GB" dirty="0"/>
              <a:t>Provide examples with known targets.</a:t>
            </a:r>
          </a:p>
          <a:p>
            <a:pPr marL="342900" lvl="0" indent="-342900">
              <a:buFont typeface="+mj-lt"/>
              <a:buAutoNum type="arabicPeriod"/>
            </a:pPr>
            <a:r>
              <a:rPr lang="en-GB" dirty="0"/>
              <a:t>Generate model predictions.</a:t>
            </a:r>
          </a:p>
          <a:p>
            <a:pPr marL="342900" lvl="0" indent="-342900">
              <a:buFont typeface="+mj-lt"/>
              <a:buAutoNum type="arabicPeriod"/>
            </a:pPr>
            <a:r>
              <a:rPr lang="en-GB" dirty="0"/>
              <a:t>Measure the disagreement between predictions and targets.</a:t>
            </a:r>
          </a:p>
          <a:p>
            <a:pPr marL="342900" lvl="0" indent="-342900">
              <a:buFont typeface="+mj-lt"/>
              <a:buAutoNum type="arabicPeriod"/>
            </a:pPr>
            <a:r>
              <a:rPr lang="en-GB" dirty="0"/>
              <a:t>Adjust the model according to its training procedure.</a:t>
            </a:r>
          </a:p>
          <a:p>
            <a:pPr marL="342900" lvl="0" indent="-342900">
              <a:buFont typeface="+mj-lt"/>
              <a:buAutoNum type="arabicPeriod"/>
            </a:pPr>
            <a:r>
              <a:rPr lang="en-GB" dirty="0"/>
              <a:t>Evaluate performance on separate examples.</a:t>
            </a:r>
          </a:p>
          <a:p>
            <a:pPr>
              <a:buNone/>
            </a:pPr>
            <a:r>
              <a:rPr lang="en-GB" b="1" dirty="0"/>
              <a:t>Two major task types</a:t>
            </a:r>
            <a:endParaRPr lang="en-GB" dirty="0"/>
          </a:p>
          <a:p>
            <a:pPr marL="342900" lvl="0" indent="-342900">
              <a:buFont typeface="Arial" panose="020B0604020202020204" pitchFamily="34" charset="0"/>
              <a:buChar char="•"/>
            </a:pPr>
            <a:r>
              <a:rPr lang="en-GB" b="1" dirty="0"/>
              <a:t>Regression:</a:t>
            </a:r>
            <a:r>
              <a:rPr lang="en-GB" dirty="0"/>
              <a:t> predict a numerical quantity.</a:t>
            </a:r>
          </a:p>
          <a:p>
            <a:pPr marL="342900" lvl="0" indent="-342900">
              <a:buFont typeface="Arial" panose="020B0604020202020204" pitchFamily="34" charset="0"/>
              <a:buChar char="•"/>
            </a:pPr>
            <a:r>
              <a:rPr lang="en-GB" b="1" dirty="0"/>
              <a:t>Classification:</a:t>
            </a:r>
            <a:r>
              <a:rPr lang="en-GB" dirty="0"/>
              <a:t> predict membership in a category.</a:t>
            </a:r>
          </a:p>
          <a:p>
            <a:pPr>
              <a:buNone/>
            </a:pPr>
            <a:r>
              <a:rPr lang="en-GB" b="1" dirty="0"/>
              <a:t>Climate applications</a:t>
            </a:r>
            <a:endParaRPr lang="en-GB" dirty="0"/>
          </a:p>
          <a:p>
            <a:pPr>
              <a:buNone/>
            </a:pPr>
            <a:r>
              <a:rPr lang="en-GB" dirty="0"/>
              <a:t>Temperature estimation, energy forecasting, land-cover classification and event detection.</a:t>
            </a:r>
          </a:p>
        </p:txBody>
      </p:sp>
      <p:sp>
        <p:nvSpPr>
          <p:cNvPr id="8" name="Rectangle">
            <a:extLst>
              <a:ext uri="{FF2B5EF4-FFF2-40B4-BE49-F238E27FC236}">
                <a16:creationId xmlns:a16="http://schemas.microsoft.com/office/drawing/2014/main" id="{DBD5F2D4-339D-AF03-843A-1FDEABE34D31}"/>
              </a:ext>
            </a:extLst>
          </p:cNvPr>
          <p:cNvSpPr/>
          <p:nvPr/>
        </p:nvSpPr>
        <p:spPr>
          <a:xfrm>
            <a:off x="-11767" y="6545179"/>
            <a:ext cx="12203767" cy="315200"/>
          </a:xfrm>
          <a:prstGeom prst="rect">
            <a:avLst/>
          </a:prstGeom>
          <a:solidFill>
            <a:schemeClr val="tx1"/>
          </a:solidFill>
          <a:ln w="12700">
            <a:noFill/>
            <a:miter lim="400000"/>
          </a:ln>
        </p:spPr>
        <p:txBody>
          <a:bodyPr lIns="45719" rIns="45719" anchor="ctr"/>
          <a:lstStyle/>
          <a:p>
            <a:endParaRPr/>
          </a:p>
        </p:txBody>
      </p:sp>
      <p:pic>
        <p:nvPicPr>
          <p:cNvPr id="9" name="Picture 8" descr="Frontier Tech Leaders (@FTLeadersProg) / X">
            <a:extLst>
              <a:ext uri="{FF2B5EF4-FFF2-40B4-BE49-F238E27FC236}">
                <a16:creationId xmlns:a16="http://schemas.microsoft.com/office/drawing/2014/main" id="{86ECF8FB-C53B-96EE-0FC5-70D3F3DF14BB}"/>
              </a:ext>
            </a:extLst>
          </p:cNvPr>
          <p:cNvPicPr>
            <a:picLocks noChangeAspect="1"/>
          </p:cNvPicPr>
          <p:nvPr/>
        </p:nvPicPr>
        <p:blipFill>
          <a:blip r:embed="rId3"/>
          <a:stretch>
            <a:fillRect/>
          </a:stretch>
        </p:blipFill>
        <p:spPr>
          <a:xfrm>
            <a:off x="10668000" y="94470"/>
            <a:ext cx="1027893" cy="1027893"/>
          </a:xfrm>
          <a:prstGeom prst="rect">
            <a:avLst/>
          </a:prstGeom>
        </p:spPr>
      </p:pic>
    </p:spTree>
    <p:extLst>
      <p:ext uri="{BB962C8B-B14F-4D97-AF65-F5344CB8AC3E}">
        <p14:creationId xmlns:p14="http://schemas.microsoft.com/office/powerpoint/2010/main" val="3683172047"/>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D5A0F1B-E099-8D94-9E14-E4A1F4491872}"/>
              </a:ext>
            </a:extLst>
          </p:cNvPr>
          <p:cNvSpPr>
            <a:spLocks noGrp="1"/>
          </p:cNvSpPr>
          <p:nvPr>
            <p:ph type="title"/>
          </p:nvPr>
        </p:nvSpPr>
        <p:spPr/>
        <p:txBody>
          <a:bodyPr>
            <a:normAutofit/>
          </a:bodyPr>
          <a:lstStyle/>
          <a:p>
            <a:r>
              <a:rPr lang="en-GB" sz="3200" b="1" dirty="0"/>
              <a:t>Regression and Classification</a:t>
            </a:r>
            <a:endParaRPr lang="en-US" sz="3200" b="1" dirty="0"/>
          </a:p>
        </p:txBody>
      </p:sp>
      <p:graphicFrame>
        <p:nvGraphicFramePr>
          <p:cNvPr id="4" name="Content Placeholder 3">
            <a:extLst>
              <a:ext uri="{FF2B5EF4-FFF2-40B4-BE49-F238E27FC236}">
                <a16:creationId xmlns:a16="http://schemas.microsoft.com/office/drawing/2014/main" id="{A8FDCE69-0245-41EC-5C8F-B15202CA2FC1}"/>
              </a:ext>
            </a:extLst>
          </p:cNvPr>
          <p:cNvGraphicFramePr>
            <a:graphicFrameLocks noGrp="1"/>
          </p:cNvGraphicFramePr>
          <p:nvPr>
            <p:ph idx="1"/>
            <p:extLst>
              <p:ext uri="{D42A27DB-BD31-4B8C-83A1-F6EECF244321}">
                <p14:modId xmlns:p14="http://schemas.microsoft.com/office/powerpoint/2010/main" val="3065697406"/>
              </p:ext>
            </p:extLst>
          </p:nvPr>
        </p:nvGraphicFramePr>
        <p:xfrm>
          <a:off x="838200" y="1459691"/>
          <a:ext cx="10515600" cy="1828800"/>
        </p:xfrm>
        <a:graphic>
          <a:graphicData uri="http://schemas.openxmlformats.org/drawingml/2006/table">
            <a:tbl>
              <a:tblPr>
                <a:tableStyleId>{5C22544A-7EE6-4342-B048-85BDC9FD1C3A}</a:tableStyleId>
              </a:tblPr>
              <a:tblGrid>
                <a:gridCol w="3505200">
                  <a:extLst>
                    <a:ext uri="{9D8B030D-6E8A-4147-A177-3AD203B41FA5}">
                      <a16:colId xmlns:a16="http://schemas.microsoft.com/office/drawing/2014/main" val="322409201"/>
                    </a:ext>
                  </a:extLst>
                </a:gridCol>
                <a:gridCol w="3505200">
                  <a:extLst>
                    <a:ext uri="{9D8B030D-6E8A-4147-A177-3AD203B41FA5}">
                      <a16:colId xmlns:a16="http://schemas.microsoft.com/office/drawing/2014/main" val="3069791274"/>
                    </a:ext>
                  </a:extLst>
                </a:gridCol>
                <a:gridCol w="3505200">
                  <a:extLst>
                    <a:ext uri="{9D8B030D-6E8A-4147-A177-3AD203B41FA5}">
                      <a16:colId xmlns:a16="http://schemas.microsoft.com/office/drawing/2014/main" val="2736941036"/>
                    </a:ext>
                  </a:extLst>
                </a:gridCol>
              </a:tblGrid>
              <a:tr h="0">
                <a:tc>
                  <a:txBody>
                    <a:bodyPr/>
                    <a:lstStyle/>
                    <a:p>
                      <a:pPr>
                        <a:buNone/>
                      </a:pPr>
                      <a:r>
                        <a:rPr lang="en-GB" b="1"/>
                        <a:t>Aspect</a:t>
                      </a:r>
                    </a:p>
                  </a:txBody>
                  <a:tcPr anchor="ctr"/>
                </a:tc>
                <a:tc>
                  <a:txBody>
                    <a:bodyPr/>
                    <a:lstStyle/>
                    <a:p>
                      <a:pPr>
                        <a:buNone/>
                      </a:pPr>
                      <a:r>
                        <a:rPr lang="en-GB" b="1"/>
                        <a:t>Regression</a:t>
                      </a:r>
                    </a:p>
                  </a:txBody>
                  <a:tcPr anchor="ctr"/>
                </a:tc>
                <a:tc>
                  <a:txBody>
                    <a:bodyPr/>
                    <a:lstStyle/>
                    <a:p>
                      <a:pPr>
                        <a:buNone/>
                      </a:pPr>
                      <a:r>
                        <a:rPr lang="en-GB" b="1" dirty="0"/>
                        <a:t>Classification</a:t>
                      </a:r>
                    </a:p>
                  </a:txBody>
                  <a:tcPr anchor="ctr"/>
                </a:tc>
                <a:extLst>
                  <a:ext uri="{0D108BD9-81ED-4DB2-BD59-A6C34878D82A}">
                    <a16:rowId xmlns:a16="http://schemas.microsoft.com/office/drawing/2014/main" val="2512898364"/>
                  </a:ext>
                </a:extLst>
              </a:tr>
              <a:tr h="0">
                <a:tc>
                  <a:txBody>
                    <a:bodyPr/>
                    <a:lstStyle/>
                    <a:p>
                      <a:pPr>
                        <a:buNone/>
                      </a:pPr>
                      <a:r>
                        <a:rPr lang="en-GB"/>
                        <a:t>Target</a:t>
                      </a:r>
                    </a:p>
                  </a:txBody>
                  <a:tcPr anchor="ctr"/>
                </a:tc>
                <a:tc>
                  <a:txBody>
                    <a:bodyPr/>
                    <a:lstStyle/>
                    <a:p>
                      <a:pPr>
                        <a:buNone/>
                      </a:pPr>
                      <a:r>
                        <a:rPr lang="en-GB"/>
                        <a:t>Numerical quantity</a:t>
                      </a:r>
                    </a:p>
                  </a:txBody>
                  <a:tcPr anchor="ctr"/>
                </a:tc>
                <a:tc>
                  <a:txBody>
                    <a:bodyPr/>
                    <a:lstStyle/>
                    <a:p>
                      <a:pPr>
                        <a:buNone/>
                      </a:pPr>
                      <a:r>
                        <a:rPr lang="en-GB"/>
                        <a:t>Category</a:t>
                      </a:r>
                    </a:p>
                  </a:txBody>
                  <a:tcPr anchor="ctr"/>
                </a:tc>
                <a:extLst>
                  <a:ext uri="{0D108BD9-81ED-4DB2-BD59-A6C34878D82A}">
                    <a16:rowId xmlns:a16="http://schemas.microsoft.com/office/drawing/2014/main" val="1283792836"/>
                  </a:ext>
                </a:extLst>
              </a:tr>
              <a:tr h="0">
                <a:tc>
                  <a:txBody>
                    <a:bodyPr/>
                    <a:lstStyle/>
                    <a:p>
                      <a:pPr>
                        <a:buNone/>
                      </a:pPr>
                      <a:r>
                        <a:rPr lang="en-GB"/>
                        <a:t>Example</a:t>
                      </a:r>
                    </a:p>
                  </a:txBody>
                  <a:tcPr anchor="ctr"/>
                </a:tc>
                <a:tc>
                  <a:txBody>
                    <a:bodyPr/>
                    <a:lstStyle/>
                    <a:p>
                      <a:pPr>
                        <a:buNone/>
                      </a:pPr>
                      <a:r>
                        <a:rPr lang="en-GB"/>
                        <a:t>Daily energy generation</a:t>
                      </a:r>
                    </a:p>
                  </a:txBody>
                  <a:tcPr anchor="ctr"/>
                </a:tc>
                <a:tc>
                  <a:txBody>
                    <a:bodyPr/>
                    <a:lstStyle/>
                    <a:p>
                      <a:pPr>
                        <a:buNone/>
                      </a:pPr>
                      <a:r>
                        <a:rPr lang="en-GB"/>
                        <a:t>Land-cover class</a:t>
                      </a:r>
                    </a:p>
                  </a:txBody>
                  <a:tcPr anchor="ctr"/>
                </a:tc>
                <a:extLst>
                  <a:ext uri="{0D108BD9-81ED-4DB2-BD59-A6C34878D82A}">
                    <a16:rowId xmlns:a16="http://schemas.microsoft.com/office/drawing/2014/main" val="1615898237"/>
                  </a:ext>
                </a:extLst>
              </a:tr>
              <a:tr h="0">
                <a:tc>
                  <a:txBody>
                    <a:bodyPr/>
                    <a:lstStyle/>
                    <a:p>
                      <a:pPr>
                        <a:buNone/>
                      </a:pPr>
                      <a:r>
                        <a:rPr lang="en-GB"/>
                        <a:t>Possible output</a:t>
                      </a:r>
                    </a:p>
                  </a:txBody>
                  <a:tcPr anchor="ctr"/>
                </a:tc>
                <a:tc>
                  <a:txBody>
                    <a:bodyPr/>
                    <a:lstStyle/>
                    <a:p>
                      <a:pPr>
                        <a:buNone/>
                      </a:pPr>
                      <a:r>
                        <a:rPr lang="en-GB" dirty="0"/>
                        <a:t>145.7 kWh</a:t>
                      </a:r>
                    </a:p>
                  </a:txBody>
                  <a:tcPr anchor="ctr"/>
                </a:tc>
                <a:tc>
                  <a:txBody>
                    <a:bodyPr/>
                    <a:lstStyle/>
                    <a:p>
                      <a:pPr>
                        <a:buNone/>
                      </a:pPr>
                      <a:r>
                        <a:rPr lang="en-GB"/>
                        <a:t>Cropland</a:t>
                      </a:r>
                    </a:p>
                  </a:txBody>
                  <a:tcPr anchor="ctr"/>
                </a:tc>
                <a:extLst>
                  <a:ext uri="{0D108BD9-81ED-4DB2-BD59-A6C34878D82A}">
                    <a16:rowId xmlns:a16="http://schemas.microsoft.com/office/drawing/2014/main" val="11866031"/>
                  </a:ext>
                </a:extLst>
              </a:tr>
              <a:tr h="0">
                <a:tc>
                  <a:txBody>
                    <a:bodyPr/>
                    <a:lstStyle/>
                    <a:p>
                      <a:pPr>
                        <a:buNone/>
                      </a:pPr>
                      <a:r>
                        <a:rPr lang="en-GB"/>
                        <a:t>Common evaluation measures</a:t>
                      </a:r>
                    </a:p>
                  </a:txBody>
                  <a:tcPr anchor="ctr"/>
                </a:tc>
                <a:tc>
                  <a:txBody>
                    <a:bodyPr/>
                    <a:lstStyle/>
                    <a:p>
                      <a:pPr>
                        <a:buNone/>
                      </a:pPr>
                      <a:r>
                        <a:rPr lang="en-GB"/>
                        <a:t>MAE, RMSE</a:t>
                      </a:r>
                    </a:p>
                  </a:txBody>
                  <a:tcPr anchor="ctr"/>
                </a:tc>
                <a:tc>
                  <a:txBody>
                    <a:bodyPr/>
                    <a:lstStyle/>
                    <a:p>
                      <a:pPr>
                        <a:buNone/>
                      </a:pPr>
                      <a:r>
                        <a:rPr lang="en-GB" dirty="0"/>
                        <a:t>Precision, recall, F1, accuracy</a:t>
                      </a:r>
                    </a:p>
                  </a:txBody>
                  <a:tcPr anchor="ctr"/>
                </a:tc>
                <a:extLst>
                  <a:ext uri="{0D108BD9-81ED-4DB2-BD59-A6C34878D82A}">
                    <a16:rowId xmlns:a16="http://schemas.microsoft.com/office/drawing/2014/main" val="546698707"/>
                  </a:ext>
                </a:extLst>
              </a:tr>
            </a:tbl>
          </a:graphicData>
        </a:graphic>
      </p:graphicFrame>
      <p:sp>
        <p:nvSpPr>
          <p:cNvPr id="6" name="TextBox 5">
            <a:extLst>
              <a:ext uri="{FF2B5EF4-FFF2-40B4-BE49-F238E27FC236}">
                <a16:creationId xmlns:a16="http://schemas.microsoft.com/office/drawing/2014/main" id="{FF9B82C0-6334-86D6-30CE-5501710FEFB3}"/>
              </a:ext>
            </a:extLst>
          </p:cNvPr>
          <p:cNvSpPr txBox="1"/>
          <p:nvPr/>
        </p:nvSpPr>
        <p:spPr>
          <a:xfrm>
            <a:off x="6027019" y="5339587"/>
            <a:ext cx="3954377" cy="923330"/>
          </a:xfrm>
          <a:prstGeom prst="rect">
            <a:avLst/>
          </a:prstGeom>
          <a:noFill/>
        </p:spPr>
        <p:txBody>
          <a:bodyPr wrap="square">
            <a:spAutoFit/>
          </a:bodyPr>
          <a:lstStyle/>
          <a:p>
            <a:pPr>
              <a:buNone/>
            </a:pPr>
            <a:r>
              <a:rPr lang="en-GB" dirty="0"/>
              <a:t>A classifier may output class scores or probabilities before applying a decision rule.</a:t>
            </a:r>
          </a:p>
        </p:txBody>
      </p:sp>
      <p:pic>
        <p:nvPicPr>
          <p:cNvPr id="8" name="Picture 7">
            <a:extLst>
              <a:ext uri="{FF2B5EF4-FFF2-40B4-BE49-F238E27FC236}">
                <a16:creationId xmlns:a16="http://schemas.microsoft.com/office/drawing/2014/main" id="{5584EE14-F445-A6DB-F62C-05973C8E6E5C}"/>
              </a:ext>
            </a:extLst>
          </p:cNvPr>
          <p:cNvPicPr>
            <a:picLocks noChangeAspect="1"/>
          </p:cNvPicPr>
          <p:nvPr/>
        </p:nvPicPr>
        <p:blipFill>
          <a:blip r:embed="rId2"/>
          <a:stretch>
            <a:fillRect/>
          </a:stretch>
        </p:blipFill>
        <p:spPr>
          <a:xfrm>
            <a:off x="838199" y="3410044"/>
            <a:ext cx="4912895" cy="3074663"/>
          </a:xfrm>
          <a:prstGeom prst="rect">
            <a:avLst/>
          </a:prstGeom>
        </p:spPr>
      </p:pic>
      <p:sp>
        <p:nvSpPr>
          <p:cNvPr id="9" name="Rectangle">
            <a:extLst>
              <a:ext uri="{FF2B5EF4-FFF2-40B4-BE49-F238E27FC236}">
                <a16:creationId xmlns:a16="http://schemas.microsoft.com/office/drawing/2014/main" id="{CCEA93A0-9CB0-32B2-8CB1-A2DB8E2F8A8E}"/>
              </a:ext>
            </a:extLst>
          </p:cNvPr>
          <p:cNvSpPr/>
          <p:nvPr/>
        </p:nvSpPr>
        <p:spPr>
          <a:xfrm>
            <a:off x="-11767" y="6545179"/>
            <a:ext cx="12203767" cy="315200"/>
          </a:xfrm>
          <a:prstGeom prst="rect">
            <a:avLst/>
          </a:prstGeom>
          <a:solidFill>
            <a:schemeClr val="tx1"/>
          </a:solidFill>
          <a:ln w="12700">
            <a:noFill/>
            <a:miter lim="400000"/>
          </a:ln>
        </p:spPr>
        <p:txBody>
          <a:bodyPr lIns="45719" rIns="45719" anchor="ctr"/>
          <a:lstStyle/>
          <a:p>
            <a:endParaRPr/>
          </a:p>
        </p:txBody>
      </p:sp>
      <p:pic>
        <p:nvPicPr>
          <p:cNvPr id="10" name="Picture 9" descr="Frontier Tech Leaders (@FTLeadersProg) / X">
            <a:extLst>
              <a:ext uri="{FF2B5EF4-FFF2-40B4-BE49-F238E27FC236}">
                <a16:creationId xmlns:a16="http://schemas.microsoft.com/office/drawing/2014/main" id="{0E566B6A-64F0-6E88-0A0B-34B1E3757994}"/>
              </a:ext>
            </a:extLst>
          </p:cNvPr>
          <p:cNvPicPr>
            <a:picLocks noChangeAspect="1"/>
          </p:cNvPicPr>
          <p:nvPr/>
        </p:nvPicPr>
        <p:blipFill>
          <a:blip r:embed="rId3"/>
          <a:stretch>
            <a:fillRect/>
          </a:stretch>
        </p:blipFill>
        <p:spPr>
          <a:xfrm>
            <a:off x="10668000" y="94470"/>
            <a:ext cx="1027893" cy="1027893"/>
          </a:xfrm>
          <a:prstGeom prst="rect">
            <a:avLst/>
          </a:prstGeom>
        </p:spPr>
      </p:pic>
    </p:spTree>
    <p:extLst>
      <p:ext uri="{BB962C8B-B14F-4D97-AF65-F5344CB8AC3E}">
        <p14:creationId xmlns:p14="http://schemas.microsoft.com/office/powerpoint/2010/main" val="1901926039"/>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CF00F13-7B99-5B71-4CC2-A9FD043BD364}"/>
              </a:ext>
            </a:extLst>
          </p:cNvPr>
          <p:cNvSpPr>
            <a:spLocks noGrp="1"/>
          </p:cNvSpPr>
          <p:nvPr>
            <p:ph type="title"/>
          </p:nvPr>
        </p:nvSpPr>
        <p:spPr/>
        <p:txBody>
          <a:bodyPr>
            <a:normAutofit/>
          </a:bodyPr>
          <a:lstStyle/>
          <a:p>
            <a:r>
              <a:rPr lang="en-GB" sz="3200" b="1" dirty="0"/>
              <a:t>Common Supervised Learning Techniques</a:t>
            </a:r>
            <a:endParaRPr lang="en-US" sz="3200" b="1" dirty="0"/>
          </a:p>
        </p:txBody>
      </p:sp>
      <p:graphicFrame>
        <p:nvGraphicFramePr>
          <p:cNvPr id="4" name="Table 3">
            <a:extLst>
              <a:ext uri="{FF2B5EF4-FFF2-40B4-BE49-F238E27FC236}">
                <a16:creationId xmlns:a16="http://schemas.microsoft.com/office/drawing/2014/main" id="{65502892-2206-DA11-C5F5-3F5A4F458583}"/>
              </a:ext>
            </a:extLst>
          </p:cNvPr>
          <p:cNvGraphicFramePr>
            <a:graphicFrameLocks noGrp="1"/>
          </p:cNvGraphicFramePr>
          <p:nvPr>
            <p:extLst>
              <p:ext uri="{D42A27DB-BD31-4B8C-83A1-F6EECF244321}">
                <p14:modId xmlns:p14="http://schemas.microsoft.com/office/powerpoint/2010/main" val="3464137930"/>
              </p:ext>
            </p:extLst>
          </p:nvPr>
        </p:nvGraphicFramePr>
        <p:xfrm>
          <a:off x="838200" y="1690688"/>
          <a:ext cx="7011428" cy="4351336"/>
        </p:xfrm>
        <a:graphic>
          <a:graphicData uri="http://schemas.openxmlformats.org/drawingml/2006/table">
            <a:tbl>
              <a:tblPr>
                <a:tableStyleId>{5C22544A-7EE6-4342-B048-85BDC9FD1C3A}</a:tableStyleId>
              </a:tblPr>
              <a:tblGrid>
                <a:gridCol w="1752857">
                  <a:extLst>
                    <a:ext uri="{9D8B030D-6E8A-4147-A177-3AD203B41FA5}">
                      <a16:colId xmlns:a16="http://schemas.microsoft.com/office/drawing/2014/main" val="177131280"/>
                    </a:ext>
                  </a:extLst>
                </a:gridCol>
                <a:gridCol w="1752857">
                  <a:extLst>
                    <a:ext uri="{9D8B030D-6E8A-4147-A177-3AD203B41FA5}">
                      <a16:colId xmlns:a16="http://schemas.microsoft.com/office/drawing/2014/main" val="1318209586"/>
                    </a:ext>
                  </a:extLst>
                </a:gridCol>
                <a:gridCol w="1752857">
                  <a:extLst>
                    <a:ext uri="{9D8B030D-6E8A-4147-A177-3AD203B41FA5}">
                      <a16:colId xmlns:a16="http://schemas.microsoft.com/office/drawing/2014/main" val="3154938524"/>
                    </a:ext>
                  </a:extLst>
                </a:gridCol>
                <a:gridCol w="1752857">
                  <a:extLst>
                    <a:ext uri="{9D8B030D-6E8A-4147-A177-3AD203B41FA5}">
                      <a16:colId xmlns:a16="http://schemas.microsoft.com/office/drawing/2014/main" val="926358111"/>
                    </a:ext>
                  </a:extLst>
                </a:gridCol>
              </a:tblGrid>
              <a:tr h="232071">
                <a:tc>
                  <a:txBody>
                    <a:bodyPr/>
                    <a:lstStyle/>
                    <a:p>
                      <a:pPr>
                        <a:buNone/>
                      </a:pPr>
                      <a:r>
                        <a:rPr lang="en-GB" sz="1100"/>
                        <a:t>Technique</a:t>
                      </a:r>
                    </a:p>
                  </a:txBody>
                  <a:tcPr marL="58018" marR="58018" marT="29009" marB="29009" anchor="ctr"/>
                </a:tc>
                <a:tc>
                  <a:txBody>
                    <a:bodyPr/>
                    <a:lstStyle/>
                    <a:p>
                      <a:pPr>
                        <a:buNone/>
                      </a:pPr>
                      <a:r>
                        <a:rPr lang="en-GB" sz="1100"/>
                        <a:t>Common tasks</a:t>
                      </a:r>
                    </a:p>
                  </a:txBody>
                  <a:tcPr marL="58018" marR="58018" marT="29009" marB="29009" anchor="ctr"/>
                </a:tc>
                <a:tc>
                  <a:txBody>
                    <a:bodyPr/>
                    <a:lstStyle/>
                    <a:p>
                      <a:pPr>
                        <a:buNone/>
                      </a:pPr>
                      <a:r>
                        <a:rPr lang="en-GB" sz="1100"/>
                        <a:t>Core idea</a:t>
                      </a:r>
                    </a:p>
                  </a:txBody>
                  <a:tcPr marL="58018" marR="58018" marT="29009" marB="29009" anchor="ctr"/>
                </a:tc>
                <a:tc>
                  <a:txBody>
                    <a:bodyPr/>
                    <a:lstStyle/>
                    <a:p>
                      <a:pPr>
                        <a:buNone/>
                      </a:pPr>
                      <a:r>
                        <a:rPr lang="en-GB" sz="1100"/>
                        <a:t>Important consideration</a:t>
                      </a:r>
                    </a:p>
                  </a:txBody>
                  <a:tcPr marL="58018" marR="58018" marT="29009" marB="29009" anchor="ctr"/>
                </a:tc>
                <a:extLst>
                  <a:ext uri="{0D108BD9-81ED-4DB2-BD59-A6C34878D82A}">
                    <a16:rowId xmlns:a16="http://schemas.microsoft.com/office/drawing/2014/main" val="2091528579"/>
                  </a:ext>
                </a:extLst>
              </a:tr>
              <a:tr h="406125">
                <a:tc>
                  <a:txBody>
                    <a:bodyPr/>
                    <a:lstStyle/>
                    <a:p>
                      <a:pPr>
                        <a:buNone/>
                      </a:pPr>
                      <a:r>
                        <a:rPr lang="en-GB" sz="1100"/>
                        <a:t>Linear regression</a:t>
                      </a:r>
                    </a:p>
                  </a:txBody>
                  <a:tcPr marL="58018" marR="58018" marT="29009" marB="29009" anchor="ctr"/>
                </a:tc>
                <a:tc>
                  <a:txBody>
                    <a:bodyPr/>
                    <a:lstStyle/>
                    <a:p>
                      <a:pPr>
                        <a:buNone/>
                      </a:pPr>
                      <a:r>
                        <a:rPr lang="en-GB" sz="1100"/>
                        <a:t>Regression</a:t>
                      </a:r>
                    </a:p>
                  </a:txBody>
                  <a:tcPr marL="58018" marR="58018" marT="29009" marB="29009" anchor="ctr"/>
                </a:tc>
                <a:tc>
                  <a:txBody>
                    <a:bodyPr/>
                    <a:lstStyle/>
                    <a:p>
                      <a:pPr>
                        <a:buNone/>
                      </a:pPr>
                      <a:r>
                        <a:rPr lang="en-GB" sz="1100"/>
                        <a:t>Fit a weighted combination of features</a:t>
                      </a:r>
                    </a:p>
                  </a:txBody>
                  <a:tcPr marL="58018" marR="58018" marT="29009" marB="29009" anchor="ctr"/>
                </a:tc>
                <a:tc>
                  <a:txBody>
                    <a:bodyPr/>
                    <a:lstStyle/>
                    <a:p>
                      <a:pPr>
                        <a:buNone/>
                      </a:pPr>
                      <a:r>
                        <a:rPr lang="en-GB" sz="1100"/>
                        <a:t>Limited by the chosen feature representation</a:t>
                      </a:r>
                    </a:p>
                  </a:txBody>
                  <a:tcPr marL="58018" marR="58018" marT="29009" marB="29009" anchor="ctr"/>
                </a:tc>
                <a:extLst>
                  <a:ext uri="{0D108BD9-81ED-4DB2-BD59-A6C34878D82A}">
                    <a16:rowId xmlns:a16="http://schemas.microsoft.com/office/drawing/2014/main" val="1406130741"/>
                  </a:ext>
                </a:extLst>
              </a:tr>
              <a:tr h="580178">
                <a:tc>
                  <a:txBody>
                    <a:bodyPr/>
                    <a:lstStyle/>
                    <a:p>
                      <a:pPr>
                        <a:buNone/>
                      </a:pPr>
                      <a:r>
                        <a:rPr lang="en-GB" sz="1100"/>
                        <a:t>Logistic regression</a:t>
                      </a:r>
                    </a:p>
                  </a:txBody>
                  <a:tcPr marL="58018" marR="58018" marT="29009" marB="29009" anchor="ctr"/>
                </a:tc>
                <a:tc>
                  <a:txBody>
                    <a:bodyPr/>
                    <a:lstStyle/>
                    <a:p>
                      <a:pPr>
                        <a:buNone/>
                      </a:pPr>
                      <a:r>
                        <a:rPr lang="en-GB" sz="1100"/>
                        <a:t>Classification</a:t>
                      </a:r>
                    </a:p>
                  </a:txBody>
                  <a:tcPr marL="58018" marR="58018" marT="29009" marB="29009" anchor="ctr"/>
                </a:tc>
                <a:tc>
                  <a:txBody>
                    <a:bodyPr/>
                    <a:lstStyle/>
                    <a:p>
                      <a:pPr>
                        <a:buNone/>
                      </a:pPr>
                      <a:r>
                        <a:rPr lang="en-GB" sz="1100"/>
                        <a:t>Model class probabilities using a transformed linear score</a:t>
                      </a:r>
                    </a:p>
                  </a:txBody>
                  <a:tcPr marL="58018" marR="58018" marT="29009" marB="29009" anchor="ctr"/>
                </a:tc>
                <a:tc>
                  <a:txBody>
                    <a:bodyPr/>
                    <a:lstStyle/>
                    <a:p>
                      <a:pPr>
                        <a:buNone/>
                      </a:pPr>
                      <a:r>
                        <a:rPr lang="en-GB" sz="1100"/>
                        <a:t>Despite its name, commonly used for classification</a:t>
                      </a:r>
                    </a:p>
                  </a:txBody>
                  <a:tcPr marL="58018" marR="58018" marT="29009" marB="29009" anchor="ctr"/>
                </a:tc>
                <a:extLst>
                  <a:ext uri="{0D108BD9-81ED-4DB2-BD59-A6C34878D82A}">
                    <a16:rowId xmlns:a16="http://schemas.microsoft.com/office/drawing/2014/main" val="1845681703"/>
                  </a:ext>
                </a:extLst>
              </a:tr>
              <a:tr h="580178">
                <a:tc>
                  <a:txBody>
                    <a:bodyPr/>
                    <a:lstStyle/>
                    <a:p>
                      <a:pPr>
                        <a:buNone/>
                      </a:pPr>
                      <a:r>
                        <a:rPr lang="en-GB" sz="1100"/>
                        <a:t>k-nearest neighbours</a:t>
                      </a:r>
                    </a:p>
                  </a:txBody>
                  <a:tcPr marL="58018" marR="58018" marT="29009" marB="29009" anchor="ctr"/>
                </a:tc>
                <a:tc>
                  <a:txBody>
                    <a:bodyPr/>
                    <a:lstStyle/>
                    <a:p>
                      <a:pPr>
                        <a:buNone/>
                      </a:pPr>
                      <a:r>
                        <a:rPr lang="en-GB" sz="1100"/>
                        <a:t>Both</a:t>
                      </a:r>
                    </a:p>
                  </a:txBody>
                  <a:tcPr marL="58018" marR="58018" marT="29009" marB="29009" anchor="ctr"/>
                </a:tc>
                <a:tc>
                  <a:txBody>
                    <a:bodyPr/>
                    <a:lstStyle/>
                    <a:p>
                      <a:pPr>
                        <a:buNone/>
                      </a:pPr>
                      <a:r>
                        <a:rPr lang="en-GB" sz="1100" dirty="0"/>
                        <a:t>Use nearby training examples</a:t>
                      </a:r>
                    </a:p>
                  </a:txBody>
                  <a:tcPr marL="58018" marR="58018" marT="29009" marB="29009" anchor="ctr"/>
                </a:tc>
                <a:tc>
                  <a:txBody>
                    <a:bodyPr/>
                    <a:lstStyle/>
                    <a:p>
                      <a:pPr>
                        <a:buNone/>
                      </a:pPr>
                      <a:r>
                        <a:rPr lang="en-GB" sz="1100"/>
                        <a:t>Sensitive to feature scaling and distance choice</a:t>
                      </a:r>
                    </a:p>
                  </a:txBody>
                  <a:tcPr marL="58018" marR="58018" marT="29009" marB="29009" anchor="ctr"/>
                </a:tc>
                <a:extLst>
                  <a:ext uri="{0D108BD9-81ED-4DB2-BD59-A6C34878D82A}">
                    <a16:rowId xmlns:a16="http://schemas.microsoft.com/office/drawing/2014/main" val="51034030"/>
                  </a:ext>
                </a:extLst>
              </a:tr>
              <a:tr h="406125">
                <a:tc>
                  <a:txBody>
                    <a:bodyPr/>
                    <a:lstStyle/>
                    <a:p>
                      <a:pPr>
                        <a:buNone/>
                      </a:pPr>
                      <a:r>
                        <a:rPr lang="en-GB" sz="1100"/>
                        <a:t>Decision trees</a:t>
                      </a:r>
                    </a:p>
                  </a:txBody>
                  <a:tcPr marL="58018" marR="58018" marT="29009" marB="29009" anchor="ctr"/>
                </a:tc>
                <a:tc>
                  <a:txBody>
                    <a:bodyPr/>
                    <a:lstStyle/>
                    <a:p>
                      <a:pPr>
                        <a:buNone/>
                      </a:pPr>
                      <a:r>
                        <a:rPr lang="en-GB" sz="1100"/>
                        <a:t>Both</a:t>
                      </a:r>
                    </a:p>
                  </a:txBody>
                  <a:tcPr marL="58018" marR="58018" marT="29009" marB="29009" anchor="ctr"/>
                </a:tc>
                <a:tc>
                  <a:txBody>
                    <a:bodyPr/>
                    <a:lstStyle/>
                    <a:p>
                      <a:pPr>
                        <a:buNone/>
                      </a:pPr>
                      <a:r>
                        <a:rPr lang="en-GB" sz="1100"/>
                        <a:t>Learn a sequence of feature-based splits</a:t>
                      </a:r>
                    </a:p>
                  </a:txBody>
                  <a:tcPr marL="58018" marR="58018" marT="29009" marB="29009" anchor="ctr"/>
                </a:tc>
                <a:tc>
                  <a:txBody>
                    <a:bodyPr/>
                    <a:lstStyle/>
                    <a:p>
                      <a:pPr>
                        <a:buNone/>
                      </a:pPr>
                      <a:r>
                        <a:rPr lang="en-GB" sz="1100"/>
                        <a:t>Deep trees can overfit</a:t>
                      </a:r>
                    </a:p>
                  </a:txBody>
                  <a:tcPr marL="58018" marR="58018" marT="29009" marB="29009" anchor="ctr"/>
                </a:tc>
                <a:extLst>
                  <a:ext uri="{0D108BD9-81ED-4DB2-BD59-A6C34878D82A}">
                    <a16:rowId xmlns:a16="http://schemas.microsoft.com/office/drawing/2014/main" val="314860857"/>
                  </a:ext>
                </a:extLst>
              </a:tr>
              <a:tr h="580178">
                <a:tc>
                  <a:txBody>
                    <a:bodyPr/>
                    <a:lstStyle/>
                    <a:p>
                      <a:pPr>
                        <a:buNone/>
                      </a:pPr>
                      <a:r>
                        <a:rPr lang="en-GB" sz="1100"/>
                        <a:t>Random forests</a:t>
                      </a:r>
                    </a:p>
                  </a:txBody>
                  <a:tcPr marL="58018" marR="58018" marT="29009" marB="29009" anchor="ctr"/>
                </a:tc>
                <a:tc>
                  <a:txBody>
                    <a:bodyPr/>
                    <a:lstStyle/>
                    <a:p>
                      <a:pPr>
                        <a:buNone/>
                      </a:pPr>
                      <a:r>
                        <a:rPr lang="en-GB" sz="1100"/>
                        <a:t>Both</a:t>
                      </a:r>
                    </a:p>
                  </a:txBody>
                  <a:tcPr marL="58018" marR="58018" marT="29009" marB="29009" anchor="ctr"/>
                </a:tc>
                <a:tc>
                  <a:txBody>
                    <a:bodyPr/>
                    <a:lstStyle/>
                    <a:p>
                      <a:pPr>
                        <a:buNone/>
                      </a:pPr>
                      <a:r>
                        <a:rPr lang="en-GB" sz="1100"/>
                        <a:t>Combine many randomised decision trees</a:t>
                      </a:r>
                    </a:p>
                  </a:txBody>
                  <a:tcPr marL="58018" marR="58018" marT="29009" marB="29009" anchor="ctr"/>
                </a:tc>
                <a:tc>
                  <a:txBody>
                    <a:bodyPr/>
                    <a:lstStyle/>
                    <a:p>
                      <a:pPr>
                        <a:buNone/>
                      </a:pPr>
                      <a:r>
                        <a:rPr lang="en-GB" sz="1100"/>
                        <a:t>Less straightforward to interpret than one tree</a:t>
                      </a:r>
                    </a:p>
                  </a:txBody>
                  <a:tcPr marL="58018" marR="58018" marT="29009" marB="29009" anchor="ctr"/>
                </a:tc>
                <a:extLst>
                  <a:ext uri="{0D108BD9-81ED-4DB2-BD59-A6C34878D82A}">
                    <a16:rowId xmlns:a16="http://schemas.microsoft.com/office/drawing/2014/main" val="39153239"/>
                  </a:ext>
                </a:extLst>
              </a:tr>
              <a:tr h="406125">
                <a:tc>
                  <a:txBody>
                    <a:bodyPr/>
                    <a:lstStyle/>
                    <a:p>
                      <a:pPr>
                        <a:buNone/>
                      </a:pPr>
                      <a:r>
                        <a:rPr lang="en-GB" sz="1100"/>
                        <a:t>Gradient-boosted trees</a:t>
                      </a:r>
                    </a:p>
                  </a:txBody>
                  <a:tcPr marL="58018" marR="58018" marT="29009" marB="29009" anchor="ctr"/>
                </a:tc>
                <a:tc>
                  <a:txBody>
                    <a:bodyPr/>
                    <a:lstStyle/>
                    <a:p>
                      <a:pPr>
                        <a:buNone/>
                      </a:pPr>
                      <a:r>
                        <a:rPr lang="en-GB" sz="1100"/>
                        <a:t>Both</a:t>
                      </a:r>
                    </a:p>
                  </a:txBody>
                  <a:tcPr marL="58018" marR="58018" marT="29009" marB="29009" anchor="ctr"/>
                </a:tc>
                <a:tc>
                  <a:txBody>
                    <a:bodyPr/>
                    <a:lstStyle/>
                    <a:p>
                      <a:pPr>
                        <a:buNone/>
                      </a:pPr>
                      <a:r>
                        <a:rPr lang="en-GB" sz="1100"/>
                        <a:t>Add trees sequentially to improve an objective</a:t>
                      </a:r>
                    </a:p>
                  </a:txBody>
                  <a:tcPr marL="58018" marR="58018" marT="29009" marB="29009" anchor="ctr"/>
                </a:tc>
                <a:tc>
                  <a:txBody>
                    <a:bodyPr/>
                    <a:lstStyle/>
                    <a:p>
                      <a:pPr>
                        <a:buNone/>
                      </a:pPr>
                      <a:r>
                        <a:rPr lang="en-GB" sz="1100"/>
                        <a:t>Require careful control of model complexity</a:t>
                      </a:r>
                    </a:p>
                  </a:txBody>
                  <a:tcPr marL="58018" marR="58018" marT="29009" marB="29009" anchor="ctr"/>
                </a:tc>
                <a:extLst>
                  <a:ext uri="{0D108BD9-81ED-4DB2-BD59-A6C34878D82A}">
                    <a16:rowId xmlns:a16="http://schemas.microsoft.com/office/drawing/2014/main" val="900705048"/>
                  </a:ext>
                </a:extLst>
              </a:tr>
              <a:tr h="580178">
                <a:tc>
                  <a:txBody>
                    <a:bodyPr/>
                    <a:lstStyle/>
                    <a:p>
                      <a:pPr>
                        <a:buNone/>
                      </a:pPr>
                      <a:r>
                        <a:rPr lang="en-GB" sz="1100"/>
                        <a:t>Support vector machines</a:t>
                      </a:r>
                    </a:p>
                  </a:txBody>
                  <a:tcPr marL="58018" marR="58018" marT="29009" marB="29009" anchor="ctr"/>
                </a:tc>
                <a:tc>
                  <a:txBody>
                    <a:bodyPr/>
                    <a:lstStyle/>
                    <a:p>
                      <a:pPr>
                        <a:buNone/>
                      </a:pPr>
                      <a:r>
                        <a:rPr lang="en-GB" sz="1100"/>
                        <a:t>Classification and regression variants</a:t>
                      </a:r>
                    </a:p>
                  </a:txBody>
                  <a:tcPr marL="58018" marR="58018" marT="29009" marB="29009" anchor="ctr"/>
                </a:tc>
                <a:tc>
                  <a:txBody>
                    <a:bodyPr/>
                    <a:lstStyle/>
                    <a:p>
                      <a:pPr>
                        <a:buNone/>
                      </a:pPr>
                      <a:r>
                        <a:rPr lang="en-GB" sz="1100"/>
                        <a:t>Use margins or tolerance regions, optionally with kernels</a:t>
                      </a:r>
                    </a:p>
                  </a:txBody>
                  <a:tcPr marL="58018" marR="58018" marT="29009" marB="29009" anchor="ctr"/>
                </a:tc>
                <a:tc>
                  <a:txBody>
                    <a:bodyPr/>
                    <a:lstStyle/>
                    <a:p>
                      <a:pPr>
                        <a:buNone/>
                      </a:pPr>
                      <a:r>
                        <a:rPr lang="en-GB" sz="1100"/>
                        <a:t>Scaling and parameter selection matter</a:t>
                      </a:r>
                    </a:p>
                  </a:txBody>
                  <a:tcPr marL="58018" marR="58018" marT="29009" marB="29009" anchor="ctr"/>
                </a:tc>
                <a:extLst>
                  <a:ext uri="{0D108BD9-81ED-4DB2-BD59-A6C34878D82A}">
                    <a16:rowId xmlns:a16="http://schemas.microsoft.com/office/drawing/2014/main" val="623356577"/>
                  </a:ext>
                </a:extLst>
              </a:tr>
              <a:tr h="580178">
                <a:tc>
                  <a:txBody>
                    <a:bodyPr/>
                    <a:lstStyle/>
                    <a:p>
                      <a:pPr>
                        <a:buNone/>
                      </a:pPr>
                      <a:r>
                        <a:rPr lang="en-GB" sz="1100"/>
                        <a:t>Neural networks</a:t>
                      </a:r>
                    </a:p>
                  </a:txBody>
                  <a:tcPr marL="58018" marR="58018" marT="29009" marB="29009" anchor="ctr"/>
                </a:tc>
                <a:tc>
                  <a:txBody>
                    <a:bodyPr/>
                    <a:lstStyle/>
                    <a:p>
                      <a:pPr>
                        <a:buNone/>
                      </a:pPr>
                      <a:r>
                        <a:rPr lang="en-GB" sz="1100"/>
                        <a:t>Both</a:t>
                      </a:r>
                    </a:p>
                  </a:txBody>
                  <a:tcPr marL="58018" marR="58018" marT="29009" marB="29009" anchor="ctr"/>
                </a:tc>
                <a:tc>
                  <a:txBody>
                    <a:bodyPr/>
                    <a:lstStyle/>
                    <a:p>
                      <a:pPr>
                        <a:buNone/>
                      </a:pPr>
                      <a:r>
                        <a:rPr lang="en-GB" sz="1100"/>
                        <a:t>Learn compositions of transformations</a:t>
                      </a:r>
                    </a:p>
                  </a:txBody>
                  <a:tcPr marL="58018" marR="58018" marT="29009" marB="29009" anchor="ctr"/>
                </a:tc>
                <a:tc>
                  <a:txBody>
                    <a:bodyPr/>
                    <a:lstStyle/>
                    <a:p>
                      <a:pPr>
                        <a:buNone/>
                      </a:pPr>
                      <a:r>
                        <a:rPr lang="en-GB" sz="1100" dirty="0"/>
                        <a:t>Architecture, data and optimisation affect performance</a:t>
                      </a:r>
                    </a:p>
                  </a:txBody>
                  <a:tcPr marL="58018" marR="58018" marT="29009" marB="29009" anchor="ctr"/>
                </a:tc>
                <a:extLst>
                  <a:ext uri="{0D108BD9-81ED-4DB2-BD59-A6C34878D82A}">
                    <a16:rowId xmlns:a16="http://schemas.microsoft.com/office/drawing/2014/main" val="646356606"/>
                  </a:ext>
                </a:extLst>
              </a:tr>
            </a:tbl>
          </a:graphicData>
        </a:graphic>
      </p:graphicFrame>
      <p:sp>
        <p:nvSpPr>
          <p:cNvPr id="6" name="TextBox 5">
            <a:extLst>
              <a:ext uri="{FF2B5EF4-FFF2-40B4-BE49-F238E27FC236}">
                <a16:creationId xmlns:a16="http://schemas.microsoft.com/office/drawing/2014/main" id="{A460BF48-6B25-38D0-BD89-644727A7654C}"/>
              </a:ext>
            </a:extLst>
          </p:cNvPr>
          <p:cNvSpPr txBox="1"/>
          <p:nvPr/>
        </p:nvSpPr>
        <p:spPr>
          <a:xfrm>
            <a:off x="7849628" y="4841695"/>
            <a:ext cx="4342372" cy="1200329"/>
          </a:xfrm>
          <a:prstGeom prst="rect">
            <a:avLst/>
          </a:prstGeom>
          <a:noFill/>
        </p:spPr>
        <p:txBody>
          <a:bodyPr wrap="square">
            <a:spAutoFit/>
          </a:bodyPr>
          <a:lstStyle/>
          <a:p>
            <a:pPr>
              <a:buNone/>
            </a:pPr>
            <a:r>
              <a:rPr lang="en-GB" b="1" dirty="0"/>
              <a:t>Selection principle</a:t>
            </a:r>
            <a:endParaRPr lang="en-GB" dirty="0"/>
          </a:p>
          <a:p>
            <a:pPr>
              <a:buNone/>
            </a:pPr>
            <a:r>
              <a:rPr lang="en-GB" dirty="0"/>
              <a:t>Choose methods according to the task, data structure, evaluation results and practical constraints.</a:t>
            </a:r>
          </a:p>
        </p:txBody>
      </p:sp>
      <p:sp>
        <p:nvSpPr>
          <p:cNvPr id="7" name="Rectangle">
            <a:extLst>
              <a:ext uri="{FF2B5EF4-FFF2-40B4-BE49-F238E27FC236}">
                <a16:creationId xmlns:a16="http://schemas.microsoft.com/office/drawing/2014/main" id="{5EF61ECE-0A6F-6198-A0BB-27E1DDA3921E}"/>
              </a:ext>
            </a:extLst>
          </p:cNvPr>
          <p:cNvSpPr/>
          <p:nvPr/>
        </p:nvSpPr>
        <p:spPr>
          <a:xfrm>
            <a:off x="-11767" y="6545179"/>
            <a:ext cx="12203767" cy="315200"/>
          </a:xfrm>
          <a:prstGeom prst="rect">
            <a:avLst/>
          </a:prstGeom>
          <a:solidFill>
            <a:schemeClr val="tx1"/>
          </a:solidFill>
          <a:ln w="12700">
            <a:noFill/>
            <a:miter lim="400000"/>
          </a:ln>
        </p:spPr>
        <p:txBody>
          <a:bodyPr lIns="45719" rIns="45719" anchor="ctr"/>
          <a:lstStyle/>
          <a:p>
            <a:endParaRPr/>
          </a:p>
        </p:txBody>
      </p:sp>
      <p:pic>
        <p:nvPicPr>
          <p:cNvPr id="8" name="Picture 7" descr="Frontier Tech Leaders (@FTLeadersProg) / X">
            <a:extLst>
              <a:ext uri="{FF2B5EF4-FFF2-40B4-BE49-F238E27FC236}">
                <a16:creationId xmlns:a16="http://schemas.microsoft.com/office/drawing/2014/main" id="{BB46211E-9A0F-2113-A5F3-E121E73FBEA9}"/>
              </a:ext>
            </a:extLst>
          </p:cNvPr>
          <p:cNvPicPr>
            <a:picLocks noChangeAspect="1"/>
          </p:cNvPicPr>
          <p:nvPr/>
        </p:nvPicPr>
        <p:blipFill>
          <a:blip r:embed="rId2"/>
          <a:stretch>
            <a:fillRect/>
          </a:stretch>
        </p:blipFill>
        <p:spPr>
          <a:xfrm>
            <a:off x="10668000" y="94470"/>
            <a:ext cx="1027893" cy="1027893"/>
          </a:xfrm>
          <a:prstGeom prst="rect">
            <a:avLst/>
          </a:prstGeom>
        </p:spPr>
      </p:pic>
    </p:spTree>
    <p:extLst>
      <p:ext uri="{BB962C8B-B14F-4D97-AF65-F5344CB8AC3E}">
        <p14:creationId xmlns:p14="http://schemas.microsoft.com/office/powerpoint/2010/main" val="3261463455"/>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248C64B-7371-07F9-57DF-EAC4484EDD92}"/>
              </a:ext>
            </a:extLst>
          </p:cNvPr>
          <p:cNvSpPr>
            <a:spLocks noGrp="1"/>
          </p:cNvSpPr>
          <p:nvPr>
            <p:ph type="title"/>
          </p:nvPr>
        </p:nvSpPr>
        <p:spPr/>
        <p:txBody>
          <a:bodyPr>
            <a:normAutofit/>
          </a:bodyPr>
          <a:lstStyle/>
          <a:p>
            <a:r>
              <a:rPr lang="en-GB" sz="3200" b="1" dirty="0"/>
              <a:t>Unsupervised Learning</a:t>
            </a:r>
            <a:endParaRPr lang="en-US" sz="3200" b="1" dirty="0"/>
          </a:p>
        </p:txBody>
      </p:sp>
      <p:sp>
        <p:nvSpPr>
          <p:cNvPr id="3" name="Content Placeholder 2">
            <a:extLst>
              <a:ext uri="{FF2B5EF4-FFF2-40B4-BE49-F238E27FC236}">
                <a16:creationId xmlns:a16="http://schemas.microsoft.com/office/drawing/2014/main" id="{2DE9AE8F-A469-1BD6-1FA5-01D11909866F}"/>
              </a:ext>
            </a:extLst>
          </p:cNvPr>
          <p:cNvSpPr>
            <a:spLocks noGrp="1"/>
          </p:cNvSpPr>
          <p:nvPr>
            <p:ph idx="1"/>
          </p:nvPr>
        </p:nvSpPr>
        <p:spPr>
          <a:xfrm>
            <a:off x="838200" y="1825625"/>
            <a:ext cx="4573249" cy="1081204"/>
          </a:xfrm>
        </p:spPr>
        <p:txBody>
          <a:bodyPr>
            <a:normAutofit fontScale="92500" lnSpcReduction="10000"/>
          </a:bodyPr>
          <a:lstStyle/>
          <a:p>
            <a:pPr marL="0" indent="0">
              <a:buNone/>
            </a:pPr>
            <a:r>
              <a:rPr lang="en-GB" dirty="0"/>
              <a:t>An unsupervised dataset provides inputs without target labels for the learning task:</a:t>
            </a:r>
          </a:p>
        </p:txBody>
      </p:sp>
      <p:pic>
        <p:nvPicPr>
          <p:cNvPr id="5" name="Picture 4">
            <a:extLst>
              <a:ext uri="{FF2B5EF4-FFF2-40B4-BE49-F238E27FC236}">
                <a16:creationId xmlns:a16="http://schemas.microsoft.com/office/drawing/2014/main" id="{5045AE92-539C-832B-4BAD-E0C648C7AD3F}"/>
              </a:ext>
            </a:extLst>
          </p:cNvPr>
          <p:cNvPicPr>
            <a:picLocks noChangeAspect="1"/>
          </p:cNvPicPr>
          <p:nvPr/>
        </p:nvPicPr>
        <p:blipFill>
          <a:blip r:embed="rId2"/>
          <a:stretch>
            <a:fillRect/>
          </a:stretch>
        </p:blipFill>
        <p:spPr>
          <a:xfrm>
            <a:off x="940425" y="3217763"/>
            <a:ext cx="2184400" cy="584200"/>
          </a:xfrm>
          <a:prstGeom prst="rect">
            <a:avLst/>
          </a:prstGeom>
        </p:spPr>
      </p:pic>
      <p:sp>
        <p:nvSpPr>
          <p:cNvPr id="7" name="TextBox 6">
            <a:extLst>
              <a:ext uri="{FF2B5EF4-FFF2-40B4-BE49-F238E27FC236}">
                <a16:creationId xmlns:a16="http://schemas.microsoft.com/office/drawing/2014/main" id="{5DF9FC20-E50C-70FA-876E-F300E52983C7}"/>
              </a:ext>
            </a:extLst>
          </p:cNvPr>
          <p:cNvSpPr txBox="1"/>
          <p:nvPr/>
        </p:nvSpPr>
        <p:spPr>
          <a:xfrm>
            <a:off x="5411449" y="1764056"/>
            <a:ext cx="6585560" cy="4524315"/>
          </a:xfrm>
          <a:prstGeom prst="rect">
            <a:avLst/>
          </a:prstGeom>
          <a:noFill/>
        </p:spPr>
        <p:txBody>
          <a:bodyPr wrap="square">
            <a:spAutoFit/>
          </a:bodyPr>
          <a:lstStyle/>
          <a:p>
            <a:pPr>
              <a:buNone/>
            </a:pPr>
            <a:r>
              <a:rPr lang="en-GB" b="1" dirty="0"/>
              <a:t>Main objectives</a:t>
            </a:r>
            <a:endParaRPr lang="en-GB" dirty="0"/>
          </a:p>
          <a:p>
            <a:pPr marL="342900" lvl="0" indent="-342900">
              <a:buFont typeface="Arial" panose="020B0604020202020204" pitchFamily="34" charset="0"/>
              <a:buChar char="•"/>
            </a:pPr>
            <a:r>
              <a:rPr lang="en-GB" dirty="0"/>
              <a:t>Discover groups of similar observations.</a:t>
            </a:r>
          </a:p>
          <a:p>
            <a:pPr marL="342900" lvl="0" indent="-342900">
              <a:buFont typeface="Arial" panose="020B0604020202020204" pitchFamily="34" charset="0"/>
              <a:buChar char="•"/>
            </a:pPr>
            <a:r>
              <a:rPr lang="en-GB" dirty="0"/>
              <a:t>Represent data using fewer dimensions.</a:t>
            </a:r>
          </a:p>
          <a:p>
            <a:pPr marL="342900" lvl="0" indent="-342900">
              <a:buFont typeface="Arial" panose="020B0604020202020204" pitchFamily="34" charset="0"/>
              <a:buChar char="•"/>
            </a:pPr>
            <a:r>
              <a:rPr lang="en-GB" dirty="0"/>
              <a:t>Identify unusual patterns for investigation.</a:t>
            </a:r>
          </a:p>
          <a:p>
            <a:pPr marL="342900" lvl="0" indent="-342900">
              <a:buFont typeface="Arial" panose="020B0604020202020204" pitchFamily="34" charset="0"/>
              <a:buChar char="•"/>
            </a:pPr>
            <a:endParaRPr lang="en-GB" dirty="0"/>
          </a:p>
          <a:p>
            <a:pPr>
              <a:buNone/>
            </a:pPr>
            <a:r>
              <a:rPr lang="en-GB" b="1" dirty="0"/>
              <a:t>Climate example</a:t>
            </a:r>
            <a:endParaRPr lang="en-GB" dirty="0"/>
          </a:p>
          <a:p>
            <a:pPr>
              <a:buNone/>
            </a:pPr>
            <a:r>
              <a:rPr lang="en-GB" dirty="0"/>
              <a:t>Represent each location using:</a:t>
            </a:r>
          </a:p>
          <a:p>
            <a:pPr marL="342900" lvl="0" indent="-342900">
              <a:buFont typeface="Arial" panose="020B0604020202020204" pitchFamily="34" charset="0"/>
              <a:buChar char="•"/>
            </a:pPr>
            <a:r>
              <a:rPr lang="en-GB" dirty="0"/>
              <a:t>Monthly temperature profile.</a:t>
            </a:r>
          </a:p>
          <a:p>
            <a:pPr marL="342900" lvl="0" indent="-342900">
              <a:buFont typeface="Arial" panose="020B0604020202020204" pitchFamily="34" charset="0"/>
              <a:buChar char="•"/>
            </a:pPr>
            <a:r>
              <a:rPr lang="en-GB" dirty="0"/>
              <a:t>Monthly rainfall profile.</a:t>
            </a:r>
          </a:p>
          <a:p>
            <a:pPr marL="342900" lvl="0" indent="-342900">
              <a:buFont typeface="Arial" panose="020B0604020202020204" pitchFamily="34" charset="0"/>
              <a:buChar char="•"/>
            </a:pPr>
            <a:r>
              <a:rPr lang="en-GB" dirty="0"/>
              <a:t>Seasonal variability.</a:t>
            </a:r>
          </a:p>
          <a:p>
            <a:pPr>
              <a:buNone/>
            </a:pPr>
            <a:r>
              <a:rPr lang="en-GB" dirty="0"/>
              <a:t>Then investigate which locations have similar profiles.</a:t>
            </a:r>
          </a:p>
          <a:p>
            <a:pPr>
              <a:buNone/>
            </a:pPr>
            <a:endParaRPr lang="en-GB" dirty="0"/>
          </a:p>
          <a:p>
            <a:pPr>
              <a:buNone/>
            </a:pPr>
            <a:r>
              <a:rPr lang="en-GB" b="1" dirty="0"/>
              <a:t>Interpretation requirement</a:t>
            </a:r>
            <a:endParaRPr lang="en-GB" dirty="0"/>
          </a:p>
          <a:p>
            <a:pPr>
              <a:buNone/>
            </a:pPr>
            <a:r>
              <a:rPr lang="en-GB" dirty="0"/>
              <a:t>The algorithm finds structure according to its mathematical objective. Domain knowledge determines whether that structure is useful.</a:t>
            </a:r>
          </a:p>
        </p:txBody>
      </p:sp>
      <p:sp>
        <p:nvSpPr>
          <p:cNvPr id="8" name="Rectangle">
            <a:extLst>
              <a:ext uri="{FF2B5EF4-FFF2-40B4-BE49-F238E27FC236}">
                <a16:creationId xmlns:a16="http://schemas.microsoft.com/office/drawing/2014/main" id="{4FE43E76-13B6-C29A-6A2F-8497CCCE4627}"/>
              </a:ext>
            </a:extLst>
          </p:cNvPr>
          <p:cNvSpPr/>
          <p:nvPr/>
        </p:nvSpPr>
        <p:spPr>
          <a:xfrm>
            <a:off x="-11767" y="6545179"/>
            <a:ext cx="12203767" cy="315200"/>
          </a:xfrm>
          <a:prstGeom prst="rect">
            <a:avLst/>
          </a:prstGeom>
          <a:solidFill>
            <a:schemeClr val="tx1"/>
          </a:solidFill>
          <a:ln w="12700">
            <a:noFill/>
            <a:miter lim="400000"/>
          </a:ln>
        </p:spPr>
        <p:txBody>
          <a:bodyPr lIns="45719" rIns="45719" anchor="ctr"/>
          <a:lstStyle/>
          <a:p>
            <a:endParaRPr/>
          </a:p>
        </p:txBody>
      </p:sp>
      <p:pic>
        <p:nvPicPr>
          <p:cNvPr id="9" name="Picture 8" descr="Frontier Tech Leaders (@FTLeadersProg) / X">
            <a:extLst>
              <a:ext uri="{FF2B5EF4-FFF2-40B4-BE49-F238E27FC236}">
                <a16:creationId xmlns:a16="http://schemas.microsoft.com/office/drawing/2014/main" id="{13E90D52-661A-0BA0-5DFC-2BC4A53B0E1A}"/>
              </a:ext>
            </a:extLst>
          </p:cNvPr>
          <p:cNvPicPr>
            <a:picLocks noChangeAspect="1"/>
          </p:cNvPicPr>
          <p:nvPr/>
        </p:nvPicPr>
        <p:blipFill>
          <a:blip r:embed="rId3"/>
          <a:stretch>
            <a:fillRect/>
          </a:stretch>
        </p:blipFill>
        <p:spPr>
          <a:xfrm>
            <a:off x="10668000" y="94470"/>
            <a:ext cx="1027893" cy="1027893"/>
          </a:xfrm>
          <a:prstGeom prst="rect">
            <a:avLst/>
          </a:prstGeom>
        </p:spPr>
      </p:pic>
    </p:spTree>
    <p:extLst>
      <p:ext uri="{BB962C8B-B14F-4D97-AF65-F5344CB8AC3E}">
        <p14:creationId xmlns:p14="http://schemas.microsoft.com/office/powerpoint/2010/main" val="154240608"/>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F8005CA-F501-3BAF-B012-38364B486D23}"/>
              </a:ext>
            </a:extLst>
          </p:cNvPr>
          <p:cNvSpPr>
            <a:spLocks noGrp="1"/>
          </p:cNvSpPr>
          <p:nvPr>
            <p:ph type="title"/>
          </p:nvPr>
        </p:nvSpPr>
        <p:spPr/>
        <p:txBody>
          <a:bodyPr>
            <a:normAutofit/>
          </a:bodyPr>
          <a:lstStyle/>
          <a:p>
            <a:r>
              <a:rPr lang="en-GB" sz="2800" b="1" dirty="0"/>
              <a:t>Common Unsupervised Learning Techniques</a:t>
            </a:r>
            <a:endParaRPr lang="en-US" sz="2800" b="1" dirty="0"/>
          </a:p>
        </p:txBody>
      </p:sp>
      <p:graphicFrame>
        <p:nvGraphicFramePr>
          <p:cNvPr id="4" name="Table 3">
            <a:extLst>
              <a:ext uri="{FF2B5EF4-FFF2-40B4-BE49-F238E27FC236}">
                <a16:creationId xmlns:a16="http://schemas.microsoft.com/office/drawing/2014/main" id="{63DBB713-026F-B238-50C9-A09223D693D1}"/>
              </a:ext>
            </a:extLst>
          </p:cNvPr>
          <p:cNvGraphicFramePr>
            <a:graphicFrameLocks noGrp="1"/>
          </p:cNvGraphicFramePr>
          <p:nvPr>
            <p:extLst>
              <p:ext uri="{D42A27DB-BD31-4B8C-83A1-F6EECF244321}">
                <p14:modId xmlns:p14="http://schemas.microsoft.com/office/powerpoint/2010/main" val="92658883"/>
              </p:ext>
            </p:extLst>
          </p:nvPr>
        </p:nvGraphicFramePr>
        <p:xfrm>
          <a:off x="1083758" y="1690688"/>
          <a:ext cx="8340064" cy="4560491"/>
        </p:xfrm>
        <a:graphic>
          <a:graphicData uri="http://schemas.openxmlformats.org/drawingml/2006/table">
            <a:tbl>
              <a:tblPr>
                <a:tableStyleId>{5C22544A-7EE6-4342-B048-85BDC9FD1C3A}</a:tableStyleId>
              </a:tblPr>
              <a:tblGrid>
                <a:gridCol w="2085016">
                  <a:extLst>
                    <a:ext uri="{9D8B030D-6E8A-4147-A177-3AD203B41FA5}">
                      <a16:colId xmlns:a16="http://schemas.microsoft.com/office/drawing/2014/main" val="3310688999"/>
                    </a:ext>
                  </a:extLst>
                </a:gridCol>
                <a:gridCol w="2085016">
                  <a:extLst>
                    <a:ext uri="{9D8B030D-6E8A-4147-A177-3AD203B41FA5}">
                      <a16:colId xmlns:a16="http://schemas.microsoft.com/office/drawing/2014/main" val="2507155231"/>
                    </a:ext>
                  </a:extLst>
                </a:gridCol>
                <a:gridCol w="2085016">
                  <a:extLst>
                    <a:ext uri="{9D8B030D-6E8A-4147-A177-3AD203B41FA5}">
                      <a16:colId xmlns:a16="http://schemas.microsoft.com/office/drawing/2014/main" val="1759378431"/>
                    </a:ext>
                  </a:extLst>
                </a:gridCol>
                <a:gridCol w="2085016">
                  <a:extLst>
                    <a:ext uri="{9D8B030D-6E8A-4147-A177-3AD203B41FA5}">
                      <a16:colId xmlns:a16="http://schemas.microsoft.com/office/drawing/2014/main" val="235105664"/>
                    </a:ext>
                  </a:extLst>
                </a:gridCol>
              </a:tblGrid>
              <a:tr h="290089">
                <a:tc>
                  <a:txBody>
                    <a:bodyPr/>
                    <a:lstStyle/>
                    <a:p>
                      <a:pPr>
                        <a:buNone/>
                      </a:pPr>
                      <a:r>
                        <a:rPr lang="en-GB" sz="1400" b="1"/>
                        <a:t>Technique</a:t>
                      </a:r>
                    </a:p>
                  </a:txBody>
                  <a:tcPr marL="72522" marR="72522" marT="36261" marB="36261" anchor="ctr"/>
                </a:tc>
                <a:tc>
                  <a:txBody>
                    <a:bodyPr/>
                    <a:lstStyle/>
                    <a:p>
                      <a:pPr>
                        <a:buNone/>
                      </a:pPr>
                      <a:r>
                        <a:rPr lang="en-GB" sz="1400" b="1"/>
                        <a:t>Typical purpose</a:t>
                      </a:r>
                    </a:p>
                  </a:txBody>
                  <a:tcPr marL="72522" marR="72522" marT="36261" marB="36261" anchor="ctr"/>
                </a:tc>
                <a:tc>
                  <a:txBody>
                    <a:bodyPr/>
                    <a:lstStyle/>
                    <a:p>
                      <a:pPr>
                        <a:buNone/>
                      </a:pPr>
                      <a:r>
                        <a:rPr lang="en-GB" sz="1400" b="1"/>
                        <a:t>Core idea</a:t>
                      </a:r>
                    </a:p>
                  </a:txBody>
                  <a:tcPr marL="72522" marR="72522" marT="36261" marB="36261" anchor="ctr"/>
                </a:tc>
                <a:tc>
                  <a:txBody>
                    <a:bodyPr/>
                    <a:lstStyle/>
                    <a:p>
                      <a:pPr>
                        <a:buNone/>
                      </a:pPr>
                      <a:r>
                        <a:rPr lang="en-GB" sz="1400" b="1" dirty="0"/>
                        <a:t>Important consideration</a:t>
                      </a:r>
                    </a:p>
                  </a:txBody>
                  <a:tcPr marL="72522" marR="72522" marT="36261" marB="36261" anchor="ctr"/>
                </a:tc>
                <a:extLst>
                  <a:ext uri="{0D108BD9-81ED-4DB2-BD59-A6C34878D82A}">
                    <a16:rowId xmlns:a16="http://schemas.microsoft.com/office/drawing/2014/main" val="3538163880"/>
                  </a:ext>
                </a:extLst>
              </a:tr>
              <a:tr h="942790">
                <a:tc>
                  <a:txBody>
                    <a:bodyPr/>
                    <a:lstStyle/>
                    <a:p>
                      <a:pPr>
                        <a:buNone/>
                      </a:pPr>
                      <a:r>
                        <a:rPr lang="en-GB" sz="1400"/>
                        <a:t>K-means</a:t>
                      </a:r>
                    </a:p>
                  </a:txBody>
                  <a:tcPr marL="72522" marR="72522" marT="36261" marB="36261" anchor="ctr"/>
                </a:tc>
                <a:tc>
                  <a:txBody>
                    <a:bodyPr/>
                    <a:lstStyle/>
                    <a:p>
                      <a:pPr>
                        <a:buNone/>
                      </a:pPr>
                      <a:r>
                        <a:rPr lang="en-GB" sz="1400"/>
                        <a:t>Clustering</a:t>
                      </a:r>
                    </a:p>
                  </a:txBody>
                  <a:tcPr marL="72522" marR="72522" marT="36261" marB="36261" anchor="ctr"/>
                </a:tc>
                <a:tc>
                  <a:txBody>
                    <a:bodyPr/>
                    <a:lstStyle/>
                    <a:p>
                      <a:pPr>
                        <a:buNone/>
                      </a:pPr>
                      <a:r>
                        <a:rPr lang="en-GB" sz="1400"/>
                        <a:t>Assign observations to \(K\) centroids to reduce within-cluster squared distances</a:t>
                      </a:r>
                    </a:p>
                  </a:txBody>
                  <a:tcPr marL="72522" marR="72522" marT="36261" marB="36261" anchor="ctr"/>
                </a:tc>
                <a:tc>
                  <a:txBody>
                    <a:bodyPr/>
                    <a:lstStyle/>
                    <a:p>
                      <a:pPr>
                        <a:buNone/>
                      </a:pPr>
                      <a:r>
                        <a:rPr lang="en-GB" sz="1400"/>
                        <a:t>Requires a choice of \(K\) and meaningful feature scales</a:t>
                      </a:r>
                    </a:p>
                  </a:txBody>
                  <a:tcPr marL="72522" marR="72522" marT="36261" marB="36261" anchor="ctr"/>
                </a:tc>
                <a:extLst>
                  <a:ext uri="{0D108BD9-81ED-4DB2-BD59-A6C34878D82A}">
                    <a16:rowId xmlns:a16="http://schemas.microsoft.com/office/drawing/2014/main" val="1153679891"/>
                  </a:ext>
                </a:extLst>
              </a:tr>
              <a:tr h="725223">
                <a:tc>
                  <a:txBody>
                    <a:bodyPr/>
                    <a:lstStyle/>
                    <a:p>
                      <a:pPr>
                        <a:buNone/>
                      </a:pPr>
                      <a:r>
                        <a:rPr lang="en-GB" sz="1400"/>
                        <a:t>Hierarchical clustering</a:t>
                      </a:r>
                    </a:p>
                  </a:txBody>
                  <a:tcPr marL="72522" marR="72522" marT="36261" marB="36261" anchor="ctr"/>
                </a:tc>
                <a:tc>
                  <a:txBody>
                    <a:bodyPr/>
                    <a:lstStyle/>
                    <a:p>
                      <a:pPr>
                        <a:buNone/>
                      </a:pPr>
                      <a:r>
                        <a:rPr lang="en-GB" sz="1400"/>
                        <a:t>Clustering</a:t>
                      </a:r>
                    </a:p>
                  </a:txBody>
                  <a:tcPr marL="72522" marR="72522" marT="36261" marB="36261" anchor="ctr"/>
                </a:tc>
                <a:tc>
                  <a:txBody>
                    <a:bodyPr/>
                    <a:lstStyle/>
                    <a:p>
                      <a:pPr>
                        <a:buNone/>
                      </a:pPr>
                      <a:r>
                        <a:rPr lang="en-GB" sz="1400"/>
                        <a:t>Build nested groups using a distance and linkage rule</a:t>
                      </a:r>
                    </a:p>
                  </a:txBody>
                  <a:tcPr marL="72522" marR="72522" marT="36261" marB="36261" anchor="ctr"/>
                </a:tc>
                <a:tc>
                  <a:txBody>
                    <a:bodyPr/>
                    <a:lstStyle/>
                    <a:p>
                      <a:pPr>
                        <a:buNone/>
                      </a:pPr>
                      <a:r>
                        <a:rPr lang="en-GB" sz="1400"/>
                        <a:t>Results depend on distance and linkage choices</a:t>
                      </a:r>
                    </a:p>
                  </a:txBody>
                  <a:tcPr marL="72522" marR="72522" marT="36261" marB="36261" anchor="ctr"/>
                </a:tc>
                <a:extLst>
                  <a:ext uri="{0D108BD9-81ED-4DB2-BD59-A6C34878D82A}">
                    <a16:rowId xmlns:a16="http://schemas.microsoft.com/office/drawing/2014/main" val="4052337271"/>
                  </a:ext>
                </a:extLst>
              </a:tr>
              <a:tr h="725223">
                <a:tc>
                  <a:txBody>
                    <a:bodyPr/>
                    <a:lstStyle/>
                    <a:p>
                      <a:pPr>
                        <a:buNone/>
                      </a:pPr>
                      <a:r>
                        <a:rPr lang="en-GB" sz="1400"/>
                        <a:t>DBSCAN</a:t>
                      </a:r>
                    </a:p>
                  </a:txBody>
                  <a:tcPr marL="72522" marR="72522" marT="36261" marB="36261" anchor="ctr"/>
                </a:tc>
                <a:tc>
                  <a:txBody>
                    <a:bodyPr/>
                    <a:lstStyle/>
                    <a:p>
                      <a:pPr>
                        <a:buNone/>
                      </a:pPr>
                      <a:r>
                        <a:rPr lang="en-GB" sz="1400"/>
                        <a:t>Clustering and noise identification</a:t>
                      </a:r>
                    </a:p>
                  </a:txBody>
                  <a:tcPr marL="72522" marR="72522" marT="36261" marB="36261" anchor="ctr"/>
                </a:tc>
                <a:tc>
                  <a:txBody>
                    <a:bodyPr/>
                    <a:lstStyle/>
                    <a:p>
                      <a:pPr>
                        <a:buNone/>
                      </a:pPr>
                      <a:r>
                        <a:rPr lang="en-GB" sz="1400"/>
                        <a:t>Find connected regions of sufficient density</a:t>
                      </a:r>
                    </a:p>
                  </a:txBody>
                  <a:tcPr marL="72522" marR="72522" marT="36261" marB="36261" anchor="ctr"/>
                </a:tc>
                <a:tc>
                  <a:txBody>
                    <a:bodyPr/>
                    <a:lstStyle/>
                    <a:p>
                      <a:pPr>
                        <a:buNone/>
                      </a:pPr>
                      <a:r>
                        <a:rPr lang="en-GB" sz="1400"/>
                        <a:t>Sensitive to density settings and varying densities</a:t>
                      </a:r>
                    </a:p>
                  </a:txBody>
                  <a:tcPr marL="72522" marR="72522" marT="36261" marB="36261" anchor="ctr"/>
                </a:tc>
                <a:extLst>
                  <a:ext uri="{0D108BD9-81ED-4DB2-BD59-A6C34878D82A}">
                    <a16:rowId xmlns:a16="http://schemas.microsoft.com/office/drawing/2014/main" val="3353734274"/>
                  </a:ext>
                </a:extLst>
              </a:tr>
              <a:tr h="725223">
                <a:tc>
                  <a:txBody>
                    <a:bodyPr/>
                    <a:lstStyle/>
                    <a:p>
                      <a:pPr>
                        <a:buNone/>
                      </a:pPr>
                      <a:r>
                        <a:rPr lang="en-GB" sz="1400"/>
                        <a:t>Principal component analysis — PCA</a:t>
                      </a:r>
                    </a:p>
                  </a:txBody>
                  <a:tcPr marL="72522" marR="72522" marT="36261" marB="36261" anchor="ctr"/>
                </a:tc>
                <a:tc>
                  <a:txBody>
                    <a:bodyPr/>
                    <a:lstStyle/>
                    <a:p>
                      <a:pPr>
                        <a:buNone/>
                      </a:pPr>
                      <a:r>
                        <a:rPr lang="en-GB" sz="1400"/>
                        <a:t>Dimensionality reduction</a:t>
                      </a:r>
                    </a:p>
                  </a:txBody>
                  <a:tcPr marL="72522" marR="72522" marT="36261" marB="36261" anchor="ctr"/>
                </a:tc>
                <a:tc>
                  <a:txBody>
                    <a:bodyPr/>
                    <a:lstStyle/>
                    <a:p>
                      <a:pPr>
                        <a:buNone/>
                      </a:pPr>
                      <a:r>
                        <a:rPr lang="en-GB" sz="1400"/>
                        <a:t>Find orthogonal directions of maximum variance</a:t>
                      </a:r>
                    </a:p>
                  </a:txBody>
                  <a:tcPr marL="72522" marR="72522" marT="36261" marB="36261" anchor="ctr"/>
                </a:tc>
                <a:tc>
                  <a:txBody>
                    <a:bodyPr/>
                    <a:lstStyle/>
                    <a:p>
                      <a:pPr>
                        <a:buNone/>
                      </a:pPr>
                      <a:r>
                        <a:rPr lang="en-GB" sz="1400"/>
                        <a:t>High variance does not necessarily mean high relevance</a:t>
                      </a:r>
                    </a:p>
                  </a:txBody>
                  <a:tcPr marL="72522" marR="72522" marT="36261" marB="36261" anchor="ctr"/>
                </a:tc>
                <a:extLst>
                  <a:ext uri="{0D108BD9-81ED-4DB2-BD59-A6C34878D82A}">
                    <a16:rowId xmlns:a16="http://schemas.microsoft.com/office/drawing/2014/main" val="204595431"/>
                  </a:ext>
                </a:extLst>
              </a:tr>
              <a:tr h="942790">
                <a:tc>
                  <a:txBody>
                    <a:bodyPr/>
                    <a:lstStyle/>
                    <a:p>
                      <a:pPr>
                        <a:buNone/>
                      </a:pPr>
                      <a:r>
                        <a:rPr lang="en-GB" sz="1400"/>
                        <a:t>Isolation Forest</a:t>
                      </a:r>
                    </a:p>
                  </a:txBody>
                  <a:tcPr marL="72522" marR="72522" marT="36261" marB="36261" anchor="ctr"/>
                </a:tc>
                <a:tc>
                  <a:txBody>
                    <a:bodyPr/>
                    <a:lstStyle/>
                    <a:p>
                      <a:pPr>
                        <a:buNone/>
                      </a:pPr>
                      <a:r>
                        <a:rPr lang="en-GB" sz="1400"/>
                        <a:t>Anomaly detection</a:t>
                      </a:r>
                    </a:p>
                  </a:txBody>
                  <a:tcPr marL="72522" marR="72522" marT="36261" marB="36261" anchor="ctr"/>
                </a:tc>
                <a:tc>
                  <a:txBody>
                    <a:bodyPr/>
                    <a:lstStyle/>
                    <a:p>
                      <a:pPr>
                        <a:buNone/>
                      </a:pPr>
                      <a:r>
                        <a:rPr lang="en-GB" sz="1400"/>
                        <a:t>Identify observations that are easier to isolate through random partitions</a:t>
                      </a:r>
                    </a:p>
                  </a:txBody>
                  <a:tcPr marL="72522" marR="72522" marT="36261" marB="36261" anchor="ctr"/>
                </a:tc>
                <a:tc>
                  <a:txBody>
                    <a:bodyPr/>
                    <a:lstStyle/>
                    <a:p>
                      <a:pPr>
                        <a:buNone/>
                      </a:pPr>
                      <a:r>
                        <a:rPr lang="en-GB" sz="1400" dirty="0"/>
                        <a:t>An unusual record is not automatically an error or hazard</a:t>
                      </a:r>
                    </a:p>
                  </a:txBody>
                  <a:tcPr marL="72522" marR="72522" marT="36261" marB="36261" anchor="ctr"/>
                </a:tc>
                <a:extLst>
                  <a:ext uri="{0D108BD9-81ED-4DB2-BD59-A6C34878D82A}">
                    <a16:rowId xmlns:a16="http://schemas.microsoft.com/office/drawing/2014/main" val="2425865069"/>
                  </a:ext>
                </a:extLst>
              </a:tr>
            </a:tbl>
          </a:graphicData>
        </a:graphic>
      </p:graphicFrame>
      <p:sp>
        <p:nvSpPr>
          <p:cNvPr id="5" name="Rectangle">
            <a:extLst>
              <a:ext uri="{FF2B5EF4-FFF2-40B4-BE49-F238E27FC236}">
                <a16:creationId xmlns:a16="http://schemas.microsoft.com/office/drawing/2014/main" id="{ACF1B708-0A8E-F129-07F4-1A4F5CF8ACB3}"/>
              </a:ext>
            </a:extLst>
          </p:cNvPr>
          <p:cNvSpPr/>
          <p:nvPr/>
        </p:nvSpPr>
        <p:spPr>
          <a:xfrm>
            <a:off x="-11767" y="6545179"/>
            <a:ext cx="12203767" cy="315200"/>
          </a:xfrm>
          <a:prstGeom prst="rect">
            <a:avLst/>
          </a:prstGeom>
          <a:solidFill>
            <a:schemeClr val="tx1"/>
          </a:solidFill>
          <a:ln w="12700">
            <a:noFill/>
            <a:miter lim="400000"/>
          </a:ln>
        </p:spPr>
        <p:txBody>
          <a:bodyPr lIns="45719" rIns="45719" anchor="ctr"/>
          <a:lstStyle/>
          <a:p>
            <a:endParaRPr/>
          </a:p>
        </p:txBody>
      </p:sp>
      <p:pic>
        <p:nvPicPr>
          <p:cNvPr id="6" name="Picture 5" descr="Frontier Tech Leaders (@FTLeadersProg) / X">
            <a:extLst>
              <a:ext uri="{FF2B5EF4-FFF2-40B4-BE49-F238E27FC236}">
                <a16:creationId xmlns:a16="http://schemas.microsoft.com/office/drawing/2014/main" id="{5F00A99C-9419-D437-1C4F-F82CE5011C57}"/>
              </a:ext>
            </a:extLst>
          </p:cNvPr>
          <p:cNvPicPr>
            <a:picLocks noChangeAspect="1"/>
          </p:cNvPicPr>
          <p:nvPr/>
        </p:nvPicPr>
        <p:blipFill>
          <a:blip r:embed="rId2"/>
          <a:stretch>
            <a:fillRect/>
          </a:stretch>
        </p:blipFill>
        <p:spPr>
          <a:xfrm>
            <a:off x="10668000" y="94470"/>
            <a:ext cx="1027893" cy="1027893"/>
          </a:xfrm>
          <a:prstGeom prst="rect">
            <a:avLst/>
          </a:prstGeom>
        </p:spPr>
      </p:pic>
    </p:spTree>
    <p:extLst>
      <p:ext uri="{BB962C8B-B14F-4D97-AF65-F5344CB8AC3E}">
        <p14:creationId xmlns:p14="http://schemas.microsoft.com/office/powerpoint/2010/main" val="1482393237"/>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D778F78-D3C5-1766-A9B8-91F50DE92BE3}"/>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1723C13A-E42C-D21A-4C17-2737AC69C5A1}"/>
              </a:ext>
            </a:extLst>
          </p:cNvPr>
          <p:cNvSpPr>
            <a:spLocks noGrp="1"/>
          </p:cNvSpPr>
          <p:nvPr>
            <p:ph type="title"/>
          </p:nvPr>
        </p:nvSpPr>
        <p:spPr/>
        <p:txBody>
          <a:bodyPr>
            <a:normAutofit/>
          </a:bodyPr>
          <a:lstStyle/>
          <a:p>
            <a:r>
              <a:rPr lang="en-GB" sz="3200" b="1" dirty="0"/>
              <a:t>Deep Learning and Neural Networks</a:t>
            </a:r>
            <a:endParaRPr lang="en-US" sz="3200" b="1" dirty="0"/>
          </a:p>
        </p:txBody>
      </p:sp>
      <p:sp>
        <p:nvSpPr>
          <p:cNvPr id="9" name="Rectangle">
            <a:extLst>
              <a:ext uri="{FF2B5EF4-FFF2-40B4-BE49-F238E27FC236}">
                <a16:creationId xmlns:a16="http://schemas.microsoft.com/office/drawing/2014/main" id="{D251777C-8320-A67C-7B6E-C3D80EA476AB}"/>
              </a:ext>
            </a:extLst>
          </p:cNvPr>
          <p:cNvSpPr/>
          <p:nvPr/>
        </p:nvSpPr>
        <p:spPr>
          <a:xfrm>
            <a:off x="-11767" y="6545179"/>
            <a:ext cx="12203767" cy="315200"/>
          </a:xfrm>
          <a:prstGeom prst="rect">
            <a:avLst/>
          </a:prstGeom>
          <a:solidFill>
            <a:schemeClr val="tx1"/>
          </a:solidFill>
          <a:ln w="12700">
            <a:noFill/>
            <a:miter lim="400000"/>
          </a:ln>
        </p:spPr>
        <p:txBody>
          <a:bodyPr lIns="45719" rIns="45719" anchor="ctr"/>
          <a:lstStyle/>
          <a:p>
            <a:endParaRPr/>
          </a:p>
        </p:txBody>
      </p:sp>
      <p:pic>
        <p:nvPicPr>
          <p:cNvPr id="10" name="Picture 9" descr="Frontier Tech Leaders (@FTLeadersProg) / X">
            <a:extLst>
              <a:ext uri="{FF2B5EF4-FFF2-40B4-BE49-F238E27FC236}">
                <a16:creationId xmlns:a16="http://schemas.microsoft.com/office/drawing/2014/main" id="{0B3A52F6-C4A4-EDDF-1483-80AEBF54A3B1}"/>
              </a:ext>
            </a:extLst>
          </p:cNvPr>
          <p:cNvPicPr>
            <a:picLocks noChangeAspect="1"/>
          </p:cNvPicPr>
          <p:nvPr/>
        </p:nvPicPr>
        <p:blipFill>
          <a:blip r:embed="rId2"/>
          <a:stretch>
            <a:fillRect/>
          </a:stretch>
        </p:blipFill>
        <p:spPr>
          <a:xfrm>
            <a:off x="10668000" y="94470"/>
            <a:ext cx="1027893" cy="1027893"/>
          </a:xfrm>
          <a:prstGeom prst="rect">
            <a:avLst/>
          </a:prstGeom>
        </p:spPr>
      </p:pic>
      <p:pic>
        <p:nvPicPr>
          <p:cNvPr id="3" name="Picture 2" descr="Deep Learning: How do deep neural networks work? » Lamarr-Blog">
            <a:extLst>
              <a:ext uri="{FF2B5EF4-FFF2-40B4-BE49-F238E27FC236}">
                <a16:creationId xmlns:a16="http://schemas.microsoft.com/office/drawing/2014/main" id="{B515FA1A-9B6F-9051-4E27-33F736CE6190}"/>
              </a:ext>
            </a:extLst>
          </p:cNvPr>
          <p:cNvPicPr>
            <a:picLocks noChangeAspect="1"/>
          </p:cNvPicPr>
          <p:nvPr/>
        </p:nvPicPr>
        <p:blipFill>
          <a:blip r:embed="rId3"/>
          <a:stretch>
            <a:fillRect/>
          </a:stretch>
        </p:blipFill>
        <p:spPr>
          <a:xfrm>
            <a:off x="5241787" y="2099130"/>
            <a:ext cx="6667939" cy="3329518"/>
          </a:xfrm>
          <a:prstGeom prst="rect">
            <a:avLst/>
          </a:prstGeom>
        </p:spPr>
      </p:pic>
      <p:pic>
        <p:nvPicPr>
          <p:cNvPr id="4" name="Picture 3" descr="Neural Networks and Deep Learning: A Comprehensive Introduction | by  Mustaphaliaichi | Medium">
            <a:extLst>
              <a:ext uri="{FF2B5EF4-FFF2-40B4-BE49-F238E27FC236}">
                <a16:creationId xmlns:a16="http://schemas.microsoft.com/office/drawing/2014/main" id="{41FB863E-E380-8ECA-06A1-5EA1F44DF67B}"/>
              </a:ext>
            </a:extLst>
          </p:cNvPr>
          <p:cNvPicPr>
            <a:picLocks noChangeAspect="1"/>
          </p:cNvPicPr>
          <p:nvPr/>
        </p:nvPicPr>
        <p:blipFill>
          <a:blip r:embed="rId4"/>
          <a:stretch>
            <a:fillRect/>
          </a:stretch>
        </p:blipFill>
        <p:spPr>
          <a:xfrm>
            <a:off x="414311" y="1961343"/>
            <a:ext cx="4488583" cy="3366437"/>
          </a:xfrm>
          <a:prstGeom prst="rect">
            <a:avLst/>
          </a:prstGeom>
        </p:spPr>
      </p:pic>
    </p:spTree>
    <p:extLst>
      <p:ext uri="{BB962C8B-B14F-4D97-AF65-F5344CB8AC3E}">
        <p14:creationId xmlns:p14="http://schemas.microsoft.com/office/powerpoint/2010/main" val="3895272386"/>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8682367-171E-76E5-931A-1B174D477DF8}"/>
              </a:ext>
            </a:extLst>
          </p:cNvPr>
          <p:cNvSpPr>
            <a:spLocks noGrp="1"/>
          </p:cNvSpPr>
          <p:nvPr>
            <p:ph type="title"/>
          </p:nvPr>
        </p:nvSpPr>
        <p:spPr/>
        <p:txBody>
          <a:bodyPr>
            <a:normAutofit/>
          </a:bodyPr>
          <a:lstStyle/>
          <a:p>
            <a:r>
              <a:rPr lang="en-GB" sz="3200" b="1" dirty="0"/>
              <a:t>Deep Learning and Neural Networks</a:t>
            </a:r>
            <a:endParaRPr lang="en-US" sz="3200" b="1" dirty="0"/>
          </a:p>
        </p:txBody>
      </p:sp>
      <p:sp>
        <p:nvSpPr>
          <p:cNvPr id="5" name="TextBox 4">
            <a:extLst>
              <a:ext uri="{FF2B5EF4-FFF2-40B4-BE49-F238E27FC236}">
                <a16:creationId xmlns:a16="http://schemas.microsoft.com/office/drawing/2014/main" id="{640ED3EB-BC62-8C49-B16A-EEBB21333DDB}"/>
              </a:ext>
            </a:extLst>
          </p:cNvPr>
          <p:cNvSpPr txBox="1"/>
          <p:nvPr/>
        </p:nvSpPr>
        <p:spPr>
          <a:xfrm>
            <a:off x="838200" y="1573410"/>
            <a:ext cx="6100996" cy="646331"/>
          </a:xfrm>
          <a:prstGeom prst="rect">
            <a:avLst/>
          </a:prstGeom>
          <a:noFill/>
        </p:spPr>
        <p:txBody>
          <a:bodyPr wrap="square">
            <a:spAutoFit/>
          </a:bodyPr>
          <a:lstStyle/>
          <a:p>
            <a:pPr>
              <a:buNone/>
            </a:pPr>
            <a:r>
              <a:rPr lang="en-GB" dirty="0"/>
              <a:t>A neural network transforms an input through connected layers:</a:t>
            </a:r>
            <a:endParaRPr lang="en-US" dirty="0"/>
          </a:p>
        </p:txBody>
      </p:sp>
      <p:pic>
        <p:nvPicPr>
          <p:cNvPr id="7" name="Picture 6">
            <a:extLst>
              <a:ext uri="{FF2B5EF4-FFF2-40B4-BE49-F238E27FC236}">
                <a16:creationId xmlns:a16="http://schemas.microsoft.com/office/drawing/2014/main" id="{EE6ED436-1C0D-25B4-97F5-5EBCD00B0AF2}"/>
              </a:ext>
            </a:extLst>
          </p:cNvPr>
          <p:cNvPicPr>
            <a:picLocks noChangeAspect="1"/>
          </p:cNvPicPr>
          <p:nvPr/>
        </p:nvPicPr>
        <p:blipFill>
          <a:blip r:embed="rId2"/>
          <a:stretch>
            <a:fillRect/>
          </a:stretch>
        </p:blipFill>
        <p:spPr>
          <a:xfrm>
            <a:off x="838200" y="2611275"/>
            <a:ext cx="5827295" cy="2828453"/>
          </a:xfrm>
          <a:prstGeom prst="rect">
            <a:avLst/>
          </a:prstGeom>
        </p:spPr>
      </p:pic>
      <p:graphicFrame>
        <p:nvGraphicFramePr>
          <p:cNvPr id="8" name="Table 7">
            <a:extLst>
              <a:ext uri="{FF2B5EF4-FFF2-40B4-BE49-F238E27FC236}">
                <a16:creationId xmlns:a16="http://schemas.microsoft.com/office/drawing/2014/main" id="{45CA8716-8B57-C0F8-CA43-96B5B7B53FD6}"/>
              </a:ext>
            </a:extLst>
          </p:cNvPr>
          <p:cNvGraphicFramePr>
            <a:graphicFrameLocks noGrp="1"/>
          </p:cNvGraphicFramePr>
          <p:nvPr>
            <p:extLst>
              <p:ext uri="{D42A27DB-BD31-4B8C-83A1-F6EECF244321}">
                <p14:modId xmlns:p14="http://schemas.microsoft.com/office/powerpoint/2010/main" val="2377031371"/>
              </p:ext>
            </p:extLst>
          </p:nvPr>
        </p:nvGraphicFramePr>
        <p:xfrm>
          <a:off x="7300144" y="1690688"/>
          <a:ext cx="4414604" cy="3749040"/>
        </p:xfrm>
        <a:graphic>
          <a:graphicData uri="http://schemas.openxmlformats.org/drawingml/2006/table">
            <a:tbl>
              <a:tblPr>
                <a:tableStyleId>{5C22544A-7EE6-4342-B048-85BDC9FD1C3A}</a:tableStyleId>
              </a:tblPr>
              <a:tblGrid>
                <a:gridCol w="2207302">
                  <a:extLst>
                    <a:ext uri="{9D8B030D-6E8A-4147-A177-3AD203B41FA5}">
                      <a16:colId xmlns:a16="http://schemas.microsoft.com/office/drawing/2014/main" val="1968718969"/>
                    </a:ext>
                  </a:extLst>
                </a:gridCol>
                <a:gridCol w="2207302">
                  <a:extLst>
                    <a:ext uri="{9D8B030D-6E8A-4147-A177-3AD203B41FA5}">
                      <a16:colId xmlns:a16="http://schemas.microsoft.com/office/drawing/2014/main" val="1508908516"/>
                    </a:ext>
                  </a:extLst>
                </a:gridCol>
              </a:tblGrid>
              <a:tr h="0">
                <a:tc>
                  <a:txBody>
                    <a:bodyPr/>
                    <a:lstStyle/>
                    <a:p>
                      <a:pPr>
                        <a:buNone/>
                      </a:pPr>
                      <a:r>
                        <a:rPr lang="en-GB" b="1"/>
                        <a:t>Architecture</a:t>
                      </a:r>
                    </a:p>
                  </a:txBody>
                  <a:tcPr anchor="ctr"/>
                </a:tc>
                <a:tc>
                  <a:txBody>
                    <a:bodyPr/>
                    <a:lstStyle/>
                    <a:p>
                      <a:pPr>
                        <a:buNone/>
                      </a:pPr>
                      <a:r>
                        <a:rPr lang="en-GB" b="1" dirty="0"/>
                        <a:t>Typical data or purpose</a:t>
                      </a:r>
                    </a:p>
                  </a:txBody>
                  <a:tcPr anchor="ctr"/>
                </a:tc>
                <a:extLst>
                  <a:ext uri="{0D108BD9-81ED-4DB2-BD59-A6C34878D82A}">
                    <a16:rowId xmlns:a16="http://schemas.microsoft.com/office/drawing/2014/main" val="3049013799"/>
                  </a:ext>
                </a:extLst>
              </a:tr>
              <a:tr h="0">
                <a:tc>
                  <a:txBody>
                    <a:bodyPr/>
                    <a:lstStyle/>
                    <a:p>
                      <a:pPr>
                        <a:buNone/>
                      </a:pPr>
                      <a:r>
                        <a:rPr lang="en-GB"/>
                        <a:t>Multilayer perceptron</a:t>
                      </a:r>
                    </a:p>
                  </a:txBody>
                  <a:tcPr anchor="ctr"/>
                </a:tc>
                <a:tc>
                  <a:txBody>
                    <a:bodyPr/>
                    <a:lstStyle/>
                    <a:p>
                      <a:pPr>
                        <a:buNone/>
                      </a:pPr>
                      <a:r>
                        <a:rPr lang="en-GB"/>
                        <a:t>General numerical feature vectors</a:t>
                      </a:r>
                    </a:p>
                  </a:txBody>
                  <a:tcPr anchor="ctr"/>
                </a:tc>
                <a:extLst>
                  <a:ext uri="{0D108BD9-81ED-4DB2-BD59-A6C34878D82A}">
                    <a16:rowId xmlns:a16="http://schemas.microsoft.com/office/drawing/2014/main" val="2324417604"/>
                  </a:ext>
                </a:extLst>
              </a:tr>
              <a:tr h="0">
                <a:tc>
                  <a:txBody>
                    <a:bodyPr/>
                    <a:lstStyle/>
                    <a:p>
                      <a:pPr>
                        <a:buNone/>
                      </a:pPr>
                      <a:r>
                        <a:rPr lang="en-GB"/>
                        <a:t>Convolutional neural network</a:t>
                      </a:r>
                    </a:p>
                  </a:txBody>
                  <a:tcPr anchor="ctr"/>
                </a:tc>
                <a:tc>
                  <a:txBody>
                    <a:bodyPr/>
                    <a:lstStyle/>
                    <a:p>
                      <a:pPr>
                        <a:buNone/>
                      </a:pPr>
                      <a:r>
                        <a:rPr lang="en-GB"/>
                        <a:t>Images and spatial patterns</a:t>
                      </a:r>
                    </a:p>
                  </a:txBody>
                  <a:tcPr anchor="ctr"/>
                </a:tc>
                <a:extLst>
                  <a:ext uri="{0D108BD9-81ED-4DB2-BD59-A6C34878D82A}">
                    <a16:rowId xmlns:a16="http://schemas.microsoft.com/office/drawing/2014/main" val="4045388362"/>
                  </a:ext>
                </a:extLst>
              </a:tr>
              <a:tr h="0">
                <a:tc>
                  <a:txBody>
                    <a:bodyPr/>
                    <a:lstStyle/>
                    <a:p>
                      <a:pPr>
                        <a:buNone/>
                      </a:pPr>
                      <a:r>
                        <a:rPr lang="en-GB"/>
                        <a:t>Recurrent network, including LSTM</a:t>
                      </a:r>
                    </a:p>
                  </a:txBody>
                  <a:tcPr anchor="ctr"/>
                </a:tc>
                <a:tc>
                  <a:txBody>
                    <a:bodyPr/>
                    <a:lstStyle/>
                    <a:p>
                      <a:pPr>
                        <a:buNone/>
                      </a:pPr>
                      <a:r>
                        <a:rPr lang="en-GB"/>
                        <a:t>Sequential data</a:t>
                      </a:r>
                    </a:p>
                  </a:txBody>
                  <a:tcPr anchor="ctr"/>
                </a:tc>
                <a:extLst>
                  <a:ext uri="{0D108BD9-81ED-4DB2-BD59-A6C34878D82A}">
                    <a16:rowId xmlns:a16="http://schemas.microsoft.com/office/drawing/2014/main" val="19034043"/>
                  </a:ext>
                </a:extLst>
              </a:tr>
              <a:tr h="0">
                <a:tc>
                  <a:txBody>
                    <a:bodyPr/>
                    <a:lstStyle/>
                    <a:p>
                      <a:pPr>
                        <a:buNone/>
                      </a:pPr>
                      <a:r>
                        <a:rPr lang="en-GB" dirty="0"/>
                        <a:t>Transformer</a:t>
                      </a:r>
                    </a:p>
                  </a:txBody>
                  <a:tcPr anchor="ctr"/>
                </a:tc>
                <a:tc>
                  <a:txBody>
                    <a:bodyPr/>
                    <a:lstStyle/>
                    <a:p>
                      <a:pPr>
                        <a:buNone/>
                      </a:pPr>
                      <a:r>
                        <a:rPr lang="en-GB" dirty="0"/>
                        <a:t>Relationships within sequences and other structured inputs</a:t>
                      </a:r>
                    </a:p>
                  </a:txBody>
                  <a:tcPr anchor="ctr"/>
                </a:tc>
                <a:extLst>
                  <a:ext uri="{0D108BD9-81ED-4DB2-BD59-A6C34878D82A}">
                    <a16:rowId xmlns:a16="http://schemas.microsoft.com/office/drawing/2014/main" val="749464448"/>
                  </a:ext>
                </a:extLst>
              </a:tr>
            </a:tbl>
          </a:graphicData>
        </a:graphic>
      </p:graphicFrame>
      <p:sp>
        <p:nvSpPr>
          <p:cNvPr id="9" name="Rectangle">
            <a:extLst>
              <a:ext uri="{FF2B5EF4-FFF2-40B4-BE49-F238E27FC236}">
                <a16:creationId xmlns:a16="http://schemas.microsoft.com/office/drawing/2014/main" id="{236C1F7D-A040-AE71-6B9F-63D602F11261}"/>
              </a:ext>
            </a:extLst>
          </p:cNvPr>
          <p:cNvSpPr/>
          <p:nvPr/>
        </p:nvSpPr>
        <p:spPr>
          <a:xfrm>
            <a:off x="-11767" y="6545179"/>
            <a:ext cx="12203767" cy="315200"/>
          </a:xfrm>
          <a:prstGeom prst="rect">
            <a:avLst/>
          </a:prstGeom>
          <a:solidFill>
            <a:schemeClr val="tx1"/>
          </a:solidFill>
          <a:ln w="12700">
            <a:noFill/>
            <a:miter lim="400000"/>
          </a:ln>
        </p:spPr>
        <p:txBody>
          <a:bodyPr lIns="45719" rIns="45719" anchor="ctr"/>
          <a:lstStyle/>
          <a:p>
            <a:endParaRPr/>
          </a:p>
        </p:txBody>
      </p:sp>
      <p:pic>
        <p:nvPicPr>
          <p:cNvPr id="10" name="Picture 9" descr="Frontier Tech Leaders (@FTLeadersProg) / X">
            <a:extLst>
              <a:ext uri="{FF2B5EF4-FFF2-40B4-BE49-F238E27FC236}">
                <a16:creationId xmlns:a16="http://schemas.microsoft.com/office/drawing/2014/main" id="{7CFFF889-6670-9F02-CC41-8218D3B10C84}"/>
              </a:ext>
            </a:extLst>
          </p:cNvPr>
          <p:cNvPicPr>
            <a:picLocks noChangeAspect="1"/>
          </p:cNvPicPr>
          <p:nvPr/>
        </p:nvPicPr>
        <p:blipFill>
          <a:blip r:embed="rId3"/>
          <a:stretch>
            <a:fillRect/>
          </a:stretch>
        </p:blipFill>
        <p:spPr>
          <a:xfrm>
            <a:off x="10668000" y="94470"/>
            <a:ext cx="1027893" cy="1027893"/>
          </a:xfrm>
          <a:prstGeom prst="rect">
            <a:avLst/>
          </a:prstGeom>
        </p:spPr>
      </p:pic>
    </p:spTree>
    <p:extLst>
      <p:ext uri="{BB962C8B-B14F-4D97-AF65-F5344CB8AC3E}">
        <p14:creationId xmlns:p14="http://schemas.microsoft.com/office/powerpoint/2010/main" val="2742819811"/>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8A5DF60-F518-C33E-11CB-92F7AB7C7C1E}"/>
              </a:ext>
            </a:extLst>
          </p:cNvPr>
          <p:cNvSpPr>
            <a:spLocks noGrp="1"/>
          </p:cNvSpPr>
          <p:nvPr>
            <p:ph type="title"/>
          </p:nvPr>
        </p:nvSpPr>
        <p:spPr/>
        <p:txBody>
          <a:bodyPr>
            <a:normAutofit/>
          </a:bodyPr>
          <a:lstStyle/>
          <a:p>
            <a:r>
              <a:rPr lang="en-GB" sz="3200" b="1" dirty="0"/>
              <a:t>Training, Evaluation and Generalisation</a:t>
            </a:r>
            <a:endParaRPr lang="en-US" sz="3200" b="1" dirty="0"/>
          </a:p>
        </p:txBody>
      </p:sp>
      <p:sp>
        <p:nvSpPr>
          <p:cNvPr id="3" name="Content Placeholder 2">
            <a:extLst>
              <a:ext uri="{FF2B5EF4-FFF2-40B4-BE49-F238E27FC236}">
                <a16:creationId xmlns:a16="http://schemas.microsoft.com/office/drawing/2014/main" id="{E8A53F0F-0F30-2BF2-5C4D-0C6D88ABF2B8}"/>
              </a:ext>
            </a:extLst>
          </p:cNvPr>
          <p:cNvSpPr>
            <a:spLocks noGrp="1"/>
          </p:cNvSpPr>
          <p:nvPr>
            <p:ph idx="1"/>
          </p:nvPr>
        </p:nvSpPr>
        <p:spPr>
          <a:xfrm>
            <a:off x="838200" y="1825625"/>
            <a:ext cx="7961026" cy="722703"/>
          </a:xfrm>
        </p:spPr>
        <p:txBody>
          <a:bodyPr>
            <a:normAutofit fontScale="92500" lnSpcReduction="20000"/>
          </a:bodyPr>
          <a:lstStyle/>
          <a:p>
            <a:pPr marL="0" indent="0">
              <a:buNone/>
            </a:pPr>
            <a:r>
              <a:rPr lang="en-GB" b="1" dirty="0"/>
              <a:t>Generalisation: </a:t>
            </a:r>
            <a:r>
              <a:rPr lang="en-GB" dirty="0"/>
              <a:t>The ability of a fitted model to perform well on new examples relevant to its intended use.</a:t>
            </a:r>
          </a:p>
          <a:p>
            <a:pPr marL="0" indent="0">
              <a:buNone/>
            </a:pPr>
            <a:endParaRPr lang="en-US" dirty="0"/>
          </a:p>
        </p:txBody>
      </p:sp>
      <p:graphicFrame>
        <p:nvGraphicFramePr>
          <p:cNvPr id="4" name="Table 3">
            <a:extLst>
              <a:ext uri="{FF2B5EF4-FFF2-40B4-BE49-F238E27FC236}">
                <a16:creationId xmlns:a16="http://schemas.microsoft.com/office/drawing/2014/main" id="{F5389BEC-A737-0392-FEF9-8D703375B6C5}"/>
              </a:ext>
            </a:extLst>
          </p:cNvPr>
          <p:cNvGraphicFramePr>
            <a:graphicFrameLocks noGrp="1"/>
          </p:cNvGraphicFramePr>
          <p:nvPr>
            <p:extLst>
              <p:ext uri="{D42A27DB-BD31-4B8C-83A1-F6EECF244321}">
                <p14:modId xmlns:p14="http://schemas.microsoft.com/office/powerpoint/2010/main" val="3332283327"/>
              </p:ext>
            </p:extLst>
          </p:nvPr>
        </p:nvGraphicFramePr>
        <p:xfrm>
          <a:off x="838200" y="2697480"/>
          <a:ext cx="10515600" cy="1463040"/>
        </p:xfrm>
        <a:graphic>
          <a:graphicData uri="http://schemas.openxmlformats.org/drawingml/2006/table">
            <a:tbl>
              <a:tblPr>
                <a:tableStyleId>{5C22544A-7EE6-4342-B048-85BDC9FD1C3A}</a:tableStyleId>
              </a:tblPr>
              <a:tblGrid>
                <a:gridCol w="5257800">
                  <a:extLst>
                    <a:ext uri="{9D8B030D-6E8A-4147-A177-3AD203B41FA5}">
                      <a16:colId xmlns:a16="http://schemas.microsoft.com/office/drawing/2014/main" val="2851176700"/>
                    </a:ext>
                  </a:extLst>
                </a:gridCol>
                <a:gridCol w="5257800">
                  <a:extLst>
                    <a:ext uri="{9D8B030D-6E8A-4147-A177-3AD203B41FA5}">
                      <a16:colId xmlns:a16="http://schemas.microsoft.com/office/drawing/2014/main" val="1606024333"/>
                    </a:ext>
                  </a:extLst>
                </a:gridCol>
              </a:tblGrid>
              <a:tr h="0">
                <a:tc>
                  <a:txBody>
                    <a:bodyPr/>
                    <a:lstStyle/>
                    <a:p>
                      <a:pPr>
                        <a:buNone/>
                      </a:pPr>
                      <a:r>
                        <a:rPr lang="en-GB"/>
                        <a:t>Data partition</a:t>
                      </a:r>
                    </a:p>
                  </a:txBody>
                  <a:tcPr anchor="ctr"/>
                </a:tc>
                <a:tc>
                  <a:txBody>
                    <a:bodyPr/>
                    <a:lstStyle/>
                    <a:p>
                      <a:pPr>
                        <a:buNone/>
                      </a:pPr>
                      <a:r>
                        <a:rPr lang="en-GB"/>
                        <a:t>Purpose</a:t>
                      </a:r>
                    </a:p>
                  </a:txBody>
                  <a:tcPr anchor="ctr"/>
                </a:tc>
                <a:extLst>
                  <a:ext uri="{0D108BD9-81ED-4DB2-BD59-A6C34878D82A}">
                    <a16:rowId xmlns:a16="http://schemas.microsoft.com/office/drawing/2014/main" val="3476704795"/>
                  </a:ext>
                </a:extLst>
              </a:tr>
              <a:tr h="0">
                <a:tc>
                  <a:txBody>
                    <a:bodyPr/>
                    <a:lstStyle/>
                    <a:p>
                      <a:pPr>
                        <a:buNone/>
                      </a:pPr>
                      <a:r>
                        <a:rPr lang="en-GB"/>
                        <a:t>Training set</a:t>
                      </a:r>
                    </a:p>
                  </a:txBody>
                  <a:tcPr anchor="ctr"/>
                </a:tc>
                <a:tc>
                  <a:txBody>
                    <a:bodyPr/>
                    <a:lstStyle/>
                    <a:p>
                      <a:pPr>
                        <a:buNone/>
                      </a:pPr>
                      <a:r>
                        <a:rPr lang="en-GB"/>
                        <a:t>Learn model parameters</a:t>
                      </a:r>
                    </a:p>
                  </a:txBody>
                  <a:tcPr anchor="ctr"/>
                </a:tc>
                <a:extLst>
                  <a:ext uri="{0D108BD9-81ED-4DB2-BD59-A6C34878D82A}">
                    <a16:rowId xmlns:a16="http://schemas.microsoft.com/office/drawing/2014/main" val="2418441338"/>
                  </a:ext>
                </a:extLst>
              </a:tr>
              <a:tr h="0">
                <a:tc>
                  <a:txBody>
                    <a:bodyPr/>
                    <a:lstStyle/>
                    <a:p>
                      <a:pPr>
                        <a:buNone/>
                      </a:pPr>
                      <a:r>
                        <a:rPr lang="en-GB"/>
                        <a:t>Validation set</a:t>
                      </a:r>
                    </a:p>
                  </a:txBody>
                  <a:tcPr anchor="ctr"/>
                </a:tc>
                <a:tc>
                  <a:txBody>
                    <a:bodyPr/>
                    <a:lstStyle/>
                    <a:p>
                      <a:pPr>
                        <a:buNone/>
                      </a:pPr>
                      <a:r>
                        <a:rPr lang="en-GB"/>
                        <a:t>Compare approaches and choose settings</a:t>
                      </a:r>
                    </a:p>
                  </a:txBody>
                  <a:tcPr anchor="ctr"/>
                </a:tc>
                <a:extLst>
                  <a:ext uri="{0D108BD9-81ED-4DB2-BD59-A6C34878D82A}">
                    <a16:rowId xmlns:a16="http://schemas.microsoft.com/office/drawing/2014/main" val="46995014"/>
                  </a:ext>
                </a:extLst>
              </a:tr>
              <a:tr h="0">
                <a:tc>
                  <a:txBody>
                    <a:bodyPr/>
                    <a:lstStyle/>
                    <a:p>
                      <a:pPr>
                        <a:buNone/>
                      </a:pPr>
                      <a:r>
                        <a:rPr lang="en-GB"/>
                        <a:t>Test set</a:t>
                      </a:r>
                    </a:p>
                  </a:txBody>
                  <a:tcPr anchor="ctr"/>
                </a:tc>
                <a:tc>
                  <a:txBody>
                    <a:bodyPr/>
                    <a:lstStyle/>
                    <a:p>
                      <a:pPr>
                        <a:buNone/>
                      </a:pPr>
                      <a:r>
                        <a:rPr lang="en-GB" dirty="0"/>
                        <a:t>Evaluate the selected approach</a:t>
                      </a:r>
                    </a:p>
                  </a:txBody>
                  <a:tcPr anchor="ctr"/>
                </a:tc>
                <a:extLst>
                  <a:ext uri="{0D108BD9-81ED-4DB2-BD59-A6C34878D82A}">
                    <a16:rowId xmlns:a16="http://schemas.microsoft.com/office/drawing/2014/main" val="968433859"/>
                  </a:ext>
                </a:extLst>
              </a:tr>
            </a:tbl>
          </a:graphicData>
        </a:graphic>
      </p:graphicFrame>
      <p:sp>
        <p:nvSpPr>
          <p:cNvPr id="6" name="TextBox 5">
            <a:extLst>
              <a:ext uri="{FF2B5EF4-FFF2-40B4-BE49-F238E27FC236}">
                <a16:creationId xmlns:a16="http://schemas.microsoft.com/office/drawing/2014/main" id="{612F9FD5-1AD7-4CB4-9590-6790F75DE993}"/>
              </a:ext>
            </a:extLst>
          </p:cNvPr>
          <p:cNvSpPr txBox="1"/>
          <p:nvPr/>
        </p:nvSpPr>
        <p:spPr>
          <a:xfrm>
            <a:off x="838199" y="4456226"/>
            <a:ext cx="8170889" cy="2031325"/>
          </a:xfrm>
          <a:prstGeom prst="rect">
            <a:avLst/>
          </a:prstGeom>
          <a:noFill/>
        </p:spPr>
        <p:txBody>
          <a:bodyPr wrap="square">
            <a:spAutoFit/>
          </a:bodyPr>
          <a:lstStyle/>
          <a:p>
            <a:pPr>
              <a:buNone/>
            </a:pPr>
            <a:r>
              <a:rPr lang="en-GB" b="1" dirty="0"/>
              <a:t>Essential terminology</a:t>
            </a:r>
            <a:endParaRPr lang="en-GB" dirty="0"/>
          </a:p>
          <a:p>
            <a:pPr marL="342900" lvl="0" indent="-342900">
              <a:buFont typeface="Arial" panose="020B0604020202020204" pitchFamily="34" charset="0"/>
              <a:buChar char="•"/>
            </a:pPr>
            <a:r>
              <a:rPr lang="en-GB" b="1" dirty="0"/>
              <a:t>Loss:</a:t>
            </a:r>
            <a:r>
              <a:rPr lang="en-GB" dirty="0"/>
              <a:t> a numerical measure used to quantify prediction error during learning.</a:t>
            </a:r>
          </a:p>
          <a:p>
            <a:pPr marL="342900" lvl="0" indent="-342900">
              <a:buFont typeface="Arial" panose="020B0604020202020204" pitchFamily="34" charset="0"/>
              <a:buChar char="•"/>
            </a:pPr>
            <a:r>
              <a:rPr lang="en-GB" b="1" dirty="0"/>
              <a:t>Metric:</a:t>
            </a:r>
            <a:r>
              <a:rPr lang="en-GB" dirty="0"/>
              <a:t> a measure used to report performance.</a:t>
            </a:r>
          </a:p>
          <a:p>
            <a:pPr marL="342900" lvl="0" indent="-342900">
              <a:buFont typeface="Arial" panose="020B0604020202020204" pitchFamily="34" charset="0"/>
              <a:buChar char="•"/>
            </a:pPr>
            <a:r>
              <a:rPr lang="en-GB" b="1" dirty="0"/>
              <a:t>Underfitting:</a:t>
            </a:r>
            <a:r>
              <a:rPr lang="en-GB" dirty="0"/>
              <a:t> the model fails to capture important structure.</a:t>
            </a:r>
          </a:p>
          <a:p>
            <a:pPr marL="342900" lvl="0" indent="-342900">
              <a:buFont typeface="Arial" panose="020B0604020202020204" pitchFamily="34" charset="0"/>
              <a:buChar char="•"/>
            </a:pPr>
            <a:r>
              <a:rPr lang="en-GB" b="1" dirty="0"/>
              <a:t>Overfitting:</a:t>
            </a:r>
            <a:r>
              <a:rPr lang="en-GB" dirty="0"/>
              <a:t> training performance does not transfer reliably to new data.</a:t>
            </a:r>
          </a:p>
          <a:p>
            <a:pPr marL="342900" lvl="0" indent="-342900">
              <a:buFont typeface="Arial" panose="020B0604020202020204" pitchFamily="34" charset="0"/>
              <a:buChar char="•"/>
            </a:pPr>
            <a:r>
              <a:rPr lang="en-GB" b="1" dirty="0"/>
              <a:t>Data leakage:</a:t>
            </a:r>
            <a:r>
              <a:rPr lang="en-GB" dirty="0"/>
              <a:t> information enters the process that would not legitimately be available.</a:t>
            </a:r>
          </a:p>
        </p:txBody>
      </p:sp>
      <p:sp>
        <p:nvSpPr>
          <p:cNvPr id="8" name="Rectangle">
            <a:extLst>
              <a:ext uri="{FF2B5EF4-FFF2-40B4-BE49-F238E27FC236}">
                <a16:creationId xmlns:a16="http://schemas.microsoft.com/office/drawing/2014/main" id="{80DCDEB9-243F-CC08-0BA0-C1C45F127EDA}"/>
              </a:ext>
            </a:extLst>
          </p:cNvPr>
          <p:cNvSpPr/>
          <p:nvPr/>
        </p:nvSpPr>
        <p:spPr>
          <a:xfrm>
            <a:off x="-11767" y="6545179"/>
            <a:ext cx="12203767" cy="315200"/>
          </a:xfrm>
          <a:prstGeom prst="rect">
            <a:avLst/>
          </a:prstGeom>
          <a:solidFill>
            <a:schemeClr val="tx1"/>
          </a:solidFill>
          <a:ln w="12700">
            <a:noFill/>
            <a:miter lim="400000"/>
          </a:ln>
        </p:spPr>
        <p:txBody>
          <a:bodyPr lIns="45719" rIns="45719" anchor="ctr"/>
          <a:lstStyle/>
          <a:p>
            <a:endParaRPr/>
          </a:p>
        </p:txBody>
      </p:sp>
      <p:pic>
        <p:nvPicPr>
          <p:cNvPr id="9" name="Picture 8" descr="Frontier Tech Leaders (@FTLeadersProg) / X">
            <a:extLst>
              <a:ext uri="{FF2B5EF4-FFF2-40B4-BE49-F238E27FC236}">
                <a16:creationId xmlns:a16="http://schemas.microsoft.com/office/drawing/2014/main" id="{6044E07A-1C4D-00C7-B4BA-3713C7927C4A}"/>
              </a:ext>
            </a:extLst>
          </p:cNvPr>
          <p:cNvPicPr>
            <a:picLocks noChangeAspect="1"/>
          </p:cNvPicPr>
          <p:nvPr/>
        </p:nvPicPr>
        <p:blipFill>
          <a:blip r:embed="rId2"/>
          <a:stretch>
            <a:fillRect/>
          </a:stretch>
        </p:blipFill>
        <p:spPr>
          <a:xfrm>
            <a:off x="10668000" y="94470"/>
            <a:ext cx="1027893" cy="1027893"/>
          </a:xfrm>
          <a:prstGeom prst="rect">
            <a:avLst/>
          </a:prstGeom>
        </p:spPr>
      </p:pic>
    </p:spTree>
    <p:extLst>
      <p:ext uri="{BB962C8B-B14F-4D97-AF65-F5344CB8AC3E}">
        <p14:creationId xmlns:p14="http://schemas.microsoft.com/office/powerpoint/2010/main" val="3803300866"/>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4E8C633-07D7-1420-C52C-59779FDFABBD}"/>
              </a:ext>
            </a:extLst>
          </p:cNvPr>
          <p:cNvSpPr>
            <a:spLocks noGrp="1"/>
          </p:cNvSpPr>
          <p:nvPr>
            <p:ph type="title"/>
          </p:nvPr>
        </p:nvSpPr>
        <p:spPr/>
        <p:txBody>
          <a:bodyPr>
            <a:normAutofit/>
          </a:bodyPr>
          <a:lstStyle/>
          <a:p>
            <a:r>
              <a:rPr lang="en-GB" sz="3200" b="1" dirty="0"/>
              <a:t>Defining an ML Problem for a Climate Product</a:t>
            </a:r>
            <a:endParaRPr lang="en-US" sz="3200" b="1" dirty="0"/>
          </a:p>
        </p:txBody>
      </p:sp>
      <p:sp>
        <p:nvSpPr>
          <p:cNvPr id="3" name="Content Placeholder 2">
            <a:extLst>
              <a:ext uri="{FF2B5EF4-FFF2-40B4-BE49-F238E27FC236}">
                <a16:creationId xmlns:a16="http://schemas.microsoft.com/office/drawing/2014/main" id="{6965ED02-4843-00B8-6F19-15CE5E98EDAC}"/>
              </a:ext>
            </a:extLst>
          </p:cNvPr>
          <p:cNvSpPr>
            <a:spLocks noGrp="1"/>
          </p:cNvSpPr>
          <p:nvPr>
            <p:ph idx="1"/>
          </p:nvPr>
        </p:nvSpPr>
        <p:spPr>
          <a:xfrm>
            <a:off x="838200" y="1411782"/>
            <a:ext cx="10515600" cy="557811"/>
          </a:xfrm>
        </p:spPr>
        <p:txBody>
          <a:bodyPr>
            <a:normAutofit/>
          </a:bodyPr>
          <a:lstStyle/>
          <a:p>
            <a:pPr marL="0" indent="0">
              <a:buNone/>
            </a:pPr>
            <a:r>
              <a:rPr lang="en-GB" sz="2400" dirty="0"/>
              <a:t>Before selecting an algorithm, complete the following specification:</a:t>
            </a:r>
          </a:p>
        </p:txBody>
      </p:sp>
      <p:graphicFrame>
        <p:nvGraphicFramePr>
          <p:cNvPr id="5" name="Table 4">
            <a:extLst>
              <a:ext uri="{FF2B5EF4-FFF2-40B4-BE49-F238E27FC236}">
                <a16:creationId xmlns:a16="http://schemas.microsoft.com/office/drawing/2014/main" id="{D0536668-9385-1740-A4CF-D4E6B6636831}"/>
              </a:ext>
            </a:extLst>
          </p:cNvPr>
          <p:cNvGraphicFramePr>
            <a:graphicFrameLocks noGrp="1"/>
          </p:cNvGraphicFramePr>
          <p:nvPr>
            <p:extLst>
              <p:ext uri="{D42A27DB-BD31-4B8C-83A1-F6EECF244321}">
                <p14:modId xmlns:p14="http://schemas.microsoft.com/office/powerpoint/2010/main" val="2682773541"/>
              </p:ext>
            </p:extLst>
          </p:nvPr>
        </p:nvGraphicFramePr>
        <p:xfrm>
          <a:off x="838200" y="2195401"/>
          <a:ext cx="10515600" cy="3566160"/>
        </p:xfrm>
        <a:graphic>
          <a:graphicData uri="http://schemas.openxmlformats.org/drawingml/2006/table">
            <a:tbl>
              <a:tblPr>
                <a:tableStyleId>{5C22544A-7EE6-4342-B048-85BDC9FD1C3A}</a:tableStyleId>
              </a:tblPr>
              <a:tblGrid>
                <a:gridCol w="5257800">
                  <a:extLst>
                    <a:ext uri="{9D8B030D-6E8A-4147-A177-3AD203B41FA5}">
                      <a16:colId xmlns:a16="http://schemas.microsoft.com/office/drawing/2014/main" val="2817642406"/>
                    </a:ext>
                  </a:extLst>
                </a:gridCol>
                <a:gridCol w="5257800">
                  <a:extLst>
                    <a:ext uri="{9D8B030D-6E8A-4147-A177-3AD203B41FA5}">
                      <a16:colId xmlns:a16="http://schemas.microsoft.com/office/drawing/2014/main" val="3147060143"/>
                    </a:ext>
                  </a:extLst>
                </a:gridCol>
              </a:tblGrid>
              <a:tr h="0">
                <a:tc>
                  <a:txBody>
                    <a:bodyPr/>
                    <a:lstStyle/>
                    <a:p>
                      <a:pPr>
                        <a:buNone/>
                      </a:pPr>
                      <a:r>
                        <a:rPr lang="en-GB" dirty="0"/>
                        <a:t>Question</a:t>
                      </a:r>
                    </a:p>
                  </a:txBody>
                  <a:tcPr anchor="ctr"/>
                </a:tc>
                <a:tc>
                  <a:txBody>
                    <a:bodyPr/>
                    <a:lstStyle/>
                    <a:p>
                      <a:pPr>
                        <a:buNone/>
                      </a:pPr>
                      <a:r>
                        <a:rPr lang="en-GB"/>
                        <a:t>Example answer</a:t>
                      </a:r>
                    </a:p>
                  </a:txBody>
                  <a:tcPr anchor="ctr"/>
                </a:tc>
                <a:extLst>
                  <a:ext uri="{0D108BD9-81ED-4DB2-BD59-A6C34878D82A}">
                    <a16:rowId xmlns:a16="http://schemas.microsoft.com/office/drawing/2014/main" val="1139544836"/>
                  </a:ext>
                </a:extLst>
              </a:tr>
              <a:tr h="0">
                <a:tc>
                  <a:txBody>
                    <a:bodyPr/>
                    <a:lstStyle/>
                    <a:p>
                      <a:pPr>
                        <a:buNone/>
                      </a:pPr>
                      <a:r>
                        <a:rPr lang="en-GB"/>
                        <a:t>Who will use the output?</a:t>
                      </a:r>
                    </a:p>
                  </a:txBody>
                  <a:tcPr anchor="ctr"/>
                </a:tc>
                <a:tc>
                  <a:txBody>
                    <a:bodyPr/>
                    <a:lstStyle/>
                    <a:p>
                      <a:pPr>
                        <a:buNone/>
                      </a:pPr>
                      <a:r>
                        <a:rPr lang="en-GB"/>
                        <a:t>A solar-system operator</a:t>
                      </a:r>
                    </a:p>
                  </a:txBody>
                  <a:tcPr anchor="ctr"/>
                </a:tc>
                <a:extLst>
                  <a:ext uri="{0D108BD9-81ED-4DB2-BD59-A6C34878D82A}">
                    <a16:rowId xmlns:a16="http://schemas.microsoft.com/office/drawing/2014/main" val="3485350898"/>
                  </a:ext>
                </a:extLst>
              </a:tr>
              <a:tr h="0">
                <a:tc>
                  <a:txBody>
                    <a:bodyPr/>
                    <a:lstStyle/>
                    <a:p>
                      <a:pPr>
                        <a:buNone/>
                      </a:pPr>
                      <a:r>
                        <a:rPr lang="en-GB"/>
                        <a:t>What decision could it support?</a:t>
                      </a:r>
                    </a:p>
                  </a:txBody>
                  <a:tcPr anchor="ctr"/>
                </a:tc>
                <a:tc>
                  <a:txBody>
                    <a:bodyPr/>
                    <a:lstStyle/>
                    <a:p>
                      <a:pPr>
                        <a:buNone/>
                      </a:pPr>
                      <a:r>
                        <a:rPr lang="en-GB"/>
                        <a:t>Planning battery charging</a:t>
                      </a:r>
                    </a:p>
                  </a:txBody>
                  <a:tcPr anchor="ctr"/>
                </a:tc>
                <a:extLst>
                  <a:ext uri="{0D108BD9-81ED-4DB2-BD59-A6C34878D82A}">
                    <a16:rowId xmlns:a16="http://schemas.microsoft.com/office/drawing/2014/main" val="4158275162"/>
                  </a:ext>
                </a:extLst>
              </a:tr>
              <a:tr h="0">
                <a:tc>
                  <a:txBody>
                    <a:bodyPr/>
                    <a:lstStyle/>
                    <a:p>
                      <a:pPr>
                        <a:buNone/>
                      </a:pPr>
                      <a:r>
                        <a:rPr lang="en-GB"/>
                        <a:t>What does one example represent?</a:t>
                      </a:r>
                    </a:p>
                  </a:txBody>
                  <a:tcPr anchor="ctr"/>
                </a:tc>
                <a:tc>
                  <a:txBody>
                    <a:bodyPr/>
                    <a:lstStyle/>
                    <a:p>
                      <a:pPr>
                        <a:buNone/>
                      </a:pPr>
                      <a:r>
                        <a:rPr lang="en-GB"/>
                        <a:t>One site and one forecast-origin day</a:t>
                      </a:r>
                    </a:p>
                  </a:txBody>
                  <a:tcPr anchor="ctr"/>
                </a:tc>
                <a:extLst>
                  <a:ext uri="{0D108BD9-81ED-4DB2-BD59-A6C34878D82A}">
                    <a16:rowId xmlns:a16="http://schemas.microsoft.com/office/drawing/2014/main" val="1733616226"/>
                  </a:ext>
                </a:extLst>
              </a:tr>
              <a:tr h="0">
                <a:tc>
                  <a:txBody>
                    <a:bodyPr/>
                    <a:lstStyle/>
                    <a:p>
                      <a:pPr>
                        <a:buNone/>
                      </a:pPr>
                      <a:r>
                        <a:rPr lang="en-GB"/>
                        <a:t>What inputs are available at that time?</a:t>
                      </a:r>
                    </a:p>
                  </a:txBody>
                  <a:tcPr anchor="ctr"/>
                </a:tc>
                <a:tc>
                  <a:txBody>
                    <a:bodyPr/>
                    <a:lstStyle/>
                    <a:p>
                      <a:pPr>
                        <a:buNone/>
                      </a:pPr>
                      <a:r>
                        <a:rPr lang="en-GB"/>
                        <a:t>Historical generation and available weather forecasts</a:t>
                      </a:r>
                    </a:p>
                  </a:txBody>
                  <a:tcPr anchor="ctr"/>
                </a:tc>
                <a:extLst>
                  <a:ext uri="{0D108BD9-81ED-4DB2-BD59-A6C34878D82A}">
                    <a16:rowId xmlns:a16="http://schemas.microsoft.com/office/drawing/2014/main" val="1700911585"/>
                  </a:ext>
                </a:extLst>
              </a:tr>
              <a:tr h="0">
                <a:tc>
                  <a:txBody>
                    <a:bodyPr/>
                    <a:lstStyle/>
                    <a:p>
                      <a:pPr>
                        <a:buNone/>
                      </a:pPr>
                      <a:r>
                        <a:rPr lang="en-GB"/>
                        <a:t>What is the target?</a:t>
                      </a:r>
                    </a:p>
                  </a:txBody>
                  <a:tcPr anchor="ctr"/>
                </a:tc>
                <a:tc>
                  <a:txBody>
                    <a:bodyPr/>
                    <a:lstStyle/>
                    <a:p>
                      <a:pPr>
                        <a:buNone/>
                      </a:pPr>
                      <a:r>
                        <a:rPr lang="en-GB"/>
                        <a:t>Next-day energy generation</a:t>
                      </a:r>
                    </a:p>
                  </a:txBody>
                  <a:tcPr anchor="ctr"/>
                </a:tc>
                <a:extLst>
                  <a:ext uri="{0D108BD9-81ED-4DB2-BD59-A6C34878D82A}">
                    <a16:rowId xmlns:a16="http://schemas.microsoft.com/office/drawing/2014/main" val="1098826088"/>
                  </a:ext>
                </a:extLst>
              </a:tr>
              <a:tr h="0">
                <a:tc>
                  <a:txBody>
                    <a:bodyPr/>
                    <a:lstStyle/>
                    <a:p>
                      <a:pPr>
                        <a:buNone/>
                      </a:pPr>
                      <a:r>
                        <a:rPr lang="en-GB"/>
                        <a:t>Which task is this?</a:t>
                      </a:r>
                    </a:p>
                  </a:txBody>
                  <a:tcPr anchor="ctr"/>
                </a:tc>
                <a:tc>
                  <a:txBody>
                    <a:bodyPr/>
                    <a:lstStyle/>
                    <a:p>
                      <a:pPr>
                        <a:buNone/>
                      </a:pPr>
                      <a:r>
                        <a:rPr lang="en-GB"/>
                        <a:t>Supervised regression</a:t>
                      </a:r>
                    </a:p>
                  </a:txBody>
                  <a:tcPr anchor="ctr"/>
                </a:tc>
                <a:extLst>
                  <a:ext uri="{0D108BD9-81ED-4DB2-BD59-A6C34878D82A}">
                    <a16:rowId xmlns:a16="http://schemas.microsoft.com/office/drawing/2014/main" val="3075798750"/>
                  </a:ext>
                </a:extLst>
              </a:tr>
              <a:tr h="0">
                <a:tc>
                  <a:txBody>
                    <a:bodyPr/>
                    <a:lstStyle/>
                    <a:p>
                      <a:pPr>
                        <a:buNone/>
                      </a:pPr>
                      <a:r>
                        <a:rPr lang="en-GB"/>
                        <a:t>What is the baseline?</a:t>
                      </a:r>
                    </a:p>
                  </a:txBody>
                  <a:tcPr anchor="ctr"/>
                </a:tc>
                <a:tc>
                  <a:txBody>
                    <a:bodyPr/>
                    <a:lstStyle/>
                    <a:p>
                      <a:pPr>
                        <a:buNone/>
                      </a:pPr>
                      <a:r>
                        <a:rPr lang="en-GB"/>
                        <a:t>A simple historical or persistence forecast</a:t>
                      </a:r>
                    </a:p>
                  </a:txBody>
                  <a:tcPr anchor="ctr"/>
                </a:tc>
                <a:extLst>
                  <a:ext uri="{0D108BD9-81ED-4DB2-BD59-A6C34878D82A}">
                    <a16:rowId xmlns:a16="http://schemas.microsoft.com/office/drawing/2014/main" val="3109671055"/>
                  </a:ext>
                </a:extLst>
              </a:tr>
              <a:tr h="0">
                <a:tc>
                  <a:txBody>
                    <a:bodyPr/>
                    <a:lstStyle/>
                    <a:p>
                      <a:pPr>
                        <a:buNone/>
                      </a:pPr>
                      <a:r>
                        <a:rPr lang="en-GB"/>
                        <a:t>How will we evaluate it?</a:t>
                      </a:r>
                    </a:p>
                  </a:txBody>
                  <a:tcPr anchor="ctr"/>
                </a:tc>
                <a:tc>
                  <a:txBody>
                    <a:bodyPr/>
                    <a:lstStyle/>
                    <a:p>
                      <a:pPr>
                        <a:buNone/>
                      </a:pPr>
                      <a:r>
                        <a:rPr lang="en-GB" dirty="0"/>
                        <a:t>Error on later dates, in kWh</a:t>
                      </a:r>
                    </a:p>
                  </a:txBody>
                  <a:tcPr anchor="ctr"/>
                </a:tc>
                <a:extLst>
                  <a:ext uri="{0D108BD9-81ED-4DB2-BD59-A6C34878D82A}">
                    <a16:rowId xmlns:a16="http://schemas.microsoft.com/office/drawing/2014/main" val="340432424"/>
                  </a:ext>
                </a:extLst>
              </a:tr>
            </a:tbl>
          </a:graphicData>
        </a:graphic>
      </p:graphicFrame>
      <p:sp>
        <p:nvSpPr>
          <p:cNvPr id="6" name="Rectangle">
            <a:extLst>
              <a:ext uri="{FF2B5EF4-FFF2-40B4-BE49-F238E27FC236}">
                <a16:creationId xmlns:a16="http://schemas.microsoft.com/office/drawing/2014/main" id="{AEF81392-6719-BA21-8608-244BEF9A77F8}"/>
              </a:ext>
            </a:extLst>
          </p:cNvPr>
          <p:cNvSpPr/>
          <p:nvPr/>
        </p:nvSpPr>
        <p:spPr>
          <a:xfrm>
            <a:off x="-11767" y="6545179"/>
            <a:ext cx="12203767" cy="315200"/>
          </a:xfrm>
          <a:prstGeom prst="rect">
            <a:avLst/>
          </a:prstGeom>
          <a:solidFill>
            <a:schemeClr val="tx1"/>
          </a:solidFill>
          <a:ln w="12700">
            <a:noFill/>
            <a:miter lim="400000"/>
          </a:ln>
        </p:spPr>
        <p:txBody>
          <a:bodyPr lIns="45719" rIns="45719" anchor="ctr"/>
          <a:lstStyle/>
          <a:p>
            <a:endParaRPr/>
          </a:p>
        </p:txBody>
      </p:sp>
      <p:pic>
        <p:nvPicPr>
          <p:cNvPr id="7" name="Picture 6" descr="Frontier Tech Leaders (@FTLeadersProg) / X">
            <a:extLst>
              <a:ext uri="{FF2B5EF4-FFF2-40B4-BE49-F238E27FC236}">
                <a16:creationId xmlns:a16="http://schemas.microsoft.com/office/drawing/2014/main" id="{756332CC-5F27-5EFF-8187-0246B106CE6B}"/>
              </a:ext>
            </a:extLst>
          </p:cNvPr>
          <p:cNvPicPr>
            <a:picLocks noChangeAspect="1"/>
          </p:cNvPicPr>
          <p:nvPr/>
        </p:nvPicPr>
        <p:blipFill>
          <a:blip r:embed="rId2"/>
          <a:stretch>
            <a:fillRect/>
          </a:stretch>
        </p:blipFill>
        <p:spPr>
          <a:xfrm>
            <a:off x="10668000" y="94470"/>
            <a:ext cx="1027893" cy="1027893"/>
          </a:xfrm>
          <a:prstGeom prst="rect">
            <a:avLst/>
          </a:prstGeom>
        </p:spPr>
      </p:pic>
    </p:spTree>
    <p:extLst>
      <p:ext uri="{BB962C8B-B14F-4D97-AF65-F5344CB8AC3E}">
        <p14:creationId xmlns:p14="http://schemas.microsoft.com/office/powerpoint/2010/main" val="222076454"/>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D78FF5A-9900-47D7-B227-EEE575F36C3C}"/>
              </a:ext>
            </a:extLst>
          </p:cNvPr>
          <p:cNvSpPr>
            <a:spLocks noGrp="1"/>
          </p:cNvSpPr>
          <p:nvPr>
            <p:ph type="title"/>
          </p:nvPr>
        </p:nvSpPr>
        <p:spPr/>
        <p:txBody>
          <a:bodyPr/>
          <a:lstStyle/>
          <a:p>
            <a:pPr algn="ctr"/>
            <a:r>
              <a:rPr lang="tr-TR" dirty="0"/>
              <a:t>Machine Learning </a:t>
            </a:r>
            <a:r>
              <a:rPr lang="tr-TR" dirty="0" err="1"/>
              <a:t>Algorithms</a:t>
            </a:r>
            <a:endParaRPr lang="en-US" dirty="0"/>
          </a:p>
        </p:txBody>
      </p:sp>
      <p:graphicFrame>
        <p:nvGraphicFramePr>
          <p:cNvPr id="5" name="Content Placeholder 2">
            <a:extLst>
              <a:ext uri="{FF2B5EF4-FFF2-40B4-BE49-F238E27FC236}">
                <a16:creationId xmlns:a16="http://schemas.microsoft.com/office/drawing/2014/main" id="{733ECDD5-1CA6-6EF8-50FF-0328EBA4D7B9}"/>
              </a:ext>
            </a:extLst>
          </p:cNvPr>
          <p:cNvGraphicFramePr>
            <a:graphicFrameLocks noGrp="1"/>
          </p:cNvGraphicFramePr>
          <p:nvPr>
            <p:ph idx="1"/>
          </p:nvPr>
        </p:nvGraphicFramePr>
        <p:xfrm>
          <a:off x="838200" y="1825625"/>
          <a:ext cx="10515600" cy="4351338"/>
        </p:xfrm>
        <a:graphic>
          <a:graphicData uri="http://schemas.openxmlformats.org/drawingml/2006/diagram">
            <dgm:relIds xmlns:dgm="http://schemas.openxmlformats.org/drawingml/2006/diagram" xmlns:r="http://schemas.openxmlformats.org/officeDocument/2006/relationships" r:dm="rId3" r:lo="rId4" r:qs="rId5" r:cs="rId6"/>
          </a:graphicData>
        </a:graphic>
      </p:graphicFrame>
    </p:spTree>
    <p:extLst>
      <p:ext uri="{BB962C8B-B14F-4D97-AF65-F5344CB8AC3E}">
        <p14:creationId xmlns:p14="http://schemas.microsoft.com/office/powerpoint/2010/main" val="137025717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2"/>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5"/>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1" nodeType="clickEffect">
                                  <p:stCondLst>
                                    <p:cond delay="0"/>
                                  </p:stCondLst>
                                  <p:childTnLst>
                                    <p:set>
                                      <p:cBhvr>
                                        <p:cTn id="14" dur="1" fill="hold">
                                          <p:stCondLst>
                                            <p:cond delay="0"/>
                                          </p:stCondLst>
                                        </p:cTn>
                                        <p:tgtEl>
                                          <p:spTgt spid="5"/>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2" nodeType="clickEffect">
                                  <p:stCondLst>
                                    <p:cond delay="0"/>
                                  </p:stCondLst>
                                  <p:childTnLst>
                                    <p:set>
                                      <p:cBhvr>
                                        <p:cTn id="18" dur="1" fill="hold">
                                          <p:stCondLst>
                                            <p:cond delay="0"/>
                                          </p:stCondLst>
                                        </p:cTn>
                                        <p:tgtEl>
                                          <p:spTgt spid="5"/>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grpId="3" nodeType="clickEffect">
                                  <p:stCondLst>
                                    <p:cond delay="0"/>
                                  </p:stCondLst>
                                  <p:childTnLst>
                                    <p:set>
                                      <p:cBhvr>
                                        <p:cTn id="22" dur="1" fill="hold">
                                          <p:stCondLst>
                                            <p:cond delay="0"/>
                                          </p:stCondLst>
                                        </p:cTn>
                                        <p:tgtEl>
                                          <p:spTgt spid="5"/>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Graphic spid="5" grpId="0">
        <p:bldAsOne/>
      </p:bldGraphic>
      <p:bldGraphic spid="5" grpId="1">
        <p:bldAsOne/>
      </p:bldGraphic>
      <p:bldGraphic spid="5" grpId="2">
        <p:bldAsOne/>
      </p:bldGraphic>
      <p:bldGraphic spid="5" grpId="3">
        <p:bldAsOne/>
      </p:bldGraphic>
    </p:bldLst>
  </p:timing>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7B6127C-047E-BEDD-C6D3-24384091C954}"/>
              </a:ext>
            </a:extLst>
          </p:cNvPr>
          <p:cNvSpPr>
            <a:spLocks noGrp="1"/>
          </p:cNvSpPr>
          <p:nvPr>
            <p:ph type="title"/>
          </p:nvPr>
        </p:nvSpPr>
        <p:spPr/>
        <p:txBody>
          <a:bodyPr/>
          <a:lstStyle/>
          <a:p>
            <a:pPr algn="ctr"/>
            <a:r>
              <a:rPr lang="tr-TR" dirty="0" err="1"/>
              <a:t>Supervised</a:t>
            </a:r>
            <a:r>
              <a:rPr lang="tr-TR" dirty="0"/>
              <a:t> Learning</a:t>
            </a:r>
            <a:endParaRPr lang="en-US" dirty="0"/>
          </a:p>
        </p:txBody>
      </p:sp>
      <p:cxnSp>
        <p:nvCxnSpPr>
          <p:cNvPr id="6" name="Straight Arrow Connector 5">
            <a:extLst>
              <a:ext uri="{FF2B5EF4-FFF2-40B4-BE49-F238E27FC236}">
                <a16:creationId xmlns:a16="http://schemas.microsoft.com/office/drawing/2014/main" id="{51265780-DE3E-0C92-1EAE-B49ADEA74E46}"/>
              </a:ext>
            </a:extLst>
          </p:cNvPr>
          <p:cNvCxnSpPr>
            <a:cxnSpLocks/>
          </p:cNvCxnSpPr>
          <p:nvPr/>
        </p:nvCxnSpPr>
        <p:spPr>
          <a:xfrm flipH="1">
            <a:off x="3145220" y="1690688"/>
            <a:ext cx="1349265" cy="923136"/>
          </a:xfrm>
          <a:prstGeom prst="straightConnector1">
            <a:avLst/>
          </a:prstGeom>
          <a:ln w="38100">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8" name="Straight Arrow Connector 7">
            <a:extLst>
              <a:ext uri="{FF2B5EF4-FFF2-40B4-BE49-F238E27FC236}">
                <a16:creationId xmlns:a16="http://schemas.microsoft.com/office/drawing/2014/main" id="{B8F43EF2-F6F5-75C2-44A8-A7AE3BE24CD4}"/>
              </a:ext>
            </a:extLst>
          </p:cNvPr>
          <p:cNvCxnSpPr>
            <a:cxnSpLocks/>
          </p:cNvCxnSpPr>
          <p:nvPr/>
        </p:nvCxnSpPr>
        <p:spPr>
          <a:xfrm>
            <a:off x="6877706" y="1690688"/>
            <a:ext cx="1375542" cy="923136"/>
          </a:xfrm>
          <a:prstGeom prst="straightConnector1">
            <a:avLst/>
          </a:prstGeom>
          <a:ln w="38100">
            <a:solidFill>
              <a:schemeClr val="tx1"/>
            </a:solidFill>
            <a:tailEnd type="triangle"/>
          </a:ln>
        </p:spPr>
        <p:style>
          <a:lnRef idx="1">
            <a:schemeClr val="accent1"/>
          </a:lnRef>
          <a:fillRef idx="0">
            <a:schemeClr val="accent1"/>
          </a:fillRef>
          <a:effectRef idx="0">
            <a:schemeClr val="accent1"/>
          </a:effectRef>
          <a:fontRef idx="minor">
            <a:schemeClr val="tx1"/>
          </a:fontRef>
        </p:style>
      </p:cxnSp>
      <p:sp>
        <p:nvSpPr>
          <p:cNvPr id="11" name="TextBox 10">
            <a:extLst>
              <a:ext uri="{FF2B5EF4-FFF2-40B4-BE49-F238E27FC236}">
                <a16:creationId xmlns:a16="http://schemas.microsoft.com/office/drawing/2014/main" id="{982D4D68-BA8A-A102-E53C-B6E7A12F7B2B}"/>
              </a:ext>
            </a:extLst>
          </p:cNvPr>
          <p:cNvSpPr txBox="1"/>
          <p:nvPr/>
        </p:nvSpPr>
        <p:spPr>
          <a:xfrm>
            <a:off x="2151903" y="2672287"/>
            <a:ext cx="1986634" cy="584775"/>
          </a:xfrm>
          <a:prstGeom prst="rect">
            <a:avLst/>
          </a:prstGeom>
          <a:noFill/>
        </p:spPr>
        <p:txBody>
          <a:bodyPr wrap="none" rtlCol="0">
            <a:spAutoFit/>
          </a:bodyPr>
          <a:lstStyle/>
          <a:p>
            <a:r>
              <a:rPr lang="tr-TR" sz="3200" dirty="0" err="1">
                <a:solidFill>
                  <a:schemeClr val="accent1"/>
                </a:solidFill>
              </a:rPr>
              <a:t>Regression</a:t>
            </a:r>
            <a:endParaRPr lang="en-US" sz="3200" dirty="0">
              <a:solidFill>
                <a:schemeClr val="accent1"/>
              </a:solidFill>
            </a:endParaRPr>
          </a:p>
        </p:txBody>
      </p:sp>
      <p:sp>
        <p:nvSpPr>
          <p:cNvPr id="12" name="TextBox 11">
            <a:extLst>
              <a:ext uri="{FF2B5EF4-FFF2-40B4-BE49-F238E27FC236}">
                <a16:creationId xmlns:a16="http://schemas.microsoft.com/office/drawing/2014/main" id="{EF505652-80D2-1B5C-FC0E-3BC25C9B8190}"/>
              </a:ext>
            </a:extLst>
          </p:cNvPr>
          <p:cNvSpPr txBox="1"/>
          <p:nvPr/>
        </p:nvSpPr>
        <p:spPr>
          <a:xfrm>
            <a:off x="7341385" y="2640756"/>
            <a:ext cx="2359172" cy="584775"/>
          </a:xfrm>
          <a:prstGeom prst="rect">
            <a:avLst/>
          </a:prstGeom>
          <a:noFill/>
        </p:spPr>
        <p:txBody>
          <a:bodyPr wrap="none" rtlCol="0">
            <a:spAutoFit/>
          </a:bodyPr>
          <a:lstStyle/>
          <a:p>
            <a:r>
              <a:rPr lang="tr-TR" sz="3200" dirty="0" err="1">
                <a:solidFill>
                  <a:srgbClr val="FF0000"/>
                </a:solidFill>
              </a:rPr>
              <a:t>Classification</a:t>
            </a:r>
            <a:endParaRPr lang="en-US" sz="3200" dirty="0">
              <a:solidFill>
                <a:srgbClr val="FF0000"/>
              </a:solidFill>
            </a:endParaRPr>
          </a:p>
        </p:txBody>
      </p:sp>
      <p:pic>
        <p:nvPicPr>
          <p:cNvPr id="14" name="Picture 13">
            <a:extLst>
              <a:ext uri="{FF2B5EF4-FFF2-40B4-BE49-F238E27FC236}">
                <a16:creationId xmlns:a16="http://schemas.microsoft.com/office/drawing/2014/main" id="{AB46E022-6BBA-902C-2B35-C6DE5F2B75D3}"/>
              </a:ext>
            </a:extLst>
          </p:cNvPr>
          <p:cNvPicPr>
            <a:picLocks noChangeAspect="1"/>
          </p:cNvPicPr>
          <p:nvPr/>
        </p:nvPicPr>
        <p:blipFill>
          <a:blip r:embed="rId3"/>
          <a:stretch>
            <a:fillRect/>
          </a:stretch>
        </p:blipFill>
        <p:spPr>
          <a:xfrm>
            <a:off x="1914350" y="3852598"/>
            <a:ext cx="3079142" cy="1513768"/>
          </a:xfrm>
          <a:prstGeom prst="rect">
            <a:avLst/>
          </a:prstGeom>
        </p:spPr>
      </p:pic>
      <p:pic>
        <p:nvPicPr>
          <p:cNvPr id="16" name="Picture 15">
            <a:extLst>
              <a:ext uri="{FF2B5EF4-FFF2-40B4-BE49-F238E27FC236}">
                <a16:creationId xmlns:a16="http://schemas.microsoft.com/office/drawing/2014/main" id="{89D3A63D-E3B1-F361-6FFD-41E3E1E47B1D}"/>
              </a:ext>
            </a:extLst>
          </p:cNvPr>
          <p:cNvPicPr>
            <a:picLocks noChangeAspect="1"/>
          </p:cNvPicPr>
          <p:nvPr/>
        </p:nvPicPr>
        <p:blipFill>
          <a:blip r:embed="rId4"/>
          <a:stretch>
            <a:fillRect/>
          </a:stretch>
        </p:blipFill>
        <p:spPr>
          <a:xfrm>
            <a:off x="7455685" y="3429000"/>
            <a:ext cx="2359172" cy="2038875"/>
          </a:xfrm>
          <a:prstGeom prst="rect">
            <a:avLst/>
          </a:prstGeom>
        </p:spPr>
      </p:pic>
      <p:sp>
        <p:nvSpPr>
          <p:cNvPr id="3" name="Rectangle">
            <a:extLst>
              <a:ext uri="{FF2B5EF4-FFF2-40B4-BE49-F238E27FC236}">
                <a16:creationId xmlns:a16="http://schemas.microsoft.com/office/drawing/2014/main" id="{C867F78E-00EF-D06A-ACF8-397FA6B33692}"/>
              </a:ext>
            </a:extLst>
          </p:cNvPr>
          <p:cNvSpPr/>
          <p:nvPr/>
        </p:nvSpPr>
        <p:spPr>
          <a:xfrm>
            <a:off x="-11767" y="6545179"/>
            <a:ext cx="12203767" cy="315200"/>
          </a:xfrm>
          <a:prstGeom prst="rect">
            <a:avLst/>
          </a:prstGeom>
          <a:solidFill>
            <a:schemeClr val="tx1"/>
          </a:solidFill>
          <a:ln w="12700">
            <a:noFill/>
            <a:miter lim="400000"/>
          </a:ln>
        </p:spPr>
        <p:txBody>
          <a:bodyPr lIns="45719" rIns="45719" anchor="ctr"/>
          <a:lstStyle/>
          <a:p>
            <a:endParaRPr/>
          </a:p>
        </p:txBody>
      </p:sp>
      <p:pic>
        <p:nvPicPr>
          <p:cNvPr id="4" name="Picture 3" descr="Frontier Tech Leaders (@FTLeadersProg) / X">
            <a:extLst>
              <a:ext uri="{FF2B5EF4-FFF2-40B4-BE49-F238E27FC236}">
                <a16:creationId xmlns:a16="http://schemas.microsoft.com/office/drawing/2014/main" id="{AD930C94-D1F1-27C5-7631-C9C5E5B2D121}"/>
              </a:ext>
            </a:extLst>
          </p:cNvPr>
          <p:cNvPicPr>
            <a:picLocks noChangeAspect="1"/>
          </p:cNvPicPr>
          <p:nvPr/>
        </p:nvPicPr>
        <p:blipFill>
          <a:blip r:embed="rId5"/>
          <a:stretch>
            <a:fillRect/>
          </a:stretch>
        </p:blipFill>
        <p:spPr>
          <a:xfrm>
            <a:off x="10668000" y="94470"/>
            <a:ext cx="1027893" cy="1027893"/>
          </a:xfrm>
          <a:prstGeom prst="rect">
            <a:avLst/>
          </a:prstGeom>
        </p:spPr>
      </p:pic>
    </p:spTree>
    <p:extLst>
      <p:ext uri="{BB962C8B-B14F-4D97-AF65-F5344CB8AC3E}">
        <p14:creationId xmlns:p14="http://schemas.microsoft.com/office/powerpoint/2010/main" val="151381380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2"/>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6"/>
                                        </p:tgtEl>
                                        <p:attrNameLst>
                                          <p:attrName>style.visibility</p:attrName>
                                        </p:attrNameLst>
                                      </p:cBhvr>
                                      <p:to>
                                        <p:strVal val="visible"/>
                                      </p:to>
                                    </p:set>
                                  </p:childTnLst>
                                </p:cTn>
                              </p:par>
                              <p:par>
                                <p:cTn id="11" presetID="1" presetClass="entr" presetSubtype="0" fill="hold" nodeType="withEffect">
                                  <p:stCondLst>
                                    <p:cond delay="0"/>
                                  </p:stCondLst>
                                  <p:childTnLst>
                                    <p:set>
                                      <p:cBhvr>
                                        <p:cTn id="12" dur="1" fill="hold">
                                          <p:stCondLst>
                                            <p:cond delay="0"/>
                                          </p:stCondLst>
                                        </p:cTn>
                                        <p:tgtEl>
                                          <p:spTgt spid="8"/>
                                        </p:tgtEl>
                                        <p:attrNameLst>
                                          <p:attrName>style.visibility</p:attrName>
                                        </p:attrNameLst>
                                      </p:cBhvr>
                                      <p:to>
                                        <p:strVal val="visible"/>
                                      </p:to>
                                    </p:set>
                                  </p:childTnLst>
                                </p:cTn>
                              </p:par>
                            </p:childTnLst>
                          </p:cTn>
                        </p:par>
                      </p:childTnLst>
                    </p:cTn>
                  </p:par>
                  <p:par>
                    <p:cTn id="13" fill="hold">
                      <p:stCondLst>
                        <p:cond delay="indefinite"/>
                      </p:stCondLst>
                      <p:childTnLst>
                        <p:par>
                          <p:cTn id="14" fill="hold">
                            <p:stCondLst>
                              <p:cond delay="0"/>
                            </p:stCondLst>
                            <p:childTnLst>
                              <p:par>
                                <p:cTn id="15" presetID="1" presetClass="entr" presetSubtype="0" fill="hold" grpId="0" nodeType="clickEffect">
                                  <p:stCondLst>
                                    <p:cond delay="0"/>
                                  </p:stCondLst>
                                  <p:childTnLst>
                                    <p:set>
                                      <p:cBhvr>
                                        <p:cTn id="16" dur="1" fill="hold">
                                          <p:stCondLst>
                                            <p:cond delay="0"/>
                                          </p:stCondLst>
                                        </p:cTn>
                                        <p:tgtEl>
                                          <p:spTgt spid="11"/>
                                        </p:tgtEl>
                                        <p:attrNameLst>
                                          <p:attrName>style.visibility</p:attrName>
                                        </p:attrNameLst>
                                      </p:cBhvr>
                                      <p:to>
                                        <p:strVal val="visible"/>
                                      </p:to>
                                    </p:set>
                                  </p:childTnLst>
                                </p:cTn>
                              </p:par>
                              <p:par>
                                <p:cTn id="17" presetID="1" presetClass="entr" presetSubtype="0" fill="hold" nodeType="withEffect">
                                  <p:stCondLst>
                                    <p:cond delay="0"/>
                                  </p:stCondLst>
                                  <p:childTnLst>
                                    <p:set>
                                      <p:cBhvr>
                                        <p:cTn id="18" dur="1" fill="hold">
                                          <p:stCondLst>
                                            <p:cond delay="0"/>
                                          </p:stCondLst>
                                        </p:cTn>
                                        <p:tgtEl>
                                          <p:spTgt spid="14"/>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grpId="0" nodeType="clickEffect">
                                  <p:stCondLst>
                                    <p:cond delay="0"/>
                                  </p:stCondLst>
                                  <p:childTnLst>
                                    <p:set>
                                      <p:cBhvr>
                                        <p:cTn id="22" dur="1" fill="hold">
                                          <p:stCondLst>
                                            <p:cond delay="0"/>
                                          </p:stCondLst>
                                        </p:cTn>
                                        <p:tgtEl>
                                          <p:spTgt spid="12"/>
                                        </p:tgtEl>
                                        <p:attrNameLst>
                                          <p:attrName>style.visibility</p:attrName>
                                        </p:attrNameLst>
                                      </p:cBhvr>
                                      <p:to>
                                        <p:strVal val="visible"/>
                                      </p:to>
                                    </p:set>
                                  </p:childTnLst>
                                </p:cTn>
                              </p:par>
                              <p:par>
                                <p:cTn id="23" presetID="1" presetClass="entr" presetSubtype="0" fill="hold" nodeType="withEffect">
                                  <p:stCondLst>
                                    <p:cond delay="0"/>
                                  </p:stCondLst>
                                  <p:childTnLst>
                                    <p:set>
                                      <p:cBhvr>
                                        <p:cTn id="24" dur="1" fill="hold">
                                          <p:stCondLst>
                                            <p:cond delay="0"/>
                                          </p:stCondLst>
                                        </p:cTn>
                                        <p:tgtEl>
                                          <p:spTgt spid="16"/>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P spid="11" grpId="0"/>
      <p:bldP spid="12" grpId="0"/>
    </p:bldLst>
  </p:timing>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1" name="Rectangle 50">
            <a:extLst>
              <a:ext uri="{FF2B5EF4-FFF2-40B4-BE49-F238E27FC236}">
                <a16:creationId xmlns:a16="http://schemas.microsoft.com/office/drawing/2014/main" id="{69CB2BC8-DCC9-99AC-22E2-7AC022B48B47}"/>
              </a:ext>
            </a:extLst>
          </p:cNvPr>
          <p:cNvSpPr/>
          <p:nvPr/>
        </p:nvSpPr>
        <p:spPr>
          <a:xfrm>
            <a:off x="6151179" y="4445876"/>
            <a:ext cx="1652751" cy="776779"/>
          </a:xfrm>
          <a:prstGeom prst="rect">
            <a:avLst/>
          </a:prstGeom>
          <a:ln w="28575"/>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13" name="Rectangle 12">
            <a:extLst>
              <a:ext uri="{FF2B5EF4-FFF2-40B4-BE49-F238E27FC236}">
                <a16:creationId xmlns:a16="http://schemas.microsoft.com/office/drawing/2014/main" id="{E0BAB21F-C574-8C28-28BF-82A76DCD8332}"/>
              </a:ext>
            </a:extLst>
          </p:cNvPr>
          <p:cNvSpPr/>
          <p:nvPr/>
        </p:nvSpPr>
        <p:spPr>
          <a:xfrm>
            <a:off x="701566" y="1592317"/>
            <a:ext cx="1899744" cy="1978573"/>
          </a:xfrm>
          <a:prstGeom prst="rect">
            <a:avLst/>
          </a:prstGeom>
          <a:solidFill>
            <a:schemeClr val="accent2">
              <a:lumMod val="40000"/>
              <a:lumOff val="60000"/>
            </a:schemeClr>
          </a:solidFill>
          <a:ln w="38100">
            <a:solidFill>
              <a:schemeClr val="accent2">
                <a:lumMod val="75000"/>
              </a:schemeClr>
            </a:solidFill>
          </a:ln>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2" name="Title 1">
            <a:extLst>
              <a:ext uri="{FF2B5EF4-FFF2-40B4-BE49-F238E27FC236}">
                <a16:creationId xmlns:a16="http://schemas.microsoft.com/office/drawing/2014/main" id="{EF8925E4-1BD3-A304-465F-934DE9CF6203}"/>
              </a:ext>
            </a:extLst>
          </p:cNvPr>
          <p:cNvSpPr>
            <a:spLocks noGrp="1"/>
          </p:cNvSpPr>
          <p:nvPr>
            <p:ph type="title"/>
          </p:nvPr>
        </p:nvSpPr>
        <p:spPr/>
        <p:txBody>
          <a:bodyPr/>
          <a:lstStyle/>
          <a:p>
            <a:pPr algn="ctr"/>
            <a:r>
              <a:rPr lang="tr-TR" dirty="0" err="1"/>
              <a:t>Supervised</a:t>
            </a:r>
            <a:r>
              <a:rPr lang="tr-TR" dirty="0"/>
              <a:t> Learning</a:t>
            </a:r>
            <a:endParaRPr lang="en-US" dirty="0"/>
          </a:p>
        </p:txBody>
      </p:sp>
      <p:sp>
        <p:nvSpPr>
          <p:cNvPr id="5" name="Oval 4">
            <a:extLst>
              <a:ext uri="{FF2B5EF4-FFF2-40B4-BE49-F238E27FC236}">
                <a16:creationId xmlns:a16="http://schemas.microsoft.com/office/drawing/2014/main" id="{C097DF2A-9AB8-EF65-1FA2-5850430B4B9D}"/>
              </a:ext>
            </a:extLst>
          </p:cNvPr>
          <p:cNvSpPr/>
          <p:nvPr/>
        </p:nvSpPr>
        <p:spPr>
          <a:xfrm>
            <a:off x="1320361" y="1807973"/>
            <a:ext cx="307428" cy="390360"/>
          </a:xfrm>
          <a:prstGeom prst="ellipse">
            <a:avLst/>
          </a:prstGeom>
          <a:ln w="38100"/>
        </p:spPr>
        <p:style>
          <a:lnRef idx="2">
            <a:schemeClr val="accent1"/>
          </a:lnRef>
          <a:fillRef idx="1">
            <a:schemeClr val="lt1"/>
          </a:fillRef>
          <a:effectRef idx="0">
            <a:schemeClr val="accent1"/>
          </a:effectRef>
          <a:fontRef idx="minor">
            <a:schemeClr val="dk1"/>
          </a:fontRef>
        </p:style>
        <p:txBody>
          <a:bodyPr rtlCol="0" anchor="ctr"/>
          <a:lstStyle/>
          <a:p>
            <a:pPr algn="ctr"/>
            <a:endParaRPr lang="en-US"/>
          </a:p>
        </p:txBody>
      </p:sp>
      <p:sp>
        <p:nvSpPr>
          <p:cNvPr id="6" name="Rectangle 5">
            <a:extLst>
              <a:ext uri="{FF2B5EF4-FFF2-40B4-BE49-F238E27FC236}">
                <a16:creationId xmlns:a16="http://schemas.microsoft.com/office/drawing/2014/main" id="{2DFDCEF3-9987-7ACA-BD78-78DE28ECC9DF}"/>
              </a:ext>
            </a:extLst>
          </p:cNvPr>
          <p:cNvSpPr/>
          <p:nvPr/>
        </p:nvSpPr>
        <p:spPr>
          <a:xfrm>
            <a:off x="1939159" y="1860331"/>
            <a:ext cx="338958" cy="362607"/>
          </a:xfrm>
          <a:prstGeom prst="rect">
            <a:avLst/>
          </a:prstGeom>
          <a:ln w="38100"/>
        </p:spPr>
        <p:style>
          <a:lnRef idx="2">
            <a:schemeClr val="accent1"/>
          </a:lnRef>
          <a:fillRef idx="1">
            <a:schemeClr val="lt1"/>
          </a:fillRef>
          <a:effectRef idx="0">
            <a:schemeClr val="accent1"/>
          </a:effectRef>
          <a:fontRef idx="minor">
            <a:schemeClr val="dk1"/>
          </a:fontRef>
        </p:style>
        <p:txBody>
          <a:bodyPr rtlCol="0" anchor="ctr"/>
          <a:lstStyle/>
          <a:p>
            <a:pPr algn="ctr"/>
            <a:endParaRPr lang="en-US"/>
          </a:p>
        </p:txBody>
      </p:sp>
      <p:sp>
        <p:nvSpPr>
          <p:cNvPr id="7" name="Isosceles Triangle 6">
            <a:extLst>
              <a:ext uri="{FF2B5EF4-FFF2-40B4-BE49-F238E27FC236}">
                <a16:creationId xmlns:a16="http://schemas.microsoft.com/office/drawing/2014/main" id="{A6D980B9-68F7-EB0F-4F0A-F85E0DEA9228}"/>
              </a:ext>
            </a:extLst>
          </p:cNvPr>
          <p:cNvSpPr/>
          <p:nvPr/>
        </p:nvSpPr>
        <p:spPr>
          <a:xfrm>
            <a:off x="1414955" y="2286000"/>
            <a:ext cx="433552" cy="417786"/>
          </a:xfrm>
          <a:prstGeom prst="triangle">
            <a:avLst/>
          </a:prstGeom>
          <a:ln w="38100"/>
        </p:spPr>
        <p:style>
          <a:lnRef idx="2">
            <a:schemeClr val="accent1"/>
          </a:lnRef>
          <a:fillRef idx="1">
            <a:schemeClr val="lt1"/>
          </a:fillRef>
          <a:effectRef idx="0">
            <a:schemeClr val="accent1"/>
          </a:effectRef>
          <a:fontRef idx="minor">
            <a:schemeClr val="dk1"/>
          </a:fontRef>
        </p:style>
        <p:txBody>
          <a:bodyPr rtlCol="0" anchor="ctr"/>
          <a:lstStyle/>
          <a:p>
            <a:pPr algn="ctr"/>
            <a:endParaRPr lang="en-US"/>
          </a:p>
        </p:txBody>
      </p:sp>
      <p:sp>
        <p:nvSpPr>
          <p:cNvPr id="8" name="Oval 7">
            <a:extLst>
              <a:ext uri="{FF2B5EF4-FFF2-40B4-BE49-F238E27FC236}">
                <a16:creationId xmlns:a16="http://schemas.microsoft.com/office/drawing/2014/main" id="{5019D740-DB0A-48C2-598F-B4722ACB6DDE}"/>
              </a:ext>
            </a:extLst>
          </p:cNvPr>
          <p:cNvSpPr/>
          <p:nvPr/>
        </p:nvSpPr>
        <p:spPr>
          <a:xfrm>
            <a:off x="2020613" y="2352839"/>
            <a:ext cx="307428" cy="390360"/>
          </a:xfrm>
          <a:prstGeom prst="ellipse">
            <a:avLst/>
          </a:prstGeom>
          <a:ln w="38100"/>
        </p:spPr>
        <p:style>
          <a:lnRef idx="2">
            <a:schemeClr val="accent1"/>
          </a:lnRef>
          <a:fillRef idx="1">
            <a:schemeClr val="lt1"/>
          </a:fillRef>
          <a:effectRef idx="0">
            <a:schemeClr val="accent1"/>
          </a:effectRef>
          <a:fontRef idx="minor">
            <a:schemeClr val="dk1"/>
          </a:fontRef>
        </p:style>
        <p:txBody>
          <a:bodyPr rtlCol="0" anchor="ctr"/>
          <a:lstStyle/>
          <a:p>
            <a:pPr algn="ctr"/>
            <a:endParaRPr lang="en-US"/>
          </a:p>
        </p:txBody>
      </p:sp>
      <p:sp>
        <p:nvSpPr>
          <p:cNvPr id="9" name="Rectangle 8">
            <a:extLst>
              <a:ext uri="{FF2B5EF4-FFF2-40B4-BE49-F238E27FC236}">
                <a16:creationId xmlns:a16="http://schemas.microsoft.com/office/drawing/2014/main" id="{EC565389-80B8-14AF-DCCB-B61A6674A18D}"/>
              </a:ext>
            </a:extLst>
          </p:cNvPr>
          <p:cNvSpPr/>
          <p:nvPr/>
        </p:nvSpPr>
        <p:spPr>
          <a:xfrm>
            <a:off x="963011" y="2806260"/>
            <a:ext cx="338958" cy="362607"/>
          </a:xfrm>
          <a:prstGeom prst="rect">
            <a:avLst/>
          </a:prstGeom>
          <a:ln w="38100"/>
        </p:spPr>
        <p:style>
          <a:lnRef idx="2">
            <a:schemeClr val="accent1"/>
          </a:lnRef>
          <a:fillRef idx="1">
            <a:schemeClr val="lt1"/>
          </a:fillRef>
          <a:effectRef idx="0">
            <a:schemeClr val="accent1"/>
          </a:effectRef>
          <a:fontRef idx="minor">
            <a:schemeClr val="dk1"/>
          </a:fontRef>
        </p:style>
        <p:txBody>
          <a:bodyPr rtlCol="0" anchor="ctr"/>
          <a:lstStyle/>
          <a:p>
            <a:pPr algn="ctr"/>
            <a:endParaRPr lang="en-US"/>
          </a:p>
        </p:txBody>
      </p:sp>
      <p:sp>
        <p:nvSpPr>
          <p:cNvPr id="10" name="Isosceles Triangle 9">
            <a:extLst>
              <a:ext uri="{FF2B5EF4-FFF2-40B4-BE49-F238E27FC236}">
                <a16:creationId xmlns:a16="http://schemas.microsoft.com/office/drawing/2014/main" id="{970BB77C-586D-9FA2-157B-024F3E6C7247}"/>
              </a:ext>
            </a:extLst>
          </p:cNvPr>
          <p:cNvSpPr/>
          <p:nvPr/>
        </p:nvSpPr>
        <p:spPr>
          <a:xfrm>
            <a:off x="838200" y="2130233"/>
            <a:ext cx="433552" cy="417786"/>
          </a:xfrm>
          <a:prstGeom prst="triangle">
            <a:avLst/>
          </a:prstGeom>
          <a:ln w="38100"/>
        </p:spPr>
        <p:style>
          <a:lnRef idx="2">
            <a:schemeClr val="accent1"/>
          </a:lnRef>
          <a:fillRef idx="1">
            <a:schemeClr val="lt1"/>
          </a:fillRef>
          <a:effectRef idx="0">
            <a:schemeClr val="accent1"/>
          </a:effectRef>
          <a:fontRef idx="minor">
            <a:schemeClr val="dk1"/>
          </a:fontRef>
        </p:style>
        <p:txBody>
          <a:bodyPr rtlCol="0" anchor="ctr"/>
          <a:lstStyle/>
          <a:p>
            <a:pPr algn="ctr"/>
            <a:endParaRPr lang="en-US"/>
          </a:p>
        </p:txBody>
      </p:sp>
      <p:sp>
        <p:nvSpPr>
          <p:cNvPr id="11" name="Oval 10">
            <a:extLst>
              <a:ext uri="{FF2B5EF4-FFF2-40B4-BE49-F238E27FC236}">
                <a16:creationId xmlns:a16="http://schemas.microsoft.com/office/drawing/2014/main" id="{94237A15-5A1C-A88A-BFAA-1C92A7B352FB}"/>
              </a:ext>
            </a:extLst>
          </p:cNvPr>
          <p:cNvSpPr/>
          <p:nvPr/>
        </p:nvSpPr>
        <p:spPr>
          <a:xfrm>
            <a:off x="1533196" y="2821071"/>
            <a:ext cx="307428" cy="390360"/>
          </a:xfrm>
          <a:prstGeom prst="ellipse">
            <a:avLst/>
          </a:prstGeom>
          <a:ln w="38100"/>
        </p:spPr>
        <p:style>
          <a:lnRef idx="2">
            <a:schemeClr val="accent1"/>
          </a:lnRef>
          <a:fillRef idx="1">
            <a:schemeClr val="lt1"/>
          </a:fillRef>
          <a:effectRef idx="0">
            <a:schemeClr val="accent1"/>
          </a:effectRef>
          <a:fontRef idx="minor">
            <a:schemeClr val="dk1"/>
          </a:fontRef>
        </p:style>
        <p:txBody>
          <a:bodyPr rtlCol="0" anchor="ctr"/>
          <a:lstStyle/>
          <a:p>
            <a:pPr algn="ctr"/>
            <a:endParaRPr lang="en-US"/>
          </a:p>
        </p:txBody>
      </p:sp>
      <p:sp>
        <p:nvSpPr>
          <p:cNvPr id="12" name="Rectangle 11">
            <a:extLst>
              <a:ext uri="{FF2B5EF4-FFF2-40B4-BE49-F238E27FC236}">
                <a16:creationId xmlns:a16="http://schemas.microsoft.com/office/drawing/2014/main" id="{C25C1CD4-D9BA-C454-7BDA-7DDF41889902}"/>
              </a:ext>
            </a:extLst>
          </p:cNvPr>
          <p:cNvSpPr/>
          <p:nvPr/>
        </p:nvSpPr>
        <p:spPr>
          <a:xfrm>
            <a:off x="2020613" y="2848824"/>
            <a:ext cx="338958" cy="362607"/>
          </a:xfrm>
          <a:prstGeom prst="rect">
            <a:avLst/>
          </a:prstGeom>
          <a:ln w="38100"/>
        </p:spPr>
        <p:style>
          <a:lnRef idx="2">
            <a:schemeClr val="accent1"/>
          </a:lnRef>
          <a:fillRef idx="1">
            <a:schemeClr val="lt1"/>
          </a:fillRef>
          <a:effectRef idx="0">
            <a:schemeClr val="accent1"/>
          </a:effectRef>
          <a:fontRef idx="minor">
            <a:schemeClr val="dk1"/>
          </a:fontRef>
        </p:style>
        <p:txBody>
          <a:bodyPr rtlCol="0" anchor="ctr"/>
          <a:lstStyle/>
          <a:p>
            <a:pPr algn="ctr"/>
            <a:endParaRPr lang="en-US"/>
          </a:p>
        </p:txBody>
      </p:sp>
      <p:sp>
        <p:nvSpPr>
          <p:cNvPr id="14" name="Rectangle 13">
            <a:extLst>
              <a:ext uri="{FF2B5EF4-FFF2-40B4-BE49-F238E27FC236}">
                <a16:creationId xmlns:a16="http://schemas.microsoft.com/office/drawing/2014/main" id="{F6A4CF0D-1FCA-0092-54D7-14859D51E0AB}"/>
              </a:ext>
            </a:extLst>
          </p:cNvPr>
          <p:cNvSpPr/>
          <p:nvPr/>
        </p:nvSpPr>
        <p:spPr>
          <a:xfrm>
            <a:off x="737038" y="4179012"/>
            <a:ext cx="1899744" cy="1978573"/>
          </a:xfrm>
          <a:prstGeom prst="rect">
            <a:avLst/>
          </a:prstGeom>
          <a:solidFill>
            <a:schemeClr val="accent6">
              <a:lumMod val="40000"/>
              <a:lumOff val="60000"/>
            </a:schemeClr>
          </a:solidFill>
          <a:ln w="38100">
            <a:solidFill>
              <a:schemeClr val="accent6">
                <a:lumMod val="75000"/>
              </a:schemeClr>
            </a:solidFill>
          </a:ln>
        </p:spPr>
        <p:style>
          <a:lnRef idx="2">
            <a:schemeClr val="dk1"/>
          </a:lnRef>
          <a:fillRef idx="1">
            <a:schemeClr val="lt1"/>
          </a:fillRef>
          <a:effectRef idx="0">
            <a:schemeClr val="dk1"/>
          </a:effectRef>
          <a:fontRef idx="minor">
            <a:schemeClr val="dk1"/>
          </a:fontRef>
        </p:style>
        <p:txBody>
          <a:bodyPr rtlCol="0" anchor="ctr"/>
          <a:lstStyle/>
          <a:p>
            <a:pPr algn="ctr"/>
            <a:endParaRPr lang="en-US" dirty="0"/>
          </a:p>
        </p:txBody>
      </p:sp>
      <p:sp>
        <p:nvSpPr>
          <p:cNvPr id="15" name="Oval 14">
            <a:extLst>
              <a:ext uri="{FF2B5EF4-FFF2-40B4-BE49-F238E27FC236}">
                <a16:creationId xmlns:a16="http://schemas.microsoft.com/office/drawing/2014/main" id="{5C7F5BEA-7B83-18E8-7A6B-0667998AAE7A}"/>
              </a:ext>
            </a:extLst>
          </p:cNvPr>
          <p:cNvSpPr/>
          <p:nvPr/>
        </p:nvSpPr>
        <p:spPr>
          <a:xfrm>
            <a:off x="1401815" y="4564420"/>
            <a:ext cx="307428" cy="390360"/>
          </a:xfrm>
          <a:prstGeom prst="ellipse">
            <a:avLst/>
          </a:prstGeom>
          <a:ln w="38100"/>
        </p:spPr>
        <p:style>
          <a:lnRef idx="2">
            <a:schemeClr val="accent1"/>
          </a:lnRef>
          <a:fillRef idx="1">
            <a:schemeClr val="lt1"/>
          </a:fillRef>
          <a:effectRef idx="0">
            <a:schemeClr val="accent1"/>
          </a:effectRef>
          <a:fontRef idx="minor">
            <a:schemeClr val="dk1"/>
          </a:fontRef>
        </p:style>
        <p:txBody>
          <a:bodyPr rtlCol="0" anchor="ctr"/>
          <a:lstStyle/>
          <a:p>
            <a:pPr algn="ctr"/>
            <a:endParaRPr lang="en-US"/>
          </a:p>
        </p:txBody>
      </p:sp>
      <p:sp>
        <p:nvSpPr>
          <p:cNvPr id="16" name="Rectangle 15">
            <a:extLst>
              <a:ext uri="{FF2B5EF4-FFF2-40B4-BE49-F238E27FC236}">
                <a16:creationId xmlns:a16="http://schemas.microsoft.com/office/drawing/2014/main" id="{34EF4BA7-E172-6B00-AAF3-EDE7F1FD34FC}"/>
              </a:ext>
            </a:extLst>
          </p:cNvPr>
          <p:cNvSpPr/>
          <p:nvPr/>
        </p:nvSpPr>
        <p:spPr>
          <a:xfrm>
            <a:off x="2031123" y="5222657"/>
            <a:ext cx="338958" cy="362607"/>
          </a:xfrm>
          <a:prstGeom prst="rect">
            <a:avLst/>
          </a:prstGeom>
          <a:ln w="38100"/>
        </p:spPr>
        <p:style>
          <a:lnRef idx="2">
            <a:schemeClr val="accent1"/>
          </a:lnRef>
          <a:fillRef idx="1">
            <a:schemeClr val="lt1"/>
          </a:fillRef>
          <a:effectRef idx="0">
            <a:schemeClr val="accent1"/>
          </a:effectRef>
          <a:fontRef idx="minor">
            <a:schemeClr val="dk1"/>
          </a:fontRef>
        </p:style>
        <p:txBody>
          <a:bodyPr rtlCol="0" anchor="ctr"/>
          <a:lstStyle/>
          <a:p>
            <a:pPr algn="ctr"/>
            <a:endParaRPr lang="en-US"/>
          </a:p>
        </p:txBody>
      </p:sp>
      <p:sp>
        <p:nvSpPr>
          <p:cNvPr id="17" name="Isosceles Triangle 16">
            <a:extLst>
              <a:ext uri="{FF2B5EF4-FFF2-40B4-BE49-F238E27FC236}">
                <a16:creationId xmlns:a16="http://schemas.microsoft.com/office/drawing/2014/main" id="{4C6C0694-3993-7C1B-F940-96C66A34AFC0}"/>
              </a:ext>
            </a:extLst>
          </p:cNvPr>
          <p:cNvSpPr/>
          <p:nvPr/>
        </p:nvSpPr>
        <p:spPr>
          <a:xfrm>
            <a:off x="915714" y="5176181"/>
            <a:ext cx="433552" cy="417786"/>
          </a:xfrm>
          <a:prstGeom prst="triangle">
            <a:avLst/>
          </a:prstGeom>
          <a:ln w="38100"/>
        </p:spPr>
        <p:style>
          <a:lnRef idx="2">
            <a:schemeClr val="accent1"/>
          </a:lnRef>
          <a:fillRef idx="1">
            <a:schemeClr val="lt1"/>
          </a:fillRef>
          <a:effectRef idx="0">
            <a:schemeClr val="accent1"/>
          </a:effectRef>
          <a:fontRef idx="minor">
            <a:schemeClr val="dk1"/>
          </a:fontRef>
        </p:style>
        <p:txBody>
          <a:bodyPr rtlCol="0" anchor="ctr"/>
          <a:lstStyle/>
          <a:p>
            <a:pPr algn="ctr"/>
            <a:endParaRPr lang="en-US"/>
          </a:p>
        </p:txBody>
      </p:sp>
      <p:sp>
        <p:nvSpPr>
          <p:cNvPr id="18" name="TextBox 17">
            <a:extLst>
              <a:ext uri="{FF2B5EF4-FFF2-40B4-BE49-F238E27FC236}">
                <a16:creationId xmlns:a16="http://schemas.microsoft.com/office/drawing/2014/main" id="{43C055A2-D456-3F4B-F4FD-571AFB5DF643}"/>
              </a:ext>
            </a:extLst>
          </p:cNvPr>
          <p:cNvSpPr txBox="1"/>
          <p:nvPr/>
        </p:nvSpPr>
        <p:spPr>
          <a:xfrm>
            <a:off x="761528" y="5630597"/>
            <a:ext cx="925382" cy="369332"/>
          </a:xfrm>
          <a:prstGeom prst="rect">
            <a:avLst/>
          </a:prstGeom>
          <a:noFill/>
        </p:spPr>
        <p:txBody>
          <a:bodyPr wrap="none" rtlCol="0">
            <a:spAutoFit/>
          </a:bodyPr>
          <a:lstStyle/>
          <a:p>
            <a:r>
              <a:rPr lang="tr-TR" dirty="0" err="1"/>
              <a:t>Triangle</a:t>
            </a:r>
            <a:endParaRPr lang="en-US" dirty="0"/>
          </a:p>
        </p:txBody>
      </p:sp>
      <p:sp>
        <p:nvSpPr>
          <p:cNvPr id="19" name="TextBox 18">
            <a:extLst>
              <a:ext uri="{FF2B5EF4-FFF2-40B4-BE49-F238E27FC236}">
                <a16:creationId xmlns:a16="http://schemas.microsoft.com/office/drawing/2014/main" id="{D050402D-F969-550D-2526-BD51C995A6EB}"/>
              </a:ext>
            </a:extLst>
          </p:cNvPr>
          <p:cNvSpPr txBox="1"/>
          <p:nvPr/>
        </p:nvSpPr>
        <p:spPr>
          <a:xfrm>
            <a:off x="1235312" y="4923356"/>
            <a:ext cx="703847" cy="369332"/>
          </a:xfrm>
          <a:prstGeom prst="rect">
            <a:avLst/>
          </a:prstGeom>
          <a:noFill/>
        </p:spPr>
        <p:txBody>
          <a:bodyPr wrap="none" rtlCol="0">
            <a:spAutoFit/>
          </a:bodyPr>
          <a:lstStyle/>
          <a:p>
            <a:r>
              <a:rPr lang="tr-TR" dirty="0" err="1"/>
              <a:t>Circle</a:t>
            </a:r>
            <a:endParaRPr lang="en-US" dirty="0"/>
          </a:p>
        </p:txBody>
      </p:sp>
      <p:sp>
        <p:nvSpPr>
          <p:cNvPr id="20" name="TextBox 19">
            <a:extLst>
              <a:ext uri="{FF2B5EF4-FFF2-40B4-BE49-F238E27FC236}">
                <a16:creationId xmlns:a16="http://schemas.microsoft.com/office/drawing/2014/main" id="{83565D04-5E5D-65E8-2385-F95E35E7F7BA}"/>
              </a:ext>
            </a:extLst>
          </p:cNvPr>
          <p:cNvSpPr txBox="1"/>
          <p:nvPr/>
        </p:nvSpPr>
        <p:spPr>
          <a:xfrm>
            <a:off x="1809922" y="5630597"/>
            <a:ext cx="837280" cy="369332"/>
          </a:xfrm>
          <a:prstGeom prst="rect">
            <a:avLst/>
          </a:prstGeom>
          <a:noFill/>
        </p:spPr>
        <p:txBody>
          <a:bodyPr wrap="none" rtlCol="0">
            <a:spAutoFit/>
          </a:bodyPr>
          <a:lstStyle/>
          <a:p>
            <a:r>
              <a:rPr lang="tr-TR" dirty="0" err="1"/>
              <a:t>Square</a:t>
            </a:r>
            <a:endParaRPr lang="en-US" dirty="0"/>
          </a:p>
        </p:txBody>
      </p:sp>
      <p:sp>
        <p:nvSpPr>
          <p:cNvPr id="21" name="TextBox 20">
            <a:extLst>
              <a:ext uri="{FF2B5EF4-FFF2-40B4-BE49-F238E27FC236}">
                <a16:creationId xmlns:a16="http://schemas.microsoft.com/office/drawing/2014/main" id="{39FEA430-E4B8-C89C-0E41-200F5AF73DC0}"/>
              </a:ext>
            </a:extLst>
          </p:cNvPr>
          <p:cNvSpPr txBox="1"/>
          <p:nvPr/>
        </p:nvSpPr>
        <p:spPr>
          <a:xfrm>
            <a:off x="1004627" y="3536864"/>
            <a:ext cx="1409232" cy="369332"/>
          </a:xfrm>
          <a:prstGeom prst="rect">
            <a:avLst/>
          </a:prstGeom>
          <a:noFill/>
        </p:spPr>
        <p:txBody>
          <a:bodyPr wrap="none" rtlCol="0">
            <a:spAutoFit/>
          </a:bodyPr>
          <a:lstStyle/>
          <a:p>
            <a:r>
              <a:rPr lang="tr-TR" dirty="0" err="1"/>
              <a:t>Labeled</a:t>
            </a:r>
            <a:r>
              <a:rPr lang="tr-TR" dirty="0"/>
              <a:t> Data</a:t>
            </a:r>
            <a:endParaRPr lang="en-US" dirty="0"/>
          </a:p>
        </p:txBody>
      </p:sp>
      <p:sp>
        <p:nvSpPr>
          <p:cNvPr id="22" name="TextBox 21">
            <a:extLst>
              <a:ext uri="{FF2B5EF4-FFF2-40B4-BE49-F238E27FC236}">
                <a16:creationId xmlns:a16="http://schemas.microsoft.com/office/drawing/2014/main" id="{AC452471-FC17-B9E2-DB1A-8E8728E13870}"/>
              </a:ext>
            </a:extLst>
          </p:cNvPr>
          <p:cNvSpPr txBox="1"/>
          <p:nvPr/>
        </p:nvSpPr>
        <p:spPr>
          <a:xfrm>
            <a:off x="1290145" y="6147189"/>
            <a:ext cx="772969" cy="369332"/>
          </a:xfrm>
          <a:prstGeom prst="rect">
            <a:avLst/>
          </a:prstGeom>
          <a:noFill/>
        </p:spPr>
        <p:txBody>
          <a:bodyPr wrap="none" rtlCol="0">
            <a:spAutoFit/>
          </a:bodyPr>
          <a:lstStyle/>
          <a:p>
            <a:r>
              <a:rPr lang="tr-TR" dirty="0" err="1"/>
              <a:t>Lables</a:t>
            </a:r>
            <a:endParaRPr lang="en-US" dirty="0"/>
          </a:p>
        </p:txBody>
      </p:sp>
      <p:cxnSp>
        <p:nvCxnSpPr>
          <p:cNvPr id="24" name="Straight Arrow Connector 23">
            <a:extLst>
              <a:ext uri="{FF2B5EF4-FFF2-40B4-BE49-F238E27FC236}">
                <a16:creationId xmlns:a16="http://schemas.microsoft.com/office/drawing/2014/main" id="{484C373E-3709-42C3-C5EF-0B120EBEA25F}"/>
              </a:ext>
            </a:extLst>
          </p:cNvPr>
          <p:cNvCxnSpPr>
            <a:stCxn id="13" idx="3"/>
          </p:cNvCxnSpPr>
          <p:nvPr/>
        </p:nvCxnSpPr>
        <p:spPr>
          <a:xfrm flipV="1">
            <a:off x="2601310" y="2581603"/>
            <a:ext cx="1497724" cy="1"/>
          </a:xfrm>
          <a:prstGeom prst="straightConnector1">
            <a:avLst/>
          </a:prstGeom>
          <a:ln w="38100">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26" name="Straight Connector 25">
            <a:extLst>
              <a:ext uri="{FF2B5EF4-FFF2-40B4-BE49-F238E27FC236}">
                <a16:creationId xmlns:a16="http://schemas.microsoft.com/office/drawing/2014/main" id="{B94FA313-DDB4-1062-AEB9-31D3554C88D6}"/>
              </a:ext>
            </a:extLst>
          </p:cNvPr>
          <p:cNvCxnSpPr>
            <a:stCxn id="14" idx="3"/>
          </p:cNvCxnSpPr>
          <p:nvPr/>
        </p:nvCxnSpPr>
        <p:spPr>
          <a:xfrm>
            <a:off x="2636782" y="5168299"/>
            <a:ext cx="800101" cy="7882"/>
          </a:xfrm>
          <a:prstGeom prst="line">
            <a:avLst/>
          </a:prstGeom>
          <a:ln w="381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28" name="Straight Connector 27">
            <a:extLst>
              <a:ext uri="{FF2B5EF4-FFF2-40B4-BE49-F238E27FC236}">
                <a16:creationId xmlns:a16="http://schemas.microsoft.com/office/drawing/2014/main" id="{E1171EF0-4DF7-1072-3923-66A99C103E3B}"/>
              </a:ext>
            </a:extLst>
          </p:cNvPr>
          <p:cNvCxnSpPr>
            <a:cxnSpLocks/>
          </p:cNvCxnSpPr>
          <p:nvPr/>
        </p:nvCxnSpPr>
        <p:spPr>
          <a:xfrm flipV="1">
            <a:off x="3432940" y="2848824"/>
            <a:ext cx="0" cy="2319474"/>
          </a:xfrm>
          <a:prstGeom prst="line">
            <a:avLst/>
          </a:prstGeom>
          <a:ln w="381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30" name="Straight Arrow Connector 29">
            <a:extLst>
              <a:ext uri="{FF2B5EF4-FFF2-40B4-BE49-F238E27FC236}">
                <a16:creationId xmlns:a16="http://schemas.microsoft.com/office/drawing/2014/main" id="{D98D995C-0A62-47B0-1BA5-8731F5988FFC}"/>
              </a:ext>
            </a:extLst>
          </p:cNvPr>
          <p:cNvCxnSpPr>
            <a:cxnSpLocks/>
          </p:cNvCxnSpPr>
          <p:nvPr/>
        </p:nvCxnSpPr>
        <p:spPr>
          <a:xfrm>
            <a:off x="3432940" y="2848824"/>
            <a:ext cx="666094" cy="0"/>
          </a:xfrm>
          <a:prstGeom prst="straightConnector1">
            <a:avLst/>
          </a:prstGeom>
          <a:ln w="38100">
            <a:solidFill>
              <a:schemeClr val="tx1"/>
            </a:solidFill>
            <a:tailEnd type="triangle"/>
          </a:ln>
        </p:spPr>
        <p:style>
          <a:lnRef idx="1">
            <a:schemeClr val="accent1"/>
          </a:lnRef>
          <a:fillRef idx="0">
            <a:schemeClr val="accent1"/>
          </a:fillRef>
          <a:effectRef idx="0">
            <a:schemeClr val="accent1"/>
          </a:effectRef>
          <a:fontRef idx="minor">
            <a:schemeClr val="tx1"/>
          </a:fontRef>
        </p:style>
      </p:cxnSp>
      <p:pic>
        <p:nvPicPr>
          <p:cNvPr id="39" name="Picture 38">
            <a:extLst>
              <a:ext uri="{FF2B5EF4-FFF2-40B4-BE49-F238E27FC236}">
                <a16:creationId xmlns:a16="http://schemas.microsoft.com/office/drawing/2014/main" id="{89BDC1E4-4C66-5B41-83E0-FA0D6E2276FC}"/>
              </a:ext>
            </a:extLst>
          </p:cNvPr>
          <p:cNvPicPr>
            <a:picLocks noChangeAspect="1"/>
          </p:cNvPicPr>
          <p:nvPr/>
        </p:nvPicPr>
        <p:blipFill>
          <a:blip r:embed="rId3"/>
          <a:stretch>
            <a:fillRect/>
          </a:stretch>
        </p:blipFill>
        <p:spPr>
          <a:xfrm>
            <a:off x="4264571" y="2150259"/>
            <a:ext cx="1278741" cy="1278741"/>
          </a:xfrm>
          <a:prstGeom prst="rect">
            <a:avLst/>
          </a:prstGeom>
        </p:spPr>
      </p:pic>
      <p:sp>
        <p:nvSpPr>
          <p:cNvPr id="40" name="TextBox 39">
            <a:extLst>
              <a:ext uri="{FF2B5EF4-FFF2-40B4-BE49-F238E27FC236}">
                <a16:creationId xmlns:a16="http://schemas.microsoft.com/office/drawing/2014/main" id="{9FEC04CD-79B3-0BF2-1058-6E22406DC07A}"/>
              </a:ext>
            </a:extLst>
          </p:cNvPr>
          <p:cNvSpPr txBox="1"/>
          <p:nvPr/>
        </p:nvSpPr>
        <p:spPr>
          <a:xfrm>
            <a:off x="4517456" y="3339282"/>
            <a:ext cx="793807" cy="369332"/>
          </a:xfrm>
          <a:prstGeom prst="rect">
            <a:avLst/>
          </a:prstGeom>
          <a:noFill/>
        </p:spPr>
        <p:txBody>
          <a:bodyPr wrap="none" rtlCol="0">
            <a:spAutoFit/>
          </a:bodyPr>
          <a:lstStyle/>
          <a:p>
            <a:r>
              <a:rPr lang="tr-TR" dirty="0"/>
              <a:t>Model</a:t>
            </a:r>
            <a:endParaRPr lang="en-US" dirty="0"/>
          </a:p>
        </p:txBody>
      </p:sp>
      <p:cxnSp>
        <p:nvCxnSpPr>
          <p:cNvPr id="41" name="Straight Arrow Connector 40">
            <a:extLst>
              <a:ext uri="{FF2B5EF4-FFF2-40B4-BE49-F238E27FC236}">
                <a16:creationId xmlns:a16="http://schemas.microsoft.com/office/drawing/2014/main" id="{D5B68263-D8F8-2FB5-0184-A67A0A03F5ED}"/>
              </a:ext>
            </a:extLst>
          </p:cNvPr>
          <p:cNvCxnSpPr>
            <a:cxnSpLocks/>
          </p:cNvCxnSpPr>
          <p:nvPr/>
        </p:nvCxnSpPr>
        <p:spPr>
          <a:xfrm>
            <a:off x="5485085" y="2670148"/>
            <a:ext cx="666094" cy="0"/>
          </a:xfrm>
          <a:prstGeom prst="straightConnector1">
            <a:avLst/>
          </a:prstGeom>
          <a:ln w="38100">
            <a:solidFill>
              <a:schemeClr val="tx1"/>
            </a:solidFill>
            <a:tailEnd type="triangle"/>
          </a:ln>
        </p:spPr>
        <p:style>
          <a:lnRef idx="1">
            <a:schemeClr val="accent1"/>
          </a:lnRef>
          <a:fillRef idx="0">
            <a:schemeClr val="accent1"/>
          </a:fillRef>
          <a:effectRef idx="0">
            <a:schemeClr val="accent1"/>
          </a:effectRef>
          <a:fontRef idx="minor">
            <a:schemeClr val="tx1"/>
          </a:fontRef>
        </p:style>
      </p:cxnSp>
      <p:sp>
        <p:nvSpPr>
          <p:cNvPr id="42" name="Explosion: 8 Points 41">
            <a:extLst>
              <a:ext uri="{FF2B5EF4-FFF2-40B4-BE49-F238E27FC236}">
                <a16:creationId xmlns:a16="http://schemas.microsoft.com/office/drawing/2014/main" id="{88C3DE7D-A4B7-0681-CC17-39DECC8D41D0}"/>
              </a:ext>
            </a:extLst>
          </p:cNvPr>
          <p:cNvSpPr/>
          <p:nvPr/>
        </p:nvSpPr>
        <p:spPr>
          <a:xfrm>
            <a:off x="6520355" y="2254467"/>
            <a:ext cx="914400" cy="914400"/>
          </a:xfrm>
          <a:prstGeom prst="irregularSeal1">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3" name="TextBox 42">
            <a:extLst>
              <a:ext uri="{FF2B5EF4-FFF2-40B4-BE49-F238E27FC236}">
                <a16:creationId xmlns:a16="http://schemas.microsoft.com/office/drawing/2014/main" id="{09761098-E892-4152-B63A-3FF9360E8E1C}"/>
              </a:ext>
            </a:extLst>
          </p:cNvPr>
          <p:cNvSpPr txBox="1"/>
          <p:nvPr/>
        </p:nvSpPr>
        <p:spPr>
          <a:xfrm>
            <a:off x="6406629" y="3315637"/>
            <a:ext cx="1141851" cy="369332"/>
          </a:xfrm>
          <a:prstGeom prst="rect">
            <a:avLst/>
          </a:prstGeom>
          <a:noFill/>
        </p:spPr>
        <p:txBody>
          <a:bodyPr wrap="none" rtlCol="0">
            <a:spAutoFit/>
          </a:bodyPr>
          <a:lstStyle/>
          <a:p>
            <a:r>
              <a:rPr lang="tr-TR" dirty="0" err="1"/>
              <a:t>Prediction</a:t>
            </a:r>
            <a:endParaRPr lang="en-US" dirty="0"/>
          </a:p>
        </p:txBody>
      </p:sp>
      <p:cxnSp>
        <p:nvCxnSpPr>
          <p:cNvPr id="44" name="Straight Arrow Connector 43">
            <a:extLst>
              <a:ext uri="{FF2B5EF4-FFF2-40B4-BE49-F238E27FC236}">
                <a16:creationId xmlns:a16="http://schemas.microsoft.com/office/drawing/2014/main" id="{1ACE5673-23EA-5CB0-B300-4C9A5894FECD}"/>
              </a:ext>
            </a:extLst>
          </p:cNvPr>
          <p:cNvCxnSpPr>
            <a:cxnSpLocks/>
            <a:stCxn id="51" idx="0"/>
            <a:endCxn id="43" idx="2"/>
          </p:cNvCxnSpPr>
          <p:nvPr/>
        </p:nvCxnSpPr>
        <p:spPr>
          <a:xfrm flipV="1">
            <a:off x="6977555" y="3684969"/>
            <a:ext cx="0" cy="760907"/>
          </a:xfrm>
          <a:prstGeom prst="straightConnector1">
            <a:avLst/>
          </a:prstGeom>
          <a:ln w="38100">
            <a:solidFill>
              <a:schemeClr val="tx1"/>
            </a:solidFill>
            <a:tailEnd type="triangle"/>
          </a:ln>
        </p:spPr>
        <p:style>
          <a:lnRef idx="1">
            <a:schemeClr val="accent1"/>
          </a:lnRef>
          <a:fillRef idx="0">
            <a:schemeClr val="accent1"/>
          </a:fillRef>
          <a:effectRef idx="0">
            <a:schemeClr val="accent1"/>
          </a:effectRef>
          <a:fontRef idx="minor">
            <a:schemeClr val="tx1"/>
          </a:fontRef>
        </p:style>
      </p:cxnSp>
      <p:sp>
        <p:nvSpPr>
          <p:cNvPr id="49" name="Oval 48">
            <a:extLst>
              <a:ext uri="{FF2B5EF4-FFF2-40B4-BE49-F238E27FC236}">
                <a16:creationId xmlns:a16="http://schemas.microsoft.com/office/drawing/2014/main" id="{F5679B3D-7953-E16E-E9A9-6A4FC4E0C80C}"/>
              </a:ext>
            </a:extLst>
          </p:cNvPr>
          <p:cNvSpPr/>
          <p:nvPr/>
        </p:nvSpPr>
        <p:spPr>
          <a:xfrm>
            <a:off x="6520355" y="4598636"/>
            <a:ext cx="307428" cy="390360"/>
          </a:xfrm>
          <a:prstGeom prst="ellipse">
            <a:avLst/>
          </a:prstGeom>
          <a:ln w="38100">
            <a:solidFill>
              <a:schemeClr val="accent2">
                <a:lumMod val="50000"/>
              </a:schemeClr>
            </a:solidFill>
          </a:ln>
        </p:spPr>
        <p:style>
          <a:lnRef idx="2">
            <a:schemeClr val="accent1"/>
          </a:lnRef>
          <a:fillRef idx="1">
            <a:schemeClr val="lt1"/>
          </a:fillRef>
          <a:effectRef idx="0">
            <a:schemeClr val="accent1"/>
          </a:effectRef>
          <a:fontRef idx="minor">
            <a:schemeClr val="dk1"/>
          </a:fontRef>
        </p:style>
        <p:txBody>
          <a:bodyPr rtlCol="0" anchor="ctr"/>
          <a:lstStyle/>
          <a:p>
            <a:pPr algn="ctr"/>
            <a:endParaRPr lang="en-US"/>
          </a:p>
        </p:txBody>
      </p:sp>
      <p:sp>
        <p:nvSpPr>
          <p:cNvPr id="50" name="Rectangle 49">
            <a:extLst>
              <a:ext uri="{FF2B5EF4-FFF2-40B4-BE49-F238E27FC236}">
                <a16:creationId xmlns:a16="http://schemas.microsoft.com/office/drawing/2014/main" id="{CBC2A02B-965F-DE35-6C2D-E2577A4ADEFE}"/>
              </a:ext>
            </a:extLst>
          </p:cNvPr>
          <p:cNvSpPr/>
          <p:nvPr/>
        </p:nvSpPr>
        <p:spPr>
          <a:xfrm>
            <a:off x="7095797" y="4612512"/>
            <a:ext cx="338958" cy="362607"/>
          </a:xfrm>
          <a:prstGeom prst="rect">
            <a:avLst/>
          </a:prstGeom>
          <a:ln w="38100">
            <a:solidFill>
              <a:schemeClr val="accent2">
                <a:lumMod val="50000"/>
              </a:schemeClr>
            </a:solidFill>
          </a:ln>
        </p:spPr>
        <p:style>
          <a:lnRef idx="2">
            <a:schemeClr val="accent1"/>
          </a:lnRef>
          <a:fillRef idx="1">
            <a:schemeClr val="lt1"/>
          </a:fillRef>
          <a:effectRef idx="0">
            <a:schemeClr val="accent1"/>
          </a:effectRef>
          <a:fontRef idx="minor">
            <a:schemeClr val="dk1"/>
          </a:fontRef>
        </p:style>
        <p:txBody>
          <a:bodyPr rtlCol="0" anchor="ctr"/>
          <a:lstStyle/>
          <a:p>
            <a:pPr algn="ctr"/>
            <a:endParaRPr lang="en-US"/>
          </a:p>
        </p:txBody>
      </p:sp>
      <p:sp>
        <p:nvSpPr>
          <p:cNvPr id="53" name="TextBox 52">
            <a:extLst>
              <a:ext uri="{FF2B5EF4-FFF2-40B4-BE49-F238E27FC236}">
                <a16:creationId xmlns:a16="http://schemas.microsoft.com/office/drawing/2014/main" id="{AEAD8E9F-EACF-3FEE-0852-0ACFBB26A3C2}"/>
              </a:ext>
            </a:extLst>
          </p:cNvPr>
          <p:cNvSpPr txBox="1"/>
          <p:nvPr/>
        </p:nvSpPr>
        <p:spPr>
          <a:xfrm>
            <a:off x="6698893" y="5375415"/>
            <a:ext cx="1044710" cy="369332"/>
          </a:xfrm>
          <a:prstGeom prst="rect">
            <a:avLst/>
          </a:prstGeom>
          <a:noFill/>
        </p:spPr>
        <p:txBody>
          <a:bodyPr wrap="none" rtlCol="0">
            <a:spAutoFit/>
          </a:bodyPr>
          <a:lstStyle/>
          <a:p>
            <a:r>
              <a:rPr lang="tr-TR" dirty="0"/>
              <a:t>Test Data</a:t>
            </a:r>
            <a:endParaRPr lang="en-US" dirty="0"/>
          </a:p>
        </p:txBody>
      </p:sp>
      <p:cxnSp>
        <p:nvCxnSpPr>
          <p:cNvPr id="54" name="Straight Arrow Connector 53">
            <a:extLst>
              <a:ext uri="{FF2B5EF4-FFF2-40B4-BE49-F238E27FC236}">
                <a16:creationId xmlns:a16="http://schemas.microsoft.com/office/drawing/2014/main" id="{531C35B2-E111-AF3B-02E7-4A9C96411133}"/>
              </a:ext>
            </a:extLst>
          </p:cNvPr>
          <p:cNvCxnSpPr>
            <a:cxnSpLocks/>
          </p:cNvCxnSpPr>
          <p:nvPr/>
        </p:nvCxnSpPr>
        <p:spPr>
          <a:xfrm flipV="1">
            <a:off x="7434755" y="1857324"/>
            <a:ext cx="1039211" cy="637569"/>
          </a:xfrm>
          <a:prstGeom prst="straightConnector1">
            <a:avLst/>
          </a:prstGeom>
          <a:ln w="38100">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58" name="Straight Arrow Connector 57">
            <a:extLst>
              <a:ext uri="{FF2B5EF4-FFF2-40B4-BE49-F238E27FC236}">
                <a16:creationId xmlns:a16="http://schemas.microsoft.com/office/drawing/2014/main" id="{6A59E82C-CA5B-6043-7DFF-AACD78C6B0A0}"/>
              </a:ext>
            </a:extLst>
          </p:cNvPr>
          <p:cNvCxnSpPr>
            <a:cxnSpLocks/>
          </p:cNvCxnSpPr>
          <p:nvPr/>
        </p:nvCxnSpPr>
        <p:spPr>
          <a:xfrm>
            <a:off x="7434755" y="2988932"/>
            <a:ext cx="1110155" cy="577078"/>
          </a:xfrm>
          <a:prstGeom prst="straightConnector1">
            <a:avLst/>
          </a:prstGeom>
          <a:ln w="38100">
            <a:solidFill>
              <a:schemeClr val="tx1"/>
            </a:solidFill>
            <a:tailEnd type="triangle"/>
          </a:ln>
        </p:spPr>
        <p:style>
          <a:lnRef idx="1">
            <a:schemeClr val="accent1"/>
          </a:lnRef>
          <a:fillRef idx="0">
            <a:schemeClr val="accent1"/>
          </a:fillRef>
          <a:effectRef idx="0">
            <a:schemeClr val="accent1"/>
          </a:effectRef>
          <a:fontRef idx="minor">
            <a:schemeClr val="tx1"/>
          </a:fontRef>
        </p:style>
      </p:cxnSp>
      <p:sp>
        <p:nvSpPr>
          <p:cNvPr id="60" name="Rectangle 59">
            <a:extLst>
              <a:ext uri="{FF2B5EF4-FFF2-40B4-BE49-F238E27FC236}">
                <a16:creationId xmlns:a16="http://schemas.microsoft.com/office/drawing/2014/main" id="{11CAD245-C733-6916-4DCC-ADB5B4F83C4E}"/>
              </a:ext>
            </a:extLst>
          </p:cNvPr>
          <p:cNvSpPr/>
          <p:nvPr/>
        </p:nvSpPr>
        <p:spPr>
          <a:xfrm>
            <a:off x="8686398" y="3384706"/>
            <a:ext cx="338958" cy="362607"/>
          </a:xfrm>
          <a:prstGeom prst="rect">
            <a:avLst/>
          </a:prstGeom>
          <a:ln w="38100">
            <a:solidFill>
              <a:schemeClr val="accent2">
                <a:lumMod val="50000"/>
              </a:schemeClr>
            </a:solidFill>
          </a:ln>
        </p:spPr>
        <p:style>
          <a:lnRef idx="2">
            <a:schemeClr val="accent1"/>
          </a:lnRef>
          <a:fillRef idx="1">
            <a:schemeClr val="lt1"/>
          </a:fillRef>
          <a:effectRef idx="0">
            <a:schemeClr val="accent1"/>
          </a:effectRef>
          <a:fontRef idx="minor">
            <a:schemeClr val="dk1"/>
          </a:fontRef>
        </p:style>
        <p:txBody>
          <a:bodyPr rtlCol="0" anchor="ctr"/>
          <a:lstStyle/>
          <a:p>
            <a:pPr algn="ctr"/>
            <a:endParaRPr lang="en-US"/>
          </a:p>
        </p:txBody>
      </p:sp>
      <p:sp>
        <p:nvSpPr>
          <p:cNvPr id="61" name="Oval 60">
            <a:extLst>
              <a:ext uri="{FF2B5EF4-FFF2-40B4-BE49-F238E27FC236}">
                <a16:creationId xmlns:a16="http://schemas.microsoft.com/office/drawing/2014/main" id="{37F819A8-7F38-EF7D-FD37-D508377C521B}"/>
              </a:ext>
            </a:extLst>
          </p:cNvPr>
          <p:cNvSpPr/>
          <p:nvPr/>
        </p:nvSpPr>
        <p:spPr>
          <a:xfrm>
            <a:off x="8610600" y="1597932"/>
            <a:ext cx="307428" cy="390360"/>
          </a:xfrm>
          <a:prstGeom prst="ellipse">
            <a:avLst/>
          </a:prstGeom>
          <a:ln w="38100">
            <a:solidFill>
              <a:schemeClr val="accent2">
                <a:lumMod val="50000"/>
              </a:schemeClr>
            </a:solidFill>
          </a:ln>
        </p:spPr>
        <p:style>
          <a:lnRef idx="2">
            <a:schemeClr val="accent1"/>
          </a:lnRef>
          <a:fillRef idx="1">
            <a:schemeClr val="lt1"/>
          </a:fillRef>
          <a:effectRef idx="0">
            <a:schemeClr val="accent1"/>
          </a:effectRef>
          <a:fontRef idx="minor">
            <a:schemeClr val="dk1"/>
          </a:fontRef>
        </p:style>
        <p:txBody>
          <a:bodyPr rtlCol="0" anchor="ctr"/>
          <a:lstStyle/>
          <a:p>
            <a:pPr algn="ctr"/>
            <a:endParaRPr lang="en-US"/>
          </a:p>
        </p:txBody>
      </p:sp>
      <p:sp>
        <p:nvSpPr>
          <p:cNvPr id="62" name="TextBox 61">
            <a:extLst>
              <a:ext uri="{FF2B5EF4-FFF2-40B4-BE49-F238E27FC236}">
                <a16:creationId xmlns:a16="http://schemas.microsoft.com/office/drawing/2014/main" id="{E8C00DF4-F43B-937C-59C2-9A3E99F9EE3B}"/>
              </a:ext>
            </a:extLst>
          </p:cNvPr>
          <p:cNvSpPr txBox="1"/>
          <p:nvPr/>
        </p:nvSpPr>
        <p:spPr>
          <a:xfrm>
            <a:off x="9025356" y="1589340"/>
            <a:ext cx="703847" cy="369332"/>
          </a:xfrm>
          <a:prstGeom prst="rect">
            <a:avLst/>
          </a:prstGeom>
          <a:noFill/>
        </p:spPr>
        <p:txBody>
          <a:bodyPr wrap="none" rtlCol="0">
            <a:spAutoFit/>
          </a:bodyPr>
          <a:lstStyle/>
          <a:p>
            <a:r>
              <a:rPr lang="tr-TR" dirty="0" err="1"/>
              <a:t>Circle</a:t>
            </a:r>
            <a:endParaRPr lang="en-US" dirty="0"/>
          </a:p>
        </p:txBody>
      </p:sp>
      <p:sp>
        <p:nvSpPr>
          <p:cNvPr id="63" name="TextBox 62">
            <a:extLst>
              <a:ext uri="{FF2B5EF4-FFF2-40B4-BE49-F238E27FC236}">
                <a16:creationId xmlns:a16="http://schemas.microsoft.com/office/drawing/2014/main" id="{97284A32-EDAE-7BB7-5A71-EE28806DDF77}"/>
              </a:ext>
            </a:extLst>
          </p:cNvPr>
          <p:cNvSpPr txBox="1"/>
          <p:nvPr/>
        </p:nvSpPr>
        <p:spPr>
          <a:xfrm>
            <a:off x="9093565" y="3339282"/>
            <a:ext cx="837280" cy="369332"/>
          </a:xfrm>
          <a:prstGeom prst="rect">
            <a:avLst/>
          </a:prstGeom>
          <a:noFill/>
        </p:spPr>
        <p:txBody>
          <a:bodyPr wrap="none" rtlCol="0">
            <a:spAutoFit/>
          </a:bodyPr>
          <a:lstStyle/>
          <a:p>
            <a:r>
              <a:rPr lang="tr-TR" dirty="0" err="1"/>
              <a:t>Square</a:t>
            </a:r>
            <a:endParaRPr lang="en-US" dirty="0"/>
          </a:p>
        </p:txBody>
      </p:sp>
      <p:sp>
        <p:nvSpPr>
          <p:cNvPr id="3" name="Rectangle">
            <a:extLst>
              <a:ext uri="{FF2B5EF4-FFF2-40B4-BE49-F238E27FC236}">
                <a16:creationId xmlns:a16="http://schemas.microsoft.com/office/drawing/2014/main" id="{5E658F93-1874-9A02-5073-3E624E7900F9}"/>
              </a:ext>
            </a:extLst>
          </p:cNvPr>
          <p:cNvSpPr/>
          <p:nvPr/>
        </p:nvSpPr>
        <p:spPr>
          <a:xfrm>
            <a:off x="-11767" y="6545179"/>
            <a:ext cx="12203767" cy="315200"/>
          </a:xfrm>
          <a:prstGeom prst="rect">
            <a:avLst/>
          </a:prstGeom>
          <a:solidFill>
            <a:schemeClr val="tx1"/>
          </a:solidFill>
          <a:ln w="12700">
            <a:noFill/>
            <a:miter lim="400000"/>
          </a:ln>
        </p:spPr>
        <p:txBody>
          <a:bodyPr lIns="45719" rIns="45719" anchor="ctr"/>
          <a:lstStyle/>
          <a:p>
            <a:endParaRPr/>
          </a:p>
        </p:txBody>
      </p:sp>
      <p:pic>
        <p:nvPicPr>
          <p:cNvPr id="4" name="Picture 3" descr="Frontier Tech Leaders (@FTLeadersProg) / X">
            <a:extLst>
              <a:ext uri="{FF2B5EF4-FFF2-40B4-BE49-F238E27FC236}">
                <a16:creationId xmlns:a16="http://schemas.microsoft.com/office/drawing/2014/main" id="{A1BFFB6F-0612-9941-B9DC-8DD1C7D87AD6}"/>
              </a:ext>
            </a:extLst>
          </p:cNvPr>
          <p:cNvPicPr>
            <a:picLocks noChangeAspect="1"/>
          </p:cNvPicPr>
          <p:nvPr/>
        </p:nvPicPr>
        <p:blipFill>
          <a:blip r:embed="rId4"/>
          <a:stretch>
            <a:fillRect/>
          </a:stretch>
        </p:blipFill>
        <p:spPr>
          <a:xfrm>
            <a:off x="10668000" y="94470"/>
            <a:ext cx="1027893" cy="1027893"/>
          </a:xfrm>
          <a:prstGeom prst="rect">
            <a:avLst/>
          </a:prstGeom>
        </p:spPr>
      </p:pic>
    </p:spTree>
    <p:extLst>
      <p:ext uri="{BB962C8B-B14F-4D97-AF65-F5344CB8AC3E}">
        <p14:creationId xmlns:p14="http://schemas.microsoft.com/office/powerpoint/2010/main" val="176610054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2"/>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51"/>
                                        </p:tgtEl>
                                        <p:attrNameLst>
                                          <p:attrName>style.visibility</p:attrName>
                                        </p:attrNameLst>
                                      </p:cBhvr>
                                      <p:to>
                                        <p:strVal val="visible"/>
                                      </p:to>
                                    </p:set>
                                  </p:childTnLst>
                                </p:cTn>
                              </p:par>
                              <p:par>
                                <p:cTn id="11" presetID="1" presetClass="entr" presetSubtype="0" fill="hold" grpId="0" nodeType="withEffect">
                                  <p:stCondLst>
                                    <p:cond delay="0"/>
                                  </p:stCondLst>
                                  <p:childTnLst>
                                    <p:set>
                                      <p:cBhvr>
                                        <p:cTn id="12" dur="1" fill="hold">
                                          <p:stCondLst>
                                            <p:cond delay="0"/>
                                          </p:stCondLst>
                                        </p:cTn>
                                        <p:tgtEl>
                                          <p:spTgt spid="13"/>
                                        </p:tgtEl>
                                        <p:attrNameLst>
                                          <p:attrName>style.visibility</p:attrName>
                                        </p:attrNameLst>
                                      </p:cBhvr>
                                      <p:to>
                                        <p:strVal val="visible"/>
                                      </p:to>
                                    </p:set>
                                  </p:childTnLst>
                                </p:cTn>
                              </p:par>
                              <p:par>
                                <p:cTn id="13" presetID="1" presetClass="entr" presetSubtype="0" fill="hold" grpId="0" nodeType="withEffect">
                                  <p:stCondLst>
                                    <p:cond delay="0"/>
                                  </p:stCondLst>
                                  <p:childTnLst>
                                    <p:set>
                                      <p:cBhvr>
                                        <p:cTn id="14" dur="1" fill="hold">
                                          <p:stCondLst>
                                            <p:cond delay="0"/>
                                          </p:stCondLst>
                                        </p:cTn>
                                        <p:tgtEl>
                                          <p:spTgt spid="5"/>
                                        </p:tgtEl>
                                        <p:attrNameLst>
                                          <p:attrName>style.visibility</p:attrName>
                                        </p:attrNameLst>
                                      </p:cBhvr>
                                      <p:to>
                                        <p:strVal val="visible"/>
                                      </p:to>
                                    </p:set>
                                  </p:childTnLst>
                                </p:cTn>
                              </p:par>
                              <p:par>
                                <p:cTn id="15" presetID="1" presetClass="entr" presetSubtype="0" fill="hold" grpId="0" nodeType="withEffect">
                                  <p:stCondLst>
                                    <p:cond delay="0"/>
                                  </p:stCondLst>
                                  <p:childTnLst>
                                    <p:set>
                                      <p:cBhvr>
                                        <p:cTn id="16" dur="1" fill="hold">
                                          <p:stCondLst>
                                            <p:cond delay="0"/>
                                          </p:stCondLst>
                                        </p:cTn>
                                        <p:tgtEl>
                                          <p:spTgt spid="6"/>
                                        </p:tgtEl>
                                        <p:attrNameLst>
                                          <p:attrName>style.visibility</p:attrName>
                                        </p:attrNameLst>
                                      </p:cBhvr>
                                      <p:to>
                                        <p:strVal val="visible"/>
                                      </p:to>
                                    </p:set>
                                  </p:childTnLst>
                                </p:cTn>
                              </p:par>
                              <p:par>
                                <p:cTn id="17" presetID="1" presetClass="entr" presetSubtype="0" fill="hold" grpId="0" nodeType="withEffect">
                                  <p:stCondLst>
                                    <p:cond delay="0"/>
                                  </p:stCondLst>
                                  <p:childTnLst>
                                    <p:set>
                                      <p:cBhvr>
                                        <p:cTn id="18" dur="1" fill="hold">
                                          <p:stCondLst>
                                            <p:cond delay="0"/>
                                          </p:stCondLst>
                                        </p:cTn>
                                        <p:tgtEl>
                                          <p:spTgt spid="7"/>
                                        </p:tgtEl>
                                        <p:attrNameLst>
                                          <p:attrName>style.visibility</p:attrName>
                                        </p:attrNameLst>
                                      </p:cBhvr>
                                      <p:to>
                                        <p:strVal val="visible"/>
                                      </p:to>
                                    </p:set>
                                  </p:childTnLst>
                                </p:cTn>
                              </p:par>
                              <p:par>
                                <p:cTn id="19" presetID="1" presetClass="entr" presetSubtype="0" fill="hold" grpId="0" nodeType="withEffect">
                                  <p:stCondLst>
                                    <p:cond delay="0"/>
                                  </p:stCondLst>
                                  <p:childTnLst>
                                    <p:set>
                                      <p:cBhvr>
                                        <p:cTn id="20" dur="1" fill="hold">
                                          <p:stCondLst>
                                            <p:cond delay="0"/>
                                          </p:stCondLst>
                                        </p:cTn>
                                        <p:tgtEl>
                                          <p:spTgt spid="8"/>
                                        </p:tgtEl>
                                        <p:attrNameLst>
                                          <p:attrName>style.visibility</p:attrName>
                                        </p:attrNameLst>
                                      </p:cBhvr>
                                      <p:to>
                                        <p:strVal val="visible"/>
                                      </p:to>
                                    </p:set>
                                  </p:childTnLst>
                                </p:cTn>
                              </p:par>
                              <p:par>
                                <p:cTn id="21" presetID="1" presetClass="entr" presetSubtype="0" fill="hold" grpId="0" nodeType="withEffect">
                                  <p:stCondLst>
                                    <p:cond delay="0"/>
                                  </p:stCondLst>
                                  <p:childTnLst>
                                    <p:set>
                                      <p:cBhvr>
                                        <p:cTn id="22" dur="1" fill="hold">
                                          <p:stCondLst>
                                            <p:cond delay="0"/>
                                          </p:stCondLst>
                                        </p:cTn>
                                        <p:tgtEl>
                                          <p:spTgt spid="9"/>
                                        </p:tgtEl>
                                        <p:attrNameLst>
                                          <p:attrName>style.visibility</p:attrName>
                                        </p:attrNameLst>
                                      </p:cBhvr>
                                      <p:to>
                                        <p:strVal val="visible"/>
                                      </p:to>
                                    </p:set>
                                  </p:childTnLst>
                                </p:cTn>
                              </p:par>
                              <p:par>
                                <p:cTn id="23" presetID="1" presetClass="entr" presetSubtype="0" fill="hold" grpId="0" nodeType="withEffect">
                                  <p:stCondLst>
                                    <p:cond delay="0"/>
                                  </p:stCondLst>
                                  <p:childTnLst>
                                    <p:set>
                                      <p:cBhvr>
                                        <p:cTn id="24" dur="1" fill="hold">
                                          <p:stCondLst>
                                            <p:cond delay="0"/>
                                          </p:stCondLst>
                                        </p:cTn>
                                        <p:tgtEl>
                                          <p:spTgt spid="10"/>
                                        </p:tgtEl>
                                        <p:attrNameLst>
                                          <p:attrName>style.visibility</p:attrName>
                                        </p:attrNameLst>
                                      </p:cBhvr>
                                      <p:to>
                                        <p:strVal val="visible"/>
                                      </p:to>
                                    </p:set>
                                  </p:childTnLst>
                                </p:cTn>
                              </p:par>
                              <p:par>
                                <p:cTn id="25" presetID="1" presetClass="entr" presetSubtype="0" fill="hold" grpId="0" nodeType="withEffect">
                                  <p:stCondLst>
                                    <p:cond delay="0"/>
                                  </p:stCondLst>
                                  <p:childTnLst>
                                    <p:set>
                                      <p:cBhvr>
                                        <p:cTn id="26" dur="1" fill="hold">
                                          <p:stCondLst>
                                            <p:cond delay="0"/>
                                          </p:stCondLst>
                                        </p:cTn>
                                        <p:tgtEl>
                                          <p:spTgt spid="11"/>
                                        </p:tgtEl>
                                        <p:attrNameLst>
                                          <p:attrName>style.visibility</p:attrName>
                                        </p:attrNameLst>
                                      </p:cBhvr>
                                      <p:to>
                                        <p:strVal val="visible"/>
                                      </p:to>
                                    </p:set>
                                  </p:childTnLst>
                                </p:cTn>
                              </p:par>
                              <p:par>
                                <p:cTn id="27" presetID="1" presetClass="entr" presetSubtype="0" fill="hold" grpId="0" nodeType="withEffect">
                                  <p:stCondLst>
                                    <p:cond delay="0"/>
                                  </p:stCondLst>
                                  <p:childTnLst>
                                    <p:set>
                                      <p:cBhvr>
                                        <p:cTn id="28" dur="1" fill="hold">
                                          <p:stCondLst>
                                            <p:cond delay="0"/>
                                          </p:stCondLst>
                                        </p:cTn>
                                        <p:tgtEl>
                                          <p:spTgt spid="12"/>
                                        </p:tgtEl>
                                        <p:attrNameLst>
                                          <p:attrName>style.visibility</p:attrName>
                                        </p:attrNameLst>
                                      </p:cBhvr>
                                      <p:to>
                                        <p:strVal val="visible"/>
                                      </p:to>
                                    </p:set>
                                  </p:childTnLst>
                                </p:cTn>
                              </p:par>
                              <p:par>
                                <p:cTn id="29" presetID="1" presetClass="entr" presetSubtype="0" fill="hold" grpId="0" nodeType="withEffect">
                                  <p:stCondLst>
                                    <p:cond delay="0"/>
                                  </p:stCondLst>
                                  <p:childTnLst>
                                    <p:set>
                                      <p:cBhvr>
                                        <p:cTn id="30" dur="1" fill="hold">
                                          <p:stCondLst>
                                            <p:cond delay="0"/>
                                          </p:stCondLst>
                                        </p:cTn>
                                        <p:tgtEl>
                                          <p:spTgt spid="14"/>
                                        </p:tgtEl>
                                        <p:attrNameLst>
                                          <p:attrName>style.visibility</p:attrName>
                                        </p:attrNameLst>
                                      </p:cBhvr>
                                      <p:to>
                                        <p:strVal val="visible"/>
                                      </p:to>
                                    </p:set>
                                  </p:childTnLst>
                                </p:cTn>
                              </p:par>
                              <p:par>
                                <p:cTn id="31" presetID="1" presetClass="entr" presetSubtype="0" fill="hold" grpId="0" nodeType="withEffect">
                                  <p:stCondLst>
                                    <p:cond delay="0"/>
                                  </p:stCondLst>
                                  <p:childTnLst>
                                    <p:set>
                                      <p:cBhvr>
                                        <p:cTn id="32" dur="1" fill="hold">
                                          <p:stCondLst>
                                            <p:cond delay="0"/>
                                          </p:stCondLst>
                                        </p:cTn>
                                        <p:tgtEl>
                                          <p:spTgt spid="15"/>
                                        </p:tgtEl>
                                        <p:attrNameLst>
                                          <p:attrName>style.visibility</p:attrName>
                                        </p:attrNameLst>
                                      </p:cBhvr>
                                      <p:to>
                                        <p:strVal val="visible"/>
                                      </p:to>
                                    </p:set>
                                  </p:childTnLst>
                                </p:cTn>
                              </p:par>
                              <p:par>
                                <p:cTn id="33" presetID="1" presetClass="entr" presetSubtype="0" fill="hold" grpId="0" nodeType="withEffect">
                                  <p:stCondLst>
                                    <p:cond delay="0"/>
                                  </p:stCondLst>
                                  <p:childTnLst>
                                    <p:set>
                                      <p:cBhvr>
                                        <p:cTn id="34" dur="1" fill="hold">
                                          <p:stCondLst>
                                            <p:cond delay="0"/>
                                          </p:stCondLst>
                                        </p:cTn>
                                        <p:tgtEl>
                                          <p:spTgt spid="16"/>
                                        </p:tgtEl>
                                        <p:attrNameLst>
                                          <p:attrName>style.visibility</p:attrName>
                                        </p:attrNameLst>
                                      </p:cBhvr>
                                      <p:to>
                                        <p:strVal val="visible"/>
                                      </p:to>
                                    </p:set>
                                  </p:childTnLst>
                                </p:cTn>
                              </p:par>
                              <p:par>
                                <p:cTn id="35" presetID="1" presetClass="entr" presetSubtype="0" fill="hold" grpId="0" nodeType="withEffect">
                                  <p:stCondLst>
                                    <p:cond delay="0"/>
                                  </p:stCondLst>
                                  <p:childTnLst>
                                    <p:set>
                                      <p:cBhvr>
                                        <p:cTn id="36" dur="1" fill="hold">
                                          <p:stCondLst>
                                            <p:cond delay="0"/>
                                          </p:stCondLst>
                                        </p:cTn>
                                        <p:tgtEl>
                                          <p:spTgt spid="17"/>
                                        </p:tgtEl>
                                        <p:attrNameLst>
                                          <p:attrName>style.visibility</p:attrName>
                                        </p:attrNameLst>
                                      </p:cBhvr>
                                      <p:to>
                                        <p:strVal val="visible"/>
                                      </p:to>
                                    </p:set>
                                  </p:childTnLst>
                                </p:cTn>
                              </p:par>
                              <p:par>
                                <p:cTn id="37" presetID="1" presetClass="entr" presetSubtype="0" fill="hold" grpId="0" nodeType="withEffect">
                                  <p:stCondLst>
                                    <p:cond delay="0"/>
                                  </p:stCondLst>
                                  <p:childTnLst>
                                    <p:set>
                                      <p:cBhvr>
                                        <p:cTn id="38" dur="1" fill="hold">
                                          <p:stCondLst>
                                            <p:cond delay="0"/>
                                          </p:stCondLst>
                                        </p:cTn>
                                        <p:tgtEl>
                                          <p:spTgt spid="18"/>
                                        </p:tgtEl>
                                        <p:attrNameLst>
                                          <p:attrName>style.visibility</p:attrName>
                                        </p:attrNameLst>
                                      </p:cBhvr>
                                      <p:to>
                                        <p:strVal val="visible"/>
                                      </p:to>
                                    </p:set>
                                  </p:childTnLst>
                                </p:cTn>
                              </p:par>
                              <p:par>
                                <p:cTn id="39" presetID="1" presetClass="entr" presetSubtype="0" fill="hold" grpId="0" nodeType="withEffect">
                                  <p:stCondLst>
                                    <p:cond delay="0"/>
                                  </p:stCondLst>
                                  <p:childTnLst>
                                    <p:set>
                                      <p:cBhvr>
                                        <p:cTn id="40" dur="1" fill="hold">
                                          <p:stCondLst>
                                            <p:cond delay="0"/>
                                          </p:stCondLst>
                                        </p:cTn>
                                        <p:tgtEl>
                                          <p:spTgt spid="19"/>
                                        </p:tgtEl>
                                        <p:attrNameLst>
                                          <p:attrName>style.visibility</p:attrName>
                                        </p:attrNameLst>
                                      </p:cBhvr>
                                      <p:to>
                                        <p:strVal val="visible"/>
                                      </p:to>
                                    </p:set>
                                  </p:childTnLst>
                                </p:cTn>
                              </p:par>
                              <p:par>
                                <p:cTn id="41" presetID="1" presetClass="entr" presetSubtype="0" fill="hold" grpId="0" nodeType="withEffect">
                                  <p:stCondLst>
                                    <p:cond delay="0"/>
                                  </p:stCondLst>
                                  <p:childTnLst>
                                    <p:set>
                                      <p:cBhvr>
                                        <p:cTn id="42" dur="1" fill="hold">
                                          <p:stCondLst>
                                            <p:cond delay="0"/>
                                          </p:stCondLst>
                                        </p:cTn>
                                        <p:tgtEl>
                                          <p:spTgt spid="20"/>
                                        </p:tgtEl>
                                        <p:attrNameLst>
                                          <p:attrName>style.visibility</p:attrName>
                                        </p:attrNameLst>
                                      </p:cBhvr>
                                      <p:to>
                                        <p:strVal val="visible"/>
                                      </p:to>
                                    </p:set>
                                  </p:childTnLst>
                                </p:cTn>
                              </p:par>
                              <p:par>
                                <p:cTn id="43" presetID="1" presetClass="entr" presetSubtype="0" fill="hold" grpId="0" nodeType="withEffect">
                                  <p:stCondLst>
                                    <p:cond delay="0"/>
                                  </p:stCondLst>
                                  <p:childTnLst>
                                    <p:set>
                                      <p:cBhvr>
                                        <p:cTn id="44" dur="1" fill="hold">
                                          <p:stCondLst>
                                            <p:cond delay="0"/>
                                          </p:stCondLst>
                                        </p:cTn>
                                        <p:tgtEl>
                                          <p:spTgt spid="21"/>
                                        </p:tgtEl>
                                        <p:attrNameLst>
                                          <p:attrName>style.visibility</p:attrName>
                                        </p:attrNameLst>
                                      </p:cBhvr>
                                      <p:to>
                                        <p:strVal val="visible"/>
                                      </p:to>
                                    </p:set>
                                  </p:childTnLst>
                                </p:cTn>
                              </p:par>
                              <p:par>
                                <p:cTn id="45" presetID="1" presetClass="entr" presetSubtype="0" fill="hold" grpId="0" nodeType="withEffect">
                                  <p:stCondLst>
                                    <p:cond delay="0"/>
                                  </p:stCondLst>
                                  <p:childTnLst>
                                    <p:set>
                                      <p:cBhvr>
                                        <p:cTn id="46" dur="1" fill="hold">
                                          <p:stCondLst>
                                            <p:cond delay="0"/>
                                          </p:stCondLst>
                                        </p:cTn>
                                        <p:tgtEl>
                                          <p:spTgt spid="22"/>
                                        </p:tgtEl>
                                        <p:attrNameLst>
                                          <p:attrName>style.visibility</p:attrName>
                                        </p:attrNameLst>
                                      </p:cBhvr>
                                      <p:to>
                                        <p:strVal val="visible"/>
                                      </p:to>
                                    </p:set>
                                  </p:childTnLst>
                                </p:cTn>
                              </p:par>
                              <p:par>
                                <p:cTn id="47" presetID="1" presetClass="entr" presetSubtype="0" fill="hold" nodeType="withEffect">
                                  <p:stCondLst>
                                    <p:cond delay="0"/>
                                  </p:stCondLst>
                                  <p:childTnLst>
                                    <p:set>
                                      <p:cBhvr>
                                        <p:cTn id="48" dur="1" fill="hold">
                                          <p:stCondLst>
                                            <p:cond delay="0"/>
                                          </p:stCondLst>
                                        </p:cTn>
                                        <p:tgtEl>
                                          <p:spTgt spid="24"/>
                                        </p:tgtEl>
                                        <p:attrNameLst>
                                          <p:attrName>style.visibility</p:attrName>
                                        </p:attrNameLst>
                                      </p:cBhvr>
                                      <p:to>
                                        <p:strVal val="visible"/>
                                      </p:to>
                                    </p:set>
                                  </p:childTnLst>
                                </p:cTn>
                              </p:par>
                              <p:par>
                                <p:cTn id="49" presetID="1" presetClass="entr" presetSubtype="0" fill="hold" nodeType="withEffect">
                                  <p:stCondLst>
                                    <p:cond delay="0"/>
                                  </p:stCondLst>
                                  <p:childTnLst>
                                    <p:set>
                                      <p:cBhvr>
                                        <p:cTn id="50" dur="1" fill="hold">
                                          <p:stCondLst>
                                            <p:cond delay="0"/>
                                          </p:stCondLst>
                                        </p:cTn>
                                        <p:tgtEl>
                                          <p:spTgt spid="26"/>
                                        </p:tgtEl>
                                        <p:attrNameLst>
                                          <p:attrName>style.visibility</p:attrName>
                                        </p:attrNameLst>
                                      </p:cBhvr>
                                      <p:to>
                                        <p:strVal val="visible"/>
                                      </p:to>
                                    </p:set>
                                  </p:childTnLst>
                                </p:cTn>
                              </p:par>
                              <p:par>
                                <p:cTn id="51" presetID="1" presetClass="entr" presetSubtype="0" fill="hold" nodeType="withEffect">
                                  <p:stCondLst>
                                    <p:cond delay="0"/>
                                  </p:stCondLst>
                                  <p:childTnLst>
                                    <p:set>
                                      <p:cBhvr>
                                        <p:cTn id="52" dur="1" fill="hold">
                                          <p:stCondLst>
                                            <p:cond delay="0"/>
                                          </p:stCondLst>
                                        </p:cTn>
                                        <p:tgtEl>
                                          <p:spTgt spid="28"/>
                                        </p:tgtEl>
                                        <p:attrNameLst>
                                          <p:attrName>style.visibility</p:attrName>
                                        </p:attrNameLst>
                                      </p:cBhvr>
                                      <p:to>
                                        <p:strVal val="visible"/>
                                      </p:to>
                                    </p:set>
                                  </p:childTnLst>
                                </p:cTn>
                              </p:par>
                              <p:par>
                                <p:cTn id="53" presetID="1" presetClass="entr" presetSubtype="0" fill="hold" nodeType="withEffect">
                                  <p:stCondLst>
                                    <p:cond delay="0"/>
                                  </p:stCondLst>
                                  <p:childTnLst>
                                    <p:set>
                                      <p:cBhvr>
                                        <p:cTn id="54" dur="1" fill="hold">
                                          <p:stCondLst>
                                            <p:cond delay="0"/>
                                          </p:stCondLst>
                                        </p:cTn>
                                        <p:tgtEl>
                                          <p:spTgt spid="30"/>
                                        </p:tgtEl>
                                        <p:attrNameLst>
                                          <p:attrName>style.visibility</p:attrName>
                                        </p:attrNameLst>
                                      </p:cBhvr>
                                      <p:to>
                                        <p:strVal val="visible"/>
                                      </p:to>
                                    </p:set>
                                  </p:childTnLst>
                                </p:cTn>
                              </p:par>
                              <p:par>
                                <p:cTn id="55" presetID="1" presetClass="entr" presetSubtype="0" fill="hold" nodeType="withEffect">
                                  <p:stCondLst>
                                    <p:cond delay="0"/>
                                  </p:stCondLst>
                                  <p:childTnLst>
                                    <p:set>
                                      <p:cBhvr>
                                        <p:cTn id="56" dur="1" fill="hold">
                                          <p:stCondLst>
                                            <p:cond delay="0"/>
                                          </p:stCondLst>
                                        </p:cTn>
                                        <p:tgtEl>
                                          <p:spTgt spid="39"/>
                                        </p:tgtEl>
                                        <p:attrNameLst>
                                          <p:attrName>style.visibility</p:attrName>
                                        </p:attrNameLst>
                                      </p:cBhvr>
                                      <p:to>
                                        <p:strVal val="visible"/>
                                      </p:to>
                                    </p:set>
                                  </p:childTnLst>
                                </p:cTn>
                              </p:par>
                              <p:par>
                                <p:cTn id="57" presetID="1" presetClass="entr" presetSubtype="0" fill="hold" grpId="0" nodeType="withEffect">
                                  <p:stCondLst>
                                    <p:cond delay="0"/>
                                  </p:stCondLst>
                                  <p:childTnLst>
                                    <p:set>
                                      <p:cBhvr>
                                        <p:cTn id="58" dur="1" fill="hold">
                                          <p:stCondLst>
                                            <p:cond delay="0"/>
                                          </p:stCondLst>
                                        </p:cTn>
                                        <p:tgtEl>
                                          <p:spTgt spid="40"/>
                                        </p:tgtEl>
                                        <p:attrNameLst>
                                          <p:attrName>style.visibility</p:attrName>
                                        </p:attrNameLst>
                                      </p:cBhvr>
                                      <p:to>
                                        <p:strVal val="visible"/>
                                      </p:to>
                                    </p:set>
                                  </p:childTnLst>
                                </p:cTn>
                              </p:par>
                              <p:par>
                                <p:cTn id="59" presetID="1" presetClass="entr" presetSubtype="0" fill="hold" nodeType="withEffect">
                                  <p:stCondLst>
                                    <p:cond delay="0"/>
                                  </p:stCondLst>
                                  <p:childTnLst>
                                    <p:set>
                                      <p:cBhvr>
                                        <p:cTn id="60" dur="1" fill="hold">
                                          <p:stCondLst>
                                            <p:cond delay="0"/>
                                          </p:stCondLst>
                                        </p:cTn>
                                        <p:tgtEl>
                                          <p:spTgt spid="41"/>
                                        </p:tgtEl>
                                        <p:attrNameLst>
                                          <p:attrName>style.visibility</p:attrName>
                                        </p:attrNameLst>
                                      </p:cBhvr>
                                      <p:to>
                                        <p:strVal val="visible"/>
                                      </p:to>
                                    </p:set>
                                  </p:childTnLst>
                                </p:cTn>
                              </p:par>
                              <p:par>
                                <p:cTn id="61" presetID="1" presetClass="entr" presetSubtype="0" fill="hold" grpId="0" nodeType="withEffect">
                                  <p:stCondLst>
                                    <p:cond delay="0"/>
                                  </p:stCondLst>
                                  <p:childTnLst>
                                    <p:set>
                                      <p:cBhvr>
                                        <p:cTn id="62" dur="1" fill="hold">
                                          <p:stCondLst>
                                            <p:cond delay="0"/>
                                          </p:stCondLst>
                                        </p:cTn>
                                        <p:tgtEl>
                                          <p:spTgt spid="42"/>
                                        </p:tgtEl>
                                        <p:attrNameLst>
                                          <p:attrName>style.visibility</p:attrName>
                                        </p:attrNameLst>
                                      </p:cBhvr>
                                      <p:to>
                                        <p:strVal val="visible"/>
                                      </p:to>
                                    </p:set>
                                  </p:childTnLst>
                                </p:cTn>
                              </p:par>
                              <p:par>
                                <p:cTn id="63" presetID="1" presetClass="entr" presetSubtype="0" fill="hold" grpId="0" nodeType="withEffect">
                                  <p:stCondLst>
                                    <p:cond delay="0"/>
                                  </p:stCondLst>
                                  <p:childTnLst>
                                    <p:set>
                                      <p:cBhvr>
                                        <p:cTn id="64" dur="1" fill="hold">
                                          <p:stCondLst>
                                            <p:cond delay="0"/>
                                          </p:stCondLst>
                                        </p:cTn>
                                        <p:tgtEl>
                                          <p:spTgt spid="43"/>
                                        </p:tgtEl>
                                        <p:attrNameLst>
                                          <p:attrName>style.visibility</p:attrName>
                                        </p:attrNameLst>
                                      </p:cBhvr>
                                      <p:to>
                                        <p:strVal val="visible"/>
                                      </p:to>
                                    </p:set>
                                  </p:childTnLst>
                                </p:cTn>
                              </p:par>
                              <p:par>
                                <p:cTn id="65" presetID="1" presetClass="entr" presetSubtype="0" fill="hold" nodeType="withEffect">
                                  <p:stCondLst>
                                    <p:cond delay="0"/>
                                  </p:stCondLst>
                                  <p:childTnLst>
                                    <p:set>
                                      <p:cBhvr>
                                        <p:cTn id="66" dur="1" fill="hold">
                                          <p:stCondLst>
                                            <p:cond delay="0"/>
                                          </p:stCondLst>
                                        </p:cTn>
                                        <p:tgtEl>
                                          <p:spTgt spid="44"/>
                                        </p:tgtEl>
                                        <p:attrNameLst>
                                          <p:attrName>style.visibility</p:attrName>
                                        </p:attrNameLst>
                                      </p:cBhvr>
                                      <p:to>
                                        <p:strVal val="visible"/>
                                      </p:to>
                                    </p:set>
                                  </p:childTnLst>
                                </p:cTn>
                              </p:par>
                              <p:par>
                                <p:cTn id="67" presetID="1" presetClass="entr" presetSubtype="0" fill="hold" grpId="0" nodeType="withEffect">
                                  <p:stCondLst>
                                    <p:cond delay="0"/>
                                  </p:stCondLst>
                                  <p:childTnLst>
                                    <p:set>
                                      <p:cBhvr>
                                        <p:cTn id="68" dur="1" fill="hold">
                                          <p:stCondLst>
                                            <p:cond delay="0"/>
                                          </p:stCondLst>
                                        </p:cTn>
                                        <p:tgtEl>
                                          <p:spTgt spid="49"/>
                                        </p:tgtEl>
                                        <p:attrNameLst>
                                          <p:attrName>style.visibility</p:attrName>
                                        </p:attrNameLst>
                                      </p:cBhvr>
                                      <p:to>
                                        <p:strVal val="visible"/>
                                      </p:to>
                                    </p:set>
                                  </p:childTnLst>
                                </p:cTn>
                              </p:par>
                              <p:par>
                                <p:cTn id="69" presetID="1" presetClass="entr" presetSubtype="0" fill="hold" grpId="0" nodeType="withEffect">
                                  <p:stCondLst>
                                    <p:cond delay="0"/>
                                  </p:stCondLst>
                                  <p:childTnLst>
                                    <p:set>
                                      <p:cBhvr>
                                        <p:cTn id="70" dur="1" fill="hold">
                                          <p:stCondLst>
                                            <p:cond delay="0"/>
                                          </p:stCondLst>
                                        </p:cTn>
                                        <p:tgtEl>
                                          <p:spTgt spid="50"/>
                                        </p:tgtEl>
                                        <p:attrNameLst>
                                          <p:attrName>style.visibility</p:attrName>
                                        </p:attrNameLst>
                                      </p:cBhvr>
                                      <p:to>
                                        <p:strVal val="visible"/>
                                      </p:to>
                                    </p:set>
                                  </p:childTnLst>
                                </p:cTn>
                              </p:par>
                              <p:par>
                                <p:cTn id="71" presetID="1" presetClass="entr" presetSubtype="0" fill="hold" grpId="0" nodeType="withEffect">
                                  <p:stCondLst>
                                    <p:cond delay="0"/>
                                  </p:stCondLst>
                                  <p:childTnLst>
                                    <p:set>
                                      <p:cBhvr>
                                        <p:cTn id="72" dur="1" fill="hold">
                                          <p:stCondLst>
                                            <p:cond delay="0"/>
                                          </p:stCondLst>
                                        </p:cTn>
                                        <p:tgtEl>
                                          <p:spTgt spid="53"/>
                                        </p:tgtEl>
                                        <p:attrNameLst>
                                          <p:attrName>style.visibility</p:attrName>
                                        </p:attrNameLst>
                                      </p:cBhvr>
                                      <p:to>
                                        <p:strVal val="visible"/>
                                      </p:to>
                                    </p:set>
                                  </p:childTnLst>
                                </p:cTn>
                              </p:par>
                              <p:par>
                                <p:cTn id="73" presetID="1" presetClass="entr" presetSubtype="0" fill="hold" nodeType="withEffect">
                                  <p:stCondLst>
                                    <p:cond delay="0"/>
                                  </p:stCondLst>
                                  <p:childTnLst>
                                    <p:set>
                                      <p:cBhvr>
                                        <p:cTn id="74" dur="1" fill="hold">
                                          <p:stCondLst>
                                            <p:cond delay="0"/>
                                          </p:stCondLst>
                                        </p:cTn>
                                        <p:tgtEl>
                                          <p:spTgt spid="54"/>
                                        </p:tgtEl>
                                        <p:attrNameLst>
                                          <p:attrName>style.visibility</p:attrName>
                                        </p:attrNameLst>
                                      </p:cBhvr>
                                      <p:to>
                                        <p:strVal val="visible"/>
                                      </p:to>
                                    </p:set>
                                  </p:childTnLst>
                                </p:cTn>
                              </p:par>
                              <p:par>
                                <p:cTn id="75" presetID="1" presetClass="entr" presetSubtype="0" fill="hold" nodeType="withEffect">
                                  <p:stCondLst>
                                    <p:cond delay="0"/>
                                  </p:stCondLst>
                                  <p:childTnLst>
                                    <p:set>
                                      <p:cBhvr>
                                        <p:cTn id="76" dur="1" fill="hold">
                                          <p:stCondLst>
                                            <p:cond delay="0"/>
                                          </p:stCondLst>
                                        </p:cTn>
                                        <p:tgtEl>
                                          <p:spTgt spid="58"/>
                                        </p:tgtEl>
                                        <p:attrNameLst>
                                          <p:attrName>style.visibility</p:attrName>
                                        </p:attrNameLst>
                                      </p:cBhvr>
                                      <p:to>
                                        <p:strVal val="visible"/>
                                      </p:to>
                                    </p:set>
                                  </p:childTnLst>
                                </p:cTn>
                              </p:par>
                              <p:par>
                                <p:cTn id="77" presetID="1" presetClass="entr" presetSubtype="0" fill="hold" grpId="0" nodeType="withEffect">
                                  <p:stCondLst>
                                    <p:cond delay="0"/>
                                  </p:stCondLst>
                                  <p:childTnLst>
                                    <p:set>
                                      <p:cBhvr>
                                        <p:cTn id="78" dur="1" fill="hold">
                                          <p:stCondLst>
                                            <p:cond delay="0"/>
                                          </p:stCondLst>
                                        </p:cTn>
                                        <p:tgtEl>
                                          <p:spTgt spid="60"/>
                                        </p:tgtEl>
                                        <p:attrNameLst>
                                          <p:attrName>style.visibility</p:attrName>
                                        </p:attrNameLst>
                                      </p:cBhvr>
                                      <p:to>
                                        <p:strVal val="visible"/>
                                      </p:to>
                                    </p:set>
                                  </p:childTnLst>
                                </p:cTn>
                              </p:par>
                              <p:par>
                                <p:cTn id="79" presetID="1" presetClass="entr" presetSubtype="0" fill="hold" grpId="0" nodeType="withEffect">
                                  <p:stCondLst>
                                    <p:cond delay="0"/>
                                  </p:stCondLst>
                                  <p:childTnLst>
                                    <p:set>
                                      <p:cBhvr>
                                        <p:cTn id="80" dur="1" fill="hold">
                                          <p:stCondLst>
                                            <p:cond delay="0"/>
                                          </p:stCondLst>
                                        </p:cTn>
                                        <p:tgtEl>
                                          <p:spTgt spid="61"/>
                                        </p:tgtEl>
                                        <p:attrNameLst>
                                          <p:attrName>style.visibility</p:attrName>
                                        </p:attrNameLst>
                                      </p:cBhvr>
                                      <p:to>
                                        <p:strVal val="visible"/>
                                      </p:to>
                                    </p:set>
                                  </p:childTnLst>
                                </p:cTn>
                              </p:par>
                              <p:par>
                                <p:cTn id="81" presetID="1" presetClass="entr" presetSubtype="0" fill="hold" grpId="0" nodeType="withEffect">
                                  <p:stCondLst>
                                    <p:cond delay="0"/>
                                  </p:stCondLst>
                                  <p:childTnLst>
                                    <p:set>
                                      <p:cBhvr>
                                        <p:cTn id="82" dur="1" fill="hold">
                                          <p:stCondLst>
                                            <p:cond delay="0"/>
                                          </p:stCondLst>
                                        </p:cTn>
                                        <p:tgtEl>
                                          <p:spTgt spid="62"/>
                                        </p:tgtEl>
                                        <p:attrNameLst>
                                          <p:attrName>style.visibility</p:attrName>
                                        </p:attrNameLst>
                                      </p:cBhvr>
                                      <p:to>
                                        <p:strVal val="visible"/>
                                      </p:to>
                                    </p:set>
                                  </p:childTnLst>
                                </p:cTn>
                              </p:par>
                              <p:par>
                                <p:cTn id="83" presetID="1" presetClass="entr" presetSubtype="0" fill="hold" grpId="0" nodeType="withEffect">
                                  <p:stCondLst>
                                    <p:cond delay="0"/>
                                  </p:stCondLst>
                                  <p:childTnLst>
                                    <p:set>
                                      <p:cBhvr>
                                        <p:cTn id="84" dur="1" fill="hold">
                                          <p:stCondLst>
                                            <p:cond delay="0"/>
                                          </p:stCondLst>
                                        </p:cTn>
                                        <p:tgtEl>
                                          <p:spTgt spid="63"/>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1" grpId="0" animBg="1"/>
      <p:bldP spid="13" grpId="0" animBg="1"/>
      <p:bldP spid="2" grpId="0"/>
      <p:bldP spid="5" grpId="0" animBg="1"/>
      <p:bldP spid="6" grpId="0" animBg="1"/>
      <p:bldP spid="7" grpId="0" animBg="1"/>
      <p:bldP spid="8" grpId="0" animBg="1"/>
      <p:bldP spid="9" grpId="0" animBg="1"/>
      <p:bldP spid="10" grpId="0" animBg="1"/>
      <p:bldP spid="11" grpId="0" animBg="1"/>
      <p:bldP spid="12" grpId="0" animBg="1"/>
      <p:bldP spid="14" grpId="0" animBg="1"/>
      <p:bldP spid="15" grpId="0" animBg="1"/>
      <p:bldP spid="16" grpId="0" animBg="1"/>
      <p:bldP spid="17" grpId="0" animBg="1"/>
      <p:bldP spid="18" grpId="0"/>
      <p:bldP spid="19" grpId="0"/>
      <p:bldP spid="20" grpId="0"/>
      <p:bldP spid="21" grpId="0"/>
      <p:bldP spid="22" grpId="0"/>
      <p:bldP spid="40" grpId="0"/>
      <p:bldP spid="42" grpId="0" animBg="1"/>
      <p:bldP spid="43" grpId="0"/>
      <p:bldP spid="49" grpId="0" animBg="1"/>
      <p:bldP spid="50" grpId="0" animBg="1"/>
      <p:bldP spid="53" grpId="0"/>
      <p:bldP spid="60" grpId="0" animBg="1"/>
      <p:bldP spid="61" grpId="0" animBg="1"/>
      <p:bldP spid="62" grpId="0"/>
      <p:bldP spid="63" grpId="0"/>
    </p:bldLst>
  </p:timing>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6B2071C-BE75-9451-A13A-64CABE97DE30}"/>
              </a:ext>
            </a:extLst>
          </p:cNvPr>
          <p:cNvSpPr>
            <a:spLocks noGrp="1"/>
          </p:cNvSpPr>
          <p:nvPr>
            <p:ph type="title"/>
          </p:nvPr>
        </p:nvSpPr>
        <p:spPr/>
        <p:txBody>
          <a:bodyPr/>
          <a:lstStyle/>
          <a:p>
            <a:r>
              <a:rPr lang="tr-TR" dirty="0" err="1"/>
              <a:t>Regression</a:t>
            </a:r>
            <a:r>
              <a:rPr lang="tr-TR" dirty="0"/>
              <a:t> : </a:t>
            </a:r>
            <a:r>
              <a:rPr lang="tr-TR" dirty="0" err="1"/>
              <a:t>Housing</a:t>
            </a:r>
            <a:r>
              <a:rPr lang="tr-TR" dirty="0"/>
              <a:t> </a:t>
            </a:r>
            <a:r>
              <a:rPr lang="tr-TR" dirty="0" err="1"/>
              <a:t>Price</a:t>
            </a:r>
            <a:r>
              <a:rPr lang="tr-TR" dirty="0"/>
              <a:t> </a:t>
            </a:r>
            <a:r>
              <a:rPr lang="tr-TR" dirty="0" err="1"/>
              <a:t>Prediction</a:t>
            </a:r>
            <a:endParaRPr lang="en-US" dirty="0"/>
          </a:p>
        </p:txBody>
      </p:sp>
      <p:cxnSp>
        <p:nvCxnSpPr>
          <p:cNvPr id="4" name="Straight Arrow Connector 3">
            <a:extLst>
              <a:ext uri="{FF2B5EF4-FFF2-40B4-BE49-F238E27FC236}">
                <a16:creationId xmlns:a16="http://schemas.microsoft.com/office/drawing/2014/main" id="{8BBCF53B-1FB0-2150-52EC-24C7989C0436}"/>
              </a:ext>
            </a:extLst>
          </p:cNvPr>
          <p:cNvCxnSpPr>
            <a:cxnSpLocks/>
          </p:cNvCxnSpPr>
          <p:nvPr/>
        </p:nvCxnSpPr>
        <p:spPr>
          <a:xfrm flipV="1">
            <a:off x="3402794" y="1758298"/>
            <a:ext cx="0" cy="3341403"/>
          </a:xfrm>
          <a:prstGeom prst="straightConnector1">
            <a:avLst/>
          </a:prstGeom>
          <a:ln w="38100">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5" name="Straight Arrow Connector 4">
            <a:extLst>
              <a:ext uri="{FF2B5EF4-FFF2-40B4-BE49-F238E27FC236}">
                <a16:creationId xmlns:a16="http://schemas.microsoft.com/office/drawing/2014/main" id="{3339EACF-78EC-31AB-5128-EECA94149CE7}"/>
              </a:ext>
            </a:extLst>
          </p:cNvPr>
          <p:cNvCxnSpPr>
            <a:cxnSpLocks/>
          </p:cNvCxnSpPr>
          <p:nvPr/>
        </p:nvCxnSpPr>
        <p:spPr>
          <a:xfrm>
            <a:off x="3195252" y="4835197"/>
            <a:ext cx="4726921" cy="4295"/>
          </a:xfrm>
          <a:prstGeom prst="straightConnector1">
            <a:avLst/>
          </a:prstGeom>
          <a:ln w="38100">
            <a:solidFill>
              <a:schemeClr val="tx1"/>
            </a:solidFill>
            <a:tailEnd type="triangle"/>
          </a:ln>
        </p:spPr>
        <p:style>
          <a:lnRef idx="1">
            <a:schemeClr val="accent1"/>
          </a:lnRef>
          <a:fillRef idx="0">
            <a:schemeClr val="accent1"/>
          </a:fillRef>
          <a:effectRef idx="0">
            <a:schemeClr val="accent1"/>
          </a:effectRef>
          <a:fontRef idx="minor">
            <a:schemeClr val="tx1"/>
          </a:fontRef>
        </p:style>
      </p:cxnSp>
      <p:sp>
        <p:nvSpPr>
          <p:cNvPr id="7" name="Star: 5 Points 6">
            <a:extLst>
              <a:ext uri="{FF2B5EF4-FFF2-40B4-BE49-F238E27FC236}">
                <a16:creationId xmlns:a16="http://schemas.microsoft.com/office/drawing/2014/main" id="{DA0D58C3-0E8E-3FBE-27D5-586FEACE7B79}"/>
              </a:ext>
            </a:extLst>
          </p:cNvPr>
          <p:cNvSpPr/>
          <p:nvPr/>
        </p:nvSpPr>
        <p:spPr>
          <a:xfrm>
            <a:off x="5671823" y="2880312"/>
            <a:ext cx="234758" cy="228892"/>
          </a:xfrm>
          <a:prstGeom prst="star5">
            <a:avLst/>
          </a:prstGeom>
          <a:solidFill>
            <a:schemeClr val="accent1"/>
          </a:solidFill>
          <a:ln>
            <a:solidFill>
              <a:schemeClr val="accent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solidFill>
                <a:srgbClr val="0070C0"/>
              </a:solidFill>
            </a:endParaRPr>
          </a:p>
        </p:txBody>
      </p:sp>
      <p:sp>
        <p:nvSpPr>
          <p:cNvPr id="8" name="Star: 5 Points 7">
            <a:extLst>
              <a:ext uri="{FF2B5EF4-FFF2-40B4-BE49-F238E27FC236}">
                <a16:creationId xmlns:a16="http://schemas.microsoft.com/office/drawing/2014/main" id="{FDDE033D-0D2F-9D57-0804-A109559E92FC}"/>
              </a:ext>
            </a:extLst>
          </p:cNvPr>
          <p:cNvSpPr/>
          <p:nvPr/>
        </p:nvSpPr>
        <p:spPr>
          <a:xfrm>
            <a:off x="4528202" y="3220421"/>
            <a:ext cx="234758" cy="228892"/>
          </a:xfrm>
          <a:prstGeom prst="star5">
            <a:avLst/>
          </a:prstGeom>
          <a:solidFill>
            <a:schemeClr val="accent1"/>
          </a:solidFill>
          <a:ln>
            <a:solidFill>
              <a:schemeClr val="accent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solidFill>
                <a:srgbClr val="0070C0"/>
              </a:solidFill>
            </a:endParaRPr>
          </a:p>
        </p:txBody>
      </p:sp>
      <p:sp>
        <p:nvSpPr>
          <p:cNvPr id="9" name="Star: 5 Points 8">
            <a:extLst>
              <a:ext uri="{FF2B5EF4-FFF2-40B4-BE49-F238E27FC236}">
                <a16:creationId xmlns:a16="http://schemas.microsoft.com/office/drawing/2014/main" id="{5C6857AE-0554-EEF9-5DF8-1101EB722A43}"/>
              </a:ext>
            </a:extLst>
          </p:cNvPr>
          <p:cNvSpPr/>
          <p:nvPr/>
        </p:nvSpPr>
        <p:spPr>
          <a:xfrm>
            <a:off x="7273471" y="2683553"/>
            <a:ext cx="234758" cy="228892"/>
          </a:xfrm>
          <a:prstGeom prst="star5">
            <a:avLst/>
          </a:prstGeom>
          <a:solidFill>
            <a:schemeClr val="accent1"/>
          </a:solidFill>
          <a:ln>
            <a:solidFill>
              <a:schemeClr val="accent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solidFill>
                <a:srgbClr val="0070C0"/>
              </a:solidFill>
            </a:endParaRPr>
          </a:p>
        </p:txBody>
      </p:sp>
      <p:sp>
        <p:nvSpPr>
          <p:cNvPr id="10" name="Star: 5 Points 9">
            <a:extLst>
              <a:ext uri="{FF2B5EF4-FFF2-40B4-BE49-F238E27FC236}">
                <a16:creationId xmlns:a16="http://schemas.microsoft.com/office/drawing/2014/main" id="{C0EF1988-0F04-F5C6-847A-AF794644D809}"/>
              </a:ext>
            </a:extLst>
          </p:cNvPr>
          <p:cNvSpPr/>
          <p:nvPr/>
        </p:nvSpPr>
        <p:spPr>
          <a:xfrm>
            <a:off x="6241698" y="2880312"/>
            <a:ext cx="234758" cy="228892"/>
          </a:xfrm>
          <a:prstGeom prst="star5">
            <a:avLst/>
          </a:prstGeom>
          <a:solidFill>
            <a:schemeClr val="accent1"/>
          </a:solidFill>
          <a:ln>
            <a:solidFill>
              <a:schemeClr val="accent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solidFill>
                <a:srgbClr val="0070C0"/>
              </a:solidFill>
            </a:endParaRPr>
          </a:p>
        </p:txBody>
      </p:sp>
      <p:sp>
        <p:nvSpPr>
          <p:cNvPr id="11" name="Star: 5 Points 10">
            <a:extLst>
              <a:ext uri="{FF2B5EF4-FFF2-40B4-BE49-F238E27FC236}">
                <a16:creationId xmlns:a16="http://schemas.microsoft.com/office/drawing/2014/main" id="{EDACF4F2-3223-6283-5F97-FF4CA66747C5}"/>
              </a:ext>
            </a:extLst>
          </p:cNvPr>
          <p:cNvSpPr/>
          <p:nvPr/>
        </p:nvSpPr>
        <p:spPr>
          <a:xfrm>
            <a:off x="6753330" y="2651420"/>
            <a:ext cx="234758" cy="228892"/>
          </a:xfrm>
          <a:prstGeom prst="star5">
            <a:avLst/>
          </a:prstGeom>
          <a:solidFill>
            <a:schemeClr val="accent1"/>
          </a:solidFill>
          <a:ln>
            <a:solidFill>
              <a:schemeClr val="accent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solidFill>
                <a:srgbClr val="0070C0"/>
              </a:solidFill>
            </a:endParaRPr>
          </a:p>
        </p:txBody>
      </p:sp>
      <p:sp>
        <p:nvSpPr>
          <p:cNvPr id="12" name="Star: 5 Points 11">
            <a:extLst>
              <a:ext uri="{FF2B5EF4-FFF2-40B4-BE49-F238E27FC236}">
                <a16:creationId xmlns:a16="http://schemas.microsoft.com/office/drawing/2014/main" id="{70385671-2902-E3A0-4E6B-174C1BB192D8}"/>
              </a:ext>
            </a:extLst>
          </p:cNvPr>
          <p:cNvSpPr/>
          <p:nvPr/>
        </p:nvSpPr>
        <p:spPr>
          <a:xfrm>
            <a:off x="5148264" y="3184449"/>
            <a:ext cx="234758" cy="228892"/>
          </a:xfrm>
          <a:prstGeom prst="star5">
            <a:avLst/>
          </a:prstGeom>
          <a:solidFill>
            <a:schemeClr val="accent1"/>
          </a:solidFill>
          <a:ln>
            <a:solidFill>
              <a:schemeClr val="accent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solidFill>
                <a:srgbClr val="0070C0"/>
              </a:solidFill>
            </a:endParaRPr>
          </a:p>
        </p:txBody>
      </p:sp>
      <p:sp>
        <p:nvSpPr>
          <p:cNvPr id="13" name="Star: 5 Points 12">
            <a:extLst>
              <a:ext uri="{FF2B5EF4-FFF2-40B4-BE49-F238E27FC236}">
                <a16:creationId xmlns:a16="http://schemas.microsoft.com/office/drawing/2014/main" id="{885A09D4-F44D-B509-5537-64A9A487F6D9}"/>
              </a:ext>
            </a:extLst>
          </p:cNvPr>
          <p:cNvSpPr/>
          <p:nvPr/>
        </p:nvSpPr>
        <p:spPr>
          <a:xfrm>
            <a:off x="4874808" y="3105975"/>
            <a:ext cx="234758" cy="228892"/>
          </a:xfrm>
          <a:prstGeom prst="star5">
            <a:avLst/>
          </a:prstGeom>
          <a:solidFill>
            <a:srgbClr val="0070C0"/>
          </a:solidFill>
          <a:ln>
            <a:solidFill>
              <a:schemeClr val="accent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solidFill>
                <a:srgbClr val="0070C0"/>
              </a:solidFill>
            </a:endParaRPr>
          </a:p>
        </p:txBody>
      </p:sp>
      <p:sp>
        <p:nvSpPr>
          <p:cNvPr id="14" name="Star: 5 Points 13">
            <a:extLst>
              <a:ext uri="{FF2B5EF4-FFF2-40B4-BE49-F238E27FC236}">
                <a16:creationId xmlns:a16="http://schemas.microsoft.com/office/drawing/2014/main" id="{8F6E998D-D0FB-0B8B-6E07-9B146E80BBCC}"/>
              </a:ext>
            </a:extLst>
          </p:cNvPr>
          <p:cNvSpPr/>
          <p:nvPr/>
        </p:nvSpPr>
        <p:spPr>
          <a:xfrm>
            <a:off x="5339470" y="2919945"/>
            <a:ext cx="234758" cy="228892"/>
          </a:xfrm>
          <a:prstGeom prst="star5">
            <a:avLst/>
          </a:prstGeom>
          <a:solidFill>
            <a:srgbClr val="0070C0"/>
          </a:solidFill>
          <a:ln>
            <a:solidFill>
              <a:schemeClr val="accent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solidFill>
                <a:srgbClr val="0070C0"/>
              </a:solidFill>
            </a:endParaRPr>
          </a:p>
        </p:txBody>
      </p:sp>
      <p:sp>
        <p:nvSpPr>
          <p:cNvPr id="18" name="Star: 5 Points 17">
            <a:extLst>
              <a:ext uri="{FF2B5EF4-FFF2-40B4-BE49-F238E27FC236}">
                <a16:creationId xmlns:a16="http://schemas.microsoft.com/office/drawing/2014/main" id="{44D05FAD-8C95-A7AB-0ED1-9E4047174D49}"/>
              </a:ext>
            </a:extLst>
          </p:cNvPr>
          <p:cNvSpPr/>
          <p:nvPr/>
        </p:nvSpPr>
        <p:spPr>
          <a:xfrm>
            <a:off x="5948697" y="2765866"/>
            <a:ext cx="234758" cy="228892"/>
          </a:xfrm>
          <a:prstGeom prst="star5">
            <a:avLst>
              <a:gd name="adj" fmla="val 21573"/>
              <a:gd name="hf" fmla="val 105146"/>
              <a:gd name="vf" fmla="val 110557"/>
            </a:avLst>
          </a:prstGeom>
          <a:solidFill>
            <a:srgbClr val="0070C0"/>
          </a:solidFill>
          <a:ln>
            <a:solidFill>
              <a:schemeClr val="accent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solidFill>
                <a:srgbClr val="0070C0"/>
              </a:solidFill>
            </a:endParaRPr>
          </a:p>
        </p:txBody>
      </p:sp>
      <p:sp>
        <p:nvSpPr>
          <p:cNvPr id="19" name="Star: 5 Points 18">
            <a:extLst>
              <a:ext uri="{FF2B5EF4-FFF2-40B4-BE49-F238E27FC236}">
                <a16:creationId xmlns:a16="http://schemas.microsoft.com/office/drawing/2014/main" id="{13ACD395-153B-7175-E25B-F3CD6B445E0B}"/>
              </a:ext>
            </a:extLst>
          </p:cNvPr>
          <p:cNvSpPr/>
          <p:nvPr/>
        </p:nvSpPr>
        <p:spPr>
          <a:xfrm>
            <a:off x="6417320" y="2683398"/>
            <a:ext cx="234758" cy="228892"/>
          </a:xfrm>
          <a:prstGeom prst="star5">
            <a:avLst>
              <a:gd name="adj" fmla="val 19098"/>
              <a:gd name="hf" fmla="val 105146"/>
              <a:gd name="vf" fmla="val 110557"/>
            </a:avLst>
          </a:prstGeom>
          <a:solidFill>
            <a:srgbClr val="0070C0"/>
          </a:solidFill>
          <a:ln>
            <a:solidFill>
              <a:schemeClr val="accent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solidFill>
                <a:srgbClr val="0070C0"/>
              </a:solidFill>
            </a:endParaRPr>
          </a:p>
        </p:txBody>
      </p:sp>
      <p:sp>
        <p:nvSpPr>
          <p:cNvPr id="20" name="Star: 5 Points 19">
            <a:extLst>
              <a:ext uri="{FF2B5EF4-FFF2-40B4-BE49-F238E27FC236}">
                <a16:creationId xmlns:a16="http://schemas.microsoft.com/office/drawing/2014/main" id="{A38161DF-2ECC-5D37-1C2A-3C6E662777D6}"/>
              </a:ext>
            </a:extLst>
          </p:cNvPr>
          <p:cNvSpPr/>
          <p:nvPr/>
        </p:nvSpPr>
        <p:spPr>
          <a:xfrm>
            <a:off x="7072992" y="2611996"/>
            <a:ext cx="234758" cy="228892"/>
          </a:xfrm>
          <a:prstGeom prst="star5">
            <a:avLst/>
          </a:prstGeom>
          <a:solidFill>
            <a:srgbClr val="0070C0"/>
          </a:solidFill>
          <a:ln>
            <a:solidFill>
              <a:schemeClr val="accent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solidFill>
                <a:srgbClr val="0070C0"/>
              </a:solidFill>
            </a:endParaRPr>
          </a:p>
        </p:txBody>
      </p:sp>
      <p:sp>
        <p:nvSpPr>
          <p:cNvPr id="21" name="Star: 5 Points 20">
            <a:extLst>
              <a:ext uri="{FF2B5EF4-FFF2-40B4-BE49-F238E27FC236}">
                <a16:creationId xmlns:a16="http://schemas.microsoft.com/office/drawing/2014/main" id="{39459C68-F780-9466-36D2-A421E3EDE388}"/>
              </a:ext>
            </a:extLst>
          </p:cNvPr>
          <p:cNvSpPr/>
          <p:nvPr/>
        </p:nvSpPr>
        <p:spPr>
          <a:xfrm>
            <a:off x="4410823" y="3562404"/>
            <a:ext cx="234758" cy="228892"/>
          </a:xfrm>
          <a:prstGeom prst="star5">
            <a:avLst/>
          </a:prstGeom>
          <a:solidFill>
            <a:schemeClr val="accent1"/>
          </a:solidFill>
          <a:ln>
            <a:solidFill>
              <a:schemeClr val="accent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solidFill>
                <a:srgbClr val="0070C0"/>
              </a:solidFill>
            </a:endParaRPr>
          </a:p>
        </p:txBody>
      </p:sp>
      <p:sp>
        <p:nvSpPr>
          <p:cNvPr id="22" name="Star: 5 Points 21">
            <a:extLst>
              <a:ext uri="{FF2B5EF4-FFF2-40B4-BE49-F238E27FC236}">
                <a16:creationId xmlns:a16="http://schemas.microsoft.com/office/drawing/2014/main" id="{47D1EA0E-CA67-F463-0778-36F0A7EA0FA0}"/>
              </a:ext>
            </a:extLst>
          </p:cNvPr>
          <p:cNvSpPr/>
          <p:nvPr/>
        </p:nvSpPr>
        <p:spPr>
          <a:xfrm>
            <a:off x="6837052" y="2919945"/>
            <a:ext cx="234758" cy="228892"/>
          </a:xfrm>
          <a:prstGeom prst="star5">
            <a:avLst/>
          </a:prstGeom>
          <a:solidFill>
            <a:schemeClr val="accent1"/>
          </a:solidFill>
          <a:ln>
            <a:solidFill>
              <a:schemeClr val="accent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solidFill>
                <a:srgbClr val="0070C0"/>
              </a:solidFill>
            </a:endParaRPr>
          </a:p>
        </p:txBody>
      </p:sp>
      <p:sp>
        <p:nvSpPr>
          <p:cNvPr id="24" name="Star: 5 Points 23">
            <a:extLst>
              <a:ext uri="{FF2B5EF4-FFF2-40B4-BE49-F238E27FC236}">
                <a16:creationId xmlns:a16="http://schemas.microsoft.com/office/drawing/2014/main" id="{CC3DEBC9-B4F8-96B9-38AA-F0DCDB136B05}"/>
              </a:ext>
            </a:extLst>
          </p:cNvPr>
          <p:cNvSpPr/>
          <p:nvPr/>
        </p:nvSpPr>
        <p:spPr>
          <a:xfrm>
            <a:off x="4209092" y="3991657"/>
            <a:ext cx="234758" cy="228892"/>
          </a:xfrm>
          <a:prstGeom prst="star5">
            <a:avLst>
              <a:gd name="adj" fmla="val 19098"/>
              <a:gd name="hf" fmla="val 105146"/>
              <a:gd name="vf" fmla="val 110557"/>
            </a:avLst>
          </a:prstGeom>
          <a:solidFill>
            <a:schemeClr val="accent1"/>
          </a:solidFill>
          <a:ln>
            <a:solidFill>
              <a:schemeClr val="accent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solidFill>
                <a:srgbClr val="0070C0"/>
              </a:solidFill>
            </a:endParaRPr>
          </a:p>
        </p:txBody>
      </p:sp>
      <p:sp>
        <p:nvSpPr>
          <p:cNvPr id="25" name="Star: 5 Points 24">
            <a:extLst>
              <a:ext uri="{FF2B5EF4-FFF2-40B4-BE49-F238E27FC236}">
                <a16:creationId xmlns:a16="http://schemas.microsoft.com/office/drawing/2014/main" id="{72B4709F-A702-63B3-5E5A-EA8101481198}"/>
              </a:ext>
            </a:extLst>
          </p:cNvPr>
          <p:cNvSpPr/>
          <p:nvPr/>
        </p:nvSpPr>
        <p:spPr>
          <a:xfrm>
            <a:off x="3974334" y="4305468"/>
            <a:ext cx="234758" cy="228892"/>
          </a:xfrm>
          <a:prstGeom prst="star5">
            <a:avLst>
              <a:gd name="adj" fmla="val 19098"/>
              <a:gd name="hf" fmla="val 105146"/>
              <a:gd name="vf" fmla="val 110557"/>
            </a:avLst>
          </a:prstGeom>
          <a:solidFill>
            <a:schemeClr val="accent1"/>
          </a:solidFill>
          <a:ln>
            <a:solidFill>
              <a:schemeClr val="accent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solidFill>
                <a:srgbClr val="0070C0"/>
              </a:solidFill>
            </a:endParaRPr>
          </a:p>
        </p:txBody>
      </p:sp>
      <p:cxnSp>
        <p:nvCxnSpPr>
          <p:cNvPr id="31" name="Straight Connector 30">
            <a:extLst>
              <a:ext uri="{FF2B5EF4-FFF2-40B4-BE49-F238E27FC236}">
                <a16:creationId xmlns:a16="http://schemas.microsoft.com/office/drawing/2014/main" id="{C45D545E-65CB-56B3-7744-49DA43778DF0}"/>
              </a:ext>
            </a:extLst>
          </p:cNvPr>
          <p:cNvCxnSpPr/>
          <p:nvPr/>
        </p:nvCxnSpPr>
        <p:spPr>
          <a:xfrm>
            <a:off x="4138449" y="4734203"/>
            <a:ext cx="0" cy="189186"/>
          </a:xfrm>
          <a:prstGeom prst="line">
            <a:avLst/>
          </a:prstGeom>
          <a:ln w="381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32" name="Straight Connector 31">
            <a:extLst>
              <a:ext uri="{FF2B5EF4-FFF2-40B4-BE49-F238E27FC236}">
                <a16:creationId xmlns:a16="http://schemas.microsoft.com/office/drawing/2014/main" id="{AD5E6DEF-90E7-2D26-8320-F9BCF6FCD2AD}"/>
              </a:ext>
            </a:extLst>
          </p:cNvPr>
          <p:cNvCxnSpPr/>
          <p:nvPr/>
        </p:nvCxnSpPr>
        <p:spPr>
          <a:xfrm>
            <a:off x="4977284" y="4757515"/>
            <a:ext cx="0" cy="189186"/>
          </a:xfrm>
          <a:prstGeom prst="line">
            <a:avLst/>
          </a:prstGeom>
          <a:ln w="381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33" name="Straight Connector 32">
            <a:extLst>
              <a:ext uri="{FF2B5EF4-FFF2-40B4-BE49-F238E27FC236}">
                <a16:creationId xmlns:a16="http://schemas.microsoft.com/office/drawing/2014/main" id="{9DFE5137-FBE5-1861-F905-D528C7953748}"/>
              </a:ext>
            </a:extLst>
          </p:cNvPr>
          <p:cNvCxnSpPr/>
          <p:nvPr/>
        </p:nvCxnSpPr>
        <p:spPr>
          <a:xfrm>
            <a:off x="5783953" y="4743231"/>
            <a:ext cx="0" cy="189186"/>
          </a:xfrm>
          <a:prstGeom prst="line">
            <a:avLst/>
          </a:prstGeom>
          <a:ln w="381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34" name="Straight Connector 33">
            <a:extLst>
              <a:ext uri="{FF2B5EF4-FFF2-40B4-BE49-F238E27FC236}">
                <a16:creationId xmlns:a16="http://schemas.microsoft.com/office/drawing/2014/main" id="{DEB7960D-D9E5-930F-7E8D-98CB2D2B127B}"/>
              </a:ext>
            </a:extLst>
          </p:cNvPr>
          <p:cNvCxnSpPr>
            <a:cxnSpLocks/>
          </p:cNvCxnSpPr>
          <p:nvPr/>
        </p:nvCxnSpPr>
        <p:spPr>
          <a:xfrm>
            <a:off x="6559091" y="4757515"/>
            <a:ext cx="0" cy="189186"/>
          </a:xfrm>
          <a:prstGeom prst="line">
            <a:avLst/>
          </a:prstGeom>
          <a:ln w="381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36" name="Straight Connector 35">
            <a:extLst>
              <a:ext uri="{FF2B5EF4-FFF2-40B4-BE49-F238E27FC236}">
                <a16:creationId xmlns:a16="http://schemas.microsoft.com/office/drawing/2014/main" id="{E004CA94-C196-A860-B460-4CCD0588DB77}"/>
              </a:ext>
            </a:extLst>
          </p:cNvPr>
          <p:cNvCxnSpPr>
            <a:cxnSpLocks/>
          </p:cNvCxnSpPr>
          <p:nvPr/>
        </p:nvCxnSpPr>
        <p:spPr>
          <a:xfrm>
            <a:off x="7368388" y="4757515"/>
            <a:ext cx="0" cy="189186"/>
          </a:xfrm>
          <a:prstGeom prst="line">
            <a:avLst/>
          </a:prstGeom>
          <a:ln w="381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37" name="Straight Connector 36">
            <a:extLst>
              <a:ext uri="{FF2B5EF4-FFF2-40B4-BE49-F238E27FC236}">
                <a16:creationId xmlns:a16="http://schemas.microsoft.com/office/drawing/2014/main" id="{B1A51790-0D5D-CF3C-1EDF-FAFDDE202B5F}"/>
              </a:ext>
            </a:extLst>
          </p:cNvPr>
          <p:cNvCxnSpPr>
            <a:cxnSpLocks/>
          </p:cNvCxnSpPr>
          <p:nvPr/>
        </p:nvCxnSpPr>
        <p:spPr>
          <a:xfrm flipH="1">
            <a:off x="3287746" y="4234576"/>
            <a:ext cx="251613" cy="0"/>
          </a:xfrm>
          <a:prstGeom prst="line">
            <a:avLst/>
          </a:prstGeom>
          <a:ln w="381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39" name="Straight Connector 38">
            <a:extLst>
              <a:ext uri="{FF2B5EF4-FFF2-40B4-BE49-F238E27FC236}">
                <a16:creationId xmlns:a16="http://schemas.microsoft.com/office/drawing/2014/main" id="{A68D0865-0FF9-F22F-7FE7-EAB631E2FF21}"/>
              </a:ext>
            </a:extLst>
          </p:cNvPr>
          <p:cNvCxnSpPr>
            <a:cxnSpLocks/>
          </p:cNvCxnSpPr>
          <p:nvPr/>
        </p:nvCxnSpPr>
        <p:spPr>
          <a:xfrm flipH="1">
            <a:off x="3272050" y="3496610"/>
            <a:ext cx="251613" cy="0"/>
          </a:xfrm>
          <a:prstGeom prst="line">
            <a:avLst/>
          </a:prstGeom>
          <a:ln w="381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40" name="Straight Connector 39">
            <a:extLst>
              <a:ext uri="{FF2B5EF4-FFF2-40B4-BE49-F238E27FC236}">
                <a16:creationId xmlns:a16="http://schemas.microsoft.com/office/drawing/2014/main" id="{0C70A97F-EF31-AD34-7752-06388DE5070A}"/>
              </a:ext>
            </a:extLst>
          </p:cNvPr>
          <p:cNvCxnSpPr>
            <a:cxnSpLocks/>
          </p:cNvCxnSpPr>
          <p:nvPr/>
        </p:nvCxnSpPr>
        <p:spPr>
          <a:xfrm flipH="1">
            <a:off x="3272050" y="2843516"/>
            <a:ext cx="251613" cy="0"/>
          </a:xfrm>
          <a:prstGeom prst="line">
            <a:avLst/>
          </a:prstGeom>
          <a:ln w="381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41" name="Straight Connector 40">
            <a:extLst>
              <a:ext uri="{FF2B5EF4-FFF2-40B4-BE49-F238E27FC236}">
                <a16:creationId xmlns:a16="http://schemas.microsoft.com/office/drawing/2014/main" id="{9D19EF80-6F63-A312-DFDE-1626ADE886F7}"/>
              </a:ext>
            </a:extLst>
          </p:cNvPr>
          <p:cNvCxnSpPr>
            <a:cxnSpLocks/>
          </p:cNvCxnSpPr>
          <p:nvPr/>
        </p:nvCxnSpPr>
        <p:spPr>
          <a:xfrm flipH="1">
            <a:off x="3295768" y="2254937"/>
            <a:ext cx="251613" cy="0"/>
          </a:xfrm>
          <a:prstGeom prst="line">
            <a:avLst/>
          </a:prstGeom>
          <a:ln w="38100">
            <a:solidFill>
              <a:schemeClr val="tx1"/>
            </a:solidFill>
          </a:ln>
        </p:spPr>
        <p:style>
          <a:lnRef idx="1">
            <a:schemeClr val="accent1"/>
          </a:lnRef>
          <a:fillRef idx="0">
            <a:schemeClr val="accent1"/>
          </a:fillRef>
          <a:effectRef idx="0">
            <a:schemeClr val="accent1"/>
          </a:effectRef>
          <a:fontRef idx="minor">
            <a:schemeClr val="tx1"/>
          </a:fontRef>
        </p:style>
      </p:cxnSp>
      <p:sp>
        <p:nvSpPr>
          <p:cNvPr id="42" name="TextBox 41">
            <a:extLst>
              <a:ext uri="{FF2B5EF4-FFF2-40B4-BE49-F238E27FC236}">
                <a16:creationId xmlns:a16="http://schemas.microsoft.com/office/drawing/2014/main" id="{77FC9108-0B41-92F3-EF1E-FCBE3C92360E}"/>
              </a:ext>
            </a:extLst>
          </p:cNvPr>
          <p:cNvSpPr txBox="1"/>
          <p:nvPr/>
        </p:nvSpPr>
        <p:spPr>
          <a:xfrm>
            <a:off x="3870587" y="5010099"/>
            <a:ext cx="535724" cy="369332"/>
          </a:xfrm>
          <a:prstGeom prst="rect">
            <a:avLst/>
          </a:prstGeom>
          <a:noFill/>
        </p:spPr>
        <p:txBody>
          <a:bodyPr wrap="none" rtlCol="0">
            <a:spAutoFit/>
          </a:bodyPr>
          <a:lstStyle/>
          <a:p>
            <a:r>
              <a:rPr lang="tr-TR" dirty="0"/>
              <a:t>500</a:t>
            </a:r>
            <a:endParaRPr lang="en-US" dirty="0"/>
          </a:p>
        </p:txBody>
      </p:sp>
      <p:sp>
        <p:nvSpPr>
          <p:cNvPr id="43" name="TextBox 42">
            <a:extLst>
              <a:ext uri="{FF2B5EF4-FFF2-40B4-BE49-F238E27FC236}">
                <a16:creationId xmlns:a16="http://schemas.microsoft.com/office/drawing/2014/main" id="{8450C754-4483-7A13-4794-16D78404B065}"/>
              </a:ext>
            </a:extLst>
          </p:cNvPr>
          <p:cNvSpPr txBox="1"/>
          <p:nvPr/>
        </p:nvSpPr>
        <p:spPr>
          <a:xfrm>
            <a:off x="4706147" y="5010099"/>
            <a:ext cx="652743" cy="369332"/>
          </a:xfrm>
          <a:prstGeom prst="rect">
            <a:avLst/>
          </a:prstGeom>
          <a:noFill/>
        </p:spPr>
        <p:txBody>
          <a:bodyPr wrap="none" rtlCol="0">
            <a:spAutoFit/>
          </a:bodyPr>
          <a:lstStyle/>
          <a:p>
            <a:r>
              <a:rPr lang="tr-TR" dirty="0"/>
              <a:t>1000</a:t>
            </a:r>
            <a:endParaRPr lang="en-US" dirty="0"/>
          </a:p>
        </p:txBody>
      </p:sp>
      <p:sp>
        <p:nvSpPr>
          <p:cNvPr id="44" name="TextBox 43">
            <a:extLst>
              <a:ext uri="{FF2B5EF4-FFF2-40B4-BE49-F238E27FC236}">
                <a16:creationId xmlns:a16="http://schemas.microsoft.com/office/drawing/2014/main" id="{0B38B3F2-DCC6-95DA-DEDF-ADCF0F6CF45C}"/>
              </a:ext>
            </a:extLst>
          </p:cNvPr>
          <p:cNvSpPr txBox="1"/>
          <p:nvPr/>
        </p:nvSpPr>
        <p:spPr>
          <a:xfrm>
            <a:off x="5530712" y="5010099"/>
            <a:ext cx="652743" cy="369332"/>
          </a:xfrm>
          <a:prstGeom prst="rect">
            <a:avLst/>
          </a:prstGeom>
          <a:noFill/>
        </p:spPr>
        <p:txBody>
          <a:bodyPr wrap="none" rtlCol="0">
            <a:spAutoFit/>
          </a:bodyPr>
          <a:lstStyle/>
          <a:p>
            <a:r>
              <a:rPr lang="tr-TR" dirty="0"/>
              <a:t>1500</a:t>
            </a:r>
            <a:endParaRPr lang="en-US" dirty="0"/>
          </a:p>
        </p:txBody>
      </p:sp>
      <p:sp>
        <p:nvSpPr>
          <p:cNvPr id="45" name="TextBox 44">
            <a:extLst>
              <a:ext uri="{FF2B5EF4-FFF2-40B4-BE49-F238E27FC236}">
                <a16:creationId xmlns:a16="http://schemas.microsoft.com/office/drawing/2014/main" id="{0D47C113-7483-528E-CC02-EE4C6F7A9448}"/>
              </a:ext>
            </a:extLst>
          </p:cNvPr>
          <p:cNvSpPr txBox="1"/>
          <p:nvPr/>
        </p:nvSpPr>
        <p:spPr>
          <a:xfrm>
            <a:off x="6241698" y="5010099"/>
            <a:ext cx="652743" cy="369332"/>
          </a:xfrm>
          <a:prstGeom prst="rect">
            <a:avLst/>
          </a:prstGeom>
          <a:noFill/>
        </p:spPr>
        <p:txBody>
          <a:bodyPr wrap="none" rtlCol="0">
            <a:spAutoFit/>
          </a:bodyPr>
          <a:lstStyle/>
          <a:p>
            <a:r>
              <a:rPr lang="tr-TR" dirty="0"/>
              <a:t>2000</a:t>
            </a:r>
            <a:endParaRPr lang="en-US" dirty="0"/>
          </a:p>
        </p:txBody>
      </p:sp>
      <p:sp>
        <p:nvSpPr>
          <p:cNvPr id="46" name="TextBox 45">
            <a:extLst>
              <a:ext uri="{FF2B5EF4-FFF2-40B4-BE49-F238E27FC236}">
                <a16:creationId xmlns:a16="http://schemas.microsoft.com/office/drawing/2014/main" id="{116428BF-B680-8FF9-9333-28A654006D05}"/>
              </a:ext>
            </a:extLst>
          </p:cNvPr>
          <p:cNvSpPr txBox="1"/>
          <p:nvPr/>
        </p:nvSpPr>
        <p:spPr>
          <a:xfrm>
            <a:off x="7076719" y="5010099"/>
            <a:ext cx="652743" cy="369332"/>
          </a:xfrm>
          <a:prstGeom prst="rect">
            <a:avLst/>
          </a:prstGeom>
          <a:noFill/>
        </p:spPr>
        <p:txBody>
          <a:bodyPr wrap="none" rtlCol="0">
            <a:spAutoFit/>
          </a:bodyPr>
          <a:lstStyle/>
          <a:p>
            <a:r>
              <a:rPr lang="tr-TR" dirty="0"/>
              <a:t>2500</a:t>
            </a:r>
            <a:endParaRPr lang="en-US" dirty="0"/>
          </a:p>
        </p:txBody>
      </p:sp>
      <p:sp>
        <p:nvSpPr>
          <p:cNvPr id="47" name="TextBox 46">
            <a:extLst>
              <a:ext uri="{FF2B5EF4-FFF2-40B4-BE49-F238E27FC236}">
                <a16:creationId xmlns:a16="http://schemas.microsoft.com/office/drawing/2014/main" id="{C5087B98-09AF-5E66-DD2F-F36E651FD629}"/>
              </a:ext>
            </a:extLst>
          </p:cNvPr>
          <p:cNvSpPr txBox="1"/>
          <p:nvPr/>
        </p:nvSpPr>
        <p:spPr>
          <a:xfrm>
            <a:off x="2738740" y="4050582"/>
            <a:ext cx="535724" cy="369332"/>
          </a:xfrm>
          <a:prstGeom prst="rect">
            <a:avLst/>
          </a:prstGeom>
          <a:noFill/>
        </p:spPr>
        <p:txBody>
          <a:bodyPr wrap="none" rtlCol="0">
            <a:spAutoFit/>
          </a:bodyPr>
          <a:lstStyle/>
          <a:p>
            <a:r>
              <a:rPr lang="tr-TR" dirty="0"/>
              <a:t>100</a:t>
            </a:r>
            <a:endParaRPr lang="en-US" dirty="0"/>
          </a:p>
        </p:txBody>
      </p:sp>
      <p:sp>
        <p:nvSpPr>
          <p:cNvPr id="48" name="TextBox 47">
            <a:extLst>
              <a:ext uri="{FF2B5EF4-FFF2-40B4-BE49-F238E27FC236}">
                <a16:creationId xmlns:a16="http://schemas.microsoft.com/office/drawing/2014/main" id="{D9E723E0-3A6C-977B-5ECC-A238E983F7A3}"/>
              </a:ext>
            </a:extLst>
          </p:cNvPr>
          <p:cNvSpPr txBox="1"/>
          <p:nvPr/>
        </p:nvSpPr>
        <p:spPr>
          <a:xfrm>
            <a:off x="2738740" y="3319746"/>
            <a:ext cx="535724" cy="369332"/>
          </a:xfrm>
          <a:prstGeom prst="rect">
            <a:avLst/>
          </a:prstGeom>
          <a:noFill/>
        </p:spPr>
        <p:txBody>
          <a:bodyPr wrap="none" rtlCol="0">
            <a:spAutoFit/>
          </a:bodyPr>
          <a:lstStyle/>
          <a:p>
            <a:r>
              <a:rPr lang="tr-TR" dirty="0"/>
              <a:t>200</a:t>
            </a:r>
            <a:endParaRPr lang="en-US" dirty="0"/>
          </a:p>
        </p:txBody>
      </p:sp>
      <p:sp>
        <p:nvSpPr>
          <p:cNvPr id="49" name="TextBox 48">
            <a:extLst>
              <a:ext uri="{FF2B5EF4-FFF2-40B4-BE49-F238E27FC236}">
                <a16:creationId xmlns:a16="http://schemas.microsoft.com/office/drawing/2014/main" id="{999C9AB1-32E7-AC3E-B822-FE1F5EBAC9D9}"/>
              </a:ext>
            </a:extLst>
          </p:cNvPr>
          <p:cNvSpPr txBox="1"/>
          <p:nvPr/>
        </p:nvSpPr>
        <p:spPr>
          <a:xfrm>
            <a:off x="2738740" y="2643090"/>
            <a:ext cx="535724" cy="369332"/>
          </a:xfrm>
          <a:prstGeom prst="rect">
            <a:avLst/>
          </a:prstGeom>
          <a:noFill/>
        </p:spPr>
        <p:txBody>
          <a:bodyPr wrap="none" rtlCol="0">
            <a:spAutoFit/>
          </a:bodyPr>
          <a:lstStyle/>
          <a:p>
            <a:r>
              <a:rPr lang="tr-TR" dirty="0"/>
              <a:t>300</a:t>
            </a:r>
            <a:endParaRPr lang="en-US" dirty="0"/>
          </a:p>
        </p:txBody>
      </p:sp>
      <p:sp>
        <p:nvSpPr>
          <p:cNvPr id="50" name="TextBox 49">
            <a:extLst>
              <a:ext uri="{FF2B5EF4-FFF2-40B4-BE49-F238E27FC236}">
                <a16:creationId xmlns:a16="http://schemas.microsoft.com/office/drawing/2014/main" id="{EE84E0FB-F56F-F63F-3F95-CC253B6FC4DD}"/>
              </a:ext>
            </a:extLst>
          </p:cNvPr>
          <p:cNvSpPr txBox="1"/>
          <p:nvPr/>
        </p:nvSpPr>
        <p:spPr>
          <a:xfrm>
            <a:off x="2738740" y="2038595"/>
            <a:ext cx="535724" cy="369332"/>
          </a:xfrm>
          <a:prstGeom prst="rect">
            <a:avLst/>
          </a:prstGeom>
          <a:noFill/>
        </p:spPr>
        <p:txBody>
          <a:bodyPr wrap="none" rtlCol="0">
            <a:spAutoFit/>
          </a:bodyPr>
          <a:lstStyle/>
          <a:p>
            <a:r>
              <a:rPr lang="tr-TR" dirty="0"/>
              <a:t>400</a:t>
            </a:r>
            <a:endParaRPr lang="en-US" dirty="0"/>
          </a:p>
        </p:txBody>
      </p:sp>
      <p:sp>
        <p:nvSpPr>
          <p:cNvPr id="51" name="TextBox 50">
            <a:extLst>
              <a:ext uri="{FF2B5EF4-FFF2-40B4-BE49-F238E27FC236}">
                <a16:creationId xmlns:a16="http://schemas.microsoft.com/office/drawing/2014/main" id="{C5AF3F28-1E9C-90E5-A824-746E74BA269B}"/>
              </a:ext>
            </a:extLst>
          </p:cNvPr>
          <p:cNvSpPr txBox="1"/>
          <p:nvPr/>
        </p:nvSpPr>
        <p:spPr>
          <a:xfrm>
            <a:off x="4573842" y="5477656"/>
            <a:ext cx="1174937" cy="369332"/>
          </a:xfrm>
          <a:prstGeom prst="rect">
            <a:avLst/>
          </a:prstGeom>
          <a:noFill/>
        </p:spPr>
        <p:txBody>
          <a:bodyPr wrap="none" rtlCol="0">
            <a:spAutoFit/>
          </a:bodyPr>
          <a:lstStyle/>
          <a:p>
            <a:r>
              <a:rPr lang="tr-TR" dirty="0"/>
              <a:t>House size</a:t>
            </a:r>
            <a:endParaRPr lang="en-US" dirty="0"/>
          </a:p>
        </p:txBody>
      </p:sp>
      <p:sp>
        <p:nvSpPr>
          <p:cNvPr id="52" name="TextBox 51">
            <a:extLst>
              <a:ext uri="{FF2B5EF4-FFF2-40B4-BE49-F238E27FC236}">
                <a16:creationId xmlns:a16="http://schemas.microsoft.com/office/drawing/2014/main" id="{0EABC003-087A-DE7C-4ADC-2A7401AB0C04}"/>
              </a:ext>
            </a:extLst>
          </p:cNvPr>
          <p:cNvSpPr txBox="1"/>
          <p:nvPr/>
        </p:nvSpPr>
        <p:spPr>
          <a:xfrm>
            <a:off x="1921478" y="3091367"/>
            <a:ext cx="649537" cy="369332"/>
          </a:xfrm>
          <a:prstGeom prst="rect">
            <a:avLst/>
          </a:prstGeom>
          <a:noFill/>
        </p:spPr>
        <p:txBody>
          <a:bodyPr wrap="none" rtlCol="0">
            <a:spAutoFit/>
          </a:bodyPr>
          <a:lstStyle/>
          <a:p>
            <a:r>
              <a:rPr lang="tr-TR" dirty="0" err="1"/>
              <a:t>Price</a:t>
            </a:r>
            <a:endParaRPr lang="en-US" dirty="0"/>
          </a:p>
        </p:txBody>
      </p:sp>
      <p:cxnSp>
        <p:nvCxnSpPr>
          <p:cNvPr id="54" name="Straight Connector 53">
            <a:extLst>
              <a:ext uri="{FF2B5EF4-FFF2-40B4-BE49-F238E27FC236}">
                <a16:creationId xmlns:a16="http://schemas.microsoft.com/office/drawing/2014/main" id="{03C3147B-890C-9327-3655-E0E255446139}"/>
              </a:ext>
            </a:extLst>
          </p:cNvPr>
          <p:cNvCxnSpPr>
            <a:cxnSpLocks/>
          </p:cNvCxnSpPr>
          <p:nvPr/>
        </p:nvCxnSpPr>
        <p:spPr>
          <a:xfrm flipV="1">
            <a:off x="3610337" y="2611996"/>
            <a:ext cx="3980760" cy="1408841"/>
          </a:xfrm>
          <a:prstGeom prst="line">
            <a:avLst/>
          </a:prstGeom>
          <a:ln w="38100">
            <a:solidFill>
              <a:srgbClr val="FF0000"/>
            </a:solidFill>
          </a:ln>
        </p:spPr>
        <p:style>
          <a:lnRef idx="1">
            <a:schemeClr val="accent1"/>
          </a:lnRef>
          <a:fillRef idx="0">
            <a:schemeClr val="accent1"/>
          </a:fillRef>
          <a:effectRef idx="0">
            <a:schemeClr val="accent1"/>
          </a:effectRef>
          <a:fontRef idx="minor">
            <a:schemeClr val="tx1"/>
          </a:fontRef>
        </p:style>
      </p:cxnSp>
      <p:sp>
        <p:nvSpPr>
          <p:cNvPr id="56" name="TextBox 55">
            <a:extLst>
              <a:ext uri="{FF2B5EF4-FFF2-40B4-BE49-F238E27FC236}">
                <a16:creationId xmlns:a16="http://schemas.microsoft.com/office/drawing/2014/main" id="{51E53B77-7846-4B8E-5BDC-1D663AD6FC64}"/>
              </a:ext>
            </a:extLst>
          </p:cNvPr>
          <p:cNvSpPr txBox="1"/>
          <p:nvPr/>
        </p:nvSpPr>
        <p:spPr>
          <a:xfrm>
            <a:off x="7595624" y="2581200"/>
            <a:ext cx="763351" cy="369332"/>
          </a:xfrm>
          <a:prstGeom prst="rect">
            <a:avLst/>
          </a:prstGeom>
          <a:noFill/>
        </p:spPr>
        <p:txBody>
          <a:bodyPr wrap="none" rtlCol="0">
            <a:spAutoFit/>
          </a:bodyPr>
          <a:lstStyle/>
          <a:p>
            <a:r>
              <a:rPr lang="tr-TR" dirty="0" err="1">
                <a:solidFill>
                  <a:srgbClr val="FF0000"/>
                </a:solidFill>
              </a:rPr>
              <a:t>Linear</a:t>
            </a:r>
            <a:endParaRPr lang="en-US" dirty="0">
              <a:solidFill>
                <a:srgbClr val="FF0000"/>
              </a:solidFill>
            </a:endParaRPr>
          </a:p>
        </p:txBody>
      </p:sp>
      <mc:AlternateContent xmlns:mc="http://schemas.openxmlformats.org/markup-compatibility/2006" xmlns:p14="http://schemas.microsoft.com/office/powerpoint/2010/main">
        <mc:Choice Requires="p14">
          <p:contentPart p14:bwMode="auto" r:id="rId3">
            <p14:nvContentPartPr>
              <p14:cNvPr id="60" name="Ink 59">
                <a:extLst>
                  <a:ext uri="{FF2B5EF4-FFF2-40B4-BE49-F238E27FC236}">
                    <a16:creationId xmlns:a16="http://schemas.microsoft.com/office/drawing/2014/main" id="{1D116E6F-A655-FC80-BB3C-664E97A98A39}"/>
                  </a:ext>
                </a:extLst>
              </p14:cNvPr>
              <p14:cNvContentPartPr/>
              <p14:nvPr/>
            </p14:nvContentPartPr>
            <p14:xfrm>
              <a:off x="3869926" y="2715571"/>
              <a:ext cx="3618360" cy="1719360"/>
            </p14:xfrm>
          </p:contentPart>
        </mc:Choice>
        <mc:Fallback xmlns="">
          <p:pic>
            <p:nvPicPr>
              <p:cNvPr id="60" name="Ink 59">
                <a:extLst>
                  <a:ext uri="{FF2B5EF4-FFF2-40B4-BE49-F238E27FC236}">
                    <a16:creationId xmlns:a16="http://schemas.microsoft.com/office/drawing/2014/main" id="{1D116E6F-A655-FC80-BB3C-664E97A98A39}"/>
                  </a:ext>
                </a:extLst>
              </p:cNvPr>
              <p:cNvPicPr/>
              <p:nvPr/>
            </p:nvPicPr>
            <p:blipFill>
              <a:blip r:embed="rId4"/>
              <a:stretch>
                <a:fillRect/>
              </a:stretch>
            </p:blipFill>
            <p:spPr>
              <a:xfrm>
                <a:off x="3851926" y="2697575"/>
                <a:ext cx="3654000" cy="1754993"/>
              </a:xfrm>
              <a:prstGeom prst="rect">
                <a:avLst/>
              </a:prstGeom>
            </p:spPr>
          </p:pic>
        </mc:Fallback>
      </mc:AlternateContent>
      <p:sp>
        <p:nvSpPr>
          <p:cNvPr id="3" name="Rectangle">
            <a:extLst>
              <a:ext uri="{FF2B5EF4-FFF2-40B4-BE49-F238E27FC236}">
                <a16:creationId xmlns:a16="http://schemas.microsoft.com/office/drawing/2014/main" id="{B60AF573-F9B8-E7D5-1CAF-4F1745E66878}"/>
              </a:ext>
            </a:extLst>
          </p:cNvPr>
          <p:cNvSpPr/>
          <p:nvPr/>
        </p:nvSpPr>
        <p:spPr>
          <a:xfrm>
            <a:off x="-11767" y="6545179"/>
            <a:ext cx="12203767" cy="315200"/>
          </a:xfrm>
          <a:prstGeom prst="rect">
            <a:avLst/>
          </a:prstGeom>
          <a:solidFill>
            <a:schemeClr val="tx1"/>
          </a:solidFill>
          <a:ln w="12700">
            <a:noFill/>
            <a:miter lim="400000"/>
          </a:ln>
        </p:spPr>
        <p:txBody>
          <a:bodyPr lIns="45719" rIns="45719" anchor="ctr"/>
          <a:lstStyle/>
          <a:p>
            <a:endParaRPr/>
          </a:p>
        </p:txBody>
      </p:sp>
      <p:pic>
        <p:nvPicPr>
          <p:cNvPr id="6" name="Picture 5" descr="Frontier Tech Leaders (@FTLeadersProg) / X">
            <a:extLst>
              <a:ext uri="{FF2B5EF4-FFF2-40B4-BE49-F238E27FC236}">
                <a16:creationId xmlns:a16="http://schemas.microsoft.com/office/drawing/2014/main" id="{6BBC0DDF-7A2F-2583-3989-1DA9A390AFE5}"/>
              </a:ext>
            </a:extLst>
          </p:cNvPr>
          <p:cNvPicPr>
            <a:picLocks noChangeAspect="1"/>
          </p:cNvPicPr>
          <p:nvPr/>
        </p:nvPicPr>
        <p:blipFill>
          <a:blip r:embed="rId5"/>
          <a:stretch>
            <a:fillRect/>
          </a:stretch>
        </p:blipFill>
        <p:spPr>
          <a:xfrm>
            <a:off x="10668000" y="94470"/>
            <a:ext cx="1027893" cy="1027893"/>
          </a:xfrm>
          <a:prstGeom prst="rect">
            <a:avLst/>
          </a:prstGeom>
        </p:spPr>
      </p:pic>
    </p:spTree>
    <p:extLst>
      <p:ext uri="{BB962C8B-B14F-4D97-AF65-F5344CB8AC3E}">
        <p14:creationId xmlns:p14="http://schemas.microsoft.com/office/powerpoint/2010/main" val="892077527"/>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5"/>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7"/>
                                        </p:tgtEl>
                                        <p:attrNameLst>
                                          <p:attrName>style.visibility</p:attrName>
                                        </p:attrNameLst>
                                      </p:cBhvr>
                                      <p:to>
                                        <p:strVal val="visible"/>
                                      </p:to>
                                    </p:set>
                                  </p:childTnLst>
                                </p:cTn>
                              </p:par>
                              <p:par>
                                <p:cTn id="9" presetID="1" presetClass="entr" presetSubtype="0" fill="hold" grpId="0" nodeType="withEffect">
                                  <p:stCondLst>
                                    <p:cond delay="0"/>
                                  </p:stCondLst>
                                  <p:childTnLst>
                                    <p:set>
                                      <p:cBhvr>
                                        <p:cTn id="10" dur="1" fill="hold">
                                          <p:stCondLst>
                                            <p:cond delay="0"/>
                                          </p:stCondLst>
                                        </p:cTn>
                                        <p:tgtEl>
                                          <p:spTgt spid="8"/>
                                        </p:tgtEl>
                                        <p:attrNameLst>
                                          <p:attrName>style.visibility</p:attrName>
                                        </p:attrNameLst>
                                      </p:cBhvr>
                                      <p:to>
                                        <p:strVal val="visible"/>
                                      </p:to>
                                    </p:set>
                                  </p:childTnLst>
                                </p:cTn>
                              </p:par>
                              <p:par>
                                <p:cTn id="11" presetID="1" presetClass="entr" presetSubtype="0" fill="hold" grpId="0" nodeType="withEffect">
                                  <p:stCondLst>
                                    <p:cond delay="0"/>
                                  </p:stCondLst>
                                  <p:childTnLst>
                                    <p:set>
                                      <p:cBhvr>
                                        <p:cTn id="12" dur="1" fill="hold">
                                          <p:stCondLst>
                                            <p:cond delay="0"/>
                                          </p:stCondLst>
                                        </p:cTn>
                                        <p:tgtEl>
                                          <p:spTgt spid="9"/>
                                        </p:tgtEl>
                                        <p:attrNameLst>
                                          <p:attrName>style.visibility</p:attrName>
                                        </p:attrNameLst>
                                      </p:cBhvr>
                                      <p:to>
                                        <p:strVal val="visible"/>
                                      </p:to>
                                    </p:set>
                                  </p:childTnLst>
                                </p:cTn>
                              </p:par>
                              <p:par>
                                <p:cTn id="13" presetID="1" presetClass="entr" presetSubtype="0" fill="hold" grpId="0" nodeType="withEffect">
                                  <p:stCondLst>
                                    <p:cond delay="0"/>
                                  </p:stCondLst>
                                  <p:childTnLst>
                                    <p:set>
                                      <p:cBhvr>
                                        <p:cTn id="14" dur="1" fill="hold">
                                          <p:stCondLst>
                                            <p:cond delay="0"/>
                                          </p:stCondLst>
                                        </p:cTn>
                                        <p:tgtEl>
                                          <p:spTgt spid="10"/>
                                        </p:tgtEl>
                                        <p:attrNameLst>
                                          <p:attrName>style.visibility</p:attrName>
                                        </p:attrNameLst>
                                      </p:cBhvr>
                                      <p:to>
                                        <p:strVal val="visible"/>
                                      </p:to>
                                    </p:set>
                                  </p:childTnLst>
                                </p:cTn>
                              </p:par>
                              <p:par>
                                <p:cTn id="15" presetID="1" presetClass="entr" presetSubtype="0" fill="hold" grpId="0" nodeType="withEffect">
                                  <p:stCondLst>
                                    <p:cond delay="0"/>
                                  </p:stCondLst>
                                  <p:childTnLst>
                                    <p:set>
                                      <p:cBhvr>
                                        <p:cTn id="16" dur="1" fill="hold">
                                          <p:stCondLst>
                                            <p:cond delay="0"/>
                                          </p:stCondLst>
                                        </p:cTn>
                                        <p:tgtEl>
                                          <p:spTgt spid="11"/>
                                        </p:tgtEl>
                                        <p:attrNameLst>
                                          <p:attrName>style.visibility</p:attrName>
                                        </p:attrNameLst>
                                      </p:cBhvr>
                                      <p:to>
                                        <p:strVal val="visible"/>
                                      </p:to>
                                    </p:set>
                                  </p:childTnLst>
                                </p:cTn>
                              </p:par>
                              <p:par>
                                <p:cTn id="17" presetID="1" presetClass="entr" presetSubtype="0" fill="hold" grpId="0" nodeType="withEffect">
                                  <p:stCondLst>
                                    <p:cond delay="0"/>
                                  </p:stCondLst>
                                  <p:childTnLst>
                                    <p:set>
                                      <p:cBhvr>
                                        <p:cTn id="18" dur="1" fill="hold">
                                          <p:stCondLst>
                                            <p:cond delay="0"/>
                                          </p:stCondLst>
                                        </p:cTn>
                                        <p:tgtEl>
                                          <p:spTgt spid="12"/>
                                        </p:tgtEl>
                                        <p:attrNameLst>
                                          <p:attrName>style.visibility</p:attrName>
                                        </p:attrNameLst>
                                      </p:cBhvr>
                                      <p:to>
                                        <p:strVal val="visible"/>
                                      </p:to>
                                    </p:set>
                                  </p:childTnLst>
                                </p:cTn>
                              </p:par>
                              <p:par>
                                <p:cTn id="19" presetID="1" presetClass="entr" presetSubtype="0" fill="hold" grpId="0" nodeType="withEffect">
                                  <p:stCondLst>
                                    <p:cond delay="0"/>
                                  </p:stCondLst>
                                  <p:childTnLst>
                                    <p:set>
                                      <p:cBhvr>
                                        <p:cTn id="20" dur="1" fill="hold">
                                          <p:stCondLst>
                                            <p:cond delay="0"/>
                                          </p:stCondLst>
                                        </p:cTn>
                                        <p:tgtEl>
                                          <p:spTgt spid="13"/>
                                        </p:tgtEl>
                                        <p:attrNameLst>
                                          <p:attrName>style.visibility</p:attrName>
                                        </p:attrNameLst>
                                      </p:cBhvr>
                                      <p:to>
                                        <p:strVal val="visible"/>
                                      </p:to>
                                    </p:set>
                                  </p:childTnLst>
                                </p:cTn>
                              </p:par>
                              <p:par>
                                <p:cTn id="21" presetID="1" presetClass="entr" presetSubtype="0" fill="hold" grpId="0" nodeType="withEffect">
                                  <p:stCondLst>
                                    <p:cond delay="0"/>
                                  </p:stCondLst>
                                  <p:childTnLst>
                                    <p:set>
                                      <p:cBhvr>
                                        <p:cTn id="22" dur="1" fill="hold">
                                          <p:stCondLst>
                                            <p:cond delay="0"/>
                                          </p:stCondLst>
                                        </p:cTn>
                                        <p:tgtEl>
                                          <p:spTgt spid="14"/>
                                        </p:tgtEl>
                                        <p:attrNameLst>
                                          <p:attrName>style.visibility</p:attrName>
                                        </p:attrNameLst>
                                      </p:cBhvr>
                                      <p:to>
                                        <p:strVal val="visible"/>
                                      </p:to>
                                    </p:set>
                                  </p:childTnLst>
                                </p:cTn>
                              </p:par>
                              <p:par>
                                <p:cTn id="23" presetID="1" presetClass="entr" presetSubtype="0" fill="hold" grpId="0" nodeType="withEffect">
                                  <p:stCondLst>
                                    <p:cond delay="0"/>
                                  </p:stCondLst>
                                  <p:childTnLst>
                                    <p:set>
                                      <p:cBhvr>
                                        <p:cTn id="24" dur="1" fill="hold">
                                          <p:stCondLst>
                                            <p:cond delay="0"/>
                                          </p:stCondLst>
                                        </p:cTn>
                                        <p:tgtEl>
                                          <p:spTgt spid="18"/>
                                        </p:tgtEl>
                                        <p:attrNameLst>
                                          <p:attrName>style.visibility</p:attrName>
                                        </p:attrNameLst>
                                      </p:cBhvr>
                                      <p:to>
                                        <p:strVal val="visible"/>
                                      </p:to>
                                    </p:set>
                                  </p:childTnLst>
                                </p:cTn>
                              </p:par>
                              <p:par>
                                <p:cTn id="25" presetID="1" presetClass="entr" presetSubtype="0" fill="hold" grpId="0" nodeType="withEffect">
                                  <p:stCondLst>
                                    <p:cond delay="0"/>
                                  </p:stCondLst>
                                  <p:childTnLst>
                                    <p:set>
                                      <p:cBhvr>
                                        <p:cTn id="26" dur="1" fill="hold">
                                          <p:stCondLst>
                                            <p:cond delay="0"/>
                                          </p:stCondLst>
                                        </p:cTn>
                                        <p:tgtEl>
                                          <p:spTgt spid="19"/>
                                        </p:tgtEl>
                                        <p:attrNameLst>
                                          <p:attrName>style.visibility</p:attrName>
                                        </p:attrNameLst>
                                      </p:cBhvr>
                                      <p:to>
                                        <p:strVal val="visible"/>
                                      </p:to>
                                    </p:set>
                                  </p:childTnLst>
                                </p:cTn>
                              </p:par>
                              <p:par>
                                <p:cTn id="27" presetID="1" presetClass="entr" presetSubtype="0" fill="hold" grpId="0" nodeType="withEffect">
                                  <p:stCondLst>
                                    <p:cond delay="0"/>
                                  </p:stCondLst>
                                  <p:childTnLst>
                                    <p:set>
                                      <p:cBhvr>
                                        <p:cTn id="28" dur="1" fill="hold">
                                          <p:stCondLst>
                                            <p:cond delay="0"/>
                                          </p:stCondLst>
                                        </p:cTn>
                                        <p:tgtEl>
                                          <p:spTgt spid="20"/>
                                        </p:tgtEl>
                                        <p:attrNameLst>
                                          <p:attrName>style.visibility</p:attrName>
                                        </p:attrNameLst>
                                      </p:cBhvr>
                                      <p:to>
                                        <p:strVal val="visible"/>
                                      </p:to>
                                    </p:set>
                                  </p:childTnLst>
                                </p:cTn>
                              </p:par>
                              <p:par>
                                <p:cTn id="29" presetID="1" presetClass="entr" presetSubtype="0" fill="hold" grpId="0" nodeType="withEffect">
                                  <p:stCondLst>
                                    <p:cond delay="0"/>
                                  </p:stCondLst>
                                  <p:childTnLst>
                                    <p:set>
                                      <p:cBhvr>
                                        <p:cTn id="30" dur="1" fill="hold">
                                          <p:stCondLst>
                                            <p:cond delay="0"/>
                                          </p:stCondLst>
                                        </p:cTn>
                                        <p:tgtEl>
                                          <p:spTgt spid="21"/>
                                        </p:tgtEl>
                                        <p:attrNameLst>
                                          <p:attrName>style.visibility</p:attrName>
                                        </p:attrNameLst>
                                      </p:cBhvr>
                                      <p:to>
                                        <p:strVal val="visible"/>
                                      </p:to>
                                    </p:set>
                                  </p:childTnLst>
                                </p:cTn>
                              </p:par>
                            </p:childTnLst>
                          </p:cTn>
                        </p:par>
                      </p:childTnLst>
                    </p:cTn>
                  </p:par>
                  <p:par>
                    <p:cTn id="31" fill="hold">
                      <p:stCondLst>
                        <p:cond delay="indefinite"/>
                      </p:stCondLst>
                      <p:childTnLst>
                        <p:par>
                          <p:cTn id="32" fill="hold">
                            <p:stCondLst>
                              <p:cond delay="0"/>
                            </p:stCondLst>
                            <p:childTnLst>
                              <p:par>
                                <p:cTn id="33" presetID="1" presetClass="entr" presetSubtype="0" fill="hold" grpId="0" nodeType="clickEffect">
                                  <p:stCondLst>
                                    <p:cond delay="0"/>
                                  </p:stCondLst>
                                  <p:childTnLst>
                                    <p:set>
                                      <p:cBhvr>
                                        <p:cTn id="34" dur="1" fill="hold">
                                          <p:stCondLst>
                                            <p:cond delay="0"/>
                                          </p:stCondLst>
                                        </p:cTn>
                                        <p:tgtEl>
                                          <p:spTgt spid="2"/>
                                        </p:tgtEl>
                                        <p:attrNameLst>
                                          <p:attrName>style.visibility</p:attrName>
                                        </p:attrNameLst>
                                      </p:cBhvr>
                                      <p:to>
                                        <p:strVal val="visible"/>
                                      </p:to>
                                    </p:set>
                                  </p:childTnLst>
                                </p:cTn>
                              </p:par>
                              <p:par>
                                <p:cTn id="35" presetID="1" presetClass="entr" presetSubtype="0" fill="hold" nodeType="withEffect">
                                  <p:stCondLst>
                                    <p:cond delay="0"/>
                                  </p:stCondLst>
                                  <p:childTnLst>
                                    <p:set>
                                      <p:cBhvr>
                                        <p:cTn id="36" dur="1" fill="hold">
                                          <p:stCondLst>
                                            <p:cond delay="0"/>
                                          </p:stCondLst>
                                        </p:cTn>
                                        <p:tgtEl>
                                          <p:spTgt spid="4"/>
                                        </p:tgtEl>
                                        <p:attrNameLst>
                                          <p:attrName>style.visibility</p:attrName>
                                        </p:attrNameLst>
                                      </p:cBhvr>
                                      <p:to>
                                        <p:strVal val="visible"/>
                                      </p:to>
                                    </p:set>
                                  </p:childTnLst>
                                </p:cTn>
                              </p:par>
                              <p:par>
                                <p:cTn id="37" presetID="1" presetClass="entr" presetSubtype="0" fill="hold" grpId="0" nodeType="withEffect">
                                  <p:stCondLst>
                                    <p:cond delay="0"/>
                                  </p:stCondLst>
                                  <p:childTnLst>
                                    <p:set>
                                      <p:cBhvr>
                                        <p:cTn id="38" dur="1" fill="hold">
                                          <p:stCondLst>
                                            <p:cond delay="0"/>
                                          </p:stCondLst>
                                        </p:cTn>
                                        <p:tgtEl>
                                          <p:spTgt spid="22"/>
                                        </p:tgtEl>
                                        <p:attrNameLst>
                                          <p:attrName>style.visibility</p:attrName>
                                        </p:attrNameLst>
                                      </p:cBhvr>
                                      <p:to>
                                        <p:strVal val="visible"/>
                                      </p:to>
                                    </p:set>
                                  </p:childTnLst>
                                </p:cTn>
                              </p:par>
                              <p:par>
                                <p:cTn id="39" presetID="1" presetClass="entr" presetSubtype="0" fill="hold" grpId="0" nodeType="withEffect">
                                  <p:stCondLst>
                                    <p:cond delay="0"/>
                                  </p:stCondLst>
                                  <p:childTnLst>
                                    <p:set>
                                      <p:cBhvr>
                                        <p:cTn id="40" dur="1" fill="hold">
                                          <p:stCondLst>
                                            <p:cond delay="0"/>
                                          </p:stCondLst>
                                        </p:cTn>
                                        <p:tgtEl>
                                          <p:spTgt spid="24"/>
                                        </p:tgtEl>
                                        <p:attrNameLst>
                                          <p:attrName>style.visibility</p:attrName>
                                        </p:attrNameLst>
                                      </p:cBhvr>
                                      <p:to>
                                        <p:strVal val="visible"/>
                                      </p:to>
                                    </p:set>
                                  </p:childTnLst>
                                </p:cTn>
                              </p:par>
                              <p:par>
                                <p:cTn id="41" presetID="1" presetClass="entr" presetSubtype="0" fill="hold" grpId="0" nodeType="withEffect">
                                  <p:stCondLst>
                                    <p:cond delay="0"/>
                                  </p:stCondLst>
                                  <p:childTnLst>
                                    <p:set>
                                      <p:cBhvr>
                                        <p:cTn id="42" dur="1" fill="hold">
                                          <p:stCondLst>
                                            <p:cond delay="0"/>
                                          </p:stCondLst>
                                        </p:cTn>
                                        <p:tgtEl>
                                          <p:spTgt spid="25"/>
                                        </p:tgtEl>
                                        <p:attrNameLst>
                                          <p:attrName>style.visibility</p:attrName>
                                        </p:attrNameLst>
                                      </p:cBhvr>
                                      <p:to>
                                        <p:strVal val="visible"/>
                                      </p:to>
                                    </p:set>
                                  </p:childTnLst>
                                </p:cTn>
                              </p:par>
                            </p:childTnLst>
                          </p:cTn>
                        </p:par>
                      </p:childTnLst>
                    </p:cTn>
                  </p:par>
                  <p:par>
                    <p:cTn id="43" fill="hold">
                      <p:stCondLst>
                        <p:cond delay="indefinite"/>
                      </p:stCondLst>
                      <p:childTnLst>
                        <p:par>
                          <p:cTn id="44" fill="hold">
                            <p:stCondLst>
                              <p:cond delay="0"/>
                            </p:stCondLst>
                            <p:childTnLst>
                              <p:par>
                                <p:cTn id="45" presetID="1" presetClass="entr" presetSubtype="0" fill="hold" nodeType="clickEffect">
                                  <p:stCondLst>
                                    <p:cond delay="0"/>
                                  </p:stCondLst>
                                  <p:childTnLst>
                                    <p:set>
                                      <p:cBhvr>
                                        <p:cTn id="46" dur="1" fill="hold">
                                          <p:stCondLst>
                                            <p:cond delay="0"/>
                                          </p:stCondLst>
                                        </p:cTn>
                                        <p:tgtEl>
                                          <p:spTgt spid="5"/>
                                        </p:tgtEl>
                                        <p:attrNameLst>
                                          <p:attrName>style.visibility</p:attrName>
                                        </p:attrNameLst>
                                      </p:cBhvr>
                                      <p:to>
                                        <p:strVal val="visible"/>
                                      </p:to>
                                    </p:set>
                                  </p:childTnLst>
                                </p:cTn>
                              </p:par>
                              <p:par>
                                <p:cTn id="47" presetID="1" presetClass="entr" presetSubtype="0" fill="hold" grpId="1" nodeType="withEffect">
                                  <p:stCondLst>
                                    <p:cond delay="0"/>
                                  </p:stCondLst>
                                  <p:childTnLst>
                                    <p:set>
                                      <p:cBhvr>
                                        <p:cTn id="48" dur="1" fill="hold">
                                          <p:stCondLst>
                                            <p:cond delay="0"/>
                                          </p:stCondLst>
                                        </p:cTn>
                                        <p:tgtEl>
                                          <p:spTgt spid="7"/>
                                        </p:tgtEl>
                                        <p:attrNameLst>
                                          <p:attrName>style.visibility</p:attrName>
                                        </p:attrNameLst>
                                      </p:cBhvr>
                                      <p:to>
                                        <p:strVal val="visible"/>
                                      </p:to>
                                    </p:set>
                                  </p:childTnLst>
                                </p:cTn>
                              </p:par>
                              <p:par>
                                <p:cTn id="49" presetID="1" presetClass="entr" presetSubtype="0" fill="hold" grpId="1" nodeType="withEffect">
                                  <p:stCondLst>
                                    <p:cond delay="0"/>
                                  </p:stCondLst>
                                  <p:childTnLst>
                                    <p:set>
                                      <p:cBhvr>
                                        <p:cTn id="50" dur="1" fill="hold">
                                          <p:stCondLst>
                                            <p:cond delay="0"/>
                                          </p:stCondLst>
                                        </p:cTn>
                                        <p:tgtEl>
                                          <p:spTgt spid="8"/>
                                        </p:tgtEl>
                                        <p:attrNameLst>
                                          <p:attrName>style.visibility</p:attrName>
                                        </p:attrNameLst>
                                      </p:cBhvr>
                                      <p:to>
                                        <p:strVal val="visible"/>
                                      </p:to>
                                    </p:set>
                                  </p:childTnLst>
                                </p:cTn>
                              </p:par>
                              <p:par>
                                <p:cTn id="51" presetID="1" presetClass="entr" presetSubtype="0" fill="hold" grpId="1" nodeType="withEffect">
                                  <p:stCondLst>
                                    <p:cond delay="0"/>
                                  </p:stCondLst>
                                  <p:childTnLst>
                                    <p:set>
                                      <p:cBhvr>
                                        <p:cTn id="52" dur="1" fill="hold">
                                          <p:stCondLst>
                                            <p:cond delay="0"/>
                                          </p:stCondLst>
                                        </p:cTn>
                                        <p:tgtEl>
                                          <p:spTgt spid="9"/>
                                        </p:tgtEl>
                                        <p:attrNameLst>
                                          <p:attrName>style.visibility</p:attrName>
                                        </p:attrNameLst>
                                      </p:cBhvr>
                                      <p:to>
                                        <p:strVal val="visible"/>
                                      </p:to>
                                    </p:set>
                                  </p:childTnLst>
                                </p:cTn>
                              </p:par>
                              <p:par>
                                <p:cTn id="53" presetID="1" presetClass="entr" presetSubtype="0" fill="hold" grpId="1" nodeType="withEffect">
                                  <p:stCondLst>
                                    <p:cond delay="0"/>
                                  </p:stCondLst>
                                  <p:childTnLst>
                                    <p:set>
                                      <p:cBhvr>
                                        <p:cTn id="54" dur="1" fill="hold">
                                          <p:stCondLst>
                                            <p:cond delay="0"/>
                                          </p:stCondLst>
                                        </p:cTn>
                                        <p:tgtEl>
                                          <p:spTgt spid="10"/>
                                        </p:tgtEl>
                                        <p:attrNameLst>
                                          <p:attrName>style.visibility</p:attrName>
                                        </p:attrNameLst>
                                      </p:cBhvr>
                                      <p:to>
                                        <p:strVal val="visible"/>
                                      </p:to>
                                    </p:set>
                                  </p:childTnLst>
                                </p:cTn>
                              </p:par>
                              <p:par>
                                <p:cTn id="55" presetID="1" presetClass="entr" presetSubtype="0" fill="hold" grpId="1" nodeType="withEffect">
                                  <p:stCondLst>
                                    <p:cond delay="0"/>
                                  </p:stCondLst>
                                  <p:childTnLst>
                                    <p:set>
                                      <p:cBhvr>
                                        <p:cTn id="56" dur="1" fill="hold">
                                          <p:stCondLst>
                                            <p:cond delay="0"/>
                                          </p:stCondLst>
                                        </p:cTn>
                                        <p:tgtEl>
                                          <p:spTgt spid="11"/>
                                        </p:tgtEl>
                                        <p:attrNameLst>
                                          <p:attrName>style.visibility</p:attrName>
                                        </p:attrNameLst>
                                      </p:cBhvr>
                                      <p:to>
                                        <p:strVal val="visible"/>
                                      </p:to>
                                    </p:set>
                                  </p:childTnLst>
                                </p:cTn>
                              </p:par>
                              <p:par>
                                <p:cTn id="57" presetID="1" presetClass="entr" presetSubtype="0" fill="hold" grpId="1" nodeType="withEffect">
                                  <p:stCondLst>
                                    <p:cond delay="0"/>
                                  </p:stCondLst>
                                  <p:childTnLst>
                                    <p:set>
                                      <p:cBhvr>
                                        <p:cTn id="58" dur="1" fill="hold">
                                          <p:stCondLst>
                                            <p:cond delay="0"/>
                                          </p:stCondLst>
                                        </p:cTn>
                                        <p:tgtEl>
                                          <p:spTgt spid="12"/>
                                        </p:tgtEl>
                                        <p:attrNameLst>
                                          <p:attrName>style.visibility</p:attrName>
                                        </p:attrNameLst>
                                      </p:cBhvr>
                                      <p:to>
                                        <p:strVal val="visible"/>
                                      </p:to>
                                    </p:set>
                                  </p:childTnLst>
                                </p:cTn>
                              </p:par>
                              <p:par>
                                <p:cTn id="59" presetID="1" presetClass="entr" presetSubtype="0" fill="hold" grpId="1" nodeType="withEffect">
                                  <p:stCondLst>
                                    <p:cond delay="0"/>
                                  </p:stCondLst>
                                  <p:childTnLst>
                                    <p:set>
                                      <p:cBhvr>
                                        <p:cTn id="60" dur="1" fill="hold">
                                          <p:stCondLst>
                                            <p:cond delay="0"/>
                                          </p:stCondLst>
                                        </p:cTn>
                                        <p:tgtEl>
                                          <p:spTgt spid="13"/>
                                        </p:tgtEl>
                                        <p:attrNameLst>
                                          <p:attrName>style.visibility</p:attrName>
                                        </p:attrNameLst>
                                      </p:cBhvr>
                                      <p:to>
                                        <p:strVal val="visible"/>
                                      </p:to>
                                    </p:set>
                                  </p:childTnLst>
                                </p:cTn>
                              </p:par>
                              <p:par>
                                <p:cTn id="61" presetID="1" presetClass="entr" presetSubtype="0" fill="hold" grpId="1" nodeType="withEffect">
                                  <p:stCondLst>
                                    <p:cond delay="0"/>
                                  </p:stCondLst>
                                  <p:childTnLst>
                                    <p:set>
                                      <p:cBhvr>
                                        <p:cTn id="62" dur="1" fill="hold">
                                          <p:stCondLst>
                                            <p:cond delay="0"/>
                                          </p:stCondLst>
                                        </p:cTn>
                                        <p:tgtEl>
                                          <p:spTgt spid="14"/>
                                        </p:tgtEl>
                                        <p:attrNameLst>
                                          <p:attrName>style.visibility</p:attrName>
                                        </p:attrNameLst>
                                      </p:cBhvr>
                                      <p:to>
                                        <p:strVal val="visible"/>
                                      </p:to>
                                    </p:set>
                                  </p:childTnLst>
                                </p:cTn>
                              </p:par>
                              <p:par>
                                <p:cTn id="63" presetID="1" presetClass="entr" presetSubtype="0" fill="hold" grpId="1" nodeType="withEffect">
                                  <p:stCondLst>
                                    <p:cond delay="0"/>
                                  </p:stCondLst>
                                  <p:childTnLst>
                                    <p:set>
                                      <p:cBhvr>
                                        <p:cTn id="64" dur="1" fill="hold">
                                          <p:stCondLst>
                                            <p:cond delay="0"/>
                                          </p:stCondLst>
                                        </p:cTn>
                                        <p:tgtEl>
                                          <p:spTgt spid="18"/>
                                        </p:tgtEl>
                                        <p:attrNameLst>
                                          <p:attrName>style.visibility</p:attrName>
                                        </p:attrNameLst>
                                      </p:cBhvr>
                                      <p:to>
                                        <p:strVal val="visible"/>
                                      </p:to>
                                    </p:set>
                                  </p:childTnLst>
                                </p:cTn>
                              </p:par>
                              <p:par>
                                <p:cTn id="65" presetID="1" presetClass="entr" presetSubtype="0" fill="hold" grpId="1" nodeType="withEffect">
                                  <p:stCondLst>
                                    <p:cond delay="0"/>
                                  </p:stCondLst>
                                  <p:childTnLst>
                                    <p:set>
                                      <p:cBhvr>
                                        <p:cTn id="66" dur="1" fill="hold">
                                          <p:stCondLst>
                                            <p:cond delay="0"/>
                                          </p:stCondLst>
                                        </p:cTn>
                                        <p:tgtEl>
                                          <p:spTgt spid="19"/>
                                        </p:tgtEl>
                                        <p:attrNameLst>
                                          <p:attrName>style.visibility</p:attrName>
                                        </p:attrNameLst>
                                      </p:cBhvr>
                                      <p:to>
                                        <p:strVal val="visible"/>
                                      </p:to>
                                    </p:set>
                                  </p:childTnLst>
                                </p:cTn>
                              </p:par>
                              <p:par>
                                <p:cTn id="67" presetID="1" presetClass="entr" presetSubtype="0" fill="hold" grpId="1" nodeType="withEffect">
                                  <p:stCondLst>
                                    <p:cond delay="0"/>
                                  </p:stCondLst>
                                  <p:childTnLst>
                                    <p:set>
                                      <p:cBhvr>
                                        <p:cTn id="68" dur="1" fill="hold">
                                          <p:stCondLst>
                                            <p:cond delay="0"/>
                                          </p:stCondLst>
                                        </p:cTn>
                                        <p:tgtEl>
                                          <p:spTgt spid="20"/>
                                        </p:tgtEl>
                                        <p:attrNameLst>
                                          <p:attrName>style.visibility</p:attrName>
                                        </p:attrNameLst>
                                      </p:cBhvr>
                                      <p:to>
                                        <p:strVal val="visible"/>
                                      </p:to>
                                    </p:set>
                                  </p:childTnLst>
                                </p:cTn>
                              </p:par>
                              <p:par>
                                <p:cTn id="69" presetID="1" presetClass="entr" presetSubtype="0" fill="hold" grpId="1" nodeType="withEffect">
                                  <p:stCondLst>
                                    <p:cond delay="0"/>
                                  </p:stCondLst>
                                  <p:childTnLst>
                                    <p:set>
                                      <p:cBhvr>
                                        <p:cTn id="70" dur="1" fill="hold">
                                          <p:stCondLst>
                                            <p:cond delay="0"/>
                                          </p:stCondLst>
                                        </p:cTn>
                                        <p:tgtEl>
                                          <p:spTgt spid="21"/>
                                        </p:tgtEl>
                                        <p:attrNameLst>
                                          <p:attrName>style.visibility</p:attrName>
                                        </p:attrNameLst>
                                      </p:cBhvr>
                                      <p:to>
                                        <p:strVal val="visible"/>
                                      </p:to>
                                    </p:set>
                                  </p:childTnLst>
                                </p:cTn>
                              </p:par>
                              <p:par>
                                <p:cTn id="71" presetID="1" presetClass="entr" presetSubtype="0" fill="hold" nodeType="withEffect">
                                  <p:stCondLst>
                                    <p:cond delay="0"/>
                                  </p:stCondLst>
                                  <p:childTnLst>
                                    <p:set>
                                      <p:cBhvr>
                                        <p:cTn id="72" dur="1" fill="hold">
                                          <p:stCondLst>
                                            <p:cond delay="0"/>
                                          </p:stCondLst>
                                        </p:cTn>
                                        <p:tgtEl>
                                          <p:spTgt spid="4"/>
                                        </p:tgtEl>
                                        <p:attrNameLst>
                                          <p:attrName>style.visibility</p:attrName>
                                        </p:attrNameLst>
                                      </p:cBhvr>
                                      <p:to>
                                        <p:strVal val="visible"/>
                                      </p:to>
                                    </p:set>
                                  </p:childTnLst>
                                </p:cTn>
                              </p:par>
                              <p:par>
                                <p:cTn id="73" presetID="1" presetClass="entr" presetSubtype="0" fill="hold" grpId="1" nodeType="withEffect">
                                  <p:stCondLst>
                                    <p:cond delay="0"/>
                                  </p:stCondLst>
                                  <p:childTnLst>
                                    <p:set>
                                      <p:cBhvr>
                                        <p:cTn id="74" dur="1" fill="hold">
                                          <p:stCondLst>
                                            <p:cond delay="0"/>
                                          </p:stCondLst>
                                        </p:cTn>
                                        <p:tgtEl>
                                          <p:spTgt spid="22"/>
                                        </p:tgtEl>
                                        <p:attrNameLst>
                                          <p:attrName>style.visibility</p:attrName>
                                        </p:attrNameLst>
                                      </p:cBhvr>
                                      <p:to>
                                        <p:strVal val="visible"/>
                                      </p:to>
                                    </p:set>
                                  </p:childTnLst>
                                </p:cTn>
                              </p:par>
                              <p:par>
                                <p:cTn id="75" presetID="1" presetClass="entr" presetSubtype="0" fill="hold" grpId="1" nodeType="withEffect">
                                  <p:stCondLst>
                                    <p:cond delay="0"/>
                                  </p:stCondLst>
                                  <p:childTnLst>
                                    <p:set>
                                      <p:cBhvr>
                                        <p:cTn id="76" dur="1" fill="hold">
                                          <p:stCondLst>
                                            <p:cond delay="0"/>
                                          </p:stCondLst>
                                        </p:cTn>
                                        <p:tgtEl>
                                          <p:spTgt spid="24"/>
                                        </p:tgtEl>
                                        <p:attrNameLst>
                                          <p:attrName>style.visibility</p:attrName>
                                        </p:attrNameLst>
                                      </p:cBhvr>
                                      <p:to>
                                        <p:strVal val="visible"/>
                                      </p:to>
                                    </p:set>
                                  </p:childTnLst>
                                </p:cTn>
                              </p:par>
                              <p:par>
                                <p:cTn id="77" presetID="1" presetClass="entr" presetSubtype="0" fill="hold" grpId="1" nodeType="withEffect">
                                  <p:stCondLst>
                                    <p:cond delay="0"/>
                                  </p:stCondLst>
                                  <p:childTnLst>
                                    <p:set>
                                      <p:cBhvr>
                                        <p:cTn id="78" dur="1" fill="hold">
                                          <p:stCondLst>
                                            <p:cond delay="0"/>
                                          </p:stCondLst>
                                        </p:cTn>
                                        <p:tgtEl>
                                          <p:spTgt spid="25"/>
                                        </p:tgtEl>
                                        <p:attrNameLst>
                                          <p:attrName>style.visibility</p:attrName>
                                        </p:attrNameLst>
                                      </p:cBhvr>
                                      <p:to>
                                        <p:strVal val="visible"/>
                                      </p:to>
                                    </p:set>
                                  </p:childTnLst>
                                </p:cTn>
                              </p:par>
                              <p:par>
                                <p:cTn id="79" presetID="1" presetClass="entr" presetSubtype="0" fill="hold" nodeType="withEffect">
                                  <p:stCondLst>
                                    <p:cond delay="0"/>
                                  </p:stCondLst>
                                  <p:childTnLst>
                                    <p:set>
                                      <p:cBhvr>
                                        <p:cTn id="80" dur="1" fill="hold">
                                          <p:stCondLst>
                                            <p:cond delay="0"/>
                                          </p:stCondLst>
                                        </p:cTn>
                                        <p:tgtEl>
                                          <p:spTgt spid="31"/>
                                        </p:tgtEl>
                                        <p:attrNameLst>
                                          <p:attrName>style.visibility</p:attrName>
                                        </p:attrNameLst>
                                      </p:cBhvr>
                                      <p:to>
                                        <p:strVal val="visible"/>
                                      </p:to>
                                    </p:set>
                                  </p:childTnLst>
                                </p:cTn>
                              </p:par>
                              <p:par>
                                <p:cTn id="81" presetID="1" presetClass="entr" presetSubtype="0" fill="hold" nodeType="withEffect">
                                  <p:stCondLst>
                                    <p:cond delay="0"/>
                                  </p:stCondLst>
                                  <p:childTnLst>
                                    <p:set>
                                      <p:cBhvr>
                                        <p:cTn id="82" dur="1" fill="hold">
                                          <p:stCondLst>
                                            <p:cond delay="0"/>
                                          </p:stCondLst>
                                        </p:cTn>
                                        <p:tgtEl>
                                          <p:spTgt spid="32"/>
                                        </p:tgtEl>
                                        <p:attrNameLst>
                                          <p:attrName>style.visibility</p:attrName>
                                        </p:attrNameLst>
                                      </p:cBhvr>
                                      <p:to>
                                        <p:strVal val="visible"/>
                                      </p:to>
                                    </p:set>
                                  </p:childTnLst>
                                </p:cTn>
                              </p:par>
                              <p:par>
                                <p:cTn id="83" presetID="1" presetClass="entr" presetSubtype="0" fill="hold" nodeType="withEffect">
                                  <p:stCondLst>
                                    <p:cond delay="0"/>
                                  </p:stCondLst>
                                  <p:childTnLst>
                                    <p:set>
                                      <p:cBhvr>
                                        <p:cTn id="84" dur="1" fill="hold">
                                          <p:stCondLst>
                                            <p:cond delay="0"/>
                                          </p:stCondLst>
                                        </p:cTn>
                                        <p:tgtEl>
                                          <p:spTgt spid="33"/>
                                        </p:tgtEl>
                                        <p:attrNameLst>
                                          <p:attrName>style.visibility</p:attrName>
                                        </p:attrNameLst>
                                      </p:cBhvr>
                                      <p:to>
                                        <p:strVal val="visible"/>
                                      </p:to>
                                    </p:set>
                                  </p:childTnLst>
                                </p:cTn>
                              </p:par>
                              <p:par>
                                <p:cTn id="85" presetID="1" presetClass="entr" presetSubtype="0" fill="hold" nodeType="withEffect">
                                  <p:stCondLst>
                                    <p:cond delay="0"/>
                                  </p:stCondLst>
                                  <p:childTnLst>
                                    <p:set>
                                      <p:cBhvr>
                                        <p:cTn id="86" dur="1" fill="hold">
                                          <p:stCondLst>
                                            <p:cond delay="0"/>
                                          </p:stCondLst>
                                        </p:cTn>
                                        <p:tgtEl>
                                          <p:spTgt spid="34"/>
                                        </p:tgtEl>
                                        <p:attrNameLst>
                                          <p:attrName>style.visibility</p:attrName>
                                        </p:attrNameLst>
                                      </p:cBhvr>
                                      <p:to>
                                        <p:strVal val="visible"/>
                                      </p:to>
                                    </p:set>
                                  </p:childTnLst>
                                </p:cTn>
                              </p:par>
                              <p:par>
                                <p:cTn id="87" presetID="1" presetClass="entr" presetSubtype="0" fill="hold" nodeType="withEffect">
                                  <p:stCondLst>
                                    <p:cond delay="0"/>
                                  </p:stCondLst>
                                  <p:childTnLst>
                                    <p:set>
                                      <p:cBhvr>
                                        <p:cTn id="88" dur="1" fill="hold">
                                          <p:stCondLst>
                                            <p:cond delay="0"/>
                                          </p:stCondLst>
                                        </p:cTn>
                                        <p:tgtEl>
                                          <p:spTgt spid="36"/>
                                        </p:tgtEl>
                                        <p:attrNameLst>
                                          <p:attrName>style.visibility</p:attrName>
                                        </p:attrNameLst>
                                      </p:cBhvr>
                                      <p:to>
                                        <p:strVal val="visible"/>
                                      </p:to>
                                    </p:set>
                                  </p:childTnLst>
                                </p:cTn>
                              </p:par>
                              <p:par>
                                <p:cTn id="89" presetID="1" presetClass="entr" presetSubtype="0" fill="hold" nodeType="withEffect">
                                  <p:stCondLst>
                                    <p:cond delay="0"/>
                                  </p:stCondLst>
                                  <p:childTnLst>
                                    <p:set>
                                      <p:cBhvr>
                                        <p:cTn id="90" dur="1" fill="hold">
                                          <p:stCondLst>
                                            <p:cond delay="0"/>
                                          </p:stCondLst>
                                        </p:cTn>
                                        <p:tgtEl>
                                          <p:spTgt spid="37"/>
                                        </p:tgtEl>
                                        <p:attrNameLst>
                                          <p:attrName>style.visibility</p:attrName>
                                        </p:attrNameLst>
                                      </p:cBhvr>
                                      <p:to>
                                        <p:strVal val="visible"/>
                                      </p:to>
                                    </p:set>
                                  </p:childTnLst>
                                </p:cTn>
                              </p:par>
                              <p:par>
                                <p:cTn id="91" presetID="1" presetClass="entr" presetSubtype="0" fill="hold" nodeType="withEffect">
                                  <p:stCondLst>
                                    <p:cond delay="0"/>
                                  </p:stCondLst>
                                  <p:childTnLst>
                                    <p:set>
                                      <p:cBhvr>
                                        <p:cTn id="92" dur="1" fill="hold">
                                          <p:stCondLst>
                                            <p:cond delay="0"/>
                                          </p:stCondLst>
                                        </p:cTn>
                                        <p:tgtEl>
                                          <p:spTgt spid="39"/>
                                        </p:tgtEl>
                                        <p:attrNameLst>
                                          <p:attrName>style.visibility</p:attrName>
                                        </p:attrNameLst>
                                      </p:cBhvr>
                                      <p:to>
                                        <p:strVal val="visible"/>
                                      </p:to>
                                    </p:set>
                                  </p:childTnLst>
                                </p:cTn>
                              </p:par>
                              <p:par>
                                <p:cTn id="93" presetID="1" presetClass="entr" presetSubtype="0" fill="hold" nodeType="withEffect">
                                  <p:stCondLst>
                                    <p:cond delay="0"/>
                                  </p:stCondLst>
                                  <p:childTnLst>
                                    <p:set>
                                      <p:cBhvr>
                                        <p:cTn id="94" dur="1" fill="hold">
                                          <p:stCondLst>
                                            <p:cond delay="0"/>
                                          </p:stCondLst>
                                        </p:cTn>
                                        <p:tgtEl>
                                          <p:spTgt spid="40"/>
                                        </p:tgtEl>
                                        <p:attrNameLst>
                                          <p:attrName>style.visibility</p:attrName>
                                        </p:attrNameLst>
                                      </p:cBhvr>
                                      <p:to>
                                        <p:strVal val="visible"/>
                                      </p:to>
                                    </p:set>
                                  </p:childTnLst>
                                </p:cTn>
                              </p:par>
                              <p:par>
                                <p:cTn id="95" presetID="1" presetClass="entr" presetSubtype="0" fill="hold" nodeType="withEffect">
                                  <p:stCondLst>
                                    <p:cond delay="0"/>
                                  </p:stCondLst>
                                  <p:childTnLst>
                                    <p:set>
                                      <p:cBhvr>
                                        <p:cTn id="96" dur="1" fill="hold">
                                          <p:stCondLst>
                                            <p:cond delay="0"/>
                                          </p:stCondLst>
                                        </p:cTn>
                                        <p:tgtEl>
                                          <p:spTgt spid="41"/>
                                        </p:tgtEl>
                                        <p:attrNameLst>
                                          <p:attrName>style.visibility</p:attrName>
                                        </p:attrNameLst>
                                      </p:cBhvr>
                                      <p:to>
                                        <p:strVal val="visible"/>
                                      </p:to>
                                    </p:set>
                                  </p:childTnLst>
                                </p:cTn>
                              </p:par>
                              <p:par>
                                <p:cTn id="97" presetID="1" presetClass="entr" presetSubtype="0" fill="hold" grpId="0" nodeType="withEffect">
                                  <p:stCondLst>
                                    <p:cond delay="0"/>
                                  </p:stCondLst>
                                  <p:childTnLst>
                                    <p:set>
                                      <p:cBhvr>
                                        <p:cTn id="98" dur="1" fill="hold">
                                          <p:stCondLst>
                                            <p:cond delay="0"/>
                                          </p:stCondLst>
                                        </p:cTn>
                                        <p:tgtEl>
                                          <p:spTgt spid="42"/>
                                        </p:tgtEl>
                                        <p:attrNameLst>
                                          <p:attrName>style.visibility</p:attrName>
                                        </p:attrNameLst>
                                      </p:cBhvr>
                                      <p:to>
                                        <p:strVal val="visible"/>
                                      </p:to>
                                    </p:set>
                                  </p:childTnLst>
                                </p:cTn>
                              </p:par>
                              <p:par>
                                <p:cTn id="99" presetID="1" presetClass="entr" presetSubtype="0" fill="hold" grpId="0" nodeType="withEffect">
                                  <p:stCondLst>
                                    <p:cond delay="0"/>
                                  </p:stCondLst>
                                  <p:childTnLst>
                                    <p:set>
                                      <p:cBhvr>
                                        <p:cTn id="100" dur="1" fill="hold">
                                          <p:stCondLst>
                                            <p:cond delay="0"/>
                                          </p:stCondLst>
                                        </p:cTn>
                                        <p:tgtEl>
                                          <p:spTgt spid="43"/>
                                        </p:tgtEl>
                                        <p:attrNameLst>
                                          <p:attrName>style.visibility</p:attrName>
                                        </p:attrNameLst>
                                      </p:cBhvr>
                                      <p:to>
                                        <p:strVal val="visible"/>
                                      </p:to>
                                    </p:set>
                                  </p:childTnLst>
                                </p:cTn>
                              </p:par>
                              <p:par>
                                <p:cTn id="101" presetID="1" presetClass="entr" presetSubtype="0" fill="hold" grpId="0" nodeType="withEffect">
                                  <p:stCondLst>
                                    <p:cond delay="0"/>
                                  </p:stCondLst>
                                  <p:childTnLst>
                                    <p:set>
                                      <p:cBhvr>
                                        <p:cTn id="102" dur="1" fill="hold">
                                          <p:stCondLst>
                                            <p:cond delay="0"/>
                                          </p:stCondLst>
                                        </p:cTn>
                                        <p:tgtEl>
                                          <p:spTgt spid="44"/>
                                        </p:tgtEl>
                                        <p:attrNameLst>
                                          <p:attrName>style.visibility</p:attrName>
                                        </p:attrNameLst>
                                      </p:cBhvr>
                                      <p:to>
                                        <p:strVal val="visible"/>
                                      </p:to>
                                    </p:set>
                                  </p:childTnLst>
                                </p:cTn>
                              </p:par>
                              <p:par>
                                <p:cTn id="103" presetID="1" presetClass="entr" presetSubtype="0" fill="hold" grpId="0" nodeType="withEffect">
                                  <p:stCondLst>
                                    <p:cond delay="0"/>
                                  </p:stCondLst>
                                  <p:childTnLst>
                                    <p:set>
                                      <p:cBhvr>
                                        <p:cTn id="104" dur="1" fill="hold">
                                          <p:stCondLst>
                                            <p:cond delay="0"/>
                                          </p:stCondLst>
                                        </p:cTn>
                                        <p:tgtEl>
                                          <p:spTgt spid="45"/>
                                        </p:tgtEl>
                                        <p:attrNameLst>
                                          <p:attrName>style.visibility</p:attrName>
                                        </p:attrNameLst>
                                      </p:cBhvr>
                                      <p:to>
                                        <p:strVal val="visible"/>
                                      </p:to>
                                    </p:set>
                                  </p:childTnLst>
                                </p:cTn>
                              </p:par>
                              <p:par>
                                <p:cTn id="105" presetID="1" presetClass="entr" presetSubtype="0" fill="hold" grpId="0" nodeType="withEffect">
                                  <p:stCondLst>
                                    <p:cond delay="0"/>
                                  </p:stCondLst>
                                  <p:childTnLst>
                                    <p:set>
                                      <p:cBhvr>
                                        <p:cTn id="106" dur="1" fill="hold">
                                          <p:stCondLst>
                                            <p:cond delay="0"/>
                                          </p:stCondLst>
                                        </p:cTn>
                                        <p:tgtEl>
                                          <p:spTgt spid="46"/>
                                        </p:tgtEl>
                                        <p:attrNameLst>
                                          <p:attrName>style.visibility</p:attrName>
                                        </p:attrNameLst>
                                      </p:cBhvr>
                                      <p:to>
                                        <p:strVal val="visible"/>
                                      </p:to>
                                    </p:set>
                                  </p:childTnLst>
                                </p:cTn>
                              </p:par>
                              <p:par>
                                <p:cTn id="107" presetID="1" presetClass="entr" presetSubtype="0" fill="hold" grpId="0" nodeType="withEffect">
                                  <p:stCondLst>
                                    <p:cond delay="0"/>
                                  </p:stCondLst>
                                  <p:childTnLst>
                                    <p:set>
                                      <p:cBhvr>
                                        <p:cTn id="108" dur="1" fill="hold">
                                          <p:stCondLst>
                                            <p:cond delay="0"/>
                                          </p:stCondLst>
                                        </p:cTn>
                                        <p:tgtEl>
                                          <p:spTgt spid="47"/>
                                        </p:tgtEl>
                                        <p:attrNameLst>
                                          <p:attrName>style.visibility</p:attrName>
                                        </p:attrNameLst>
                                      </p:cBhvr>
                                      <p:to>
                                        <p:strVal val="visible"/>
                                      </p:to>
                                    </p:set>
                                  </p:childTnLst>
                                </p:cTn>
                              </p:par>
                              <p:par>
                                <p:cTn id="109" presetID="1" presetClass="entr" presetSubtype="0" fill="hold" grpId="0" nodeType="withEffect">
                                  <p:stCondLst>
                                    <p:cond delay="0"/>
                                  </p:stCondLst>
                                  <p:childTnLst>
                                    <p:set>
                                      <p:cBhvr>
                                        <p:cTn id="110" dur="1" fill="hold">
                                          <p:stCondLst>
                                            <p:cond delay="0"/>
                                          </p:stCondLst>
                                        </p:cTn>
                                        <p:tgtEl>
                                          <p:spTgt spid="48"/>
                                        </p:tgtEl>
                                        <p:attrNameLst>
                                          <p:attrName>style.visibility</p:attrName>
                                        </p:attrNameLst>
                                      </p:cBhvr>
                                      <p:to>
                                        <p:strVal val="visible"/>
                                      </p:to>
                                    </p:set>
                                  </p:childTnLst>
                                </p:cTn>
                              </p:par>
                              <p:par>
                                <p:cTn id="111" presetID="1" presetClass="entr" presetSubtype="0" fill="hold" grpId="0" nodeType="withEffect">
                                  <p:stCondLst>
                                    <p:cond delay="0"/>
                                  </p:stCondLst>
                                  <p:childTnLst>
                                    <p:set>
                                      <p:cBhvr>
                                        <p:cTn id="112" dur="1" fill="hold">
                                          <p:stCondLst>
                                            <p:cond delay="0"/>
                                          </p:stCondLst>
                                        </p:cTn>
                                        <p:tgtEl>
                                          <p:spTgt spid="49"/>
                                        </p:tgtEl>
                                        <p:attrNameLst>
                                          <p:attrName>style.visibility</p:attrName>
                                        </p:attrNameLst>
                                      </p:cBhvr>
                                      <p:to>
                                        <p:strVal val="visible"/>
                                      </p:to>
                                    </p:set>
                                  </p:childTnLst>
                                </p:cTn>
                              </p:par>
                              <p:par>
                                <p:cTn id="113" presetID="1" presetClass="entr" presetSubtype="0" fill="hold" grpId="0" nodeType="withEffect">
                                  <p:stCondLst>
                                    <p:cond delay="0"/>
                                  </p:stCondLst>
                                  <p:childTnLst>
                                    <p:set>
                                      <p:cBhvr>
                                        <p:cTn id="114" dur="1" fill="hold">
                                          <p:stCondLst>
                                            <p:cond delay="0"/>
                                          </p:stCondLst>
                                        </p:cTn>
                                        <p:tgtEl>
                                          <p:spTgt spid="50"/>
                                        </p:tgtEl>
                                        <p:attrNameLst>
                                          <p:attrName>style.visibility</p:attrName>
                                        </p:attrNameLst>
                                      </p:cBhvr>
                                      <p:to>
                                        <p:strVal val="visible"/>
                                      </p:to>
                                    </p:set>
                                  </p:childTnLst>
                                </p:cTn>
                              </p:par>
                              <p:par>
                                <p:cTn id="115" presetID="1" presetClass="entr" presetSubtype="0" fill="hold" grpId="0" nodeType="withEffect">
                                  <p:stCondLst>
                                    <p:cond delay="0"/>
                                  </p:stCondLst>
                                  <p:childTnLst>
                                    <p:set>
                                      <p:cBhvr>
                                        <p:cTn id="116" dur="1" fill="hold">
                                          <p:stCondLst>
                                            <p:cond delay="0"/>
                                          </p:stCondLst>
                                        </p:cTn>
                                        <p:tgtEl>
                                          <p:spTgt spid="51"/>
                                        </p:tgtEl>
                                        <p:attrNameLst>
                                          <p:attrName>style.visibility</p:attrName>
                                        </p:attrNameLst>
                                      </p:cBhvr>
                                      <p:to>
                                        <p:strVal val="visible"/>
                                      </p:to>
                                    </p:set>
                                  </p:childTnLst>
                                </p:cTn>
                              </p:par>
                              <p:par>
                                <p:cTn id="117" presetID="1" presetClass="entr" presetSubtype="0" fill="hold" grpId="0" nodeType="withEffect">
                                  <p:stCondLst>
                                    <p:cond delay="0"/>
                                  </p:stCondLst>
                                  <p:childTnLst>
                                    <p:set>
                                      <p:cBhvr>
                                        <p:cTn id="118" dur="1" fill="hold">
                                          <p:stCondLst>
                                            <p:cond delay="0"/>
                                          </p:stCondLst>
                                        </p:cTn>
                                        <p:tgtEl>
                                          <p:spTgt spid="52"/>
                                        </p:tgtEl>
                                        <p:attrNameLst>
                                          <p:attrName>style.visibility</p:attrName>
                                        </p:attrNameLst>
                                      </p:cBhvr>
                                      <p:to>
                                        <p:strVal val="visible"/>
                                      </p:to>
                                    </p:set>
                                  </p:childTnLst>
                                </p:cTn>
                              </p:par>
                              <p:par>
                                <p:cTn id="119" presetID="1" presetClass="entr" presetSubtype="0" fill="hold" nodeType="withEffect">
                                  <p:stCondLst>
                                    <p:cond delay="0"/>
                                  </p:stCondLst>
                                  <p:childTnLst>
                                    <p:set>
                                      <p:cBhvr>
                                        <p:cTn id="120" dur="1" fill="hold">
                                          <p:stCondLst>
                                            <p:cond delay="0"/>
                                          </p:stCondLst>
                                        </p:cTn>
                                        <p:tgtEl>
                                          <p:spTgt spid="54"/>
                                        </p:tgtEl>
                                        <p:attrNameLst>
                                          <p:attrName>style.visibility</p:attrName>
                                        </p:attrNameLst>
                                      </p:cBhvr>
                                      <p:to>
                                        <p:strVal val="visible"/>
                                      </p:to>
                                    </p:set>
                                  </p:childTnLst>
                                </p:cTn>
                              </p:par>
                              <p:par>
                                <p:cTn id="121" presetID="1" presetClass="entr" presetSubtype="0" fill="hold" grpId="0" nodeType="withEffect">
                                  <p:stCondLst>
                                    <p:cond delay="0"/>
                                  </p:stCondLst>
                                  <p:childTnLst>
                                    <p:set>
                                      <p:cBhvr>
                                        <p:cTn id="122" dur="1" fill="hold">
                                          <p:stCondLst>
                                            <p:cond delay="0"/>
                                          </p:stCondLst>
                                        </p:cTn>
                                        <p:tgtEl>
                                          <p:spTgt spid="56"/>
                                        </p:tgtEl>
                                        <p:attrNameLst>
                                          <p:attrName>style.visibility</p:attrName>
                                        </p:attrNameLst>
                                      </p:cBhvr>
                                      <p:to>
                                        <p:strVal val="visible"/>
                                      </p:to>
                                    </p:set>
                                  </p:childTnLst>
                                </p:cTn>
                              </p:par>
                              <p:par>
                                <p:cTn id="123" presetID="1" presetClass="entr" presetSubtype="0" fill="hold" nodeType="withEffect">
                                  <p:stCondLst>
                                    <p:cond delay="0"/>
                                  </p:stCondLst>
                                  <p:childTnLst>
                                    <p:set>
                                      <p:cBhvr>
                                        <p:cTn id="124" dur="1" fill="hold">
                                          <p:stCondLst>
                                            <p:cond delay="0"/>
                                          </p:stCondLst>
                                        </p:cTn>
                                        <p:tgtEl>
                                          <p:spTgt spid="60"/>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P spid="7" grpId="0" animBg="1"/>
      <p:bldP spid="7" grpId="1" animBg="1"/>
      <p:bldP spid="8" grpId="0" animBg="1"/>
      <p:bldP spid="8" grpId="1" animBg="1"/>
      <p:bldP spid="9" grpId="0" animBg="1"/>
      <p:bldP spid="9" grpId="1" animBg="1"/>
      <p:bldP spid="10" grpId="0" animBg="1"/>
      <p:bldP spid="10" grpId="1" animBg="1"/>
      <p:bldP spid="11" grpId="0" animBg="1"/>
      <p:bldP spid="11" grpId="1" animBg="1"/>
      <p:bldP spid="12" grpId="0" animBg="1"/>
      <p:bldP spid="12" grpId="1" animBg="1"/>
      <p:bldP spid="13" grpId="0" animBg="1"/>
      <p:bldP spid="13" grpId="1" animBg="1"/>
      <p:bldP spid="14" grpId="0" animBg="1"/>
      <p:bldP spid="14" grpId="1" animBg="1"/>
      <p:bldP spid="18" grpId="0" animBg="1"/>
      <p:bldP spid="18" grpId="1" animBg="1"/>
      <p:bldP spid="19" grpId="0" animBg="1"/>
      <p:bldP spid="19" grpId="1" animBg="1"/>
      <p:bldP spid="20" grpId="0" animBg="1"/>
      <p:bldP spid="20" grpId="1" animBg="1"/>
      <p:bldP spid="21" grpId="0" animBg="1"/>
      <p:bldP spid="21" grpId="1" animBg="1"/>
      <p:bldP spid="22" grpId="0" animBg="1"/>
      <p:bldP spid="22" grpId="1" animBg="1"/>
      <p:bldP spid="24" grpId="0" animBg="1"/>
      <p:bldP spid="24" grpId="1" animBg="1"/>
      <p:bldP spid="25" grpId="0" animBg="1"/>
      <p:bldP spid="25" grpId="1" animBg="1"/>
      <p:bldP spid="42" grpId="0"/>
      <p:bldP spid="43" grpId="0"/>
      <p:bldP spid="44" grpId="0"/>
      <p:bldP spid="45" grpId="0"/>
      <p:bldP spid="46" grpId="0"/>
      <p:bldP spid="47" grpId="0"/>
      <p:bldP spid="48" grpId="0"/>
      <p:bldP spid="49" grpId="0"/>
      <p:bldP spid="50" grpId="0"/>
      <p:bldP spid="51" grpId="0"/>
      <p:bldP spid="52" grpId="0"/>
      <p:bldP spid="56" grpId="0"/>
    </p:bldLst>
  </p:timing>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CBCC2A5-08EE-7AA4-EEFC-EF7ABCE1D0AB}"/>
              </a:ext>
            </a:extLst>
          </p:cNvPr>
          <p:cNvSpPr>
            <a:spLocks noGrp="1"/>
          </p:cNvSpPr>
          <p:nvPr>
            <p:ph type="title"/>
          </p:nvPr>
        </p:nvSpPr>
        <p:spPr/>
        <p:txBody>
          <a:bodyPr/>
          <a:lstStyle/>
          <a:p>
            <a:r>
              <a:rPr lang="tr-TR" dirty="0" err="1"/>
              <a:t>Classification</a:t>
            </a:r>
            <a:r>
              <a:rPr lang="tr-TR" dirty="0"/>
              <a:t>: </a:t>
            </a:r>
            <a:r>
              <a:rPr lang="tr-TR" dirty="0" err="1"/>
              <a:t>Cancer</a:t>
            </a:r>
            <a:r>
              <a:rPr lang="tr-TR" dirty="0"/>
              <a:t> </a:t>
            </a:r>
            <a:r>
              <a:rPr lang="tr-TR" dirty="0" err="1"/>
              <a:t>Detection</a:t>
            </a:r>
            <a:r>
              <a:rPr lang="tr-TR" dirty="0"/>
              <a:t> </a:t>
            </a:r>
            <a:endParaRPr lang="en-US" dirty="0"/>
          </a:p>
        </p:txBody>
      </p:sp>
      <p:cxnSp>
        <p:nvCxnSpPr>
          <p:cNvPr id="6" name="Straight Arrow Connector 5">
            <a:extLst>
              <a:ext uri="{FF2B5EF4-FFF2-40B4-BE49-F238E27FC236}">
                <a16:creationId xmlns:a16="http://schemas.microsoft.com/office/drawing/2014/main" id="{6FCE84E5-C365-3167-76D3-32A98C1AA10B}"/>
              </a:ext>
            </a:extLst>
          </p:cNvPr>
          <p:cNvCxnSpPr>
            <a:cxnSpLocks/>
          </p:cNvCxnSpPr>
          <p:nvPr/>
        </p:nvCxnSpPr>
        <p:spPr>
          <a:xfrm flipV="1">
            <a:off x="2141552" y="2798379"/>
            <a:ext cx="0" cy="2233712"/>
          </a:xfrm>
          <a:prstGeom prst="straightConnector1">
            <a:avLst/>
          </a:prstGeom>
          <a:ln w="38100">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7" name="Straight Arrow Connector 6">
            <a:extLst>
              <a:ext uri="{FF2B5EF4-FFF2-40B4-BE49-F238E27FC236}">
                <a16:creationId xmlns:a16="http://schemas.microsoft.com/office/drawing/2014/main" id="{9494A7C0-D0B3-A781-95D9-D2CE2BD96B29}"/>
              </a:ext>
            </a:extLst>
          </p:cNvPr>
          <p:cNvCxnSpPr>
            <a:cxnSpLocks/>
          </p:cNvCxnSpPr>
          <p:nvPr/>
        </p:nvCxnSpPr>
        <p:spPr>
          <a:xfrm>
            <a:off x="1934010" y="4767587"/>
            <a:ext cx="7682956" cy="0"/>
          </a:xfrm>
          <a:prstGeom prst="straightConnector1">
            <a:avLst/>
          </a:prstGeom>
          <a:ln w="38100">
            <a:solidFill>
              <a:schemeClr val="tx1"/>
            </a:solidFill>
            <a:tailEnd type="triangle"/>
          </a:ln>
        </p:spPr>
        <p:style>
          <a:lnRef idx="1">
            <a:schemeClr val="accent1"/>
          </a:lnRef>
          <a:fillRef idx="0">
            <a:schemeClr val="accent1"/>
          </a:fillRef>
          <a:effectRef idx="0">
            <a:schemeClr val="accent1"/>
          </a:effectRef>
          <a:fontRef idx="minor">
            <a:schemeClr val="tx1"/>
          </a:fontRef>
        </p:style>
      </p:cxnSp>
      <p:sp>
        <p:nvSpPr>
          <p:cNvPr id="10" name="Star: 5 Points 9">
            <a:extLst>
              <a:ext uri="{FF2B5EF4-FFF2-40B4-BE49-F238E27FC236}">
                <a16:creationId xmlns:a16="http://schemas.microsoft.com/office/drawing/2014/main" id="{34BEE683-D845-588D-5E87-1393D93EEF6B}"/>
              </a:ext>
            </a:extLst>
          </p:cNvPr>
          <p:cNvSpPr/>
          <p:nvPr/>
        </p:nvSpPr>
        <p:spPr>
          <a:xfrm>
            <a:off x="2650030" y="4653141"/>
            <a:ext cx="234758" cy="228892"/>
          </a:xfrm>
          <a:prstGeom prst="star5">
            <a:avLst>
              <a:gd name="adj" fmla="val 19098"/>
              <a:gd name="hf" fmla="val 105146"/>
              <a:gd name="vf" fmla="val 110557"/>
            </a:avLst>
          </a:prstGeom>
          <a:solidFill>
            <a:schemeClr val="accent1"/>
          </a:solidFill>
          <a:ln>
            <a:solidFill>
              <a:schemeClr val="accent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solidFill>
                <a:srgbClr val="0070C0"/>
              </a:solidFill>
            </a:endParaRPr>
          </a:p>
        </p:txBody>
      </p:sp>
      <p:sp>
        <p:nvSpPr>
          <p:cNvPr id="11" name="Star: 5 Points 10">
            <a:extLst>
              <a:ext uri="{FF2B5EF4-FFF2-40B4-BE49-F238E27FC236}">
                <a16:creationId xmlns:a16="http://schemas.microsoft.com/office/drawing/2014/main" id="{78BB5F51-A5DC-B07C-B1A4-F29EFD9EB0FC}"/>
              </a:ext>
            </a:extLst>
          </p:cNvPr>
          <p:cNvSpPr/>
          <p:nvPr/>
        </p:nvSpPr>
        <p:spPr>
          <a:xfrm>
            <a:off x="3118792" y="4653141"/>
            <a:ext cx="234758" cy="228892"/>
          </a:xfrm>
          <a:prstGeom prst="star5">
            <a:avLst>
              <a:gd name="adj" fmla="val 19098"/>
              <a:gd name="hf" fmla="val 105146"/>
              <a:gd name="vf" fmla="val 110557"/>
            </a:avLst>
          </a:prstGeom>
          <a:solidFill>
            <a:schemeClr val="accent1"/>
          </a:solidFill>
          <a:ln>
            <a:solidFill>
              <a:schemeClr val="accent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solidFill>
                <a:srgbClr val="0070C0"/>
              </a:solidFill>
            </a:endParaRPr>
          </a:p>
        </p:txBody>
      </p:sp>
      <p:sp>
        <p:nvSpPr>
          <p:cNvPr id="12" name="Star: 5 Points 11">
            <a:extLst>
              <a:ext uri="{FF2B5EF4-FFF2-40B4-BE49-F238E27FC236}">
                <a16:creationId xmlns:a16="http://schemas.microsoft.com/office/drawing/2014/main" id="{45361C96-E916-6DC3-1203-3F984B3D8704}"/>
              </a:ext>
            </a:extLst>
          </p:cNvPr>
          <p:cNvSpPr/>
          <p:nvPr/>
        </p:nvSpPr>
        <p:spPr>
          <a:xfrm>
            <a:off x="3567585" y="4653141"/>
            <a:ext cx="234758" cy="228892"/>
          </a:xfrm>
          <a:prstGeom prst="star5">
            <a:avLst>
              <a:gd name="adj" fmla="val 19098"/>
              <a:gd name="hf" fmla="val 105146"/>
              <a:gd name="vf" fmla="val 110557"/>
            </a:avLst>
          </a:prstGeom>
          <a:solidFill>
            <a:schemeClr val="accent1"/>
          </a:solidFill>
          <a:ln>
            <a:solidFill>
              <a:schemeClr val="accent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solidFill>
                <a:srgbClr val="0070C0"/>
              </a:solidFill>
            </a:endParaRPr>
          </a:p>
        </p:txBody>
      </p:sp>
      <p:sp>
        <p:nvSpPr>
          <p:cNvPr id="13" name="Star: 5 Points 12">
            <a:extLst>
              <a:ext uri="{FF2B5EF4-FFF2-40B4-BE49-F238E27FC236}">
                <a16:creationId xmlns:a16="http://schemas.microsoft.com/office/drawing/2014/main" id="{B82B4377-3AF4-96CA-6B55-14FD14B6327A}"/>
              </a:ext>
            </a:extLst>
          </p:cNvPr>
          <p:cNvSpPr/>
          <p:nvPr/>
        </p:nvSpPr>
        <p:spPr>
          <a:xfrm>
            <a:off x="4106240" y="4653141"/>
            <a:ext cx="234758" cy="228892"/>
          </a:xfrm>
          <a:prstGeom prst="star5">
            <a:avLst>
              <a:gd name="adj" fmla="val 19098"/>
              <a:gd name="hf" fmla="val 105146"/>
              <a:gd name="vf" fmla="val 110557"/>
            </a:avLst>
          </a:prstGeom>
          <a:solidFill>
            <a:schemeClr val="accent1"/>
          </a:solidFill>
          <a:ln>
            <a:solidFill>
              <a:schemeClr val="accent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solidFill>
                <a:srgbClr val="0070C0"/>
              </a:solidFill>
            </a:endParaRPr>
          </a:p>
        </p:txBody>
      </p:sp>
      <p:sp>
        <p:nvSpPr>
          <p:cNvPr id="14" name="Star: 5 Points 13">
            <a:extLst>
              <a:ext uri="{FF2B5EF4-FFF2-40B4-BE49-F238E27FC236}">
                <a16:creationId xmlns:a16="http://schemas.microsoft.com/office/drawing/2014/main" id="{9FE388EE-D3BD-9EFA-CC3D-540524D93A67}"/>
              </a:ext>
            </a:extLst>
          </p:cNvPr>
          <p:cNvSpPr/>
          <p:nvPr/>
        </p:nvSpPr>
        <p:spPr>
          <a:xfrm>
            <a:off x="5540730" y="4653141"/>
            <a:ext cx="234758" cy="228892"/>
          </a:xfrm>
          <a:prstGeom prst="star5">
            <a:avLst>
              <a:gd name="adj" fmla="val 19098"/>
              <a:gd name="hf" fmla="val 105146"/>
              <a:gd name="vf" fmla="val 110557"/>
            </a:avLst>
          </a:prstGeom>
          <a:solidFill>
            <a:schemeClr val="accent1"/>
          </a:solidFill>
          <a:ln>
            <a:solidFill>
              <a:schemeClr val="accent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solidFill>
                <a:srgbClr val="0070C0"/>
              </a:solidFill>
            </a:endParaRPr>
          </a:p>
        </p:txBody>
      </p:sp>
      <p:sp>
        <p:nvSpPr>
          <p:cNvPr id="15" name="Star: 5 Points 14">
            <a:extLst>
              <a:ext uri="{FF2B5EF4-FFF2-40B4-BE49-F238E27FC236}">
                <a16:creationId xmlns:a16="http://schemas.microsoft.com/office/drawing/2014/main" id="{A49F8186-903C-8CA3-B97B-1CB695B6A5B5}"/>
              </a:ext>
            </a:extLst>
          </p:cNvPr>
          <p:cNvSpPr/>
          <p:nvPr/>
        </p:nvSpPr>
        <p:spPr>
          <a:xfrm>
            <a:off x="6374526" y="4667717"/>
            <a:ext cx="234758" cy="228892"/>
          </a:xfrm>
          <a:prstGeom prst="star5">
            <a:avLst>
              <a:gd name="adj" fmla="val 19098"/>
              <a:gd name="hf" fmla="val 105146"/>
              <a:gd name="vf" fmla="val 110557"/>
            </a:avLst>
          </a:prstGeom>
          <a:solidFill>
            <a:schemeClr val="accent1"/>
          </a:solidFill>
          <a:ln>
            <a:solidFill>
              <a:schemeClr val="accent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solidFill>
                <a:srgbClr val="0070C0"/>
              </a:solidFill>
            </a:endParaRPr>
          </a:p>
        </p:txBody>
      </p:sp>
      <p:cxnSp>
        <p:nvCxnSpPr>
          <p:cNvPr id="23" name="Straight Connector 22">
            <a:extLst>
              <a:ext uri="{FF2B5EF4-FFF2-40B4-BE49-F238E27FC236}">
                <a16:creationId xmlns:a16="http://schemas.microsoft.com/office/drawing/2014/main" id="{EB74288C-8CEF-DA4B-2FB5-F331AC22D712}"/>
              </a:ext>
            </a:extLst>
          </p:cNvPr>
          <p:cNvCxnSpPr>
            <a:cxnSpLocks/>
          </p:cNvCxnSpPr>
          <p:nvPr/>
        </p:nvCxnSpPr>
        <p:spPr>
          <a:xfrm flipH="1">
            <a:off x="2015745" y="3441752"/>
            <a:ext cx="251613" cy="0"/>
          </a:xfrm>
          <a:prstGeom prst="line">
            <a:avLst/>
          </a:prstGeom>
          <a:ln w="38100">
            <a:solidFill>
              <a:schemeClr val="tx1"/>
            </a:solidFill>
          </a:ln>
        </p:spPr>
        <p:style>
          <a:lnRef idx="1">
            <a:schemeClr val="accent1"/>
          </a:lnRef>
          <a:fillRef idx="0">
            <a:schemeClr val="accent1"/>
          </a:fillRef>
          <a:effectRef idx="0">
            <a:schemeClr val="accent1"/>
          </a:effectRef>
          <a:fontRef idx="minor">
            <a:schemeClr val="tx1"/>
          </a:fontRef>
        </p:style>
      </p:cxnSp>
      <p:sp>
        <p:nvSpPr>
          <p:cNvPr id="24" name="TextBox 23">
            <a:extLst>
              <a:ext uri="{FF2B5EF4-FFF2-40B4-BE49-F238E27FC236}">
                <a16:creationId xmlns:a16="http://schemas.microsoft.com/office/drawing/2014/main" id="{F4DCE8E4-3425-38E4-1CB1-D97E86222265}"/>
              </a:ext>
            </a:extLst>
          </p:cNvPr>
          <p:cNvSpPr txBox="1"/>
          <p:nvPr/>
        </p:nvSpPr>
        <p:spPr>
          <a:xfrm>
            <a:off x="3923966" y="5167312"/>
            <a:ext cx="1816266" cy="369332"/>
          </a:xfrm>
          <a:prstGeom prst="rect">
            <a:avLst/>
          </a:prstGeom>
          <a:noFill/>
        </p:spPr>
        <p:txBody>
          <a:bodyPr wrap="none" rtlCol="0">
            <a:spAutoFit/>
          </a:bodyPr>
          <a:lstStyle/>
          <a:p>
            <a:r>
              <a:rPr lang="tr-TR" dirty="0" err="1"/>
              <a:t>Tumor</a:t>
            </a:r>
            <a:r>
              <a:rPr lang="tr-TR" dirty="0"/>
              <a:t> size x (cm)</a:t>
            </a:r>
            <a:endParaRPr lang="en-US" dirty="0"/>
          </a:p>
        </p:txBody>
      </p:sp>
      <p:sp>
        <p:nvSpPr>
          <p:cNvPr id="25" name="TextBox 24">
            <a:extLst>
              <a:ext uri="{FF2B5EF4-FFF2-40B4-BE49-F238E27FC236}">
                <a16:creationId xmlns:a16="http://schemas.microsoft.com/office/drawing/2014/main" id="{7BD62268-B674-8ADD-9574-90876F76227F}"/>
              </a:ext>
            </a:extLst>
          </p:cNvPr>
          <p:cNvSpPr txBox="1"/>
          <p:nvPr/>
        </p:nvSpPr>
        <p:spPr>
          <a:xfrm>
            <a:off x="1732849" y="4398255"/>
            <a:ext cx="301686" cy="369332"/>
          </a:xfrm>
          <a:prstGeom prst="rect">
            <a:avLst/>
          </a:prstGeom>
          <a:noFill/>
        </p:spPr>
        <p:txBody>
          <a:bodyPr wrap="none" rtlCol="0">
            <a:spAutoFit/>
          </a:bodyPr>
          <a:lstStyle/>
          <a:p>
            <a:r>
              <a:rPr lang="tr-TR" dirty="0">
                <a:solidFill>
                  <a:schemeClr val="accent1">
                    <a:lumMod val="75000"/>
                  </a:schemeClr>
                </a:solidFill>
              </a:rPr>
              <a:t>0</a:t>
            </a:r>
            <a:endParaRPr lang="en-US" dirty="0">
              <a:solidFill>
                <a:schemeClr val="accent1">
                  <a:lumMod val="75000"/>
                </a:schemeClr>
              </a:solidFill>
            </a:endParaRPr>
          </a:p>
        </p:txBody>
      </p:sp>
      <p:sp>
        <p:nvSpPr>
          <p:cNvPr id="26" name="TextBox 25">
            <a:extLst>
              <a:ext uri="{FF2B5EF4-FFF2-40B4-BE49-F238E27FC236}">
                <a16:creationId xmlns:a16="http://schemas.microsoft.com/office/drawing/2014/main" id="{AE86C681-19F9-A5AB-1F95-E959CD78027E}"/>
              </a:ext>
            </a:extLst>
          </p:cNvPr>
          <p:cNvSpPr txBox="1"/>
          <p:nvPr/>
        </p:nvSpPr>
        <p:spPr>
          <a:xfrm>
            <a:off x="1722725" y="3267982"/>
            <a:ext cx="301686" cy="369332"/>
          </a:xfrm>
          <a:prstGeom prst="rect">
            <a:avLst/>
          </a:prstGeom>
          <a:noFill/>
        </p:spPr>
        <p:txBody>
          <a:bodyPr wrap="none" rtlCol="0">
            <a:spAutoFit/>
          </a:bodyPr>
          <a:lstStyle/>
          <a:p>
            <a:r>
              <a:rPr lang="tr-TR" dirty="0">
                <a:solidFill>
                  <a:schemeClr val="accent6">
                    <a:lumMod val="75000"/>
                  </a:schemeClr>
                </a:solidFill>
              </a:rPr>
              <a:t>1</a:t>
            </a:r>
            <a:endParaRPr lang="en-US" dirty="0">
              <a:solidFill>
                <a:schemeClr val="accent6">
                  <a:lumMod val="75000"/>
                </a:schemeClr>
              </a:solidFill>
            </a:endParaRPr>
          </a:p>
        </p:txBody>
      </p:sp>
      <p:sp>
        <p:nvSpPr>
          <p:cNvPr id="28" name="Star: 5 Points 27">
            <a:extLst>
              <a:ext uri="{FF2B5EF4-FFF2-40B4-BE49-F238E27FC236}">
                <a16:creationId xmlns:a16="http://schemas.microsoft.com/office/drawing/2014/main" id="{81B19AA1-E8A6-4363-BC28-46F855B4E96A}"/>
              </a:ext>
            </a:extLst>
          </p:cNvPr>
          <p:cNvSpPr/>
          <p:nvPr/>
        </p:nvSpPr>
        <p:spPr>
          <a:xfrm>
            <a:off x="9107216" y="2769331"/>
            <a:ext cx="234758" cy="228892"/>
          </a:xfrm>
          <a:prstGeom prst="star5">
            <a:avLst>
              <a:gd name="adj" fmla="val 19098"/>
              <a:gd name="hf" fmla="val 105146"/>
              <a:gd name="vf" fmla="val 110557"/>
            </a:avLst>
          </a:prstGeom>
          <a:solidFill>
            <a:schemeClr val="accent1"/>
          </a:solidFill>
          <a:ln>
            <a:solidFill>
              <a:schemeClr val="accent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solidFill>
                <a:srgbClr val="0070C0"/>
              </a:solidFill>
            </a:endParaRPr>
          </a:p>
        </p:txBody>
      </p:sp>
      <p:sp>
        <p:nvSpPr>
          <p:cNvPr id="29" name="TextBox 28">
            <a:extLst>
              <a:ext uri="{FF2B5EF4-FFF2-40B4-BE49-F238E27FC236}">
                <a16:creationId xmlns:a16="http://schemas.microsoft.com/office/drawing/2014/main" id="{DB279D29-0E41-1A28-945A-C668E4DFEA09}"/>
              </a:ext>
            </a:extLst>
          </p:cNvPr>
          <p:cNvSpPr txBox="1"/>
          <p:nvPr/>
        </p:nvSpPr>
        <p:spPr>
          <a:xfrm>
            <a:off x="9537534" y="2196888"/>
            <a:ext cx="1136337" cy="369332"/>
          </a:xfrm>
          <a:prstGeom prst="rect">
            <a:avLst/>
          </a:prstGeom>
          <a:noFill/>
        </p:spPr>
        <p:txBody>
          <a:bodyPr wrap="none" rtlCol="0">
            <a:spAutoFit/>
          </a:bodyPr>
          <a:lstStyle/>
          <a:p>
            <a:r>
              <a:rPr lang="tr-TR" dirty="0" err="1"/>
              <a:t>Malignant</a:t>
            </a:r>
            <a:endParaRPr lang="en-US" dirty="0"/>
          </a:p>
        </p:txBody>
      </p:sp>
      <p:sp>
        <p:nvSpPr>
          <p:cNvPr id="30" name="TextBox 29">
            <a:extLst>
              <a:ext uri="{FF2B5EF4-FFF2-40B4-BE49-F238E27FC236}">
                <a16:creationId xmlns:a16="http://schemas.microsoft.com/office/drawing/2014/main" id="{CB1B9487-03A3-4159-9BC6-2C63315624C2}"/>
              </a:ext>
            </a:extLst>
          </p:cNvPr>
          <p:cNvSpPr txBox="1"/>
          <p:nvPr/>
        </p:nvSpPr>
        <p:spPr>
          <a:xfrm>
            <a:off x="9537534" y="2680666"/>
            <a:ext cx="830677" cy="369332"/>
          </a:xfrm>
          <a:prstGeom prst="rect">
            <a:avLst/>
          </a:prstGeom>
          <a:noFill/>
        </p:spPr>
        <p:txBody>
          <a:bodyPr wrap="none" rtlCol="0">
            <a:spAutoFit/>
          </a:bodyPr>
          <a:lstStyle/>
          <a:p>
            <a:r>
              <a:rPr lang="tr-TR" dirty="0" err="1"/>
              <a:t>Benign</a:t>
            </a:r>
            <a:endParaRPr lang="en-US" dirty="0"/>
          </a:p>
        </p:txBody>
      </p:sp>
      <p:sp>
        <p:nvSpPr>
          <p:cNvPr id="31" name="Isosceles Triangle 30">
            <a:extLst>
              <a:ext uri="{FF2B5EF4-FFF2-40B4-BE49-F238E27FC236}">
                <a16:creationId xmlns:a16="http://schemas.microsoft.com/office/drawing/2014/main" id="{C05043C3-4205-1A75-C84A-3599BDB68B52}"/>
              </a:ext>
            </a:extLst>
          </p:cNvPr>
          <p:cNvSpPr/>
          <p:nvPr/>
        </p:nvSpPr>
        <p:spPr>
          <a:xfrm>
            <a:off x="4838728" y="3358821"/>
            <a:ext cx="208764" cy="202462"/>
          </a:xfrm>
          <a:prstGeom prst="triangle">
            <a:avLst/>
          </a:prstGeom>
          <a:solidFill>
            <a:schemeClr val="accent6">
              <a:lumMod val="75000"/>
            </a:schemeClr>
          </a:solidFill>
          <a:ln>
            <a:solidFill>
              <a:schemeClr val="accent6">
                <a:lumMod val="7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2" name="Isosceles Triangle 31">
            <a:extLst>
              <a:ext uri="{FF2B5EF4-FFF2-40B4-BE49-F238E27FC236}">
                <a16:creationId xmlns:a16="http://schemas.microsoft.com/office/drawing/2014/main" id="{061401F4-C97F-71E8-6FD2-D9E8A012EDA7}"/>
              </a:ext>
            </a:extLst>
          </p:cNvPr>
          <p:cNvSpPr/>
          <p:nvPr/>
        </p:nvSpPr>
        <p:spPr>
          <a:xfrm>
            <a:off x="5967757" y="3358821"/>
            <a:ext cx="208764" cy="202462"/>
          </a:xfrm>
          <a:prstGeom prst="triangle">
            <a:avLst/>
          </a:prstGeom>
          <a:solidFill>
            <a:schemeClr val="accent6">
              <a:lumMod val="75000"/>
            </a:schemeClr>
          </a:solidFill>
          <a:ln>
            <a:solidFill>
              <a:schemeClr val="accent6">
                <a:lumMod val="7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3" name="Isosceles Triangle 32">
            <a:extLst>
              <a:ext uri="{FF2B5EF4-FFF2-40B4-BE49-F238E27FC236}">
                <a16:creationId xmlns:a16="http://schemas.microsoft.com/office/drawing/2014/main" id="{4DEA102E-18C6-7F7A-F427-B02D91DC2619}"/>
              </a:ext>
            </a:extLst>
          </p:cNvPr>
          <p:cNvSpPr/>
          <p:nvPr/>
        </p:nvSpPr>
        <p:spPr>
          <a:xfrm>
            <a:off x="7086063" y="3362183"/>
            <a:ext cx="208764" cy="202462"/>
          </a:xfrm>
          <a:prstGeom prst="triangle">
            <a:avLst/>
          </a:prstGeom>
          <a:solidFill>
            <a:schemeClr val="accent6">
              <a:lumMod val="75000"/>
            </a:schemeClr>
          </a:solidFill>
          <a:ln>
            <a:solidFill>
              <a:schemeClr val="accent6">
                <a:lumMod val="7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4" name="Isosceles Triangle 33">
            <a:extLst>
              <a:ext uri="{FF2B5EF4-FFF2-40B4-BE49-F238E27FC236}">
                <a16:creationId xmlns:a16="http://schemas.microsoft.com/office/drawing/2014/main" id="{C4FAF610-AC5C-43B9-51EB-C7E5F099BCED}"/>
              </a:ext>
            </a:extLst>
          </p:cNvPr>
          <p:cNvSpPr/>
          <p:nvPr/>
        </p:nvSpPr>
        <p:spPr>
          <a:xfrm>
            <a:off x="7582723" y="3358821"/>
            <a:ext cx="208764" cy="202462"/>
          </a:xfrm>
          <a:prstGeom prst="triangle">
            <a:avLst/>
          </a:prstGeom>
          <a:solidFill>
            <a:schemeClr val="accent6">
              <a:lumMod val="75000"/>
            </a:schemeClr>
          </a:solidFill>
          <a:ln>
            <a:solidFill>
              <a:schemeClr val="accent6">
                <a:lumMod val="7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5" name="Isosceles Triangle 34">
            <a:extLst>
              <a:ext uri="{FF2B5EF4-FFF2-40B4-BE49-F238E27FC236}">
                <a16:creationId xmlns:a16="http://schemas.microsoft.com/office/drawing/2014/main" id="{06A9F2AB-06E9-91F4-7903-33784ABB5C9B}"/>
              </a:ext>
            </a:extLst>
          </p:cNvPr>
          <p:cNvSpPr/>
          <p:nvPr/>
        </p:nvSpPr>
        <p:spPr>
          <a:xfrm>
            <a:off x="8079383" y="3361184"/>
            <a:ext cx="208764" cy="202462"/>
          </a:xfrm>
          <a:prstGeom prst="triangle">
            <a:avLst/>
          </a:prstGeom>
          <a:solidFill>
            <a:schemeClr val="accent6">
              <a:lumMod val="75000"/>
            </a:schemeClr>
          </a:solidFill>
          <a:ln>
            <a:solidFill>
              <a:schemeClr val="accent6">
                <a:lumMod val="7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6" name="Isosceles Triangle 35">
            <a:extLst>
              <a:ext uri="{FF2B5EF4-FFF2-40B4-BE49-F238E27FC236}">
                <a16:creationId xmlns:a16="http://schemas.microsoft.com/office/drawing/2014/main" id="{F802183E-800C-E0E2-2661-881FC3C552CB}"/>
              </a:ext>
            </a:extLst>
          </p:cNvPr>
          <p:cNvSpPr/>
          <p:nvPr/>
        </p:nvSpPr>
        <p:spPr>
          <a:xfrm>
            <a:off x="9120213" y="2329281"/>
            <a:ext cx="208764" cy="202462"/>
          </a:xfrm>
          <a:prstGeom prst="triangle">
            <a:avLst/>
          </a:prstGeom>
          <a:solidFill>
            <a:schemeClr val="accent6">
              <a:lumMod val="75000"/>
            </a:schemeClr>
          </a:solidFill>
          <a:ln>
            <a:solidFill>
              <a:schemeClr val="accent6">
                <a:lumMod val="7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 name="Rectangle">
            <a:extLst>
              <a:ext uri="{FF2B5EF4-FFF2-40B4-BE49-F238E27FC236}">
                <a16:creationId xmlns:a16="http://schemas.microsoft.com/office/drawing/2014/main" id="{73F58B6E-2054-924B-4D8B-E0228F2B1D71}"/>
              </a:ext>
            </a:extLst>
          </p:cNvPr>
          <p:cNvSpPr/>
          <p:nvPr/>
        </p:nvSpPr>
        <p:spPr>
          <a:xfrm>
            <a:off x="-11767" y="6545179"/>
            <a:ext cx="12203767" cy="315200"/>
          </a:xfrm>
          <a:prstGeom prst="rect">
            <a:avLst/>
          </a:prstGeom>
          <a:solidFill>
            <a:schemeClr val="tx1"/>
          </a:solidFill>
          <a:ln w="12700">
            <a:noFill/>
            <a:miter lim="400000"/>
          </a:ln>
        </p:spPr>
        <p:txBody>
          <a:bodyPr lIns="45719" rIns="45719" anchor="ctr"/>
          <a:lstStyle/>
          <a:p>
            <a:endParaRPr/>
          </a:p>
        </p:txBody>
      </p:sp>
      <p:pic>
        <p:nvPicPr>
          <p:cNvPr id="4" name="Picture 3" descr="Frontier Tech Leaders (@FTLeadersProg) / X">
            <a:extLst>
              <a:ext uri="{FF2B5EF4-FFF2-40B4-BE49-F238E27FC236}">
                <a16:creationId xmlns:a16="http://schemas.microsoft.com/office/drawing/2014/main" id="{607414E5-0F6E-B90C-AB2A-30D094752C03}"/>
              </a:ext>
            </a:extLst>
          </p:cNvPr>
          <p:cNvPicPr>
            <a:picLocks noChangeAspect="1"/>
          </p:cNvPicPr>
          <p:nvPr/>
        </p:nvPicPr>
        <p:blipFill>
          <a:blip r:embed="rId3"/>
          <a:stretch>
            <a:fillRect/>
          </a:stretch>
        </p:blipFill>
        <p:spPr>
          <a:xfrm>
            <a:off x="10668000" y="94470"/>
            <a:ext cx="1027893" cy="1027893"/>
          </a:xfrm>
          <a:prstGeom prst="rect">
            <a:avLst/>
          </a:prstGeom>
        </p:spPr>
      </p:pic>
    </p:spTree>
    <p:extLst>
      <p:ext uri="{BB962C8B-B14F-4D97-AF65-F5344CB8AC3E}">
        <p14:creationId xmlns:p14="http://schemas.microsoft.com/office/powerpoint/2010/main" val="345996732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7"/>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25"/>
                                        </p:tgtEl>
                                        <p:attrNameLst>
                                          <p:attrName>style.visibility</p:attrName>
                                        </p:attrNameLst>
                                      </p:cBhvr>
                                      <p:to>
                                        <p:strVal val="visible"/>
                                      </p:to>
                                    </p:set>
                                  </p:childTnLst>
                                </p:cTn>
                              </p:par>
                              <p:par>
                                <p:cTn id="11" presetID="1" presetClass="entr" presetSubtype="0" fill="hold" grpId="0" nodeType="withEffect">
                                  <p:stCondLst>
                                    <p:cond delay="0"/>
                                  </p:stCondLst>
                                  <p:childTnLst>
                                    <p:set>
                                      <p:cBhvr>
                                        <p:cTn id="12" dur="1" fill="hold">
                                          <p:stCondLst>
                                            <p:cond delay="0"/>
                                          </p:stCondLst>
                                        </p:cTn>
                                        <p:tgtEl>
                                          <p:spTgt spid="10"/>
                                        </p:tgtEl>
                                        <p:attrNameLst>
                                          <p:attrName>style.visibility</p:attrName>
                                        </p:attrNameLst>
                                      </p:cBhvr>
                                      <p:to>
                                        <p:strVal val="visible"/>
                                      </p:to>
                                    </p:set>
                                  </p:childTnLst>
                                </p:cTn>
                              </p:par>
                              <p:par>
                                <p:cTn id="13" presetID="1" presetClass="entr" presetSubtype="0" fill="hold" grpId="0" nodeType="withEffect">
                                  <p:stCondLst>
                                    <p:cond delay="0"/>
                                  </p:stCondLst>
                                  <p:childTnLst>
                                    <p:set>
                                      <p:cBhvr>
                                        <p:cTn id="14" dur="1" fill="hold">
                                          <p:stCondLst>
                                            <p:cond delay="0"/>
                                          </p:stCondLst>
                                        </p:cTn>
                                        <p:tgtEl>
                                          <p:spTgt spid="11"/>
                                        </p:tgtEl>
                                        <p:attrNameLst>
                                          <p:attrName>style.visibility</p:attrName>
                                        </p:attrNameLst>
                                      </p:cBhvr>
                                      <p:to>
                                        <p:strVal val="visible"/>
                                      </p:to>
                                    </p:set>
                                  </p:childTnLst>
                                </p:cTn>
                              </p:par>
                              <p:par>
                                <p:cTn id="15" presetID="1" presetClass="entr" presetSubtype="0" fill="hold" grpId="0" nodeType="withEffect">
                                  <p:stCondLst>
                                    <p:cond delay="0"/>
                                  </p:stCondLst>
                                  <p:childTnLst>
                                    <p:set>
                                      <p:cBhvr>
                                        <p:cTn id="16" dur="1" fill="hold">
                                          <p:stCondLst>
                                            <p:cond delay="0"/>
                                          </p:stCondLst>
                                        </p:cTn>
                                        <p:tgtEl>
                                          <p:spTgt spid="26"/>
                                        </p:tgtEl>
                                        <p:attrNameLst>
                                          <p:attrName>style.visibility</p:attrName>
                                        </p:attrNameLst>
                                      </p:cBhvr>
                                      <p:to>
                                        <p:strVal val="visible"/>
                                      </p:to>
                                    </p:set>
                                  </p:childTnLst>
                                </p:cTn>
                              </p:par>
                              <p:par>
                                <p:cTn id="17" presetID="1" presetClass="entr" presetSubtype="0" fill="hold" nodeType="withEffect">
                                  <p:stCondLst>
                                    <p:cond delay="0"/>
                                  </p:stCondLst>
                                  <p:childTnLst>
                                    <p:set>
                                      <p:cBhvr>
                                        <p:cTn id="18" dur="1" fill="hold">
                                          <p:stCondLst>
                                            <p:cond delay="0"/>
                                          </p:stCondLst>
                                        </p:cTn>
                                        <p:tgtEl>
                                          <p:spTgt spid="23"/>
                                        </p:tgtEl>
                                        <p:attrNameLst>
                                          <p:attrName>style.visibility</p:attrName>
                                        </p:attrNameLst>
                                      </p:cBhvr>
                                      <p:to>
                                        <p:strVal val="visible"/>
                                      </p:to>
                                    </p:set>
                                  </p:childTnLst>
                                </p:cTn>
                              </p:par>
                              <p:par>
                                <p:cTn id="19" presetID="1" presetClass="entr" presetSubtype="0" fill="hold" grpId="0" nodeType="withEffect">
                                  <p:stCondLst>
                                    <p:cond delay="0"/>
                                  </p:stCondLst>
                                  <p:childTnLst>
                                    <p:set>
                                      <p:cBhvr>
                                        <p:cTn id="20" dur="1" fill="hold">
                                          <p:stCondLst>
                                            <p:cond delay="0"/>
                                          </p:stCondLst>
                                        </p:cTn>
                                        <p:tgtEl>
                                          <p:spTgt spid="12"/>
                                        </p:tgtEl>
                                        <p:attrNameLst>
                                          <p:attrName>style.visibility</p:attrName>
                                        </p:attrNameLst>
                                      </p:cBhvr>
                                      <p:to>
                                        <p:strVal val="visible"/>
                                      </p:to>
                                    </p:set>
                                  </p:childTnLst>
                                </p:cTn>
                              </p:par>
                              <p:par>
                                <p:cTn id="21" presetID="1" presetClass="entr" presetSubtype="0" fill="hold" nodeType="withEffect">
                                  <p:stCondLst>
                                    <p:cond delay="0"/>
                                  </p:stCondLst>
                                  <p:childTnLst>
                                    <p:set>
                                      <p:cBhvr>
                                        <p:cTn id="22" dur="1" fill="hold">
                                          <p:stCondLst>
                                            <p:cond delay="0"/>
                                          </p:stCondLst>
                                        </p:cTn>
                                        <p:tgtEl>
                                          <p:spTgt spid="6"/>
                                        </p:tgtEl>
                                        <p:attrNameLst>
                                          <p:attrName>style.visibility</p:attrName>
                                        </p:attrNameLst>
                                      </p:cBhvr>
                                      <p:to>
                                        <p:strVal val="visible"/>
                                      </p:to>
                                    </p:set>
                                  </p:childTnLst>
                                </p:cTn>
                              </p:par>
                              <p:par>
                                <p:cTn id="23" presetID="1" presetClass="entr" presetSubtype="0" fill="hold" grpId="0" nodeType="withEffect">
                                  <p:stCondLst>
                                    <p:cond delay="0"/>
                                  </p:stCondLst>
                                  <p:childTnLst>
                                    <p:set>
                                      <p:cBhvr>
                                        <p:cTn id="24" dur="1" fill="hold">
                                          <p:stCondLst>
                                            <p:cond delay="0"/>
                                          </p:stCondLst>
                                        </p:cTn>
                                        <p:tgtEl>
                                          <p:spTgt spid="13"/>
                                        </p:tgtEl>
                                        <p:attrNameLst>
                                          <p:attrName>style.visibility</p:attrName>
                                        </p:attrNameLst>
                                      </p:cBhvr>
                                      <p:to>
                                        <p:strVal val="visible"/>
                                      </p:to>
                                    </p:set>
                                  </p:childTnLst>
                                </p:cTn>
                              </p:par>
                              <p:par>
                                <p:cTn id="25" presetID="1" presetClass="entr" presetSubtype="0" fill="hold" grpId="0" nodeType="withEffect">
                                  <p:stCondLst>
                                    <p:cond delay="0"/>
                                  </p:stCondLst>
                                  <p:childTnLst>
                                    <p:set>
                                      <p:cBhvr>
                                        <p:cTn id="26" dur="1" fill="hold">
                                          <p:stCondLst>
                                            <p:cond delay="0"/>
                                          </p:stCondLst>
                                        </p:cTn>
                                        <p:tgtEl>
                                          <p:spTgt spid="14"/>
                                        </p:tgtEl>
                                        <p:attrNameLst>
                                          <p:attrName>style.visibility</p:attrName>
                                        </p:attrNameLst>
                                      </p:cBhvr>
                                      <p:to>
                                        <p:strVal val="visible"/>
                                      </p:to>
                                    </p:set>
                                  </p:childTnLst>
                                </p:cTn>
                              </p:par>
                              <p:par>
                                <p:cTn id="27" presetID="1" presetClass="entr" presetSubtype="0" fill="hold" grpId="0" nodeType="withEffect">
                                  <p:stCondLst>
                                    <p:cond delay="0"/>
                                  </p:stCondLst>
                                  <p:childTnLst>
                                    <p:set>
                                      <p:cBhvr>
                                        <p:cTn id="28" dur="1" fill="hold">
                                          <p:stCondLst>
                                            <p:cond delay="0"/>
                                          </p:stCondLst>
                                        </p:cTn>
                                        <p:tgtEl>
                                          <p:spTgt spid="15"/>
                                        </p:tgtEl>
                                        <p:attrNameLst>
                                          <p:attrName>style.visibility</p:attrName>
                                        </p:attrNameLst>
                                      </p:cBhvr>
                                      <p:to>
                                        <p:strVal val="visible"/>
                                      </p:to>
                                    </p:set>
                                  </p:childTnLst>
                                </p:cTn>
                              </p:par>
                            </p:childTnLst>
                          </p:cTn>
                        </p:par>
                      </p:childTnLst>
                    </p:cTn>
                  </p:par>
                  <p:par>
                    <p:cTn id="29" fill="hold">
                      <p:stCondLst>
                        <p:cond delay="indefinite"/>
                      </p:stCondLst>
                      <p:childTnLst>
                        <p:par>
                          <p:cTn id="30" fill="hold">
                            <p:stCondLst>
                              <p:cond delay="0"/>
                            </p:stCondLst>
                            <p:childTnLst>
                              <p:par>
                                <p:cTn id="31" presetID="1" presetClass="entr" presetSubtype="0" fill="hold" grpId="0" nodeType="clickEffect">
                                  <p:stCondLst>
                                    <p:cond delay="0"/>
                                  </p:stCondLst>
                                  <p:childTnLst>
                                    <p:set>
                                      <p:cBhvr>
                                        <p:cTn id="32" dur="1" fill="hold">
                                          <p:stCondLst>
                                            <p:cond delay="0"/>
                                          </p:stCondLst>
                                        </p:cTn>
                                        <p:tgtEl>
                                          <p:spTgt spid="30"/>
                                        </p:tgtEl>
                                        <p:attrNameLst>
                                          <p:attrName>style.visibility</p:attrName>
                                        </p:attrNameLst>
                                      </p:cBhvr>
                                      <p:to>
                                        <p:strVal val="visible"/>
                                      </p:to>
                                    </p:set>
                                  </p:childTnLst>
                                </p:cTn>
                              </p:par>
                              <p:par>
                                <p:cTn id="33" presetID="1" presetClass="entr" presetSubtype="0" fill="hold" grpId="0" nodeType="withEffect">
                                  <p:stCondLst>
                                    <p:cond delay="0"/>
                                  </p:stCondLst>
                                  <p:childTnLst>
                                    <p:set>
                                      <p:cBhvr>
                                        <p:cTn id="34" dur="1" fill="hold">
                                          <p:stCondLst>
                                            <p:cond delay="0"/>
                                          </p:stCondLst>
                                        </p:cTn>
                                        <p:tgtEl>
                                          <p:spTgt spid="28"/>
                                        </p:tgtEl>
                                        <p:attrNameLst>
                                          <p:attrName>style.visibility</p:attrName>
                                        </p:attrNameLst>
                                      </p:cBhvr>
                                      <p:to>
                                        <p:strVal val="visible"/>
                                      </p:to>
                                    </p:set>
                                  </p:childTnLst>
                                </p:cTn>
                              </p:par>
                            </p:childTnLst>
                          </p:cTn>
                        </p:par>
                      </p:childTnLst>
                    </p:cTn>
                  </p:par>
                  <p:par>
                    <p:cTn id="35" fill="hold">
                      <p:stCondLst>
                        <p:cond delay="indefinite"/>
                      </p:stCondLst>
                      <p:childTnLst>
                        <p:par>
                          <p:cTn id="36" fill="hold">
                            <p:stCondLst>
                              <p:cond delay="0"/>
                            </p:stCondLst>
                            <p:childTnLst>
                              <p:par>
                                <p:cTn id="37" presetID="1" presetClass="entr" presetSubtype="0" fill="hold" grpId="0" nodeType="clickEffect">
                                  <p:stCondLst>
                                    <p:cond delay="0"/>
                                  </p:stCondLst>
                                  <p:childTnLst>
                                    <p:set>
                                      <p:cBhvr>
                                        <p:cTn id="38" dur="1" fill="hold">
                                          <p:stCondLst>
                                            <p:cond delay="0"/>
                                          </p:stCondLst>
                                        </p:cTn>
                                        <p:tgtEl>
                                          <p:spTgt spid="31"/>
                                        </p:tgtEl>
                                        <p:attrNameLst>
                                          <p:attrName>style.visibility</p:attrName>
                                        </p:attrNameLst>
                                      </p:cBhvr>
                                      <p:to>
                                        <p:strVal val="visible"/>
                                      </p:to>
                                    </p:set>
                                  </p:childTnLst>
                                </p:cTn>
                              </p:par>
                              <p:par>
                                <p:cTn id="39" presetID="1" presetClass="entr" presetSubtype="0" fill="hold" grpId="0" nodeType="withEffect">
                                  <p:stCondLst>
                                    <p:cond delay="0"/>
                                  </p:stCondLst>
                                  <p:childTnLst>
                                    <p:set>
                                      <p:cBhvr>
                                        <p:cTn id="40" dur="1" fill="hold">
                                          <p:stCondLst>
                                            <p:cond delay="0"/>
                                          </p:stCondLst>
                                        </p:cTn>
                                        <p:tgtEl>
                                          <p:spTgt spid="32"/>
                                        </p:tgtEl>
                                        <p:attrNameLst>
                                          <p:attrName>style.visibility</p:attrName>
                                        </p:attrNameLst>
                                      </p:cBhvr>
                                      <p:to>
                                        <p:strVal val="visible"/>
                                      </p:to>
                                    </p:set>
                                  </p:childTnLst>
                                </p:cTn>
                              </p:par>
                              <p:par>
                                <p:cTn id="41" presetID="1" presetClass="entr" presetSubtype="0" fill="hold" grpId="0" nodeType="withEffect">
                                  <p:stCondLst>
                                    <p:cond delay="0"/>
                                  </p:stCondLst>
                                  <p:childTnLst>
                                    <p:set>
                                      <p:cBhvr>
                                        <p:cTn id="42" dur="1" fill="hold">
                                          <p:stCondLst>
                                            <p:cond delay="0"/>
                                          </p:stCondLst>
                                        </p:cTn>
                                        <p:tgtEl>
                                          <p:spTgt spid="33"/>
                                        </p:tgtEl>
                                        <p:attrNameLst>
                                          <p:attrName>style.visibility</p:attrName>
                                        </p:attrNameLst>
                                      </p:cBhvr>
                                      <p:to>
                                        <p:strVal val="visible"/>
                                      </p:to>
                                    </p:set>
                                  </p:childTnLst>
                                </p:cTn>
                              </p:par>
                              <p:par>
                                <p:cTn id="43" presetID="1" presetClass="entr" presetSubtype="0" fill="hold" grpId="0" nodeType="withEffect">
                                  <p:stCondLst>
                                    <p:cond delay="0"/>
                                  </p:stCondLst>
                                  <p:childTnLst>
                                    <p:set>
                                      <p:cBhvr>
                                        <p:cTn id="44" dur="1" fill="hold">
                                          <p:stCondLst>
                                            <p:cond delay="0"/>
                                          </p:stCondLst>
                                        </p:cTn>
                                        <p:tgtEl>
                                          <p:spTgt spid="34"/>
                                        </p:tgtEl>
                                        <p:attrNameLst>
                                          <p:attrName>style.visibility</p:attrName>
                                        </p:attrNameLst>
                                      </p:cBhvr>
                                      <p:to>
                                        <p:strVal val="visible"/>
                                      </p:to>
                                    </p:set>
                                  </p:childTnLst>
                                </p:cTn>
                              </p:par>
                              <p:par>
                                <p:cTn id="45" presetID="1" presetClass="entr" presetSubtype="0" fill="hold" grpId="0" nodeType="withEffect">
                                  <p:stCondLst>
                                    <p:cond delay="0"/>
                                  </p:stCondLst>
                                  <p:childTnLst>
                                    <p:set>
                                      <p:cBhvr>
                                        <p:cTn id="46" dur="1" fill="hold">
                                          <p:stCondLst>
                                            <p:cond delay="0"/>
                                          </p:stCondLst>
                                        </p:cTn>
                                        <p:tgtEl>
                                          <p:spTgt spid="35"/>
                                        </p:tgtEl>
                                        <p:attrNameLst>
                                          <p:attrName>style.visibility</p:attrName>
                                        </p:attrNameLst>
                                      </p:cBhvr>
                                      <p:to>
                                        <p:strVal val="visible"/>
                                      </p:to>
                                    </p:set>
                                  </p:childTnLst>
                                </p:cTn>
                              </p:par>
                            </p:childTnLst>
                          </p:cTn>
                        </p:par>
                      </p:childTnLst>
                    </p:cTn>
                  </p:par>
                  <p:par>
                    <p:cTn id="47" fill="hold">
                      <p:stCondLst>
                        <p:cond delay="indefinite"/>
                      </p:stCondLst>
                      <p:childTnLst>
                        <p:par>
                          <p:cTn id="48" fill="hold">
                            <p:stCondLst>
                              <p:cond delay="0"/>
                            </p:stCondLst>
                            <p:childTnLst>
                              <p:par>
                                <p:cTn id="49" presetID="1" presetClass="entr" presetSubtype="0" fill="hold" grpId="0" nodeType="clickEffect">
                                  <p:stCondLst>
                                    <p:cond delay="0"/>
                                  </p:stCondLst>
                                  <p:childTnLst>
                                    <p:set>
                                      <p:cBhvr>
                                        <p:cTn id="50" dur="1" fill="hold">
                                          <p:stCondLst>
                                            <p:cond delay="0"/>
                                          </p:stCondLst>
                                        </p:cTn>
                                        <p:tgtEl>
                                          <p:spTgt spid="29"/>
                                        </p:tgtEl>
                                        <p:attrNameLst>
                                          <p:attrName>style.visibility</p:attrName>
                                        </p:attrNameLst>
                                      </p:cBhvr>
                                      <p:to>
                                        <p:strVal val="visible"/>
                                      </p:to>
                                    </p:set>
                                  </p:childTnLst>
                                </p:cTn>
                              </p:par>
                              <p:par>
                                <p:cTn id="51" presetID="1" presetClass="entr" presetSubtype="0" fill="hold" grpId="0" nodeType="withEffect">
                                  <p:stCondLst>
                                    <p:cond delay="0"/>
                                  </p:stCondLst>
                                  <p:childTnLst>
                                    <p:set>
                                      <p:cBhvr>
                                        <p:cTn id="52" dur="1" fill="hold">
                                          <p:stCondLst>
                                            <p:cond delay="0"/>
                                          </p:stCondLst>
                                        </p:cTn>
                                        <p:tgtEl>
                                          <p:spTgt spid="36"/>
                                        </p:tgtEl>
                                        <p:attrNameLst>
                                          <p:attrName>style.visibility</p:attrName>
                                        </p:attrNameLst>
                                      </p:cBhvr>
                                      <p:to>
                                        <p:strVal val="visible"/>
                                      </p:to>
                                    </p:set>
                                  </p:childTnLst>
                                </p:cTn>
                              </p:par>
                            </p:childTnLst>
                          </p:cTn>
                        </p:par>
                      </p:childTnLst>
                    </p:cTn>
                  </p:par>
                  <p:par>
                    <p:cTn id="53" fill="hold">
                      <p:stCondLst>
                        <p:cond delay="indefinite"/>
                      </p:stCondLst>
                      <p:childTnLst>
                        <p:par>
                          <p:cTn id="54" fill="hold">
                            <p:stCondLst>
                              <p:cond delay="0"/>
                            </p:stCondLst>
                            <p:childTnLst>
                              <p:par>
                                <p:cTn id="55" presetID="1" presetClass="entr" presetSubtype="0" fill="hold" grpId="0" nodeType="clickEffect">
                                  <p:stCondLst>
                                    <p:cond delay="0"/>
                                  </p:stCondLst>
                                  <p:childTnLst>
                                    <p:set>
                                      <p:cBhvr>
                                        <p:cTn id="56" dur="1" fill="hold">
                                          <p:stCondLst>
                                            <p:cond delay="0"/>
                                          </p:stCondLst>
                                        </p:cTn>
                                        <p:tgtEl>
                                          <p:spTgt spid="24"/>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0" grpId="0" animBg="1"/>
      <p:bldP spid="11" grpId="0" animBg="1"/>
      <p:bldP spid="12" grpId="0" animBg="1"/>
      <p:bldP spid="13" grpId="0" animBg="1"/>
      <p:bldP spid="14" grpId="0" animBg="1"/>
      <p:bldP spid="15" grpId="0" animBg="1"/>
      <p:bldP spid="24" grpId="0"/>
      <p:bldP spid="25" grpId="0"/>
      <p:bldP spid="26" grpId="0"/>
      <p:bldP spid="28" grpId="0" animBg="1"/>
      <p:bldP spid="29" grpId="0"/>
      <p:bldP spid="30" grpId="0"/>
      <p:bldP spid="31" grpId="0" animBg="1"/>
      <p:bldP spid="32" grpId="0" animBg="1"/>
      <p:bldP spid="33" grpId="0" animBg="1"/>
      <p:bldP spid="34" grpId="0" animBg="1"/>
      <p:bldP spid="35" grpId="0" animBg="1"/>
      <p:bldP spid="36" grpId="0" animBg="1"/>
    </p:bldLst>
  </p:timing>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CBCC2A5-08EE-7AA4-EEFC-EF7ABCE1D0AB}"/>
              </a:ext>
            </a:extLst>
          </p:cNvPr>
          <p:cNvSpPr>
            <a:spLocks noGrp="1"/>
          </p:cNvSpPr>
          <p:nvPr>
            <p:ph type="title"/>
          </p:nvPr>
        </p:nvSpPr>
        <p:spPr/>
        <p:txBody>
          <a:bodyPr/>
          <a:lstStyle/>
          <a:p>
            <a:r>
              <a:rPr lang="tr-TR" dirty="0" err="1"/>
              <a:t>Classification</a:t>
            </a:r>
            <a:r>
              <a:rPr lang="tr-TR" dirty="0"/>
              <a:t>: </a:t>
            </a:r>
            <a:r>
              <a:rPr lang="tr-TR" dirty="0" err="1"/>
              <a:t>Cancer</a:t>
            </a:r>
            <a:r>
              <a:rPr lang="tr-TR" dirty="0"/>
              <a:t> </a:t>
            </a:r>
            <a:r>
              <a:rPr lang="tr-TR" dirty="0" err="1"/>
              <a:t>Detection</a:t>
            </a:r>
            <a:r>
              <a:rPr lang="tr-TR" dirty="0"/>
              <a:t> </a:t>
            </a:r>
            <a:endParaRPr lang="en-US" dirty="0"/>
          </a:p>
        </p:txBody>
      </p:sp>
      <p:cxnSp>
        <p:nvCxnSpPr>
          <p:cNvPr id="6" name="Straight Arrow Connector 5">
            <a:extLst>
              <a:ext uri="{FF2B5EF4-FFF2-40B4-BE49-F238E27FC236}">
                <a16:creationId xmlns:a16="http://schemas.microsoft.com/office/drawing/2014/main" id="{6FCE84E5-C365-3167-76D3-32A98C1AA10B}"/>
              </a:ext>
            </a:extLst>
          </p:cNvPr>
          <p:cNvCxnSpPr>
            <a:cxnSpLocks/>
          </p:cNvCxnSpPr>
          <p:nvPr/>
        </p:nvCxnSpPr>
        <p:spPr>
          <a:xfrm flipH="1" flipV="1">
            <a:off x="2141551" y="2049137"/>
            <a:ext cx="1" cy="2982954"/>
          </a:xfrm>
          <a:prstGeom prst="straightConnector1">
            <a:avLst/>
          </a:prstGeom>
          <a:ln w="38100">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7" name="Straight Arrow Connector 6">
            <a:extLst>
              <a:ext uri="{FF2B5EF4-FFF2-40B4-BE49-F238E27FC236}">
                <a16:creationId xmlns:a16="http://schemas.microsoft.com/office/drawing/2014/main" id="{9494A7C0-D0B3-A781-95D9-D2CE2BD96B29}"/>
              </a:ext>
            </a:extLst>
          </p:cNvPr>
          <p:cNvCxnSpPr>
            <a:cxnSpLocks/>
          </p:cNvCxnSpPr>
          <p:nvPr/>
        </p:nvCxnSpPr>
        <p:spPr>
          <a:xfrm>
            <a:off x="1934010" y="4767587"/>
            <a:ext cx="7682956" cy="0"/>
          </a:xfrm>
          <a:prstGeom prst="straightConnector1">
            <a:avLst/>
          </a:prstGeom>
          <a:ln w="38100">
            <a:solidFill>
              <a:schemeClr val="tx1"/>
            </a:solidFill>
            <a:tailEnd type="triangle"/>
          </a:ln>
        </p:spPr>
        <p:style>
          <a:lnRef idx="1">
            <a:schemeClr val="accent1"/>
          </a:lnRef>
          <a:fillRef idx="0">
            <a:schemeClr val="accent1"/>
          </a:fillRef>
          <a:effectRef idx="0">
            <a:schemeClr val="accent1"/>
          </a:effectRef>
          <a:fontRef idx="minor">
            <a:schemeClr val="tx1"/>
          </a:fontRef>
        </p:style>
      </p:cxnSp>
      <p:sp>
        <p:nvSpPr>
          <p:cNvPr id="10" name="Star: 5 Points 9">
            <a:extLst>
              <a:ext uri="{FF2B5EF4-FFF2-40B4-BE49-F238E27FC236}">
                <a16:creationId xmlns:a16="http://schemas.microsoft.com/office/drawing/2014/main" id="{34BEE683-D845-588D-5E87-1393D93EEF6B}"/>
              </a:ext>
            </a:extLst>
          </p:cNvPr>
          <p:cNvSpPr/>
          <p:nvPr/>
        </p:nvSpPr>
        <p:spPr>
          <a:xfrm>
            <a:off x="2650030" y="4653141"/>
            <a:ext cx="234758" cy="228892"/>
          </a:xfrm>
          <a:prstGeom prst="star5">
            <a:avLst>
              <a:gd name="adj" fmla="val 19098"/>
              <a:gd name="hf" fmla="val 105146"/>
              <a:gd name="vf" fmla="val 110557"/>
            </a:avLst>
          </a:prstGeom>
          <a:solidFill>
            <a:schemeClr val="accent1"/>
          </a:solidFill>
          <a:ln>
            <a:solidFill>
              <a:schemeClr val="accent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solidFill>
                <a:srgbClr val="0070C0"/>
              </a:solidFill>
            </a:endParaRPr>
          </a:p>
        </p:txBody>
      </p:sp>
      <p:sp>
        <p:nvSpPr>
          <p:cNvPr id="11" name="Star: 5 Points 10">
            <a:extLst>
              <a:ext uri="{FF2B5EF4-FFF2-40B4-BE49-F238E27FC236}">
                <a16:creationId xmlns:a16="http://schemas.microsoft.com/office/drawing/2014/main" id="{78BB5F51-A5DC-B07C-B1A4-F29EFD9EB0FC}"/>
              </a:ext>
            </a:extLst>
          </p:cNvPr>
          <p:cNvSpPr/>
          <p:nvPr/>
        </p:nvSpPr>
        <p:spPr>
          <a:xfrm>
            <a:off x="3118792" y="4653141"/>
            <a:ext cx="234758" cy="228892"/>
          </a:xfrm>
          <a:prstGeom prst="star5">
            <a:avLst>
              <a:gd name="adj" fmla="val 19098"/>
              <a:gd name="hf" fmla="val 105146"/>
              <a:gd name="vf" fmla="val 110557"/>
            </a:avLst>
          </a:prstGeom>
          <a:solidFill>
            <a:schemeClr val="accent1"/>
          </a:solidFill>
          <a:ln>
            <a:solidFill>
              <a:schemeClr val="accent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solidFill>
                <a:srgbClr val="0070C0"/>
              </a:solidFill>
            </a:endParaRPr>
          </a:p>
        </p:txBody>
      </p:sp>
      <p:sp>
        <p:nvSpPr>
          <p:cNvPr id="12" name="Star: 5 Points 11">
            <a:extLst>
              <a:ext uri="{FF2B5EF4-FFF2-40B4-BE49-F238E27FC236}">
                <a16:creationId xmlns:a16="http://schemas.microsoft.com/office/drawing/2014/main" id="{45361C96-E916-6DC3-1203-3F984B3D8704}"/>
              </a:ext>
            </a:extLst>
          </p:cNvPr>
          <p:cNvSpPr/>
          <p:nvPr/>
        </p:nvSpPr>
        <p:spPr>
          <a:xfrm>
            <a:off x="3567585" y="4653141"/>
            <a:ext cx="234758" cy="228892"/>
          </a:xfrm>
          <a:prstGeom prst="star5">
            <a:avLst>
              <a:gd name="adj" fmla="val 19098"/>
              <a:gd name="hf" fmla="val 105146"/>
              <a:gd name="vf" fmla="val 110557"/>
            </a:avLst>
          </a:prstGeom>
          <a:solidFill>
            <a:schemeClr val="accent1"/>
          </a:solidFill>
          <a:ln>
            <a:solidFill>
              <a:schemeClr val="accent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solidFill>
                <a:srgbClr val="0070C0"/>
              </a:solidFill>
            </a:endParaRPr>
          </a:p>
        </p:txBody>
      </p:sp>
      <p:sp>
        <p:nvSpPr>
          <p:cNvPr id="13" name="Star: 5 Points 12">
            <a:extLst>
              <a:ext uri="{FF2B5EF4-FFF2-40B4-BE49-F238E27FC236}">
                <a16:creationId xmlns:a16="http://schemas.microsoft.com/office/drawing/2014/main" id="{B82B4377-3AF4-96CA-6B55-14FD14B6327A}"/>
              </a:ext>
            </a:extLst>
          </p:cNvPr>
          <p:cNvSpPr/>
          <p:nvPr/>
        </p:nvSpPr>
        <p:spPr>
          <a:xfrm>
            <a:off x="4106240" y="4653141"/>
            <a:ext cx="234758" cy="228892"/>
          </a:xfrm>
          <a:prstGeom prst="star5">
            <a:avLst>
              <a:gd name="adj" fmla="val 19098"/>
              <a:gd name="hf" fmla="val 105146"/>
              <a:gd name="vf" fmla="val 110557"/>
            </a:avLst>
          </a:prstGeom>
          <a:solidFill>
            <a:schemeClr val="accent1"/>
          </a:solidFill>
          <a:ln>
            <a:solidFill>
              <a:schemeClr val="accent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solidFill>
                <a:srgbClr val="0070C0"/>
              </a:solidFill>
            </a:endParaRPr>
          </a:p>
        </p:txBody>
      </p:sp>
      <p:sp>
        <p:nvSpPr>
          <p:cNvPr id="14" name="Star: 5 Points 13">
            <a:extLst>
              <a:ext uri="{FF2B5EF4-FFF2-40B4-BE49-F238E27FC236}">
                <a16:creationId xmlns:a16="http://schemas.microsoft.com/office/drawing/2014/main" id="{9FE388EE-D3BD-9EFA-CC3D-540524D93A67}"/>
              </a:ext>
            </a:extLst>
          </p:cNvPr>
          <p:cNvSpPr/>
          <p:nvPr/>
        </p:nvSpPr>
        <p:spPr>
          <a:xfrm>
            <a:off x="5540730" y="4653141"/>
            <a:ext cx="234758" cy="228892"/>
          </a:xfrm>
          <a:prstGeom prst="star5">
            <a:avLst>
              <a:gd name="adj" fmla="val 19098"/>
              <a:gd name="hf" fmla="val 105146"/>
              <a:gd name="vf" fmla="val 110557"/>
            </a:avLst>
          </a:prstGeom>
          <a:solidFill>
            <a:schemeClr val="accent1"/>
          </a:solidFill>
          <a:ln>
            <a:solidFill>
              <a:schemeClr val="accent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solidFill>
                <a:srgbClr val="0070C0"/>
              </a:solidFill>
            </a:endParaRPr>
          </a:p>
        </p:txBody>
      </p:sp>
      <p:sp>
        <p:nvSpPr>
          <p:cNvPr id="15" name="Star: 5 Points 14">
            <a:extLst>
              <a:ext uri="{FF2B5EF4-FFF2-40B4-BE49-F238E27FC236}">
                <a16:creationId xmlns:a16="http://schemas.microsoft.com/office/drawing/2014/main" id="{A49F8186-903C-8CA3-B97B-1CB695B6A5B5}"/>
              </a:ext>
            </a:extLst>
          </p:cNvPr>
          <p:cNvSpPr/>
          <p:nvPr/>
        </p:nvSpPr>
        <p:spPr>
          <a:xfrm>
            <a:off x="6374526" y="4667717"/>
            <a:ext cx="234758" cy="228892"/>
          </a:xfrm>
          <a:prstGeom prst="star5">
            <a:avLst>
              <a:gd name="adj" fmla="val 19098"/>
              <a:gd name="hf" fmla="val 105146"/>
              <a:gd name="vf" fmla="val 110557"/>
            </a:avLst>
          </a:prstGeom>
          <a:solidFill>
            <a:schemeClr val="accent1"/>
          </a:solidFill>
          <a:ln>
            <a:solidFill>
              <a:schemeClr val="accent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solidFill>
                <a:srgbClr val="0070C0"/>
              </a:solidFill>
            </a:endParaRPr>
          </a:p>
        </p:txBody>
      </p:sp>
      <p:cxnSp>
        <p:nvCxnSpPr>
          <p:cNvPr id="23" name="Straight Connector 22">
            <a:extLst>
              <a:ext uri="{FF2B5EF4-FFF2-40B4-BE49-F238E27FC236}">
                <a16:creationId xmlns:a16="http://schemas.microsoft.com/office/drawing/2014/main" id="{EB74288C-8CEF-DA4B-2FB5-F331AC22D712}"/>
              </a:ext>
            </a:extLst>
          </p:cNvPr>
          <p:cNvCxnSpPr>
            <a:cxnSpLocks/>
          </p:cNvCxnSpPr>
          <p:nvPr/>
        </p:nvCxnSpPr>
        <p:spPr>
          <a:xfrm flipH="1">
            <a:off x="2015745" y="3441752"/>
            <a:ext cx="251613" cy="0"/>
          </a:xfrm>
          <a:prstGeom prst="line">
            <a:avLst/>
          </a:prstGeom>
          <a:ln w="38100">
            <a:solidFill>
              <a:schemeClr val="tx1"/>
            </a:solidFill>
          </a:ln>
        </p:spPr>
        <p:style>
          <a:lnRef idx="1">
            <a:schemeClr val="accent1"/>
          </a:lnRef>
          <a:fillRef idx="0">
            <a:schemeClr val="accent1"/>
          </a:fillRef>
          <a:effectRef idx="0">
            <a:schemeClr val="accent1"/>
          </a:effectRef>
          <a:fontRef idx="minor">
            <a:schemeClr val="tx1"/>
          </a:fontRef>
        </p:style>
      </p:cxnSp>
      <p:sp>
        <p:nvSpPr>
          <p:cNvPr id="24" name="TextBox 23">
            <a:extLst>
              <a:ext uri="{FF2B5EF4-FFF2-40B4-BE49-F238E27FC236}">
                <a16:creationId xmlns:a16="http://schemas.microsoft.com/office/drawing/2014/main" id="{F4DCE8E4-3425-38E4-1CB1-D97E86222265}"/>
              </a:ext>
            </a:extLst>
          </p:cNvPr>
          <p:cNvSpPr txBox="1"/>
          <p:nvPr/>
        </p:nvSpPr>
        <p:spPr>
          <a:xfrm>
            <a:off x="3923966" y="5167312"/>
            <a:ext cx="1816266" cy="369332"/>
          </a:xfrm>
          <a:prstGeom prst="rect">
            <a:avLst/>
          </a:prstGeom>
          <a:noFill/>
        </p:spPr>
        <p:txBody>
          <a:bodyPr wrap="none" rtlCol="0">
            <a:spAutoFit/>
          </a:bodyPr>
          <a:lstStyle/>
          <a:p>
            <a:r>
              <a:rPr lang="tr-TR" dirty="0" err="1"/>
              <a:t>Tumor</a:t>
            </a:r>
            <a:r>
              <a:rPr lang="tr-TR" dirty="0"/>
              <a:t> size x (cm)</a:t>
            </a:r>
            <a:endParaRPr lang="en-US" dirty="0"/>
          </a:p>
        </p:txBody>
      </p:sp>
      <p:sp>
        <p:nvSpPr>
          <p:cNvPr id="25" name="TextBox 24">
            <a:extLst>
              <a:ext uri="{FF2B5EF4-FFF2-40B4-BE49-F238E27FC236}">
                <a16:creationId xmlns:a16="http://schemas.microsoft.com/office/drawing/2014/main" id="{7BD62268-B674-8ADD-9574-90876F76227F}"/>
              </a:ext>
            </a:extLst>
          </p:cNvPr>
          <p:cNvSpPr txBox="1"/>
          <p:nvPr/>
        </p:nvSpPr>
        <p:spPr>
          <a:xfrm>
            <a:off x="1732849" y="4398255"/>
            <a:ext cx="301686" cy="369332"/>
          </a:xfrm>
          <a:prstGeom prst="rect">
            <a:avLst/>
          </a:prstGeom>
          <a:noFill/>
        </p:spPr>
        <p:txBody>
          <a:bodyPr wrap="none" rtlCol="0">
            <a:spAutoFit/>
          </a:bodyPr>
          <a:lstStyle/>
          <a:p>
            <a:r>
              <a:rPr lang="tr-TR" dirty="0">
                <a:solidFill>
                  <a:schemeClr val="accent1">
                    <a:lumMod val="75000"/>
                  </a:schemeClr>
                </a:solidFill>
              </a:rPr>
              <a:t>0</a:t>
            </a:r>
            <a:endParaRPr lang="en-US" dirty="0">
              <a:solidFill>
                <a:schemeClr val="accent1">
                  <a:lumMod val="75000"/>
                </a:schemeClr>
              </a:solidFill>
            </a:endParaRPr>
          </a:p>
        </p:txBody>
      </p:sp>
      <p:sp>
        <p:nvSpPr>
          <p:cNvPr id="26" name="TextBox 25">
            <a:extLst>
              <a:ext uri="{FF2B5EF4-FFF2-40B4-BE49-F238E27FC236}">
                <a16:creationId xmlns:a16="http://schemas.microsoft.com/office/drawing/2014/main" id="{AE86C681-19F9-A5AB-1F95-E959CD78027E}"/>
              </a:ext>
            </a:extLst>
          </p:cNvPr>
          <p:cNvSpPr txBox="1"/>
          <p:nvPr/>
        </p:nvSpPr>
        <p:spPr>
          <a:xfrm>
            <a:off x="1722725" y="3267982"/>
            <a:ext cx="301686" cy="369332"/>
          </a:xfrm>
          <a:prstGeom prst="rect">
            <a:avLst/>
          </a:prstGeom>
          <a:noFill/>
        </p:spPr>
        <p:txBody>
          <a:bodyPr wrap="none" rtlCol="0">
            <a:spAutoFit/>
          </a:bodyPr>
          <a:lstStyle/>
          <a:p>
            <a:r>
              <a:rPr lang="tr-TR" dirty="0">
                <a:solidFill>
                  <a:schemeClr val="accent6">
                    <a:lumMod val="75000"/>
                  </a:schemeClr>
                </a:solidFill>
              </a:rPr>
              <a:t>1</a:t>
            </a:r>
            <a:endParaRPr lang="en-US" dirty="0">
              <a:solidFill>
                <a:schemeClr val="accent6">
                  <a:lumMod val="75000"/>
                </a:schemeClr>
              </a:solidFill>
            </a:endParaRPr>
          </a:p>
        </p:txBody>
      </p:sp>
      <p:sp>
        <p:nvSpPr>
          <p:cNvPr id="28" name="Star: 5 Points 27">
            <a:extLst>
              <a:ext uri="{FF2B5EF4-FFF2-40B4-BE49-F238E27FC236}">
                <a16:creationId xmlns:a16="http://schemas.microsoft.com/office/drawing/2014/main" id="{81B19AA1-E8A6-4363-BC28-46F855B4E96A}"/>
              </a:ext>
            </a:extLst>
          </p:cNvPr>
          <p:cNvSpPr/>
          <p:nvPr/>
        </p:nvSpPr>
        <p:spPr>
          <a:xfrm>
            <a:off x="9107216" y="2769331"/>
            <a:ext cx="234758" cy="228892"/>
          </a:xfrm>
          <a:prstGeom prst="star5">
            <a:avLst>
              <a:gd name="adj" fmla="val 19098"/>
              <a:gd name="hf" fmla="val 105146"/>
              <a:gd name="vf" fmla="val 110557"/>
            </a:avLst>
          </a:prstGeom>
          <a:solidFill>
            <a:schemeClr val="accent1"/>
          </a:solidFill>
          <a:ln>
            <a:solidFill>
              <a:schemeClr val="accent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solidFill>
                <a:srgbClr val="0070C0"/>
              </a:solidFill>
            </a:endParaRPr>
          </a:p>
        </p:txBody>
      </p:sp>
      <p:sp>
        <p:nvSpPr>
          <p:cNvPr id="29" name="TextBox 28">
            <a:extLst>
              <a:ext uri="{FF2B5EF4-FFF2-40B4-BE49-F238E27FC236}">
                <a16:creationId xmlns:a16="http://schemas.microsoft.com/office/drawing/2014/main" id="{DB279D29-0E41-1A28-945A-C668E4DFEA09}"/>
              </a:ext>
            </a:extLst>
          </p:cNvPr>
          <p:cNvSpPr txBox="1"/>
          <p:nvPr/>
        </p:nvSpPr>
        <p:spPr>
          <a:xfrm>
            <a:off x="9537534" y="2196888"/>
            <a:ext cx="1724639" cy="369332"/>
          </a:xfrm>
          <a:prstGeom prst="rect">
            <a:avLst/>
          </a:prstGeom>
          <a:noFill/>
        </p:spPr>
        <p:txBody>
          <a:bodyPr wrap="none" rtlCol="0">
            <a:spAutoFit/>
          </a:bodyPr>
          <a:lstStyle/>
          <a:p>
            <a:r>
              <a:rPr lang="tr-TR" dirty="0" err="1"/>
              <a:t>Malignant</a:t>
            </a:r>
            <a:r>
              <a:rPr lang="tr-TR" dirty="0"/>
              <a:t> type1</a:t>
            </a:r>
            <a:endParaRPr lang="en-US" dirty="0"/>
          </a:p>
        </p:txBody>
      </p:sp>
      <p:sp>
        <p:nvSpPr>
          <p:cNvPr id="30" name="TextBox 29">
            <a:extLst>
              <a:ext uri="{FF2B5EF4-FFF2-40B4-BE49-F238E27FC236}">
                <a16:creationId xmlns:a16="http://schemas.microsoft.com/office/drawing/2014/main" id="{CB1B9487-03A3-4159-9BC6-2C63315624C2}"/>
              </a:ext>
            </a:extLst>
          </p:cNvPr>
          <p:cNvSpPr txBox="1"/>
          <p:nvPr/>
        </p:nvSpPr>
        <p:spPr>
          <a:xfrm>
            <a:off x="9537534" y="2680666"/>
            <a:ext cx="830677" cy="369332"/>
          </a:xfrm>
          <a:prstGeom prst="rect">
            <a:avLst/>
          </a:prstGeom>
          <a:noFill/>
        </p:spPr>
        <p:txBody>
          <a:bodyPr wrap="none" rtlCol="0">
            <a:spAutoFit/>
          </a:bodyPr>
          <a:lstStyle/>
          <a:p>
            <a:r>
              <a:rPr lang="tr-TR" dirty="0" err="1"/>
              <a:t>Benign</a:t>
            </a:r>
            <a:endParaRPr lang="en-US" dirty="0"/>
          </a:p>
        </p:txBody>
      </p:sp>
      <p:sp>
        <p:nvSpPr>
          <p:cNvPr id="31" name="Isosceles Triangle 30">
            <a:extLst>
              <a:ext uri="{FF2B5EF4-FFF2-40B4-BE49-F238E27FC236}">
                <a16:creationId xmlns:a16="http://schemas.microsoft.com/office/drawing/2014/main" id="{C05043C3-4205-1A75-C84A-3599BDB68B52}"/>
              </a:ext>
            </a:extLst>
          </p:cNvPr>
          <p:cNvSpPr/>
          <p:nvPr/>
        </p:nvSpPr>
        <p:spPr>
          <a:xfrm>
            <a:off x="4838728" y="3358821"/>
            <a:ext cx="208764" cy="202462"/>
          </a:xfrm>
          <a:prstGeom prst="triangle">
            <a:avLst/>
          </a:prstGeom>
          <a:solidFill>
            <a:schemeClr val="accent6">
              <a:lumMod val="75000"/>
            </a:schemeClr>
          </a:solidFill>
          <a:ln>
            <a:solidFill>
              <a:schemeClr val="accent6">
                <a:lumMod val="7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2" name="Isosceles Triangle 31">
            <a:extLst>
              <a:ext uri="{FF2B5EF4-FFF2-40B4-BE49-F238E27FC236}">
                <a16:creationId xmlns:a16="http://schemas.microsoft.com/office/drawing/2014/main" id="{061401F4-C97F-71E8-6FD2-D9E8A012EDA7}"/>
              </a:ext>
            </a:extLst>
          </p:cNvPr>
          <p:cNvSpPr/>
          <p:nvPr/>
        </p:nvSpPr>
        <p:spPr>
          <a:xfrm>
            <a:off x="5967757" y="3358821"/>
            <a:ext cx="208764" cy="202462"/>
          </a:xfrm>
          <a:prstGeom prst="triangle">
            <a:avLst/>
          </a:prstGeom>
          <a:solidFill>
            <a:schemeClr val="accent6">
              <a:lumMod val="75000"/>
            </a:schemeClr>
          </a:solidFill>
          <a:ln>
            <a:solidFill>
              <a:schemeClr val="accent6">
                <a:lumMod val="7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3" name="Isosceles Triangle 32">
            <a:extLst>
              <a:ext uri="{FF2B5EF4-FFF2-40B4-BE49-F238E27FC236}">
                <a16:creationId xmlns:a16="http://schemas.microsoft.com/office/drawing/2014/main" id="{4DEA102E-18C6-7F7A-F427-B02D91DC2619}"/>
              </a:ext>
            </a:extLst>
          </p:cNvPr>
          <p:cNvSpPr/>
          <p:nvPr/>
        </p:nvSpPr>
        <p:spPr>
          <a:xfrm>
            <a:off x="7086063" y="3362183"/>
            <a:ext cx="208764" cy="202462"/>
          </a:xfrm>
          <a:prstGeom prst="triangle">
            <a:avLst/>
          </a:prstGeom>
          <a:solidFill>
            <a:schemeClr val="accent6">
              <a:lumMod val="75000"/>
            </a:schemeClr>
          </a:solidFill>
          <a:ln>
            <a:solidFill>
              <a:schemeClr val="accent6">
                <a:lumMod val="7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4" name="Isosceles Triangle 33">
            <a:extLst>
              <a:ext uri="{FF2B5EF4-FFF2-40B4-BE49-F238E27FC236}">
                <a16:creationId xmlns:a16="http://schemas.microsoft.com/office/drawing/2014/main" id="{C4FAF610-AC5C-43B9-51EB-C7E5F099BCED}"/>
              </a:ext>
            </a:extLst>
          </p:cNvPr>
          <p:cNvSpPr/>
          <p:nvPr/>
        </p:nvSpPr>
        <p:spPr>
          <a:xfrm>
            <a:off x="7582723" y="3358821"/>
            <a:ext cx="208764" cy="202462"/>
          </a:xfrm>
          <a:prstGeom prst="triangle">
            <a:avLst/>
          </a:prstGeom>
          <a:solidFill>
            <a:schemeClr val="accent6">
              <a:lumMod val="75000"/>
            </a:schemeClr>
          </a:solidFill>
          <a:ln>
            <a:solidFill>
              <a:schemeClr val="accent6">
                <a:lumMod val="7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5" name="Isosceles Triangle 34">
            <a:extLst>
              <a:ext uri="{FF2B5EF4-FFF2-40B4-BE49-F238E27FC236}">
                <a16:creationId xmlns:a16="http://schemas.microsoft.com/office/drawing/2014/main" id="{06A9F2AB-06E9-91F4-7903-33784ABB5C9B}"/>
              </a:ext>
            </a:extLst>
          </p:cNvPr>
          <p:cNvSpPr/>
          <p:nvPr/>
        </p:nvSpPr>
        <p:spPr>
          <a:xfrm>
            <a:off x="8079383" y="3361184"/>
            <a:ext cx="208764" cy="202462"/>
          </a:xfrm>
          <a:prstGeom prst="triangle">
            <a:avLst/>
          </a:prstGeom>
          <a:solidFill>
            <a:schemeClr val="accent6">
              <a:lumMod val="75000"/>
            </a:schemeClr>
          </a:solidFill>
          <a:ln>
            <a:solidFill>
              <a:schemeClr val="accent6">
                <a:lumMod val="7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6" name="Isosceles Triangle 35">
            <a:extLst>
              <a:ext uri="{FF2B5EF4-FFF2-40B4-BE49-F238E27FC236}">
                <a16:creationId xmlns:a16="http://schemas.microsoft.com/office/drawing/2014/main" id="{F802183E-800C-E0E2-2661-881FC3C552CB}"/>
              </a:ext>
            </a:extLst>
          </p:cNvPr>
          <p:cNvSpPr/>
          <p:nvPr/>
        </p:nvSpPr>
        <p:spPr>
          <a:xfrm>
            <a:off x="9120213" y="2329281"/>
            <a:ext cx="208764" cy="202462"/>
          </a:xfrm>
          <a:prstGeom prst="triangle">
            <a:avLst/>
          </a:prstGeom>
          <a:solidFill>
            <a:schemeClr val="accent6">
              <a:lumMod val="75000"/>
            </a:schemeClr>
          </a:solidFill>
          <a:ln>
            <a:solidFill>
              <a:schemeClr val="accent6">
                <a:lumMod val="7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 name="Oval 2">
            <a:extLst>
              <a:ext uri="{FF2B5EF4-FFF2-40B4-BE49-F238E27FC236}">
                <a16:creationId xmlns:a16="http://schemas.microsoft.com/office/drawing/2014/main" id="{5349FE2F-618C-BE7E-0CFA-FE457BE62D8A}"/>
              </a:ext>
            </a:extLst>
          </p:cNvPr>
          <p:cNvSpPr/>
          <p:nvPr/>
        </p:nvSpPr>
        <p:spPr>
          <a:xfrm>
            <a:off x="5357842" y="2520016"/>
            <a:ext cx="234758" cy="214316"/>
          </a:xfrm>
          <a:prstGeom prst="ellipse">
            <a:avLst/>
          </a:prstGeom>
        </p:spPr>
        <p:style>
          <a:lnRef idx="2">
            <a:schemeClr val="accent4">
              <a:shade val="15000"/>
            </a:schemeClr>
          </a:lnRef>
          <a:fillRef idx="1">
            <a:schemeClr val="accent4"/>
          </a:fillRef>
          <a:effectRef idx="0">
            <a:schemeClr val="accent4"/>
          </a:effectRef>
          <a:fontRef idx="minor">
            <a:schemeClr val="lt1"/>
          </a:fontRef>
        </p:style>
        <p:txBody>
          <a:bodyPr rtlCol="0" anchor="ctr"/>
          <a:lstStyle/>
          <a:p>
            <a:pPr algn="ctr"/>
            <a:endParaRPr lang="en-US"/>
          </a:p>
        </p:txBody>
      </p:sp>
      <p:sp>
        <p:nvSpPr>
          <p:cNvPr id="4" name="Oval 3">
            <a:extLst>
              <a:ext uri="{FF2B5EF4-FFF2-40B4-BE49-F238E27FC236}">
                <a16:creationId xmlns:a16="http://schemas.microsoft.com/office/drawing/2014/main" id="{8725CC3D-AD59-B819-B01B-2B17027BB26C}"/>
              </a:ext>
            </a:extLst>
          </p:cNvPr>
          <p:cNvSpPr/>
          <p:nvPr/>
        </p:nvSpPr>
        <p:spPr>
          <a:xfrm>
            <a:off x="5725654" y="2524823"/>
            <a:ext cx="234758" cy="214316"/>
          </a:xfrm>
          <a:prstGeom prst="ellipse">
            <a:avLst/>
          </a:prstGeom>
        </p:spPr>
        <p:style>
          <a:lnRef idx="2">
            <a:schemeClr val="accent4">
              <a:shade val="15000"/>
            </a:schemeClr>
          </a:lnRef>
          <a:fillRef idx="1">
            <a:schemeClr val="accent4"/>
          </a:fillRef>
          <a:effectRef idx="0">
            <a:schemeClr val="accent4"/>
          </a:effectRef>
          <a:fontRef idx="minor">
            <a:schemeClr val="lt1"/>
          </a:fontRef>
        </p:style>
        <p:txBody>
          <a:bodyPr rtlCol="0" anchor="ctr"/>
          <a:lstStyle/>
          <a:p>
            <a:pPr algn="ctr"/>
            <a:endParaRPr lang="en-US"/>
          </a:p>
        </p:txBody>
      </p:sp>
      <p:cxnSp>
        <p:nvCxnSpPr>
          <p:cNvPr id="8" name="Straight Connector 7">
            <a:extLst>
              <a:ext uri="{FF2B5EF4-FFF2-40B4-BE49-F238E27FC236}">
                <a16:creationId xmlns:a16="http://schemas.microsoft.com/office/drawing/2014/main" id="{805E07A6-5601-9250-DDF7-9149031AE068}"/>
              </a:ext>
            </a:extLst>
          </p:cNvPr>
          <p:cNvCxnSpPr>
            <a:cxnSpLocks/>
          </p:cNvCxnSpPr>
          <p:nvPr/>
        </p:nvCxnSpPr>
        <p:spPr>
          <a:xfrm flipH="1">
            <a:off x="2007171" y="2433165"/>
            <a:ext cx="251613" cy="0"/>
          </a:xfrm>
          <a:prstGeom prst="line">
            <a:avLst/>
          </a:prstGeom>
          <a:ln w="38100">
            <a:solidFill>
              <a:schemeClr val="tx1"/>
            </a:solidFill>
          </a:ln>
        </p:spPr>
        <p:style>
          <a:lnRef idx="1">
            <a:schemeClr val="accent1"/>
          </a:lnRef>
          <a:fillRef idx="0">
            <a:schemeClr val="accent1"/>
          </a:fillRef>
          <a:effectRef idx="0">
            <a:schemeClr val="accent1"/>
          </a:effectRef>
          <a:fontRef idx="minor">
            <a:schemeClr val="tx1"/>
          </a:fontRef>
        </p:style>
      </p:cxnSp>
      <p:sp>
        <p:nvSpPr>
          <p:cNvPr id="9" name="Oval 8">
            <a:extLst>
              <a:ext uri="{FF2B5EF4-FFF2-40B4-BE49-F238E27FC236}">
                <a16:creationId xmlns:a16="http://schemas.microsoft.com/office/drawing/2014/main" id="{A88787FD-D121-CBDF-B243-4C0A8DDF35C4}"/>
              </a:ext>
            </a:extLst>
          </p:cNvPr>
          <p:cNvSpPr/>
          <p:nvPr/>
        </p:nvSpPr>
        <p:spPr>
          <a:xfrm>
            <a:off x="4987246" y="2524823"/>
            <a:ext cx="234758" cy="214316"/>
          </a:xfrm>
          <a:prstGeom prst="ellipse">
            <a:avLst/>
          </a:prstGeom>
        </p:spPr>
        <p:style>
          <a:lnRef idx="2">
            <a:schemeClr val="accent4">
              <a:shade val="15000"/>
            </a:schemeClr>
          </a:lnRef>
          <a:fillRef idx="1">
            <a:schemeClr val="accent4"/>
          </a:fillRef>
          <a:effectRef idx="0">
            <a:schemeClr val="accent4"/>
          </a:effectRef>
          <a:fontRef idx="minor">
            <a:schemeClr val="lt1"/>
          </a:fontRef>
        </p:style>
        <p:txBody>
          <a:bodyPr rtlCol="0" anchor="ctr"/>
          <a:lstStyle/>
          <a:p>
            <a:pPr algn="ctr"/>
            <a:endParaRPr lang="en-US"/>
          </a:p>
        </p:txBody>
      </p:sp>
      <p:sp>
        <p:nvSpPr>
          <p:cNvPr id="16" name="TextBox 15">
            <a:extLst>
              <a:ext uri="{FF2B5EF4-FFF2-40B4-BE49-F238E27FC236}">
                <a16:creationId xmlns:a16="http://schemas.microsoft.com/office/drawing/2014/main" id="{1419F05D-9D7E-70C6-34F0-93C13A4E19D5}"/>
              </a:ext>
            </a:extLst>
          </p:cNvPr>
          <p:cNvSpPr txBox="1"/>
          <p:nvPr/>
        </p:nvSpPr>
        <p:spPr>
          <a:xfrm>
            <a:off x="1710838" y="2227040"/>
            <a:ext cx="301686" cy="369332"/>
          </a:xfrm>
          <a:prstGeom prst="rect">
            <a:avLst/>
          </a:prstGeom>
          <a:noFill/>
        </p:spPr>
        <p:txBody>
          <a:bodyPr wrap="none" rtlCol="0">
            <a:spAutoFit/>
          </a:bodyPr>
          <a:lstStyle/>
          <a:p>
            <a:r>
              <a:rPr lang="tr-TR" dirty="0">
                <a:solidFill>
                  <a:srgbClr val="FFC000"/>
                </a:solidFill>
              </a:rPr>
              <a:t>2</a:t>
            </a:r>
            <a:endParaRPr lang="en-US" dirty="0">
              <a:solidFill>
                <a:srgbClr val="FFC000"/>
              </a:solidFill>
            </a:endParaRPr>
          </a:p>
        </p:txBody>
      </p:sp>
      <p:sp>
        <p:nvSpPr>
          <p:cNvPr id="17" name="Oval 16">
            <a:extLst>
              <a:ext uri="{FF2B5EF4-FFF2-40B4-BE49-F238E27FC236}">
                <a16:creationId xmlns:a16="http://schemas.microsoft.com/office/drawing/2014/main" id="{F9ED0456-4FCC-E0F5-CBFF-3B9F98795228}"/>
              </a:ext>
            </a:extLst>
          </p:cNvPr>
          <p:cNvSpPr/>
          <p:nvPr/>
        </p:nvSpPr>
        <p:spPr>
          <a:xfrm>
            <a:off x="9094219" y="1957872"/>
            <a:ext cx="234758" cy="214316"/>
          </a:xfrm>
          <a:prstGeom prst="ellipse">
            <a:avLst/>
          </a:prstGeom>
        </p:spPr>
        <p:style>
          <a:lnRef idx="2">
            <a:schemeClr val="accent4">
              <a:shade val="15000"/>
            </a:schemeClr>
          </a:lnRef>
          <a:fillRef idx="1">
            <a:schemeClr val="accent4"/>
          </a:fillRef>
          <a:effectRef idx="0">
            <a:schemeClr val="accent4"/>
          </a:effectRef>
          <a:fontRef idx="minor">
            <a:schemeClr val="lt1"/>
          </a:fontRef>
        </p:style>
        <p:txBody>
          <a:bodyPr rtlCol="0" anchor="ctr"/>
          <a:lstStyle/>
          <a:p>
            <a:pPr algn="ctr"/>
            <a:endParaRPr lang="en-US"/>
          </a:p>
        </p:txBody>
      </p:sp>
      <p:sp>
        <p:nvSpPr>
          <p:cNvPr id="18" name="TextBox 17">
            <a:extLst>
              <a:ext uri="{FF2B5EF4-FFF2-40B4-BE49-F238E27FC236}">
                <a16:creationId xmlns:a16="http://schemas.microsoft.com/office/drawing/2014/main" id="{BBCB7C2B-7DFC-D167-E833-3EAFF7773D25}"/>
              </a:ext>
            </a:extLst>
          </p:cNvPr>
          <p:cNvSpPr txBox="1"/>
          <p:nvPr/>
        </p:nvSpPr>
        <p:spPr>
          <a:xfrm>
            <a:off x="9558094" y="1860677"/>
            <a:ext cx="1724639" cy="369332"/>
          </a:xfrm>
          <a:prstGeom prst="rect">
            <a:avLst/>
          </a:prstGeom>
          <a:noFill/>
        </p:spPr>
        <p:txBody>
          <a:bodyPr wrap="none" rtlCol="0">
            <a:spAutoFit/>
          </a:bodyPr>
          <a:lstStyle/>
          <a:p>
            <a:r>
              <a:rPr lang="tr-TR" dirty="0" err="1"/>
              <a:t>Malignant</a:t>
            </a:r>
            <a:r>
              <a:rPr lang="tr-TR" dirty="0"/>
              <a:t> type2</a:t>
            </a:r>
            <a:endParaRPr lang="en-US" dirty="0"/>
          </a:p>
        </p:txBody>
      </p:sp>
      <p:sp>
        <p:nvSpPr>
          <p:cNvPr id="5" name="Rectangle">
            <a:extLst>
              <a:ext uri="{FF2B5EF4-FFF2-40B4-BE49-F238E27FC236}">
                <a16:creationId xmlns:a16="http://schemas.microsoft.com/office/drawing/2014/main" id="{106E293B-6C20-FABA-62ED-BB602DFCFA80}"/>
              </a:ext>
            </a:extLst>
          </p:cNvPr>
          <p:cNvSpPr/>
          <p:nvPr/>
        </p:nvSpPr>
        <p:spPr>
          <a:xfrm>
            <a:off x="-11767" y="6545179"/>
            <a:ext cx="12203767" cy="315200"/>
          </a:xfrm>
          <a:prstGeom prst="rect">
            <a:avLst/>
          </a:prstGeom>
          <a:solidFill>
            <a:schemeClr val="tx1"/>
          </a:solidFill>
          <a:ln w="12700">
            <a:noFill/>
            <a:miter lim="400000"/>
          </a:ln>
        </p:spPr>
        <p:txBody>
          <a:bodyPr lIns="45719" rIns="45719" anchor="ctr"/>
          <a:lstStyle/>
          <a:p>
            <a:endParaRPr/>
          </a:p>
        </p:txBody>
      </p:sp>
      <p:pic>
        <p:nvPicPr>
          <p:cNvPr id="19" name="Picture 18" descr="Frontier Tech Leaders (@FTLeadersProg) / X">
            <a:extLst>
              <a:ext uri="{FF2B5EF4-FFF2-40B4-BE49-F238E27FC236}">
                <a16:creationId xmlns:a16="http://schemas.microsoft.com/office/drawing/2014/main" id="{B54E8F34-AFAF-9E00-AA17-FF1C009B30E5}"/>
              </a:ext>
            </a:extLst>
          </p:cNvPr>
          <p:cNvPicPr>
            <a:picLocks noChangeAspect="1"/>
          </p:cNvPicPr>
          <p:nvPr/>
        </p:nvPicPr>
        <p:blipFill>
          <a:blip r:embed="rId3"/>
          <a:stretch>
            <a:fillRect/>
          </a:stretch>
        </p:blipFill>
        <p:spPr>
          <a:xfrm>
            <a:off x="10668000" y="94470"/>
            <a:ext cx="1027893" cy="1027893"/>
          </a:xfrm>
          <a:prstGeom prst="rect">
            <a:avLst/>
          </a:prstGeom>
        </p:spPr>
      </p:pic>
    </p:spTree>
    <p:extLst>
      <p:ext uri="{BB962C8B-B14F-4D97-AF65-F5344CB8AC3E}">
        <p14:creationId xmlns:p14="http://schemas.microsoft.com/office/powerpoint/2010/main" val="238192385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7"/>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6"/>
                                        </p:tgtEl>
                                        <p:attrNameLst>
                                          <p:attrName>style.visibility</p:attrName>
                                        </p:attrNameLst>
                                      </p:cBhvr>
                                      <p:to>
                                        <p:strVal val="visible"/>
                                      </p:to>
                                    </p:set>
                                  </p:childTnLst>
                                </p:cTn>
                              </p:par>
                              <p:par>
                                <p:cTn id="9" presetID="1" presetClass="entr" presetSubtype="0" fill="hold" grpId="0" nodeType="withEffect">
                                  <p:stCondLst>
                                    <p:cond delay="0"/>
                                  </p:stCondLst>
                                  <p:childTnLst>
                                    <p:set>
                                      <p:cBhvr>
                                        <p:cTn id="10" dur="1" fill="hold">
                                          <p:stCondLst>
                                            <p:cond delay="0"/>
                                          </p:stCondLst>
                                        </p:cTn>
                                        <p:tgtEl>
                                          <p:spTgt spid="28"/>
                                        </p:tgtEl>
                                        <p:attrNameLst>
                                          <p:attrName>style.visibility</p:attrName>
                                        </p:attrNameLst>
                                      </p:cBhvr>
                                      <p:to>
                                        <p:strVal val="visible"/>
                                      </p:to>
                                    </p:set>
                                  </p:childTnLst>
                                </p:cTn>
                              </p:par>
                              <p:par>
                                <p:cTn id="11" presetID="1" presetClass="entr" presetSubtype="0" fill="hold" grpId="0" nodeType="withEffect">
                                  <p:stCondLst>
                                    <p:cond delay="0"/>
                                  </p:stCondLst>
                                  <p:childTnLst>
                                    <p:set>
                                      <p:cBhvr>
                                        <p:cTn id="12" dur="1" fill="hold">
                                          <p:stCondLst>
                                            <p:cond delay="0"/>
                                          </p:stCondLst>
                                        </p:cTn>
                                        <p:tgtEl>
                                          <p:spTgt spid="10"/>
                                        </p:tgtEl>
                                        <p:attrNameLst>
                                          <p:attrName>style.visibility</p:attrName>
                                        </p:attrNameLst>
                                      </p:cBhvr>
                                      <p:to>
                                        <p:strVal val="visible"/>
                                      </p:to>
                                    </p:set>
                                  </p:childTnLst>
                                </p:cTn>
                              </p:par>
                              <p:par>
                                <p:cTn id="13" presetID="1" presetClass="entr" presetSubtype="0" fill="hold" grpId="0" nodeType="withEffect">
                                  <p:stCondLst>
                                    <p:cond delay="0"/>
                                  </p:stCondLst>
                                  <p:childTnLst>
                                    <p:set>
                                      <p:cBhvr>
                                        <p:cTn id="14" dur="1" fill="hold">
                                          <p:stCondLst>
                                            <p:cond delay="0"/>
                                          </p:stCondLst>
                                        </p:cTn>
                                        <p:tgtEl>
                                          <p:spTgt spid="11"/>
                                        </p:tgtEl>
                                        <p:attrNameLst>
                                          <p:attrName>style.visibility</p:attrName>
                                        </p:attrNameLst>
                                      </p:cBhvr>
                                      <p:to>
                                        <p:strVal val="visible"/>
                                      </p:to>
                                    </p:set>
                                  </p:childTnLst>
                                </p:cTn>
                              </p:par>
                              <p:par>
                                <p:cTn id="15" presetID="1" presetClass="entr" presetSubtype="0" fill="hold" grpId="0" nodeType="withEffect">
                                  <p:stCondLst>
                                    <p:cond delay="0"/>
                                  </p:stCondLst>
                                  <p:childTnLst>
                                    <p:set>
                                      <p:cBhvr>
                                        <p:cTn id="16" dur="1" fill="hold">
                                          <p:stCondLst>
                                            <p:cond delay="0"/>
                                          </p:stCondLst>
                                        </p:cTn>
                                        <p:tgtEl>
                                          <p:spTgt spid="12"/>
                                        </p:tgtEl>
                                        <p:attrNameLst>
                                          <p:attrName>style.visibility</p:attrName>
                                        </p:attrNameLst>
                                      </p:cBhvr>
                                      <p:to>
                                        <p:strVal val="visible"/>
                                      </p:to>
                                    </p:set>
                                  </p:childTnLst>
                                </p:cTn>
                              </p:par>
                              <p:par>
                                <p:cTn id="17" presetID="1" presetClass="entr" presetSubtype="0" fill="hold" grpId="0" nodeType="withEffect">
                                  <p:stCondLst>
                                    <p:cond delay="0"/>
                                  </p:stCondLst>
                                  <p:childTnLst>
                                    <p:set>
                                      <p:cBhvr>
                                        <p:cTn id="18" dur="1" fill="hold">
                                          <p:stCondLst>
                                            <p:cond delay="0"/>
                                          </p:stCondLst>
                                        </p:cTn>
                                        <p:tgtEl>
                                          <p:spTgt spid="13"/>
                                        </p:tgtEl>
                                        <p:attrNameLst>
                                          <p:attrName>style.visibility</p:attrName>
                                        </p:attrNameLst>
                                      </p:cBhvr>
                                      <p:to>
                                        <p:strVal val="visible"/>
                                      </p:to>
                                    </p:set>
                                  </p:childTnLst>
                                </p:cTn>
                              </p:par>
                              <p:par>
                                <p:cTn id="19" presetID="1" presetClass="entr" presetSubtype="0" fill="hold" grpId="0" nodeType="withEffect">
                                  <p:stCondLst>
                                    <p:cond delay="0"/>
                                  </p:stCondLst>
                                  <p:childTnLst>
                                    <p:set>
                                      <p:cBhvr>
                                        <p:cTn id="20" dur="1" fill="hold">
                                          <p:stCondLst>
                                            <p:cond delay="0"/>
                                          </p:stCondLst>
                                        </p:cTn>
                                        <p:tgtEl>
                                          <p:spTgt spid="14"/>
                                        </p:tgtEl>
                                        <p:attrNameLst>
                                          <p:attrName>style.visibility</p:attrName>
                                        </p:attrNameLst>
                                      </p:cBhvr>
                                      <p:to>
                                        <p:strVal val="visible"/>
                                      </p:to>
                                    </p:set>
                                  </p:childTnLst>
                                </p:cTn>
                              </p:par>
                              <p:par>
                                <p:cTn id="21" presetID="1" presetClass="entr" presetSubtype="0" fill="hold" grpId="0" nodeType="withEffect">
                                  <p:stCondLst>
                                    <p:cond delay="0"/>
                                  </p:stCondLst>
                                  <p:childTnLst>
                                    <p:set>
                                      <p:cBhvr>
                                        <p:cTn id="22" dur="1" fill="hold">
                                          <p:stCondLst>
                                            <p:cond delay="0"/>
                                          </p:stCondLst>
                                        </p:cTn>
                                        <p:tgtEl>
                                          <p:spTgt spid="15"/>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grpId="0" nodeType="clickEffect">
                                  <p:stCondLst>
                                    <p:cond delay="0"/>
                                  </p:stCondLst>
                                  <p:childTnLst>
                                    <p:set>
                                      <p:cBhvr>
                                        <p:cTn id="26" dur="1" fill="hold">
                                          <p:stCondLst>
                                            <p:cond delay="0"/>
                                          </p:stCondLst>
                                        </p:cTn>
                                        <p:tgtEl>
                                          <p:spTgt spid="30"/>
                                        </p:tgtEl>
                                        <p:attrNameLst>
                                          <p:attrName>style.visibility</p:attrName>
                                        </p:attrNameLst>
                                      </p:cBhvr>
                                      <p:to>
                                        <p:strVal val="visible"/>
                                      </p:to>
                                    </p:set>
                                  </p:childTnLst>
                                </p:cTn>
                              </p:par>
                            </p:childTnLst>
                          </p:cTn>
                        </p:par>
                      </p:childTnLst>
                    </p:cTn>
                  </p:par>
                  <p:par>
                    <p:cTn id="27" fill="hold">
                      <p:stCondLst>
                        <p:cond delay="indefinite"/>
                      </p:stCondLst>
                      <p:childTnLst>
                        <p:par>
                          <p:cTn id="28" fill="hold">
                            <p:stCondLst>
                              <p:cond delay="0"/>
                            </p:stCondLst>
                            <p:childTnLst>
                              <p:par>
                                <p:cTn id="29" presetID="1" presetClass="entr" presetSubtype="0" fill="hold" grpId="0" nodeType="clickEffect">
                                  <p:stCondLst>
                                    <p:cond delay="0"/>
                                  </p:stCondLst>
                                  <p:childTnLst>
                                    <p:set>
                                      <p:cBhvr>
                                        <p:cTn id="30" dur="1" fill="hold">
                                          <p:stCondLst>
                                            <p:cond delay="0"/>
                                          </p:stCondLst>
                                        </p:cTn>
                                        <p:tgtEl>
                                          <p:spTgt spid="31"/>
                                        </p:tgtEl>
                                        <p:attrNameLst>
                                          <p:attrName>style.visibility</p:attrName>
                                        </p:attrNameLst>
                                      </p:cBhvr>
                                      <p:to>
                                        <p:strVal val="visible"/>
                                      </p:to>
                                    </p:set>
                                  </p:childTnLst>
                                </p:cTn>
                              </p:par>
                              <p:par>
                                <p:cTn id="31" presetID="1" presetClass="entr" presetSubtype="0" fill="hold" grpId="0" nodeType="withEffect">
                                  <p:stCondLst>
                                    <p:cond delay="0"/>
                                  </p:stCondLst>
                                  <p:childTnLst>
                                    <p:set>
                                      <p:cBhvr>
                                        <p:cTn id="32" dur="1" fill="hold">
                                          <p:stCondLst>
                                            <p:cond delay="0"/>
                                          </p:stCondLst>
                                        </p:cTn>
                                        <p:tgtEl>
                                          <p:spTgt spid="32"/>
                                        </p:tgtEl>
                                        <p:attrNameLst>
                                          <p:attrName>style.visibility</p:attrName>
                                        </p:attrNameLst>
                                      </p:cBhvr>
                                      <p:to>
                                        <p:strVal val="visible"/>
                                      </p:to>
                                    </p:set>
                                  </p:childTnLst>
                                </p:cTn>
                              </p:par>
                              <p:par>
                                <p:cTn id="33" presetID="1" presetClass="entr" presetSubtype="0" fill="hold" grpId="0" nodeType="withEffect">
                                  <p:stCondLst>
                                    <p:cond delay="0"/>
                                  </p:stCondLst>
                                  <p:childTnLst>
                                    <p:set>
                                      <p:cBhvr>
                                        <p:cTn id="34" dur="1" fill="hold">
                                          <p:stCondLst>
                                            <p:cond delay="0"/>
                                          </p:stCondLst>
                                        </p:cTn>
                                        <p:tgtEl>
                                          <p:spTgt spid="33"/>
                                        </p:tgtEl>
                                        <p:attrNameLst>
                                          <p:attrName>style.visibility</p:attrName>
                                        </p:attrNameLst>
                                      </p:cBhvr>
                                      <p:to>
                                        <p:strVal val="visible"/>
                                      </p:to>
                                    </p:set>
                                  </p:childTnLst>
                                </p:cTn>
                              </p:par>
                              <p:par>
                                <p:cTn id="35" presetID="1" presetClass="entr" presetSubtype="0" fill="hold" grpId="0" nodeType="withEffect">
                                  <p:stCondLst>
                                    <p:cond delay="0"/>
                                  </p:stCondLst>
                                  <p:childTnLst>
                                    <p:set>
                                      <p:cBhvr>
                                        <p:cTn id="36" dur="1" fill="hold">
                                          <p:stCondLst>
                                            <p:cond delay="0"/>
                                          </p:stCondLst>
                                        </p:cTn>
                                        <p:tgtEl>
                                          <p:spTgt spid="34"/>
                                        </p:tgtEl>
                                        <p:attrNameLst>
                                          <p:attrName>style.visibility</p:attrName>
                                        </p:attrNameLst>
                                      </p:cBhvr>
                                      <p:to>
                                        <p:strVal val="visible"/>
                                      </p:to>
                                    </p:set>
                                  </p:childTnLst>
                                </p:cTn>
                              </p:par>
                              <p:par>
                                <p:cTn id="37" presetID="1" presetClass="entr" presetSubtype="0" fill="hold" grpId="0" nodeType="withEffect">
                                  <p:stCondLst>
                                    <p:cond delay="0"/>
                                  </p:stCondLst>
                                  <p:childTnLst>
                                    <p:set>
                                      <p:cBhvr>
                                        <p:cTn id="38" dur="1" fill="hold">
                                          <p:stCondLst>
                                            <p:cond delay="0"/>
                                          </p:stCondLst>
                                        </p:cTn>
                                        <p:tgtEl>
                                          <p:spTgt spid="35"/>
                                        </p:tgtEl>
                                        <p:attrNameLst>
                                          <p:attrName>style.visibility</p:attrName>
                                        </p:attrNameLst>
                                      </p:cBhvr>
                                      <p:to>
                                        <p:strVal val="visible"/>
                                      </p:to>
                                    </p:set>
                                  </p:childTnLst>
                                </p:cTn>
                              </p:par>
                              <p:par>
                                <p:cTn id="39" presetID="1" presetClass="entr" presetSubtype="0" fill="hold" grpId="0" nodeType="withEffect">
                                  <p:stCondLst>
                                    <p:cond delay="0"/>
                                  </p:stCondLst>
                                  <p:childTnLst>
                                    <p:set>
                                      <p:cBhvr>
                                        <p:cTn id="40" dur="1" fill="hold">
                                          <p:stCondLst>
                                            <p:cond delay="0"/>
                                          </p:stCondLst>
                                        </p:cTn>
                                        <p:tgtEl>
                                          <p:spTgt spid="36"/>
                                        </p:tgtEl>
                                        <p:attrNameLst>
                                          <p:attrName>style.visibility</p:attrName>
                                        </p:attrNameLst>
                                      </p:cBhvr>
                                      <p:to>
                                        <p:strVal val="visible"/>
                                      </p:to>
                                    </p:set>
                                  </p:childTnLst>
                                </p:cTn>
                              </p:par>
                              <p:par>
                                <p:cTn id="41" presetID="1" presetClass="entr" presetSubtype="0" fill="hold" grpId="0" nodeType="withEffect">
                                  <p:stCondLst>
                                    <p:cond delay="0"/>
                                  </p:stCondLst>
                                  <p:childTnLst>
                                    <p:set>
                                      <p:cBhvr>
                                        <p:cTn id="42" dur="1" fill="hold">
                                          <p:stCondLst>
                                            <p:cond delay="0"/>
                                          </p:stCondLst>
                                        </p:cTn>
                                        <p:tgtEl>
                                          <p:spTgt spid="29"/>
                                        </p:tgtEl>
                                        <p:attrNameLst>
                                          <p:attrName>style.visibility</p:attrName>
                                        </p:attrNameLst>
                                      </p:cBhvr>
                                      <p:to>
                                        <p:strVal val="visible"/>
                                      </p:to>
                                    </p:set>
                                  </p:childTnLst>
                                </p:cTn>
                              </p:par>
                            </p:childTnLst>
                          </p:cTn>
                        </p:par>
                      </p:childTnLst>
                    </p:cTn>
                  </p:par>
                  <p:par>
                    <p:cTn id="43" fill="hold">
                      <p:stCondLst>
                        <p:cond delay="indefinite"/>
                      </p:stCondLst>
                      <p:childTnLst>
                        <p:par>
                          <p:cTn id="44" fill="hold">
                            <p:stCondLst>
                              <p:cond delay="0"/>
                            </p:stCondLst>
                            <p:childTnLst>
                              <p:par>
                                <p:cTn id="45" presetID="1" presetClass="entr" presetSubtype="0" fill="hold" grpId="0" nodeType="clickEffect">
                                  <p:stCondLst>
                                    <p:cond delay="0"/>
                                  </p:stCondLst>
                                  <p:childTnLst>
                                    <p:set>
                                      <p:cBhvr>
                                        <p:cTn id="46" dur="1" fill="hold">
                                          <p:stCondLst>
                                            <p:cond delay="0"/>
                                          </p:stCondLst>
                                        </p:cTn>
                                        <p:tgtEl>
                                          <p:spTgt spid="3"/>
                                        </p:tgtEl>
                                        <p:attrNameLst>
                                          <p:attrName>style.visibility</p:attrName>
                                        </p:attrNameLst>
                                      </p:cBhvr>
                                      <p:to>
                                        <p:strVal val="visible"/>
                                      </p:to>
                                    </p:set>
                                  </p:childTnLst>
                                </p:cTn>
                              </p:par>
                              <p:par>
                                <p:cTn id="47" presetID="1" presetClass="entr" presetSubtype="0" fill="hold" grpId="0" nodeType="withEffect">
                                  <p:stCondLst>
                                    <p:cond delay="0"/>
                                  </p:stCondLst>
                                  <p:childTnLst>
                                    <p:set>
                                      <p:cBhvr>
                                        <p:cTn id="48" dur="1" fill="hold">
                                          <p:stCondLst>
                                            <p:cond delay="0"/>
                                          </p:stCondLst>
                                        </p:cTn>
                                        <p:tgtEl>
                                          <p:spTgt spid="4"/>
                                        </p:tgtEl>
                                        <p:attrNameLst>
                                          <p:attrName>style.visibility</p:attrName>
                                        </p:attrNameLst>
                                      </p:cBhvr>
                                      <p:to>
                                        <p:strVal val="visible"/>
                                      </p:to>
                                    </p:set>
                                  </p:childTnLst>
                                </p:cTn>
                              </p:par>
                              <p:par>
                                <p:cTn id="49" presetID="1" presetClass="entr" presetSubtype="0" fill="hold" grpId="0" nodeType="withEffect">
                                  <p:stCondLst>
                                    <p:cond delay="0"/>
                                  </p:stCondLst>
                                  <p:childTnLst>
                                    <p:set>
                                      <p:cBhvr>
                                        <p:cTn id="50" dur="1" fill="hold">
                                          <p:stCondLst>
                                            <p:cond delay="0"/>
                                          </p:stCondLst>
                                        </p:cTn>
                                        <p:tgtEl>
                                          <p:spTgt spid="9"/>
                                        </p:tgtEl>
                                        <p:attrNameLst>
                                          <p:attrName>style.visibility</p:attrName>
                                        </p:attrNameLst>
                                      </p:cBhvr>
                                      <p:to>
                                        <p:strVal val="visible"/>
                                      </p:to>
                                    </p:set>
                                  </p:childTnLst>
                                </p:cTn>
                              </p:par>
                              <p:par>
                                <p:cTn id="51" presetID="1" presetClass="entr" presetSubtype="0" fill="hold" grpId="0" nodeType="withEffect">
                                  <p:stCondLst>
                                    <p:cond delay="0"/>
                                  </p:stCondLst>
                                  <p:childTnLst>
                                    <p:set>
                                      <p:cBhvr>
                                        <p:cTn id="52" dur="1" fill="hold">
                                          <p:stCondLst>
                                            <p:cond delay="0"/>
                                          </p:stCondLst>
                                        </p:cTn>
                                        <p:tgtEl>
                                          <p:spTgt spid="18"/>
                                        </p:tgtEl>
                                        <p:attrNameLst>
                                          <p:attrName>style.visibility</p:attrName>
                                        </p:attrNameLst>
                                      </p:cBhvr>
                                      <p:to>
                                        <p:strVal val="visible"/>
                                      </p:to>
                                    </p:set>
                                  </p:childTnLst>
                                </p:cTn>
                              </p:par>
                              <p:par>
                                <p:cTn id="53" presetID="1" presetClass="entr" presetSubtype="0" fill="hold" grpId="0" nodeType="withEffect">
                                  <p:stCondLst>
                                    <p:cond delay="0"/>
                                  </p:stCondLst>
                                  <p:childTnLst>
                                    <p:set>
                                      <p:cBhvr>
                                        <p:cTn id="54" dur="1" fill="hold">
                                          <p:stCondLst>
                                            <p:cond delay="0"/>
                                          </p:stCondLst>
                                        </p:cTn>
                                        <p:tgtEl>
                                          <p:spTgt spid="17"/>
                                        </p:tgtEl>
                                        <p:attrNameLst>
                                          <p:attrName>style.visibility</p:attrName>
                                        </p:attrNameLst>
                                      </p:cBhvr>
                                      <p:to>
                                        <p:strVal val="visible"/>
                                      </p:to>
                                    </p:set>
                                  </p:childTnLst>
                                </p:cTn>
                              </p:par>
                            </p:childTnLst>
                          </p:cTn>
                        </p:par>
                      </p:childTnLst>
                    </p:cTn>
                  </p:par>
                  <p:par>
                    <p:cTn id="55" fill="hold">
                      <p:stCondLst>
                        <p:cond delay="indefinite"/>
                      </p:stCondLst>
                      <p:childTnLst>
                        <p:par>
                          <p:cTn id="56" fill="hold">
                            <p:stCondLst>
                              <p:cond delay="0"/>
                            </p:stCondLst>
                            <p:childTnLst>
                              <p:par>
                                <p:cTn id="57" presetID="1" presetClass="entr" presetSubtype="0" fill="hold" grpId="0" nodeType="clickEffect">
                                  <p:stCondLst>
                                    <p:cond delay="0"/>
                                  </p:stCondLst>
                                  <p:childTnLst>
                                    <p:set>
                                      <p:cBhvr>
                                        <p:cTn id="58" dur="1" fill="hold">
                                          <p:stCondLst>
                                            <p:cond delay="0"/>
                                          </p:stCondLst>
                                        </p:cTn>
                                        <p:tgtEl>
                                          <p:spTgt spid="26"/>
                                        </p:tgtEl>
                                        <p:attrNameLst>
                                          <p:attrName>style.visibility</p:attrName>
                                        </p:attrNameLst>
                                      </p:cBhvr>
                                      <p:to>
                                        <p:strVal val="visible"/>
                                      </p:to>
                                    </p:set>
                                  </p:childTnLst>
                                </p:cTn>
                              </p:par>
                              <p:par>
                                <p:cTn id="59" presetID="1" presetClass="entr" presetSubtype="0" fill="hold" nodeType="withEffect">
                                  <p:stCondLst>
                                    <p:cond delay="0"/>
                                  </p:stCondLst>
                                  <p:childTnLst>
                                    <p:set>
                                      <p:cBhvr>
                                        <p:cTn id="60" dur="1" fill="hold">
                                          <p:stCondLst>
                                            <p:cond delay="0"/>
                                          </p:stCondLst>
                                        </p:cTn>
                                        <p:tgtEl>
                                          <p:spTgt spid="23"/>
                                        </p:tgtEl>
                                        <p:attrNameLst>
                                          <p:attrName>style.visibility</p:attrName>
                                        </p:attrNameLst>
                                      </p:cBhvr>
                                      <p:to>
                                        <p:strVal val="visible"/>
                                      </p:to>
                                    </p:set>
                                  </p:childTnLst>
                                </p:cTn>
                              </p:par>
                              <p:par>
                                <p:cTn id="61" presetID="1" presetClass="entr" presetSubtype="0" fill="hold" nodeType="withEffect">
                                  <p:stCondLst>
                                    <p:cond delay="0"/>
                                  </p:stCondLst>
                                  <p:childTnLst>
                                    <p:set>
                                      <p:cBhvr>
                                        <p:cTn id="62" dur="1" fill="hold">
                                          <p:stCondLst>
                                            <p:cond delay="0"/>
                                          </p:stCondLst>
                                        </p:cTn>
                                        <p:tgtEl>
                                          <p:spTgt spid="8"/>
                                        </p:tgtEl>
                                        <p:attrNameLst>
                                          <p:attrName>style.visibility</p:attrName>
                                        </p:attrNameLst>
                                      </p:cBhvr>
                                      <p:to>
                                        <p:strVal val="visible"/>
                                      </p:to>
                                    </p:set>
                                  </p:childTnLst>
                                </p:cTn>
                              </p:par>
                              <p:par>
                                <p:cTn id="63" presetID="1" presetClass="entr" presetSubtype="0" fill="hold" grpId="0" nodeType="withEffect">
                                  <p:stCondLst>
                                    <p:cond delay="0"/>
                                  </p:stCondLst>
                                  <p:childTnLst>
                                    <p:set>
                                      <p:cBhvr>
                                        <p:cTn id="64" dur="1" fill="hold">
                                          <p:stCondLst>
                                            <p:cond delay="0"/>
                                          </p:stCondLst>
                                        </p:cTn>
                                        <p:tgtEl>
                                          <p:spTgt spid="16"/>
                                        </p:tgtEl>
                                        <p:attrNameLst>
                                          <p:attrName>style.visibility</p:attrName>
                                        </p:attrNameLst>
                                      </p:cBhvr>
                                      <p:to>
                                        <p:strVal val="visible"/>
                                      </p:to>
                                    </p:set>
                                  </p:childTnLst>
                                </p:cTn>
                              </p:par>
                              <p:par>
                                <p:cTn id="65" presetID="1" presetClass="entr" presetSubtype="0" fill="hold" grpId="0" nodeType="withEffect">
                                  <p:stCondLst>
                                    <p:cond delay="0"/>
                                  </p:stCondLst>
                                  <p:childTnLst>
                                    <p:set>
                                      <p:cBhvr>
                                        <p:cTn id="66" dur="1" fill="hold">
                                          <p:stCondLst>
                                            <p:cond delay="0"/>
                                          </p:stCondLst>
                                        </p:cTn>
                                        <p:tgtEl>
                                          <p:spTgt spid="25"/>
                                        </p:tgtEl>
                                        <p:attrNameLst>
                                          <p:attrName>style.visibility</p:attrName>
                                        </p:attrNameLst>
                                      </p:cBhvr>
                                      <p:to>
                                        <p:strVal val="visible"/>
                                      </p:to>
                                    </p:set>
                                  </p:childTnLst>
                                </p:cTn>
                              </p:par>
                              <p:par>
                                <p:cTn id="67" presetID="1" presetClass="entr" presetSubtype="0" fill="hold" grpId="0" nodeType="withEffect">
                                  <p:stCondLst>
                                    <p:cond delay="0"/>
                                  </p:stCondLst>
                                  <p:childTnLst>
                                    <p:set>
                                      <p:cBhvr>
                                        <p:cTn id="68" dur="1" fill="hold">
                                          <p:stCondLst>
                                            <p:cond delay="0"/>
                                          </p:stCondLst>
                                        </p:cTn>
                                        <p:tgtEl>
                                          <p:spTgt spid="24"/>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0" grpId="0" animBg="1"/>
      <p:bldP spid="11" grpId="0" animBg="1"/>
      <p:bldP spid="12" grpId="0" animBg="1"/>
      <p:bldP spid="13" grpId="0" animBg="1"/>
      <p:bldP spid="14" grpId="0" animBg="1"/>
      <p:bldP spid="15" grpId="0" animBg="1"/>
      <p:bldP spid="24" grpId="0"/>
      <p:bldP spid="25" grpId="0"/>
      <p:bldP spid="26" grpId="0"/>
      <p:bldP spid="28" grpId="0" animBg="1"/>
      <p:bldP spid="29" grpId="0"/>
      <p:bldP spid="30" grpId="0"/>
      <p:bldP spid="31" grpId="0" animBg="1"/>
      <p:bldP spid="32" grpId="0" animBg="1"/>
      <p:bldP spid="33" grpId="0" animBg="1"/>
      <p:bldP spid="34" grpId="0" animBg="1"/>
      <p:bldP spid="35" grpId="0" animBg="1"/>
      <p:bldP spid="36" grpId="0" animBg="1"/>
      <p:bldP spid="3" grpId="0" animBg="1"/>
      <p:bldP spid="4" grpId="0" animBg="1"/>
      <p:bldP spid="9" grpId="0" animBg="1"/>
      <p:bldP spid="16" grpId="0"/>
      <p:bldP spid="17" grpId="0" animBg="1"/>
      <p:bldP spid="18" grpId="0"/>
    </p:bldLst>
  </p:timing>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cxnSp>
        <p:nvCxnSpPr>
          <p:cNvPr id="6" name="Straight Arrow Connector 5">
            <a:extLst>
              <a:ext uri="{FF2B5EF4-FFF2-40B4-BE49-F238E27FC236}">
                <a16:creationId xmlns:a16="http://schemas.microsoft.com/office/drawing/2014/main" id="{E0783C9B-1E21-FBB8-3693-5C316877A50D}"/>
              </a:ext>
            </a:extLst>
          </p:cNvPr>
          <p:cNvCxnSpPr>
            <a:cxnSpLocks/>
          </p:cNvCxnSpPr>
          <p:nvPr/>
        </p:nvCxnSpPr>
        <p:spPr>
          <a:xfrm flipV="1">
            <a:off x="4694175" y="2459793"/>
            <a:ext cx="0" cy="2774516"/>
          </a:xfrm>
          <a:prstGeom prst="straightConnector1">
            <a:avLst/>
          </a:prstGeom>
          <a:ln w="38100">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7" name="Straight Arrow Connector 6">
            <a:extLst>
              <a:ext uri="{FF2B5EF4-FFF2-40B4-BE49-F238E27FC236}">
                <a16:creationId xmlns:a16="http://schemas.microsoft.com/office/drawing/2014/main" id="{E4DCD18F-96E3-E76D-67E8-3D2FF9F144D4}"/>
              </a:ext>
            </a:extLst>
          </p:cNvPr>
          <p:cNvCxnSpPr>
            <a:cxnSpLocks/>
          </p:cNvCxnSpPr>
          <p:nvPr/>
        </p:nvCxnSpPr>
        <p:spPr>
          <a:xfrm>
            <a:off x="4439480" y="4854353"/>
            <a:ext cx="3511464" cy="0"/>
          </a:xfrm>
          <a:prstGeom prst="straightConnector1">
            <a:avLst/>
          </a:prstGeom>
          <a:ln w="38100">
            <a:solidFill>
              <a:schemeClr val="tx1"/>
            </a:solidFill>
            <a:tailEnd type="triangle"/>
          </a:ln>
        </p:spPr>
        <p:style>
          <a:lnRef idx="1">
            <a:schemeClr val="accent1"/>
          </a:lnRef>
          <a:fillRef idx="0">
            <a:schemeClr val="accent1"/>
          </a:fillRef>
          <a:effectRef idx="0">
            <a:schemeClr val="accent1"/>
          </a:effectRef>
          <a:fontRef idx="minor">
            <a:schemeClr val="tx1"/>
          </a:fontRef>
        </p:style>
      </p:cxnSp>
      <p:sp>
        <p:nvSpPr>
          <p:cNvPr id="8" name="Star: 5 Points 7">
            <a:extLst>
              <a:ext uri="{FF2B5EF4-FFF2-40B4-BE49-F238E27FC236}">
                <a16:creationId xmlns:a16="http://schemas.microsoft.com/office/drawing/2014/main" id="{129E2935-B97C-0746-C587-0917874B2C11}"/>
              </a:ext>
            </a:extLst>
          </p:cNvPr>
          <p:cNvSpPr/>
          <p:nvPr/>
        </p:nvSpPr>
        <p:spPr>
          <a:xfrm>
            <a:off x="4973928" y="3546426"/>
            <a:ext cx="288095" cy="328800"/>
          </a:xfrm>
          <a:prstGeom prst="star5">
            <a:avLst/>
          </a:prstGeom>
          <a:solidFill>
            <a:schemeClr val="accent1"/>
          </a:solidFill>
          <a:ln>
            <a:solidFill>
              <a:schemeClr val="accent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9" name="Star: 5 Points 8">
            <a:extLst>
              <a:ext uri="{FF2B5EF4-FFF2-40B4-BE49-F238E27FC236}">
                <a16:creationId xmlns:a16="http://schemas.microsoft.com/office/drawing/2014/main" id="{77FF4A4D-1C69-4708-3BFE-8E0B086D7441}"/>
              </a:ext>
            </a:extLst>
          </p:cNvPr>
          <p:cNvSpPr/>
          <p:nvPr/>
        </p:nvSpPr>
        <p:spPr>
          <a:xfrm>
            <a:off x="5705161" y="3762984"/>
            <a:ext cx="288095" cy="328800"/>
          </a:xfrm>
          <a:prstGeom prst="star5">
            <a:avLst/>
          </a:prstGeom>
          <a:solidFill>
            <a:schemeClr val="accent1"/>
          </a:solidFill>
          <a:ln>
            <a:solidFill>
              <a:schemeClr val="accent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 name="Star: 5 Points 9">
            <a:extLst>
              <a:ext uri="{FF2B5EF4-FFF2-40B4-BE49-F238E27FC236}">
                <a16:creationId xmlns:a16="http://schemas.microsoft.com/office/drawing/2014/main" id="{A24E9559-DD13-C9BD-1B0E-627D13721EEB}"/>
              </a:ext>
            </a:extLst>
          </p:cNvPr>
          <p:cNvSpPr/>
          <p:nvPr/>
        </p:nvSpPr>
        <p:spPr>
          <a:xfrm>
            <a:off x="5381008" y="3546426"/>
            <a:ext cx="288095" cy="328800"/>
          </a:xfrm>
          <a:prstGeom prst="star5">
            <a:avLst/>
          </a:prstGeom>
          <a:solidFill>
            <a:schemeClr val="accent1"/>
          </a:solidFill>
          <a:ln>
            <a:solidFill>
              <a:schemeClr val="accent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1" name="Star: 5 Points 10">
            <a:extLst>
              <a:ext uri="{FF2B5EF4-FFF2-40B4-BE49-F238E27FC236}">
                <a16:creationId xmlns:a16="http://schemas.microsoft.com/office/drawing/2014/main" id="{9507D19C-A7DA-CA3B-F663-5552777FD2C3}"/>
              </a:ext>
            </a:extLst>
          </p:cNvPr>
          <p:cNvSpPr/>
          <p:nvPr/>
        </p:nvSpPr>
        <p:spPr>
          <a:xfrm>
            <a:off x="4948871" y="3933889"/>
            <a:ext cx="288095" cy="328800"/>
          </a:xfrm>
          <a:prstGeom prst="star5">
            <a:avLst/>
          </a:prstGeom>
          <a:solidFill>
            <a:schemeClr val="accent1"/>
          </a:solidFill>
          <a:ln>
            <a:solidFill>
              <a:schemeClr val="accent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2" name="Star: 5 Points 11">
            <a:extLst>
              <a:ext uri="{FF2B5EF4-FFF2-40B4-BE49-F238E27FC236}">
                <a16:creationId xmlns:a16="http://schemas.microsoft.com/office/drawing/2014/main" id="{FD03BEBF-EEFF-71D6-7AE0-F8B45FD08554}"/>
              </a:ext>
            </a:extLst>
          </p:cNvPr>
          <p:cNvSpPr/>
          <p:nvPr/>
        </p:nvSpPr>
        <p:spPr>
          <a:xfrm>
            <a:off x="5421715" y="4142428"/>
            <a:ext cx="288095" cy="328800"/>
          </a:xfrm>
          <a:prstGeom prst="star5">
            <a:avLst/>
          </a:prstGeom>
          <a:solidFill>
            <a:schemeClr val="accent1"/>
          </a:solidFill>
          <a:ln>
            <a:solidFill>
              <a:schemeClr val="accent1">
                <a:lumMod val="7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3" name="Star: 5 Points 12">
            <a:extLst>
              <a:ext uri="{FF2B5EF4-FFF2-40B4-BE49-F238E27FC236}">
                <a16:creationId xmlns:a16="http://schemas.microsoft.com/office/drawing/2014/main" id="{3257FCBB-FE66-B8AA-5AC4-2B6B7970D489}"/>
              </a:ext>
            </a:extLst>
          </p:cNvPr>
          <p:cNvSpPr/>
          <p:nvPr/>
        </p:nvSpPr>
        <p:spPr>
          <a:xfrm>
            <a:off x="5185293" y="4357472"/>
            <a:ext cx="288095" cy="328800"/>
          </a:xfrm>
          <a:prstGeom prst="star5">
            <a:avLst/>
          </a:prstGeom>
          <a:solidFill>
            <a:schemeClr val="accent1"/>
          </a:solidFill>
          <a:ln>
            <a:solidFill>
              <a:schemeClr val="accent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5" name="Isosceles Triangle 14">
            <a:extLst>
              <a:ext uri="{FF2B5EF4-FFF2-40B4-BE49-F238E27FC236}">
                <a16:creationId xmlns:a16="http://schemas.microsoft.com/office/drawing/2014/main" id="{9CEDC9EF-8C3B-1534-3E9A-7DAA42803C9D}"/>
              </a:ext>
            </a:extLst>
          </p:cNvPr>
          <p:cNvSpPr/>
          <p:nvPr/>
        </p:nvSpPr>
        <p:spPr>
          <a:xfrm>
            <a:off x="6246358" y="3343815"/>
            <a:ext cx="200412" cy="225461"/>
          </a:xfrm>
          <a:prstGeom prst="triangle">
            <a:avLst/>
          </a:prstGeom>
          <a:solidFill>
            <a:schemeClr val="accent6">
              <a:lumMod val="75000"/>
            </a:schemeClr>
          </a:solidFill>
          <a:ln>
            <a:solidFill>
              <a:schemeClr val="accent6">
                <a:lumMod val="7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6" name="Isosceles Triangle 15">
            <a:extLst>
              <a:ext uri="{FF2B5EF4-FFF2-40B4-BE49-F238E27FC236}">
                <a16:creationId xmlns:a16="http://schemas.microsoft.com/office/drawing/2014/main" id="{8849F9E1-FDED-0E02-B7CE-22B35364BBBB}"/>
              </a:ext>
            </a:extLst>
          </p:cNvPr>
          <p:cNvSpPr/>
          <p:nvPr/>
        </p:nvSpPr>
        <p:spPr>
          <a:xfrm>
            <a:off x="6387279" y="3571373"/>
            <a:ext cx="200412" cy="225461"/>
          </a:xfrm>
          <a:prstGeom prst="triangle">
            <a:avLst/>
          </a:prstGeom>
          <a:solidFill>
            <a:schemeClr val="accent6">
              <a:lumMod val="75000"/>
            </a:schemeClr>
          </a:solidFill>
          <a:ln>
            <a:solidFill>
              <a:schemeClr val="accent6">
                <a:lumMod val="7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7" name="Isosceles Triangle 16">
            <a:extLst>
              <a:ext uri="{FF2B5EF4-FFF2-40B4-BE49-F238E27FC236}">
                <a16:creationId xmlns:a16="http://schemas.microsoft.com/office/drawing/2014/main" id="{824511AD-8FE2-6CAE-BC89-A7010F647B54}"/>
              </a:ext>
            </a:extLst>
          </p:cNvPr>
          <p:cNvSpPr/>
          <p:nvPr/>
        </p:nvSpPr>
        <p:spPr>
          <a:xfrm>
            <a:off x="6484334" y="3858414"/>
            <a:ext cx="200412" cy="225461"/>
          </a:xfrm>
          <a:prstGeom prst="triangle">
            <a:avLst/>
          </a:prstGeom>
          <a:solidFill>
            <a:schemeClr val="accent6">
              <a:lumMod val="75000"/>
            </a:schemeClr>
          </a:solidFill>
          <a:ln>
            <a:solidFill>
              <a:schemeClr val="accent6">
                <a:lumMod val="7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8" name="Isosceles Triangle 17">
            <a:extLst>
              <a:ext uri="{FF2B5EF4-FFF2-40B4-BE49-F238E27FC236}">
                <a16:creationId xmlns:a16="http://schemas.microsoft.com/office/drawing/2014/main" id="{883AF7E2-32C9-F6B5-BF9F-331879BF4D12}"/>
              </a:ext>
            </a:extLst>
          </p:cNvPr>
          <p:cNvSpPr/>
          <p:nvPr/>
        </p:nvSpPr>
        <p:spPr>
          <a:xfrm>
            <a:off x="5318067" y="3911759"/>
            <a:ext cx="200412" cy="225461"/>
          </a:xfrm>
          <a:prstGeom prst="triangle">
            <a:avLst/>
          </a:prstGeom>
          <a:solidFill>
            <a:schemeClr val="accent6">
              <a:lumMod val="75000"/>
            </a:schemeClr>
          </a:solidFill>
          <a:ln>
            <a:solidFill>
              <a:schemeClr val="accent6">
                <a:lumMod val="7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9" name="Isosceles Triangle 18">
            <a:extLst>
              <a:ext uri="{FF2B5EF4-FFF2-40B4-BE49-F238E27FC236}">
                <a16:creationId xmlns:a16="http://schemas.microsoft.com/office/drawing/2014/main" id="{49CF0270-6AE3-E307-1D20-797CDE386076}"/>
              </a:ext>
            </a:extLst>
          </p:cNvPr>
          <p:cNvSpPr/>
          <p:nvPr/>
        </p:nvSpPr>
        <p:spPr>
          <a:xfrm>
            <a:off x="6801672" y="3869121"/>
            <a:ext cx="200412" cy="225461"/>
          </a:xfrm>
          <a:prstGeom prst="triangle">
            <a:avLst/>
          </a:prstGeom>
          <a:solidFill>
            <a:schemeClr val="accent6">
              <a:lumMod val="75000"/>
            </a:schemeClr>
          </a:solidFill>
          <a:ln>
            <a:solidFill>
              <a:schemeClr val="accent6">
                <a:lumMod val="7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0" name="Isosceles Triangle 19">
            <a:extLst>
              <a:ext uri="{FF2B5EF4-FFF2-40B4-BE49-F238E27FC236}">
                <a16:creationId xmlns:a16="http://schemas.microsoft.com/office/drawing/2014/main" id="{CB1945D1-E503-B207-8740-ABD7B275593C}"/>
              </a:ext>
            </a:extLst>
          </p:cNvPr>
          <p:cNvSpPr/>
          <p:nvPr/>
        </p:nvSpPr>
        <p:spPr>
          <a:xfrm>
            <a:off x="6348648" y="3063004"/>
            <a:ext cx="200412" cy="225461"/>
          </a:xfrm>
          <a:prstGeom prst="triangle">
            <a:avLst/>
          </a:prstGeom>
          <a:solidFill>
            <a:schemeClr val="accent6">
              <a:lumMod val="75000"/>
            </a:schemeClr>
          </a:solidFill>
          <a:ln>
            <a:solidFill>
              <a:schemeClr val="accent6">
                <a:lumMod val="7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1" name="Isosceles Triangle 20">
            <a:extLst>
              <a:ext uri="{FF2B5EF4-FFF2-40B4-BE49-F238E27FC236}">
                <a16:creationId xmlns:a16="http://schemas.microsoft.com/office/drawing/2014/main" id="{595336EA-34FA-04A0-1FF1-7E61A2F85D2D}"/>
              </a:ext>
            </a:extLst>
          </p:cNvPr>
          <p:cNvSpPr/>
          <p:nvPr/>
        </p:nvSpPr>
        <p:spPr>
          <a:xfrm>
            <a:off x="6496872" y="3226904"/>
            <a:ext cx="208764" cy="202462"/>
          </a:xfrm>
          <a:prstGeom prst="triangle">
            <a:avLst/>
          </a:prstGeom>
          <a:solidFill>
            <a:schemeClr val="accent6">
              <a:lumMod val="75000"/>
            </a:schemeClr>
          </a:solidFill>
          <a:ln>
            <a:solidFill>
              <a:schemeClr val="accent6">
                <a:lumMod val="7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2" name="Isosceles Triangle 21">
            <a:extLst>
              <a:ext uri="{FF2B5EF4-FFF2-40B4-BE49-F238E27FC236}">
                <a16:creationId xmlns:a16="http://schemas.microsoft.com/office/drawing/2014/main" id="{6F129074-EBFC-63AE-4EBF-E1CE4BDA2156}"/>
              </a:ext>
            </a:extLst>
          </p:cNvPr>
          <p:cNvSpPr/>
          <p:nvPr/>
        </p:nvSpPr>
        <p:spPr>
          <a:xfrm>
            <a:off x="6496872" y="3226904"/>
            <a:ext cx="208764" cy="202462"/>
          </a:xfrm>
          <a:prstGeom prst="triangle">
            <a:avLst/>
          </a:prstGeom>
          <a:solidFill>
            <a:schemeClr val="accent6">
              <a:lumMod val="75000"/>
            </a:schemeClr>
          </a:solidFill>
          <a:ln>
            <a:solidFill>
              <a:schemeClr val="accent6">
                <a:lumMod val="7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3" name="Isosceles Triangle 22">
            <a:extLst>
              <a:ext uri="{FF2B5EF4-FFF2-40B4-BE49-F238E27FC236}">
                <a16:creationId xmlns:a16="http://schemas.microsoft.com/office/drawing/2014/main" id="{EB511128-B5E1-9C19-4A49-F0D33A45CC64}"/>
              </a:ext>
            </a:extLst>
          </p:cNvPr>
          <p:cNvSpPr/>
          <p:nvPr/>
        </p:nvSpPr>
        <p:spPr>
          <a:xfrm>
            <a:off x="6669112" y="4190551"/>
            <a:ext cx="208764" cy="202462"/>
          </a:xfrm>
          <a:prstGeom prst="triangle">
            <a:avLst/>
          </a:prstGeom>
          <a:solidFill>
            <a:schemeClr val="accent6">
              <a:lumMod val="75000"/>
            </a:schemeClr>
          </a:solidFill>
          <a:ln>
            <a:solidFill>
              <a:schemeClr val="accent6">
                <a:lumMod val="7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4" name="Isosceles Triangle 23">
            <a:extLst>
              <a:ext uri="{FF2B5EF4-FFF2-40B4-BE49-F238E27FC236}">
                <a16:creationId xmlns:a16="http://schemas.microsoft.com/office/drawing/2014/main" id="{622D276D-AC3B-E864-012F-BEF3A6E65A86}"/>
              </a:ext>
            </a:extLst>
          </p:cNvPr>
          <p:cNvSpPr/>
          <p:nvPr/>
        </p:nvSpPr>
        <p:spPr>
          <a:xfrm>
            <a:off x="6801672" y="3531704"/>
            <a:ext cx="208764" cy="202462"/>
          </a:xfrm>
          <a:prstGeom prst="triangle">
            <a:avLst/>
          </a:prstGeom>
          <a:solidFill>
            <a:schemeClr val="accent6">
              <a:lumMod val="75000"/>
            </a:schemeClr>
          </a:solidFill>
          <a:ln>
            <a:solidFill>
              <a:schemeClr val="accent6">
                <a:lumMod val="7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5" name="Isosceles Triangle 24">
            <a:extLst>
              <a:ext uri="{FF2B5EF4-FFF2-40B4-BE49-F238E27FC236}">
                <a16:creationId xmlns:a16="http://schemas.microsoft.com/office/drawing/2014/main" id="{E6A7E87C-442F-51A0-9EB3-49F376318D2A}"/>
              </a:ext>
            </a:extLst>
          </p:cNvPr>
          <p:cNvSpPr/>
          <p:nvPr/>
        </p:nvSpPr>
        <p:spPr>
          <a:xfrm>
            <a:off x="6954072" y="3684104"/>
            <a:ext cx="208764" cy="202462"/>
          </a:xfrm>
          <a:prstGeom prst="triangle">
            <a:avLst/>
          </a:prstGeom>
          <a:solidFill>
            <a:schemeClr val="accent6">
              <a:lumMod val="75000"/>
            </a:schemeClr>
          </a:solidFill>
          <a:ln>
            <a:solidFill>
              <a:schemeClr val="accent6">
                <a:lumMod val="7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6" name="Isosceles Triangle 25">
            <a:extLst>
              <a:ext uri="{FF2B5EF4-FFF2-40B4-BE49-F238E27FC236}">
                <a16:creationId xmlns:a16="http://schemas.microsoft.com/office/drawing/2014/main" id="{F49B22DC-300A-6226-5BF4-9A226C804FEF}"/>
              </a:ext>
            </a:extLst>
          </p:cNvPr>
          <p:cNvSpPr/>
          <p:nvPr/>
        </p:nvSpPr>
        <p:spPr>
          <a:xfrm>
            <a:off x="6649272" y="2971176"/>
            <a:ext cx="208764" cy="202462"/>
          </a:xfrm>
          <a:prstGeom prst="triangle">
            <a:avLst/>
          </a:prstGeom>
          <a:solidFill>
            <a:schemeClr val="accent6">
              <a:lumMod val="75000"/>
            </a:schemeClr>
          </a:solidFill>
          <a:ln>
            <a:solidFill>
              <a:schemeClr val="accent6">
                <a:lumMod val="7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7" name="Isosceles Triangle 26">
            <a:extLst>
              <a:ext uri="{FF2B5EF4-FFF2-40B4-BE49-F238E27FC236}">
                <a16:creationId xmlns:a16="http://schemas.microsoft.com/office/drawing/2014/main" id="{E102B800-9FC3-9728-B909-B81486F08BCD}"/>
              </a:ext>
            </a:extLst>
          </p:cNvPr>
          <p:cNvSpPr/>
          <p:nvPr/>
        </p:nvSpPr>
        <p:spPr>
          <a:xfrm>
            <a:off x="6954072" y="2988112"/>
            <a:ext cx="225465" cy="193080"/>
          </a:xfrm>
          <a:prstGeom prst="triangle">
            <a:avLst/>
          </a:prstGeom>
          <a:solidFill>
            <a:schemeClr val="accent6">
              <a:lumMod val="75000"/>
            </a:schemeClr>
          </a:solidFill>
          <a:ln>
            <a:solidFill>
              <a:schemeClr val="accent6">
                <a:lumMod val="7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8" name="Isosceles Triangle 27">
            <a:extLst>
              <a:ext uri="{FF2B5EF4-FFF2-40B4-BE49-F238E27FC236}">
                <a16:creationId xmlns:a16="http://schemas.microsoft.com/office/drawing/2014/main" id="{59765D82-2D4C-E9BC-F506-DAF309D0B182}"/>
              </a:ext>
            </a:extLst>
          </p:cNvPr>
          <p:cNvSpPr/>
          <p:nvPr/>
        </p:nvSpPr>
        <p:spPr>
          <a:xfrm>
            <a:off x="7055326" y="3414824"/>
            <a:ext cx="225465" cy="193080"/>
          </a:xfrm>
          <a:prstGeom prst="triangle">
            <a:avLst/>
          </a:prstGeom>
          <a:solidFill>
            <a:schemeClr val="accent6">
              <a:lumMod val="75000"/>
            </a:schemeClr>
          </a:solidFill>
          <a:ln>
            <a:solidFill>
              <a:schemeClr val="accent6">
                <a:lumMod val="7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9" name="Isosceles Triangle 28">
            <a:extLst>
              <a:ext uri="{FF2B5EF4-FFF2-40B4-BE49-F238E27FC236}">
                <a16:creationId xmlns:a16="http://schemas.microsoft.com/office/drawing/2014/main" id="{0C413C84-4797-28D0-0158-F8ACAB74D7AC}"/>
              </a:ext>
            </a:extLst>
          </p:cNvPr>
          <p:cNvSpPr/>
          <p:nvPr/>
        </p:nvSpPr>
        <p:spPr>
          <a:xfrm>
            <a:off x="6853860" y="3226904"/>
            <a:ext cx="225465" cy="193080"/>
          </a:xfrm>
          <a:prstGeom prst="triangle">
            <a:avLst/>
          </a:prstGeom>
          <a:solidFill>
            <a:schemeClr val="accent6">
              <a:lumMod val="75000"/>
            </a:schemeClr>
          </a:solidFill>
          <a:ln>
            <a:solidFill>
              <a:schemeClr val="accent6">
                <a:lumMod val="7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mc:AlternateContent xmlns:mc="http://schemas.openxmlformats.org/markup-compatibility/2006" xmlns:a14="http://schemas.microsoft.com/office/drawing/2010/main">
        <mc:Choice Requires="a14">
          <p:sp>
            <p:nvSpPr>
              <p:cNvPr id="33" name="TextBox 32">
                <a:extLst>
                  <a:ext uri="{FF2B5EF4-FFF2-40B4-BE49-F238E27FC236}">
                    <a16:creationId xmlns:a16="http://schemas.microsoft.com/office/drawing/2014/main" id="{C93FF917-CFFD-16D9-4464-ECDBBD4C5E37}"/>
                  </a:ext>
                </a:extLst>
              </p:cNvPr>
              <p:cNvSpPr txBox="1"/>
              <p:nvPr/>
            </p:nvSpPr>
            <p:spPr>
              <a:xfrm>
                <a:off x="6079333" y="5161296"/>
                <a:ext cx="442588" cy="369332"/>
              </a:xfrm>
              <a:prstGeom prst="rect">
                <a:avLst/>
              </a:prstGeom>
              <a:noFill/>
            </p:spPr>
            <p:txBody>
              <a:bodyPr wrap="square">
                <a:spAutoFit/>
              </a:bodyPr>
              <a:lstStyle/>
              <a:p>
                <a:pPr/>
                <a14:m>
                  <m:oMathPara xmlns:m="http://schemas.openxmlformats.org/officeDocument/2006/math">
                    <m:oMath>
                      <m:r>
                        <a:rPr lang="tr-TR" b="0" i="1" smtClean="0">
                          <a:latin typeface="Cambria Math" panose="02040503050406030204" pitchFamily="18" charset="0"/>
                        </a:rPr>
                        <m:t>𝑇𝑢𝑚𝑜𝑟</m:t>
                      </m:r>
                      <m:r>
                        <a:rPr lang="tr-TR" b="0" i="1" smtClean="0">
                          <a:latin typeface="Cambria Math" panose="02040503050406030204" pitchFamily="18" charset="0"/>
                        </a:rPr>
                        <m:t> </m:t>
                      </m:r>
                      <m:r>
                        <a:rPr lang="tr-TR" b="0" i="1" smtClean="0">
                          <a:latin typeface="Cambria Math" panose="02040503050406030204" pitchFamily="18" charset="0"/>
                        </a:rPr>
                        <m:t>𝑠𝑖𝑧𝑒</m:t>
                      </m:r>
                    </m:oMath>
                  </m:oMathPara>
                </a14:m>
                <a:endParaRPr lang="en-US" dirty="0"/>
              </a:p>
            </p:txBody>
          </p:sp>
        </mc:Choice>
        <mc:Fallback xmlns="">
          <p:sp>
            <p:nvSpPr>
              <p:cNvPr id="33" name="TextBox 32">
                <a:extLst>
                  <a:ext uri="{FF2B5EF4-FFF2-40B4-BE49-F238E27FC236}">
                    <a16:creationId xmlns:a16="http://schemas.microsoft.com/office/drawing/2014/main" id="{C93FF917-CFFD-16D9-4464-ECDBBD4C5E37}"/>
                  </a:ext>
                </a:extLst>
              </p:cNvPr>
              <p:cNvSpPr txBox="1">
                <a:spLocks noRot="1" noChangeAspect="1" noMove="1" noResize="1" noEditPoints="1" noAdjustHandles="1" noChangeArrowheads="1" noChangeShapeType="1" noTextEdit="1"/>
              </p:cNvSpPr>
              <p:nvPr/>
            </p:nvSpPr>
            <p:spPr>
              <a:xfrm>
                <a:off x="6079333" y="5161296"/>
                <a:ext cx="442588" cy="369332"/>
              </a:xfrm>
              <a:prstGeom prst="rect">
                <a:avLst/>
              </a:prstGeom>
              <a:blipFill>
                <a:blip r:embed="rId3"/>
                <a:stretch>
                  <a:fillRect r="-198630"/>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34" name="TextBox 33">
                <a:extLst>
                  <a:ext uri="{FF2B5EF4-FFF2-40B4-BE49-F238E27FC236}">
                    <a16:creationId xmlns:a16="http://schemas.microsoft.com/office/drawing/2014/main" id="{4F368F49-B6E5-57D9-709A-6AF33DB7AABB}"/>
                  </a:ext>
                </a:extLst>
              </p:cNvPr>
              <p:cNvSpPr txBox="1"/>
              <p:nvPr/>
            </p:nvSpPr>
            <p:spPr>
              <a:xfrm>
                <a:off x="7975208" y="4669687"/>
                <a:ext cx="442588" cy="369332"/>
              </a:xfrm>
              <a:prstGeom prst="rect">
                <a:avLst/>
              </a:prstGeom>
              <a:noFill/>
            </p:spPr>
            <p:txBody>
              <a:bodyPr wrap="square">
                <a:spAutoFit/>
              </a:bodyPr>
              <a:lstStyle/>
              <a:p>
                <a:pPr/>
                <a14:m>
                  <m:oMathPara xmlns:m="http://schemas.openxmlformats.org/officeDocument/2006/math">
                    <m:oMath>
                      <m:sSub>
                        <m:sSubPr>
                          <m:ctrlPr>
                            <a:rPr lang="tr-TR" b="0" i="1" smtClean="0">
                              <a:latin typeface="Cambria Math" panose="02040503050406030204" pitchFamily="18" charset="0"/>
                            </a:rPr>
                          </m:ctrlPr>
                        </m:sSubPr>
                        <m:e>
                          <m:r>
                            <a:rPr lang="tr-TR" b="0" i="1" smtClean="0">
                              <a:latin typeface="Cambria Math" panose="02040503050406030204" pitchFamily="18" charset="0"/>
                            </a:rPr>
                            <m:t>𝑥</m:t>
                          </m:r>
                        </m:e>
                        <m:sub>
                          <m:r>
                            <a:rPr lang="tr-TR" b="0" i="1" smtClean="0">
                              <a:latin typeface="Cambria Math" panose="02040503050406030204" pitchFamily="18" charset="0"/>
                            </a:rPr>
                            <m:t>1</m:t>
                          </m:r>
                        </m:sub>
                      </m:sSub>
                    </m:oMath>
                  </m:oMathPara>
                </a14:m>
                <a:endParaRPr lang="en-US" dirty="0"/>
              </a:p>
            </p:txBody>
          </p:sp>
        </mc:Choice>
        <mc:Fallback xmlns="">
          <p:sp>
            <p:nvSpPr>
              <p:cNvPr id="34" name="TextBox 33">
                <a:extLst>
                  <a:ext uri="{FF2B5EF4-FFF2-40B4-BE49-F238E27FC236}">
                    <a16:creationId xmlns:a16="http://schemas.microsoft.com/office/drawing/2014/main" id="{4F368F49-B6E5-57D9-709A-6AF33DB7AABB}"/>
                  </a:ext>
                </a:extLst>
              </p:cNvPr>
              <p:cNvSpPr txBox="1">
                <a:spLocks noRot="1" noChangeAspect="1" noMove="1" noResize="1" noEditPoints="1" noAdjustHandles="1" noChangeArrowheads="1" noChangeShapeType="1" noTextEdit="1"/>
              </p:cNvSpPr>
              <p:nvPr/>
            </p:nvSpPr>
            <p:spPr>
              <a:xfrm>
                <a:off x="7975208" y="4669687"/>
                <a:ext cx="442588" cy="369332"/>
              </a:xfrm>
              <a:prstGeom prst="rect">
                <a:avLst/>
              </a:prstGeom>
              <a:blipFill>
                <a:blip r:embed="rId4"/>
                <a:stretch>
                  <a:fillRect/>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35" name="TextBox 34">
                <a:extLst>
                  <a:ext uri="{FF2B5EF4-FFF2-40B4-BE49-F238E27FC236}">
                    <a16:creationId xmlns:a16="http://schemas.microsoft.com/office/drawing/2014/main" id="{EE42ABA2-6529-8CF8-1BEA-B8E0EAB88827}"/>
                  </a:ext>
                </a:extLst>
              </p:cNvPr>
              <p:cNvSpPr txBox="1"/>
              <p:nvPr/>
            </p:nvSpPr>
            <p:spPr>
              <a:xfrm>
                <a:off x="4106494" y="2311162"/>
                <a:ext cx="442588" cy="369332"/>
              </a:xfrm>
              <a:prstGeom prst="rect">
                <a:avLst/>
              </a:prstGeom>
              <a:noFill/>
            </p:spPr>
            <p:txBody>
              <a:bodyPr wrap="square">
                <a:spAutoFit/>
              </a:bodyPr>
              <a:lstStyle/>
              <a:p>
                <a:pPr/>
                <a14:m>
                  <m:oMathPara xmlns:m="http://schemas.openxmlformats.org/officeDocument/2006/math">
                    <m:oMath>
                      <m:sSub>
                        <m:sSubPr>
                          <m:ctrlPr>
                            <a:rPr lang="tr-TR" b="0" i="1" smtClean="0">
                              <a:latin typeface="Cambria Math" panose="02040503050406030204" pitchFamily="18" charset="0"/>
                            </a:rPr>
                          </m:ctrlPr>
                        </m:sSubPr>
                        <m:e>
                          <m:r>
                            <a:rPr lang="tr-TR" b="0" i="1" smtClean="0">
                              <a:latin typeface="Cambria Math" panose="02040503050406030204" pitchFamily="18" charset="0"/>
                            </a:rPr>
                            <m:t>𝑥</m:t>
                          </m:r>
                        </m:e>
                        <m:sub>
                          <m:r>
                            <a:rPr lang="tr-TR" b="0" i="1" smtClean="0">
                              <a:latin typeface="Cambria Math" panose="02040503050406030204" pitchFamily="18" charset="0"/>
                            </a:rPr>
                            <m:t>2</m:t>
                          </m:r>
                        </m:sub>
                      </m:sSub>
                    </m:oMath>
                  </m:oMathPara>
                </a14:m>
                <a:endParaRPr lang="en-US" dirty="0"/>
              </a:p>
            </p:txBody>
          </p:sp>
        </mc:Choice>
        <mc:Fallback xmlns="">
          <p:sp>
            <p:nvSpPr>
              <p:cNvPr id="35" name="TextBox 34">
                <a:extLst>
                  <a:ext uri="{FF2B5EF4-FFF2-40B4-BE49-F238E27FC236}">
                    <a16:creationId xmlns:a16="http://schemas.microsoft.com/office/drawing/2014/main" id="{EE42ABA2-6529-8CF8-1BEA-B8E0EAB88827}"/>
                  </a:ext>
                </a:extLst>
              </p:cNvPr>
              <p:cNvSpPr txBox="1">
                <a:spLocks noRot="1" noChangeAspect="1" noMove="1" noResize="1" noEditPoints="1" noAdjustHandles="1" noChangeArrowheads="1" noChangeShapeType="1" noTextEdit="1"/>
              </p:cNvSpPr>
              <p:nvPr/>
            </p:nvSpPr>
            <p:spPr>
              <a:xfrm>
                <a:off x="4106494" y="2311162"/>
                <a:ext cx="442588" cy="369332"/>
              </a:xfrm>
              <a:prstGeom prst="rect">
                <a:avLst/>
              </a:prstGeom>
              <a:blipFill>
                <a:blip r:embed="rId5"/>
                <a:stretch>
                  <a:fillRect/>
                </a:stretch>
              </a:blipFill>
            </p:spPr>
            <p:txBody>
              <a:bodyPr/>
              <a:lstStyle/>
              <a:p>
                <a:r>
                  <a:rPr lang="en-US">
                    <a:noFill/>
                  </a:rPr>
                  <a:t> </a:t>
                </a:r>
              </a:p>
            </p:txBody>
          </p:sp>
        </mc:Fallback>
      </mc:AlternateContent>
      <p:sp>
        <p:nvSpPr>
          <p:cNvPr id="36" name="Star: 5 Points 35">
            <a:extLst>
              <a:ext uri="{FF2B5EF4-FFF2-40B4-BE49-F238E27FC236}">
                <a16:creationId xmlns:a16="http://schemas.microsoft.com/office/drawing/2014/main" id="{E2E846BC-E326-B16F-6A6B-2FDB4AE55E4A}"/>
              </a:ext>
            </a:extLst>
          </p:cNvPr>
          <p:cNvSpPr/>
          <p:nvPr/>
        </p:nvSpPr>
        <p:spPr>
          <a:xfrm>
            <a:off x="5820457" y="4200305"/>
            <a:ext cx="288095" cy="328800"/>
          </a:xfrm>
          <a:prstGeom prst="star5">
            <a:avLst/>
          </a:prstGeom>
          <a:solidFill>
            <a:schemeClr val="accent1"/>
          </a:solidFill>
          <a:ln>
            <a:solidFill>
              <a:schemeClr val="accent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7" name="Star: 5 Points 36">
            <a:extLst>
              <a:ext uri="{FF2B5EF4-FFF2-40B4-BE49-F238E27FC236}">
                <a16:creationId xmlns:a16="http://schemas.microsoft.com/office/drawing/2014/main" id="{205C41B6-9D81-8A16-7FDF-A27378B31107}"/>
              </a:ext>
            </a:extLst>
          </p:cNvPr>
          <p:cNvSpPr/>
          <p:nvPr/>
        </p:nvSpPr>
        <p:spPr>
          <a:xfrm>
            <a:off x="6016028" y="3883014"/>
            <a:ext cx="288095" cy="328800"/>
          </a:xfrm>
          <a:prstGeom prst="star5">
            <a:avLst/>
          </a:prstGeom>
          <a:solidFill>
            <a:schemeClr val="accent1"/>
          </a:solidFill>
          <a:ln>
            <a:solidFill>
              <a:schemeClr val="accent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8" name="Star: 5 Points 37">
            <a:extLst>
              <a:ext uri="{FF2B5EF4-FFF2-40B4-BE49-F238E27FC236}">
                <a16:creationId xmlns:a16="http://schemas.microsoft.com/office/drawing/2014/main" id="{50AD6EA1-2EA4-8F37-39EE-8D2675822231}"/>
              </a:ext>
            </a:extLst>
          </p:cNvPr>
          <p:cNvSpPr/>
          <p:nvPr/>
        </p:nvSpPr>
        <p:spPr>
          <a:xfrm>
            <a:off x="5613271" y="3300583"/>
            <a:ext cx="288095" cy="328800"/>
          </a:xfrm>
          <a:prstGeom prst="star5">
            <a:avLst/>
          </a:prstGeom>
          <a:solidFill>
            <a:schemeClr val="accent1"/>
          </a:solidFill>
          <a:ln>
            <a:solidFill>
              <a:schemeClr val="accent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9" name="Star: 5 Points 38">
            <a:extLst>
              <a:ext uri="{FF2B5EF4-FFF2-40B4-BE49-F238E27FC236}">
                <a16:creationId xmlns:a16="http://schemas.microsoft.com/office/drawing/2014/main" id="{1E40CEBD-7F9C-1FD9-1CA6-AD2E672227ED}"/>
              </a:ext>
            </a:extLst>
          </p:cNvPr>
          <p:cNvSpPr/>
          <p:nvPr/>
        </p:nvSpPr>
        <p:spPr>
          <a:xfrm>
            <a:off x="6593561" y="3422081"/>
            <a:ext cx="288095" cy="328800"/>
          </a:xfrm>
          <a:prstGeom prst="star5">
            <a:avLst/>
          </a:prstGeom>
          <a:solidFill>
            <a:schemeClr val="accent1"/>
          </a:solidFill>
          <a:ln>
            <a:solidFill>
              <a:schemeClr val="accent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mc:AlternateContent xmlns:mc="http://schemas.openxmlformats.org/markup-compatibility/2006" xmlns:p14="http://schemas.microsoft.com/office/powerpoint/2010/main">
        <mc:Choice Requires="p14">
          <p:contentPart p14:bwMode="auto" r:id="rId6">
            <p14:nvContentPartPr>
              <p14:cNvPr id="40" name="Ink 39">
                <a:extLst>
                  <a:ext uri="{FF2B5EF4-FFF2-40B4-BE49-F238E27FC236}">
                    <a16:creationId xmlns:a16="http://schemas.microsoft.com/office/drawing/2014/main" id="{1B9AC385-A898-67F7-7977-31DDD9F81406}"/>
                  </a:ext>
                </a:extLst>
              </p14:cNvPr>
              <p14:cNvContentPartPr/>
              <p14:nvPr/>
            </p14:nvContentPartPr>
            <p14:xfrm>
              <a:off x="4854776" y="2692041"/>
              <a:ext cx="1784880" cy="2070720"/>
            </p14:xfrm>
          </p:contentPart>
        </mc:Choice>
        <mc:Fallback xmlns="">
          <p:pic>
            <p:nvPicPr>
              <p:cNvPr id="40" name="Ink 39">
                <a:extLst>
                  <a:ext uri="{FF2B5EF4-FFF2-40B4-BE49-F238E27FC236}">
                    <a16:creationId xmlns:a16="http://schemas.microsoft.com/office/drawing/2014/main" id="{1B9AC385-A898-67F7-7977-31DDD9F81406}"/>
                  </a:ext>
                </a:extLst>
              </p:cNvPr>
              <p:cNvPicPr/>
              <p:nvPr/>
            </p:nvPicPr>
            <p:blipFill>
              <a:blip r:embed="rId7"/>
              <a:stretch>
                <a:fillRect/>
              </a:stretch>
            </p:blipFill>
            <p:spPr>
              <a:xfrm>
                <a:off x="4836776" y="2674041"/>
                <a:ext cx="1820520" cy="2106360"/>
              </a:xfrm>
              <a:prstGeom prst="rect">
                <a:avLst/>
              </a:prstGeom>
            </p:spPr>
          </p:pic>
        </mc:Fallback>
      </mc:AlternateContent>
      <p:cxnSp>
        <p:nvCxnSpPr>
          <p:cNvPr id="41" name="Straight Arrow Connector 40">
            <a:extLst>
              <a:ext uri="{FF2B5EF4-FFF2-40B4-BE49-F238E27FC236}">
                <a16:creationId xmlns:a16="http://schemas.microsoft.com/office/drawing/2014/main" id="{232A6BE3-1B6D-8F60-994F-62B3D3E9ED47}"/>
              </a:ext>
            </a:extLst>
          </p:cNvPr>
          <p:cNvCxnSpPr>
            <a:cxnSpLocks/>
          </p:cNvCxnSpPr>
          <p:nvPr/>
        </p:nvCxnSpPr>
        <p:spPr>
          <a:xfrm flipV="1">
            <a:off x="5391977" y="2354629"/>
            <a:ext cx="442588" cy="359082"/>
          </a:xfrm>
          <a:prstGeom prst="straightConnector1">
            <a:avLst/>
          </a:prstGeom>
          <a:ln w="38100">
            <a:solidFill>
              <a:srgbClr val="FFC000"/>
            </a:solidFill>
            <a:tailEnd type="triangle"/>
          </a:ln>
        </p:spPr>
        <p:style>
          <a:lnRef idx="1">
            <a:schemeClr val="accent1"/>
          </a:lnRef>
          <a:fillRef idx="0">
            <a:schemeClr val="accent1"/>
          </a:fillRef>
          <a:effectRef idx="0">
            <a:schemeClr val="accent1"/>
          </a:effectRef>
          <a:fontRef idx="minor">
            <a:schemeClr val="tx1"/>
          </a:fontRef>
        </p:style>
      </p:cxnSp>
      <p:sp>
        <p:nvSpPr>
          <p:cNvPr id="42" name="TextBox 41">
            <a:extLst>
              <a:ext uri="{FF2B5EF4-FFF2-40B4-BE49-F238E27FC236}">
                <a16:creationId xmlns:a16="http://schemas.microsoft.com/office/drawing/2014/main" id="{996A3309-CED9-56C3-FA11-63AB7534EE15}"/>
              </a:ext>
            </a:extLst>
          </p:cNvPr>
          <p:cNvSpPr txBox="1"/>
          <p:nvPr/>
        </p:nvSpPr>
        <p:spPr>
          <a:xfrm>
            <a:off x="5901365" y="2090461"/>
            <a:ext cx="1581185" cy="369332"/>
          </a:xfrm>
          <a:prstGeom prst="rect">
            <a:avLst/>
          </a:prstGeom>
          <a:noFill/>
        </p:spPr>
        <p:txBody>
          <a:bodyPr wrap="square">
            <a:spAutoFit/>
          </a:bodyPr>
          <a:lstStyle/>
          <a:p>
            <a:r>
              <a:rPr lang="tr-TR" dirty="0" err="1"/>
              <a:t>malignant</a:t>
            </a:r>
            <a:endParaRPr lang="en-US" dirty="0"/>
          </a:p>
        </p:txBody>
      </p:sp>
      <p:cxnSp>
        <p:nvCxnSpPr>
          <p:cNvPr id="43" name="Straight Arrow Connector 42">
            <a:extLst>
              <a:ext uri="{FF2B5EF4-FFF2-40B4-BE49-F238E27FC236}">
                <a16:creationId xmlns:a16="http://schemas.microsoft.com/office/drawing/2014/main" id="{993AAED3-ECEE-5585-109D-C8E0D46871F0}"/>
              </a:ext>
            </a:extLst>
          </p:cNvPr>
          <p:cNvCxnSpPr>
            <a:cxnSpLocks/>
          </p:cNvCxnSpPr>
          <p:nvPr/>
        </p:nvCxnSpPr>
        <p:spPr>
          <a:xfrm flipH="1">
            <a:off x="4854776" y="2832695"/>
            <a:ext cx="441481" cy="411658"/>
          </a:xfrm>
          <a:prstGeom prst="straightConnector1">
            <a:avLst/>
          </a:prstGeom>
          <a:ln w="38100">
            <a:solidFill>
              <a:srgbClr val="FFC000"/>
            </a:solidFill>
            <a:tailEnd type="triangle"/>
          </a:ln>
        </p:spPr>
        <p:style>
          <a:lnRef idx="1">
            <a:schemeClr val="accent1"/>
          </a:lnRef>
          <a:fillRef idx="0">
            <a:schemeClr val="accent1"/>
          </a:fillRef>
          <a:effectRef idx="0">
            <a:schemeClr val="accent1"/>
          </a:effectRef>
          <a:fontRef idx="minor">
            <a:schemeClr val="tx1"/>
          </a:fontRef>
        </p:style>
      </p:cxnSp>
      <p:sp>
        <p:nvSpPr>
          <p:cNvPr id="47" name="TextBox 46">
            <a:extLst>
              <a:ext uri="{FF2B5EF4-FFF2-40B4-BE49-F238E27FC236}">
                <a16:creationId xmlns:a16="http://schemas.microsoft.com/office/drawing/2014/main" id="{17370127-1152-C4F9-5978-0D45FE213234}"/>
              </a:ext>
            </a:extLst>
          </p:cNvPr>
          <p:cNvSpPr txBox="1"/>
          <p:nvPr/>
        </p:nvSpPr>
        <p:spPr>
          <a:xfrm>
            <a:off x="3870294" y="3235485"/>
            <a:ext cx="825967" cy="369332"/>
          </a:xfrm>
          <a:prstGeom prst="rect">
            <a:avLst/>
          </a:prstGeom>
          <a:noFill/>
        </p:spPr>
        <p:txBody>
          <a:bodyPr wrap="square">
            <a:spAutoFit/>
          </a:bodyPr>
          <a:lstStyle/>
          <a:p>
            <a:r>
              <a:rPr lang="tr-TR" dirty="0" err="1"/>
              <a:t>benign</a:t>
            </a:r>
            <a:endParaRPr lang="en-US" dirty="0"/>
          </a:p>
        </p:txBody>
      </p:sp>
      <mc:AlternateContent xmlns:mc="http://schemas.openxmlformats.org/markup-compatibility/2006" xmlns:a14="http://schemas.microsoft.com/office/drawing/2010/main">
        <mc:Choice Requires="a14">
          <p:sp>
            <p:nvSpPr>
              <p:cNvPr id="2" name="TextBox 1">
                <a:extLst>
                  <a:ext uri="{FF2B5EF4-FFF2-40B4-BE49-F238E27FC236}">
                    <a16:creationId xmlns:a16="http://schemas.microsoft.com/office/drawing/2014/main" id="{5EDB87F1-8B4E-4B37-E9D2-E0672983674E}"/>
                  </a:ext>
                </a:extLst>
              </p:cNvPr>
              <p:cNvSpPr txBox="1"/>
              <p:nvPr/>
            </p:nvSpPr>
            <p:spPr>
              <a:xfrm>
                <a:off x="3786595" y="3790476"/>
                <a:ext cx="442588" cy="369332"/>
              </a:xfrm>
              <a:prstGeom prst="rect">
                <a:avLst/>
              </a:prstGeom>
              <a:noFill/>
            </p:spPr>
            <p:txBody>
              <a:bodyPr wrap="square">
                <a:spAutoFit/>
              </a:bodyPr>
              <a:lstStyle/>
              <a:p>
                <a:pPr/>
                <a14:m>
                  <m:oMathPara xmlns:m="http://schemas.openxmlformats.org/officeDocument/2006/math">
                    <m:oMath>
                      <m:r>
                        <a:rPr lang="tr-TR" b="0" i="1" smtClean="0">
                          <a:latin typeface="Cambria Math" panose="02040503050406030204" pitchFamily="18" charset="0"/>
                        </a:rPr>
                        <m:t>𝑎𝑔𝑒</m:t>
                      </m:r>
                    </m:oMath>
                  </m:oMathPara>
                </a14:m>
                <a:endParaRPr lang="en-US" dirty="0"/>
              </a:p>
            </p:txBody>
          </p:sp>
        </mc:Choice>
        <mc:Fallback xmlns="">
          <p:sp>
            <p:nvSpPr>
              <p:cNvPr id="2" name="TextBox 1">
                <a:extLst>
                  <a:ext uri="{FF2B5EF4-FFF2-40B4-BE49-F238E27FC236}">
                    <a16:creationId xmlns:a16="http://schemas.microsoft.com/office/drawing/2014/main" id="{5EDB87F1-8B4E-4B37-E9D2-E0672983674E}"/>
                  </a:ext>
                </a:extLst>
              </p:cNvPr>
              <p:cNvSpPr txBox="1">
                <a:spLocks noRot="1" noChangeAspect="1" noMove="1" noResize="1" noEditPoints="1" noAdjustHandles="1" noChangeArrowheads="1" noChangeShapeType="1" noTextEdit="1"/>
              </p:cNvSpPr>
              <p:nvPr/>
            </p:nvSpPr>
            <p:spPr>
              <a:xfrm>
                <a:off x="3786595" y="3790476"/>
                <a:ext cx="442588" cy="369332"/>
              </a:xfrm>
              <a:prstGeom prst="rect">
                <a:avLst/>
              </a:prstGeom>
              <a:blipFill>
                <a:blip r:embed="rId8"/>
                <a:stretch>
                  <a:fillRect r="-26027" b="-6667"/>
                </a:stretch>
              </a:blipFill>
            </p:spPr>
            <p:txBody>
              <a:bodyPr/>
              <a:lstStyle/>
              <a:p>
                <a:r>
                  <a:rPr lang="en-US">
                    <a:noFill/>
                  </a:rPr>
                  <a:t> </a:t>
                </a:r>
              </a:p>
            </p:txBody>
          </p:sp>
        </mc:Fallback>
      </mc:AlternateContent>
      <p:sp>
        <p:nvSpPr>
          <p:cNvPr id="3" name="Title 1">
            <a:extLst>
              <a:ext uri="{FF2B5EF4-FFF2-40B4-BE49-F238E27FC236}">
                <a16:creationId xmlns:a16="http://schemas.microsoft.com/office/drawing/2014/main" id="{12B4A43D-4E62-07F7-37F3-193ADB50D02C}"/>
              </a:ext>
            </a:extLst>
          </p:cNvPr>
          <p:cNvSpPr>
            <a:spLocks noGrp="1"/>
          </p:cNvSpPr>
          <p:nvPr>
            <p:ph type="title"/>
          </p:nvPr>
        </p:nvSpPr>
        <p:spPr>
          <a:xfrm>
            <a:off x="838200" y="365125"/>
            <a:ext cx="10515600" cy="1325563"/>
          </a:xfrm>
        </p:spPr>
        <p:txBody>
          <a:bodyPr/>
          <a:lstStyle/>
          <a:p>
            <a:pPr algn="ctr"/>
            <a:r>
              <a:rPr lang="tr-TR" dirty="0"/>
              <a:t>Two </a:t>
            </a:r>
            <a:r>
              <a:rPr lang="tr-TR" dirty="0" err="1"/>
              <a:t>or</a:t>
            </a:r>
            <a:r>
              <a:rPr lang="tr-TR" dirty="0"/>
              <a:t> </a:t>
            </a:r>
            <a:r>
              <a:rPr lang="tr-TR" dirty="0" err="1"/>
              <a:t>More</a:t>
            </a:r>
            <a:r>
              <a:rPr lang="tr-TR" dirty="0"/>
              <a:t> </a:t>
            </a:r>
            <a:r>
              <a:rPr lang="tr-TR" dirty="0" err="1"/>
              <a:t>Inputs</a:t>
            </a:r>
            <a:r>
              <a:rPr lang="tr-TR" dirty="0"/>
              <a:t> </a:t>
            </a:r>
            <a:endParaRPr lang="en-US" dirty="0"/>
          </a:p>
        </p:txBody>
      </p:sp>
      <p:sp>
        <p:nvSpPr>
          <p:cNvPr id="4" name="Rectangle">
            <a:extLst>
              <a:ext uri="{FF2B5EF4-FFF2-40B4-BE49-F238E27FC236}">
                <a16:creationId xmlns:a16="http://schemas.microsoft.com/office/drawing/2014/main" id="{8BA3B091-BA9A-ADCE-E41D-B35C60CD5958}"/>
              </a:ext>
            </a:extLst>
          </p:cNvPr>
          <p:cNvSpPr/>
          <p:nvPr/>
        </p:nvSpPr>
        <p:spPr>
          <a:xfrm>
            <a:off x="-11767" y="6545179"/>
            <a:ext cx="12203767" cy="315200"/>
          </a:xfrm>
          <a:prstGeom prst="rect">
            <a:avLst/>
          </a:prstGeom>
          <a:solidFill>
            <a:schemeClr val="tx1"/>
          </a:solidFill>
          <a:ln w="12700">
            <a:noFill/>
            <a:miter lim="400000"/>
          </a:ln>
        </p:spPr>
        <p:txBody>
          <a:bodyPr lIns="45719" rIns="45719" anchor="ctr"/>
          <a:lstStyle/>
          <a:p>
            <a:endParaRPr/>
          </a:p>
        </p:txBody>
      </p:sp>
      <p:pic>
        <p:nvPicPr>
          <p:cNvPr id="5" name="Picture 4" descr="Frontier Tech Leaders (@FTLeadersProg) / X">
            <a:extLst>
              <a:ext uri="{FF2B5EF4-FFF2-40B4-BE49-F238E27FC236}">
                <a16:creationId xmlns:a16="http://schemas.microsoft.com/office/drawing/2014/main" id="{AD892639-7211-AD56-FC79-EA8ADACB13E8}"/>
              </a:ext>
            </a:extLst>
          </p:cNvPr>
          <p:cNvPicPr>
            <a:picLocks noChangeAspect="1"/>
          </p:cNvPicPr>
          <p:nvPr/>
        </p:nvPicPr>
        <p:blipFill>
          <a:blip r:embed="rId9"/>
          <a:stretch>
            <a:fillRect/>
          </a:stretch>
        </p:blipFill>
        <p:spPr>
          <a:xfrm>
            <a:off x="10668000" y="94470"/>
            <a:ext cx="1027893" cy="1027893"/>
          </a:xfrm>
          <a:prstGeom prst="rect">
            <a:avLst/>
          </a:prstGeom>
        </p:spPr>
      </p:pic>
    </p:spTree>
    <p:extLst>
      <p:ext uri="{BB962C8B-B14F-4D97-AF65-F5344CB8AC3E}">
        <p14:creationId xmlns:p14="http://schemas.microsoft.com/office/powerpoint/2010/main" val="497372557"/>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6"/>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7"/>
                                        </p:tgtEl>
                                        <p:attrNameLst>
                                          <p:attrName>style.visibility</p:attrName>
                                        </p:attrNameLst>
                                      </p:cBhvr>
                                      <p:to>
                                        <p:strVal val="visible"/>
                                      </p:to>
                                    </p:set>
                                  </p:childTnLst>
                                </p:cTn>
                              </p:par>
                              <p:par>
                                <p:cTn id="9" presetID="1" presetClass="entr" presetSubtype="0" fill="hold" grpId="0" nodeType="withEffect">
                                  <p:stCondLst>
                                    <p:cond delay="0"/>
                                  </p:stCondLst>
                                  <p:childTnLst>
                                    <p:set>
                                      <p:cBhvr>
                                        <p:cTn id="10" dur="1" fill="hold">
                                          <p:stCondLst>
                                            <p:cond delay="0"/>
                                          </p:stCondLst>
                                        </p:cTn>
                                        <p:tgtEl>
                                          <p:spTgt spid="33"/>
                                        </p:tgtEl>
                                        <p:attrNameLst>
                                          <p:attrName>style.visibility</p:attrName>
                                        </p:attrNameLst>
                                      </p:cBhvr>
                                      <p:to>
                                        <p:strVal val="visible"/>
                                      </p:to>
                                    </p:set>
                                  </p:childTnLst>
                                </p:cTn>
                              </p:par>
                              <p:par>
                                <p:cTn id="11" presetID="1" presetClass="entr" presetSubtype="0" fill="hold" grpId="0" nodeType="withEffect">
                                  <p:stCondLst>
                                    <p:cond delay="0"/>
                                  </p:stCondLst>
                                  <p:childTnLst>
                                    <p:set>
                                      <p:cBhvr>
                                        <p:cTn id="12" dur="1" fill="hold">
                                          <p:stCondLst>
                                            <p:cond delay="0"/>
                                          </p:stCondLst>
                                        </p:cTn>
                                        <p:tgtEl>
                                          <p:spTgt spid="2"/>
                                        </p:tgtEl>
                                        <p:attrNameLst>
                                          <p:attrName>style.visibility</p:attrName>
                                        </p:attrNameLst>
                                      </p:cBhvr>
                                      <p:to>
                                        <p:strVal val="visible"/>
                                      </p:to>
                                    </p:set>
                                  </p:childTnLst>
                                </p:cTn>
                              </p:par>
                              <p:par>
                                <p:cTn id="13" presetID="1" presetClass="entr" presetSubtype="0" fill="hold" grpId="0" nodeType="withEffect">
                                  <p:stCondLst>
                                    <p:cond delay="0"/>
                                  </p:stCondLst>
                                  <p:childTnLst>
                                    <p:set>
                                      <p:cBhvr>
                                        <p:cTn id="14" dur="1" fill="hold">
                                          <p:stCondLst>
                                            <p:cond delay="0"/>
                                          </p:stCondLst>
                                        </p:cTn>
                                        <p:tgtEl>
                                          <p:spTgt spid="35"/>
                                        </p:tgtEl>
                                        <p:attrNameLst>
                                          <p:attrName>style.visibility</p:attrName>
                                        </p:attrNameLst>
                                      </p:cBhvr>
                                      <p:to>
                                        <p:strVal val="visible"/>
                                      </p:to>
                                    </p:set>
                                  </p:childTnLst>
                                </p:cTn>
                              </p:par>
                              <p:par>
                                <p:cTn id="15" presetID="1" presetClass="entr" presetSubtype="0" fill="hold" grpId="0" nodeType="withEffect">
                                  <p:stCondLst>
                                    <p:cond delay="0"/>
                                  </p:stCondLst>
                                  <p:childTnLst>
                                    <p:set>
                                      <p:cBhvr>
                                        <p:cTn id="16" dur="1" fill="hold">
                                          <p:stCondLst>
                                            <p:cond delay="0"/>
                                          </p:stCondLst>
                                        </p:cTn>
                                        <p:tgtEl>
                                          <p:spTgt spid="34"/>
                                        </p:tgtEl>
                                        <p:attrNameLst>
                                          <p:attrName>style.visibility</p:attrName>
                                        </p:attrNameLst>
                                      </p:cBhvr>
                                      <p:to>
                                        <p:strVal val="visible"/>
                                      </p:to>
                                    </p:set>
                                  </p:childTnLst>
                                </p:cTn>
                              </p:par>
                            </p:childTnLst>
                          </p:cTn>
                        </p:par>
                      </p:childTnLst>
                    </p:cTn>
                  </p:par>
                  <p:par>
                    <p:cTn id="17" fill="hold">
                      <p:stCondLst>
                        <p:cond delay="indefinite"/>
                      </p:stCondLst>
                      <p:childTnLst>
                        <p:par>
                          <p:cTn id="18" fill="hold">
                            <p:stCondLst>
                              <p:cond delay="0"/>
                            </p:stCondLst>
                            <p:childTnLst>
                              <p:par>
                                <p:cTn id="19" presetID="1" presetClass="entr" presetSubtype="0" fill="hold" grpId="0" nodeType="clickEffect">
                                  <p:stCondLst>
                                    <p:cond delay="0"/>
                                  </p:stCondLst>
                                  <p:childTnLst>
                                    <p:set>
                                      <p:cBhvr>
                                        <p:cTn id="20" dur="1" fill="hold">
                                          <p:stCondLst>
                                            <p:cond delay="0"/>
                                          </p:stCondLst>
                                        </p:cTn>
                                        <p:tgtEl>
                                          <p:spTgt spid="8"/>
                                        </p:tgtEl>
                                        <p:attrNameLst>
                                          <p:attrName>style.visibility</p:attrName>
                                        </p:attrNameLst>
                                      </p:cBhvr>
                                      <p:to>
                                        <p:strVal val="visible"/>
                                      </p:to>
                                    </p:set>
                                  </p:childTnLst>
                                </p:cTn>
                              </p:par>
                              <p:par>
                                <p:cTn id="21" presetID="1" presetClass="entr" presetSubtype="0" fill="hold" grpId="0" nodeType="withEffect">
                                  <p:stCondLst>
                                    <p:cond delay="0"/>
                                  </p:stCondLst>
                                  <p:childTnLst>
                                    <p:set>
                                      <p:cBhvr>
                                        <p:cTn id="22" dur="1" fill="hold">
                                          <p:stCondLst>
                                            <p:cond delay="0"/>
                                          </p:stCondLst>
                                        </p:cTn>
                                        <p:tgtEl>
                                          <p:spTgt spid="9"/>
                                        </p:tgtEl>
                                        <p:attrNameLst>
                                          <p:attrName>style.visibility</p:attrName>
                                        </p:attrNameLst>
                                      </p:cBhvr>
                                      <p:to>
                                        <p:strVal val="visible"/>
                                      </p:to>
                                    </p:set>
                                  </p:childTnLst>
                                </p:cTn>
                              </p:par>
                              <p:par>
                                <p:cTn id="23" presetID="1" presetClass="entr" presetSubtype="0" fill="hold" grpId="0" nodeType="withEffect">
                                  <p:stCondLst>
                                    <p:cond delay="0"/>
                                  </p:stCondLst>
                                  <p:childTnLst>
                                    <p:set>
                                      <p:cBhvr>
                                        <p:cTn id="24" dur="1" fill="hold">
                                          <p:stCondLst>
                                            <p:cond delay="0"/>
                                          </p:stCondLst>
                                        </p:cTn>
                                        <p:tgtEl>
                                          <p:spTgt spid="10"/>
                                        </p:tgtEl>
                                        <p:attrNameLst>
                                          <p:attrName>style.visibility</p:attrName>
                                        </p:attrNameLst>
                                      </p:cBhvr>
                                      <p:to>
                                        <p:strVal val="visible"/>
                                      </p:to>
                                    </p:set>
                                  </p:childTnLst>
                                </p:cTn>
                              </p:par>
                              <p:par>
                                <p:cTn id="25" presetID="1" presetClass="entr" presetSubtype="0" fill="hold" grpId="0" nodeType="withEffect">
                                  <p:stCondLst>
                                    <p:cond delay="0"/>
                                  </p:stCondLst>
                                  <p:childTnLst>
                                    <p:set>
                                      <p:cBhvr>
                                        <p:cTn id="26" dur="1" fill="hold">
                                          <p:stCondLst>
                                            <p:cond delay="0"/>
                                          </p:stCondLst>
                                        </p:cTn>
                                        <p:tgtEl>
                                          <p:spTgt spid="11"/>
                                        </p:tgtEl>
                                        <p:attrNameLst>
                                          <p:attrName>style.visibility</p:attrName>
                                        </p:attrNameLst>
                                      </p:cBhvr>
                                      <p:to>
                                        <p:strVal val="visible"/>
                                      </p:to>
                                    </p:set>
                                  </p:childTnLst>
                                </p:cTn>
                              </p:par>
                              <p:par>
                                <p:cTn id="27" presetID="1" presetClass="entr" presetSubtype="0" fill="hold" grpId="0" nodeType="withEffect">
                                  <p:stCondLst>
                                    <p:cond delay="0"/>
                                  </p:stCondLst>
                                  <p:childTnLst>
                                    <p:set>
                                      <p:cBhvr>
                                        <p:cTn id="28" dur="1" fill="hold">
                                          <p:stCondLst>
                                            <p:cond delay="0"/>
                                          </p:stCondLst>
                                        </p:cTn>
                                        <p:tgtEl>
                                          <p:spTgt spid="12"/>
                                        </p:tgtEl>
                                        <p:attrNameLst>
                                          <p:attrName>style.visibility</p:attrName>
                                        </p:attrNameLst>
                                      </p:cBhvr>
                                      <p:to>
                                        <p:strVal val="visible"/>
                                      </p:to>
                                    </p:set>
                                  </p:childTnLst>
                                </p:cTn>
                              </p:par>
                              <p:par>
                                <p:cTn id="29" presetID="1" presetClass="entr" presetSubtype="0" fill="hold" grpId="0" nodeType="withEffect">
                                  <p:stCondLst>
                                    <p:cond delay="0"/>
                                  </p:stCondLst>
                                  <p:childTnLst>
                                    <p:set>
                                      <p:cBhvr>
                                        <p:cTn id="30" dur="1" fill="hold">
                                          <p:stCondLst>
                                            <p:cond delay="0"/>
                                          </p:stCondLst>
                                        </p:cTn>
                                        <p:tgtEl>
                                          <p:spTgt spid="13"/>
                                        </p:tgtEl>
                                        <p:attrNameLst>
                                          <p:attrName>style.visibility</p:attrName>
                                        </p:attrNameLst>
                                      </p:cBhvr>
                                      <p:to>
                                        <p:strVal val="visible"/>
                                      </p:to>
                                    </p:set>
                                  </p:childTnLst>
                                </p:cTn>
                              </p:par>
                              <p:par>
                                <p:cTn id="31" presetID="1" presetClass="entr" presetSubtype="0" fill="hold" grpId="0" nodeType="withEffect">
                                  <p:stCondLst>
                                    <p:cond delay="0"/>
                                  </p:stCondLst>
                                  <p:childTnLst>
                                    <p:set>
                                      <p:cBhvr>
                                        <p:cTn id="32" dur="1" fill="hold">
                                          <p:stCondLst>
                                            <p:cond delay="0"/>
                                          </p:stCondLst>
                                        </p:cTn>
                                        <p:tgtEl>
                                          <p:spTgt spid="15"/>
                                        </p:tgtEl>
                                        <p:attrNameLst>
                                          <p:attrName>style.visibility</p:attrName>
                                        </p:attrNameLst>
                                      </p:cBhvr>
                                      <p:to>
                                        <p:strVal val="visible"/>
                                      </p:to>
                                    </p:set>
                                  </p:childTnLst>
                                </p:cTn>
                              </p:par>
                              <p:par>
                                <p:cTn id="33" presetID="1" presetClass="entr" presetSubtype="0" fill="hold" grpId="0" nodeType="withEffect">
                                  <p:stCondLst>
                                    <p:cond delay="0"/>
                                  </p:stCondLst>
                                  <p:childTnLst>
                                    <p:set>
                                      <p:cBhvr>
                                        <p:cTn id="34" dur="1" fill="hold">
                                          <p:stCondLst>
                                            <p:cond delay="0"/>
                                          </p:stCondLst>
                                        </p:cTn>
                                        <p:tgtEl>
                                          <p:spTgt spid="16"/>
                                        </p:tgtEl>
                                        <p:attrNameLst>
                                          <p:attrName>style.visibility</p:attrName>
                                        </p:attrNameLst>
                                      </p:cBhvr>
                                      <p:to>
                                        <p:strVal val="visible"/>
                                      </p:to>
                                    </p:set>
                                  </p:childTnLst>
                                </p:cTn>
                              </p:par>
                              <p:par>
                                <p:cTn id="35" presetID="1" presetClass="entr" presetSubtype="0" fill="hold" grpId="0" nodeType="withEffect">
                                  <p:stCondLst>
                                    <p:cond delay="0"/>
                                  </p:stCondLst>
                                  <p:childTnLst>
                                    <p:set>
                                      <p:cBhvr>
                                        <p:cTn id="36" dur="1" fill="hold">
                                          <p:stCondLst>
                                            <p:cond delay="0"/>
                                          </p:stCondLst>
                                        </p:cTn>
                                        <p:tgtEl>
                                          <p:spTgt spid="17"/>
                                        </p:tgtEl>
                                        <p:attrNameLst>
                                          <p:attrName>style.visibility</p:attrName>
                                        </p:attrNameLst>
                                      </p:cBhvr>
                                      <p:to>
                                        <p:strVal val="visible"/>
                                      </p:to>
                                    </p:set>
                                  </p:childTnLst>
                                </p:cTn>
                              </p:par>
                              <p:par>
                                <p:cTn id="37" presetID="1" presetClass="entr" presetSubtype="0" fill="hold" grpId="0" nodeType="withEffect">
                                  <p:stCondLst>
                                    <p:cond delay="0"/>
                                  </p:stCondLst>
                                  <p:childTnLst>
                                    <p:set>
                                      <p:cBhvr>
                                        <p:cTn id="38" dur="1" fill="hold">
                                          <p:stCondLst>
                                            <p:cond delay="0"/>
                                          </p:stCondLst>
                                        </p:cTn>
                                        <p:tgtEl>
                                          <p:spTgt spid="18"/>
                                        </p:tgtEl>
                                        <p:attrNameLst>
                                          <p:attrName>style.visibility</p:attrName>
                                        </p:attrNameLst>
                                      </p:cBhvr>
                                      <p:to>
                                        <p:strVal val="visible"/>
                                      </p:to>
                                    </p:set>
                                  </p:childTnLst>
                                </p:cTn>
                              </p:par>
                              <p:par>
                                <p:cTn id="39" presetID="1" presetClass="entr" presetSubtype="0" fill="hold" grpId="0" nodeType="withEffect">
                                  <p:stCondLst>
                                    <p:cond delay="0"/>
                                  </p:stCondLst>
                                  <p:childTnLst>
                                    <p:set>
                                      <p:cBhvr>
                                        <p:cTn id="40" dur="1" fill="hold">
                                          <p:stCondLst>
                                            <p:cond delay="0"/>
                                          </p:stCondLst>
                                        </p:cTn>
                                        <p:tgtEl>
                                          <p:spTgt spid="19"/>
                                        </p:tgtEl>
                                        <p:attrNameLst>
                                          <p:attrName>style.visibility</p:attrName>
                                        </p:attrNameLst>
                                      </p:cBhvr>
                                      <p:to>
                                        <p:strVal val="visible"/>
                                      </p:to>
                                    </p:set>
                                  </p:childTnLst>
                                </p:cTn>
                              </p:par>
                              <p:par>
                                <p:cTn id="41" presetID="1" presetClass="entr" presetSubtype="0" fill="hold" grpId="0" nodeType="withEffect">
                                  <p:stCondLst>
                                    <p:cond delay="0"/>
                                  </p:stCondLst>
                                  <p:childTnLst>
                                    <p:set>
                                      <p:cBhvr>
                                        <p:cTn id="42" dur="1" fill="hold">
                                          <p:stCondLst>
                                            <p:cond delay="0"/>
                                          </p:stCondLst>
                                        </p:cTn>
                                        <p:tgtEl>
                                          <p:spTgt spid="20"/>
                                        </p:tgtEl>
                                        <p:attrNameLst>
                                          <p:attrName>style.visibility</p:attrName>
                                        </p:attrNameLst>
                                      </p:cBhvr>
                                      <p:to>
                                        <p:strVal val="visible"/>
                                      </p:to>
                                    </p:set>
                                  </p:childTnLst>
                                </p:cTn>
                              </p:par>
                              <p:par>
                                <p:cTn id="43" presetID="1" presetClass="entr" presetSubtype="0" fill="hold" grpId="0" nodeType="withEffect">
                                  <p:stCondLst>
                                    <p:cond delay="0"/>
                                  </p:stCondLst>
                                  <p:childTnLst>
                                    <p:set>
                                      <p:cBhvr>
                                        <p:cTn id="44" dur="1" fill="hold">
                                          <p:stCondLst>
                                            <p:cond delay="0"/>
                                          </p:stCondLst>
                                        </p:cTn>
                                        <p:tgtEl>
                                          <p:spTgt spid="21"/>
                                        </p:tgtEl>
                                        <p:attrNameLst>
                                          <p:attrName>style.visibility</p:attrName>
                                        </p:attrNameLst>
                                      </p:cBhvr>
                                      <p:to>
                                        <p:strVal val="visible"/>
                                      </p:to>
                                    </p:set>
                                  </p:childTnLst>
                                </p:cTn>
                              </p:par>
                              <p:par>
                                <p:cTn id="45" presetID="1" presetClass="entr" presetSubtype="0" fill="hold" grpId="0" nodeType="withEffect">
                                  <p:stCondLst>
                                    <p:cond delay="0"/>
                                  </p:stCondLst>
                                  <p:childTnLst>
                                    <p:set>
                                      <p:cBhvr>
                                        <p:cTn id="46" dur="1" fill="hold">
                                          <p:stCondLst>
                                            <p:cond delay="0"/>
                                          </p:stCondLst>
                                        </p:cTn>
                                        <p:tgtEl>
                                          <p:spTgt spid="22"/>
                                        </p:tgtEl>
                                        <p:attrNameLst>
                                          <p:attrName>style.visibility</p:attrName>
                                        </p:attrNameLst>
                                      </p:cBhvr>
                                      <p:to>
                                        <p:strVal val="visible"/>
                                      </p:to>
                                    </p:set>
                                  </p:childTnLst>
                                </p:cTn>
                              </p:par>
                              <p:par>
                                <p:cTn id="47" presetID="1" presetClass="entr" presetSubtype="0" fill="hold" grpId="0" nodeType="withEffect">
                                  <p:stCondLst>
                                    <p:cond delay="0"/>
                                  </p:stCondLst>
                                  <p:childTnLst>
                                    <p:set>
                                      <p:cBhvr>
                                        <p:cTn id="48" dur="1" fill="hold">
                                          <p:stCondLst>
                                            <p:cond delay="0"/>
                                          </p:stCondLst>
                                        </p:cTn>
                                        <p:tgtEl>
                                          <p:spTgt spid="23"/>
                                        </p:tgtEl>
                                        <p:attrNameLst>
                                          <p:attrName>style.visibility</p:attrName>
                                        </p:attrNameLst>
                                      </p:cBhvr>
                                      <p:to>
                                        <p:strVal val="visible"/>
                                      </p:to>
                                    </p:set>
                                  </p:childTnLst>
                                </p:cTn>
                              </p:par>
                              <p:par>
                                <p:cTn id="49" presetID="1" presetClass="entr" presetSubtype="0" fill="hold" grpId="0" nodeType="withEffect">
                                  <p:stCondLst>
                                    <p:cond delay="0"/>
                                  </p:stCondLst>
                                  <p:childTnLst>
                                    <p:set>
                                      <p:cBhvr>
                                        <p:cTn id="50" dur="1" fill="hold">
                                          <p:stCondLst>
                                            <p:cond delay="0"/>
                                          </p:stCondLst>
                                        </p:cTn>
                                        <p:tgtEl>
                                          <p:spTgt spid="24"/>
                                        </p:tgtEl>
                                        <p:attrNameLst>
                                          <p:attrName>style.visibility</p:attrName>
                                        </p:attrNameLst>
                                      </p:cBhvr>
                                      <p:to>
                                        <p:strVal val="visible"/>
                                      </p:to>
                                    </p:set>
                                  </p:childTnLst>
                                </p:cTn>
                              </p:par>
                              <p:par>
                                <p:cTn id="51" presetID="1" presetClass="entr" presetSubtype="0" fill="hold" grpId="0" nodeType="withEffect">
                                  <p:stCondLst>
                                    <p:cond delay="0"/>
                                  </p:stCondLst>
                                  <p:childTnLst>
                                    <p:set>
                                      <p:cBhvr>
                                        <p:cTn id="52" dur="1" fill="hold">
                                          <p:stCondLst>
                                            <p:cond delay="0"/>
                                          </p:stCondLst>
                                        </p:cTn>
                                        <p:tgtEl>
                                          <p:spTgt spid="25"/>
                                        </p:tgtEl>
                                        <p:attrNameLst>
                                          <p:attrName>style.visibility</p:attrName>
                                        </p:attrNameLst>
                                      </p:cBhvr>
                                      <p:to>
                                        <p:strVal val="visible"/>
                                      </p:to>
                                    </p:set>
                                  </p:childTnLst>
                                </p:cTn>
                              </p:par>
                              <p:par>
                                <p:cTn id="53" presetID="1" presetClass="entr" presetSubtype="0" fill="hold" grpId="0" nodeType="withEffect">
                                  <p:stCondLst>
                                    <p:cond delay="0"/>
                                  </p:stCondLst>
                                  <p:childTnLst>
                                    <p:set>
                                      <p:cBhvr>
                                        <p:cTn id="54" dur="1" fill="hold">
                                          <p:stCondLst>
                                            <p:cond delay="0"/>
                                          </p:stCondLst>
                                        </p:cTn>
                                        <p:tgtEl>
                                          <p:spTgt spid="26"/>
                                        </p:tgtEl>
                                        <p:attrNameLst>
                                          <p:attrName>style.visibility</p:attrName>
                                        </p:attrNameLst>
                                      </p:cBhvr>
                                      <p:to>
                                        <p:strVal val="visible"/>
                                      </p:to>
                                    </p:set>
                                  </p:childTnLst>
                                </p:cTn>
                              </p:par>
                              <p:par>
                                <p:cTn id="55" presetID="1" presetClass="entr" presetSubtype="0" fill="hold" grpId="0" nodeType="withEffect">
                                  <p:stCondLst>
                                    <p:cond delay="0"/>
                                  </p:stCondLst>
                                  <p:childTnLst>
                                    <p:set>
                                      <p:cBhvr>
                                        <p:cTn id="56" dur="1" fill="hold">
                                          <p:stCondLst>
                                            <p:cond delay="0"/>
                                          </p:stCondLst>
                                        </p:cTn>
                                        <p:tgtEl>
                                          <p:spTgt spid="27"/>
                                        </p:tgtEl>
                                        <p:attrNameLst>
                                          <p:attrName>style.visibility</p:attrName>
                                        </p:attrNameLst>
                                      </p:cBhvr>
                                      <p:to>
                                        <p:strVal val="visible"/>
                                      </p:to>
                                    </p:set>
                                  </p:childTnLst>
                                </p:cTn>
                              </p:par>
                              <p:par>
                                <p:cTn id="57" presetID="1" presetClass="entr" presetSubtype="0" fill="hold" grpId="0" nodeType="withEffect">
                                  <p:stCondLst>
                                    <p:cond delay="0"/>
                                  </p:stCondLst>
                                  <p:childTnLst>
                                    <p:set>
                                      <p:cBhvr>
                                        <p:cTn id="58" dur="1" fill="hold">
                                          <p:stCondLst>
                                            <p:cond delay="0"/>
                                          </p:stCondLst>
                                        </p:cTn>
                                        <p:tgtEl>
                                          <p:spTgt spid="28"/>
                                        </p:tgtEl>
                                        <p:attrNameLst>
                                          <p:attrName>style.visibility</p:attrName>
                                        </p:attrNameLst>
                                      </p:cBhvr>
                                      <p:to>
                                        <p:strVal val="visible"/>
                                      </p:to>
                                    </p:set>
                                  </p:childTnLst>
                                </p:cTn>
                              </p:par>
                              <p:par>
                                <p:cTn id="59" presetID="1" presetClass="entr" presetSubtype="0" fill="hold" grpId="0" nodeType="withEffect">
                                  <p:stCondLst>
                                    <p:cond delay="0"/>
                                  </p:stCondLst>
                                  <p:childTnLst>
                                    <p:set>
                                      <p:cBhvr>
                                        <p:cTn id="60" dur="1" fill="hold">
                                          <p:stCondLst>
                                            <p:cond delay="0"/>
                                          </p:stCondLst>
                                        </p:cTn>
                                        <p:tgtEl>
                                          <p:spTgt spid="29"/>
                                        </p:tgtEl>
                                        <p:attrNameLst>
                                          <p:attrName>style.visibility</p:attrName>
                                        </p:attrNameLst>
                                      </p:cBhvr>
                                      <p:to>
                                        <p:strVal val="visible"/>
                                      </p:to>
                                    </p:set>
                                  </p:childTnLst>
                                </p:cTn>
                              </p:par>
                              <p:par>
                                <p:cTn id="61" presetID="1" presetClass="entr" presetSubtype="0" fill="hold" grpId="0" nodeType="withEffect">
                                  <p:stCondLst>
                                    <p:cond delay="0"/>
                                  </p:stCondLst>
                                  <p:childTnLst>
                                    <p:set>
                                      <p:cBhvr>
                                        <p:cTn id="62" dur="1" fill="hold">
                                          <p:stCondLst>
                                            <p:cond delay="0"/>
                                          </p:stCondLst>
                                        </p:cTn>
                                        <p:tgtEl>
                                          <p:spTgt spid="36"/>
                                        </p:tgtEl>
                                        <p:attrNameLst>
                                          <p:attrName>style.visibility</p:attrName>
                                        </p:attrNameLst>
                                      </p:cBhvr>
                                      <p:to>
                                        <p:strVal val="visible"/>
                                      </p:to>
                                    </p:set>
                                  </p:childTnLst>
                                </p:cTn>
                              </p:par>
                              <p:par>
                                <p:cTn id="63" presetID="1" presetClass="entr" presetSubtype="0" fill="hold" grpId="0" nodeType="withEffect">
                                  <p:stCondLst>
                                    <p:cond delay="0"/>
                                  </p:stCondLst>
                                  <p:childTnLst>
                                    <p:set>
                                      <p:cBhvr>
                                        <p:cTn id="64" dur="1" fill="hold">
                                          <p:stCondLst>
                                            <p:cond delay="0"/>
                                          </p:stCondLst>
                                        </p:cTn>
                                        <p:tgtEl>
                                          <p:spTgt spid="37"/>
                                        </p:tgtEl>
                                        <p:attrNameLst>
                                          <p:attrName>style.visibility</p:attrName>
                                        </p:attrNameLst>
                                      </p:cBhvr>
                                      <p:to>
                                        <p:strVal val="visible"/>
                                      </p:to>
                                    </p:set>
                                  </p:childTnLst>
                                </p:cTn>
                              </p:par>
                              <p:par>
                                <p:cTn id="65" presetID="1" presetClass="entr" presetSubtype="0" fill="hold" grpId="0" nodeType="withEffect">
                                  <p:stCondLst>
                                    <p:cond delay="0"/>
                                  </p:stCondLst>
                                  <p:childTnLst>
                                    <p:set>
                                      <p:cBhvr>
                                        <p:cTn id="66" dur="1" fill="hold">
                                          <p:stCondLst>
                                            <p:cond delay="0"/>
                                          </p:stCondLst>
                                        </p:cTn>
                                        <p:tgtEl>
                                          <p:spTgt spid="38"/>
                                        </p:tgtEl>
                                        <p:attrNameLst>
                                          <p:attrName>style.visibility</p:attrName>
                                        </p:attrNameLst>
                                      </p:cBhvr>
                                      <p:to>
                                        <p:strVal val="visible"/>
                                      </p:to>
                                    </p:set>
                                  </p:childTnLst>
                                </p:cTn>
                              </p:par>
                              <p:par>
                                <p:cTn id="67" presetID="1" presetClass="entr" presetSubtype="0" fill="hold" grpId="0" nodeType="withEffect">
                                  <p:stCondLst>
                                    <p:cond delay="0"/>
                                  </p:stCondLst>
                                  <p:childTnLst>
                                    <p:set>
                                      <p:cBhvr>
                                        <p:cTn id="68" dur="1" fill="hold">
                                          <p:stCondLst>
                                            <p:cond delay="0"/>
                                          </p:stCondLst>
                                        </p:cTn>
                                        <p:tgtEl>
                                          <p:spTgt spid="39"/>
                                        </p:tgtEl>
                                        <p:attrNameLst>
                                          <p:attrName>style.visibility</p:attrName>
                                        </p:attrNameLst>
                                      </p:cBhvr>
                                      <p:to>
                                        <p:strVal val="visible"/>
                                      </p:to>
                                    </p:set>
                                  </p:childTnLst>
                                </p:cTn>
                              </p:par>
                            </p:childTnLst>
                          </p:cTn>
                        </p:par>
                      </p:childTnLst>
                    </p:cTn>
                  </p:par>
                  <p:par>
                    <p:cTn id="69" fill="hold">
                      <p:stCondLst>
                        <p:cond delay="indefinite"/>
                      </p:stCondLst>
                      <p:childTnLst>
                        <p:par>
                          <p:cTn id="70" fill="hold">
                            <p:stCondLst>
                              <p:cond delay="0"/>
                            </p:stCondLst>
                            <p:childTnLst>
                              <p:par>
                                <p:cTn id="71" presetID="1" presetClass="entr" presetSubtype="0" fill="hold" nodeType="clickEffect">
                                  <p:stCondLst>
                                    <p:cond delay="0"/>
                                  </p:stCondLst>
                                  <p:childTnLst>
                                    <p:set>
                                      <p:cBhvr>
                                        <p:cTn id="72" dur="1" fill="hold">
                                          <p:stCondLst>
                                            <p:cond delay="0"/>
                                          </p:stCondLst>
                                        </p:cTn>
                                        <p:tgtEl>
                                          <p:spTgt spid="40"/>
                                        </p:tgtEl>
                                        <p:attrNameLst>
                                          <p:attrName>style.visibility</p:attrName>
                                        </p:attrNameLst>
                                      </p:cBhvr>
                                      <p:to>
                                        <p:strVal val="visible"/>
                                      </p:to>
                                    </p:set>
                                  </p:childTnLst>
                                </p:cTn>
                              </p:par>
                            </p:childTnLst>
                          </p:cTn>
                        </p:par>
                      </p:childTnLst>
                    </p:cTn>
                  </p:par>
                  <p:par>
                    <p:cTn id="73" fill="hold">
                      <p:stCondLst>
                        <p:cond delay="indefinite"/>
                      </p:stCondLst>
                      <p:childTnLst>
                        <p:par>
                          <p:cTn id="74" fill="hold">
                            <p:stCondLst>
                              <p:cond delay="0"/>
                            </p:stCondLst>
                            <p:childTnLst>
                              <p:par>
                                <p:cTn id="75" presetID="1" presetClass="entr" presetSubtype="0" fill="hold" nodeType="clickEffect">
                                  <p:stCondLst>
                                    <p:cond delay="0"/>
                                  </p:stCondLst>
                                  <p:childTnLst>
                                    <p:set>
                                      <p:cBhvr>
                                        <p:cTn id="76" dur="1" fill="hold">
                                          <p:stCondLst>
                                            <p:cond delay="0"/>
                                          </p:stCondLst>
                                        </p:cTn>
                                        <p:tgtEl>
                                          <p:spTgt spid="41"/>
                                        </p:tgtEl>
                                        <p:attrNameLst>
                                          <p:attrName>style.visibility</p:attrName>
                                        </p:attrNameLst>
                                      </p:cBhvr>
                                      <p:to>
                                        <p:strVal val="visible"/>
                                      </p:to>
                                    </p:set>
                                  </p:childTnLst>
                                </p:cTn>
                              </p:par>
                              <p:par>
                                <p:cTn id="77" presetID="1" presetClass="entr" presetSubtype="0" fill="hold" grpId="0" nodeType="withEffect">
                                  <p:stCondLst>
                                    <p:cond delay="0"/>
                                  </p:stCondLst>
                                  <p:childTnLst>
                                    <p:set>
                                      <p:cBhvr>
                                        <p:cTn id="78" dur="1" fill="hold">
                                          <p:stCondLst>
                                            <p:cond delay="0"/>
                                          </p:stCondLst>
                                        </p:cTn>
                                        <p:tgtEl>
                                          <p:spTgt spid="42"/>
                                        </p:tgtEl>
                                        <p:attrNameLst>
                                          <p:attrName>style.visibility</p:attrName>
                                        </p:attrNameLst>
                                      </p:cBhvr>
                                      <p:to>
                                        <p:strVal val="visible"/>
                                      </p:to>
                                    </p:set>
                                  </p:childTnLst>
                                </p:cTn>
                              </p:par>
                            </p:childTnLst>
                          </p:cTn>
                        </p:par>
                      </p:childTnLst>
                    </p:cTn>
                  </p:par>
                  <p:par>
                    <p:cTn id="79" fill="hold">
                      <p:stCondLst>
                        <p:cond delay="indefinite"/>
                      </p:stCondLst>
                      <p:childTnLst>
                        <p:par>
                          <p:cTn id="80" fill="hold">
                            <p:stCondLst>
                              <p:cond delay="0"/>
                            </p:stCondLst>
                            <p:childTnLst>
                              <p:par>
                                <p:cTn id="81" presetID="1" presetClass="entr" presetSubtype="0" fill="hold" nodeType="clickEffect">
                                  <p:stCondLst>
                                    <p:cond delay="0"/>
                                  </p:stCondLst>
                                  <p:childTnLst>
                                    <p:set>
                                      <p:cBhvr>
                                        <p:cTn id="82" dur="1" fill="hold">
                                          <p:stCondLst>
                                            <p:cond delay="0"/>
                                          </p:stCondLst>
                                        </p:cTn>
                                        <p:tgtEl>
                                          <p:spTgt spid="43"/>
                                        </p:tgtEl>
                                        <p:attrNameLst>
                                          <p:attrName>style.visibility</p:attrName>
                                        </p:attrNameLst>
                                      </p:cBhvr>
                                      <p:to>
                                        <p:strVal val="visible"/>
                                      </p:to>
                                    </p:set>
                                  </p:childTnLst>
                                </p:cTn>
                              </p:par>
                              <p:par>
                                <p:cTn id="83" presetID="1" presetClass="entr" presetSubtype="0" fill="hold" grpId="0" nodeType="withEffect">
                                  <p:stCondLst>
                                    <p:cond delay="0"/>
                                  </p:stCondLst>
                                  <p:childTnLst>
                                    <p:set>
                                      <p:cBhvr>
                                        <p:cTn id="84" dur="1" fill="hold">
                                          <p:stCondLst>
                                            <p:cond delay="0"/>
                                          </p:stCondLst>
                                        </p:cTn>
                                        <p:tgtEl>
                                          <p:spTgt spid="47"/>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8" grpId="0" animBg="1"/>
      <p:bldP spid="9" grpId="0" animBg="1"/>
      <p:bldP spid="10" grpId="0" animBg="1"/>
      <p:bldP spid="11" grpId="0" animBg="1"/>
      <p:bldP spid="12" grpId="0" animBg="1"/>
      <p:bldP spid="13" grpId="0" animBg="1"/>
      <p:bldP spid="15" grpId="0" animBg="1"/>
      <p:bldP spid="16" grpId="0" animBg="1"/>
      <p:bldP spid="17" grpId="0" animBg="1"/>
      <p:bldP spid="18" grpId="0" animBg="1"/>
      <p:bldP spid="19" grpId="0" animBg="1"/>
      <p:bldP spid="20" grpId="0" animBg="1"/>
      <p:bldP spid="21" grpId="0" animBg="1"/>
      <p:bldP spid="22" grpId="0" animBg="1"/>
      <p:bldP spid="23" grpId="0" animBg="1"/>
      <p:bldP spid="24" grpId="0" animBg="1"/>
      <p:bldP spid="25" grpId="0" animBg="1"/>
      <p:bldP spid="26" grpId="0" animBg="1"/>
      <p:bldP spid="27" grpId="0" animBg="1"/>
      <p:bldP spid="28" grpId="0" animBg="1"/>
      <p:bldP spid="29" grpId="0" animBg="1"/>
      <p:bldP spid="33" grpId="0"/>
      <p:bldP spid="34" grpId="0"/>
      <p:bldP spid="35" grpId="0"/>
      <p:bldP spid="36" grpId="0" animBg="1"/>
      <p:bldP spid="37" grpId="0" animBg="1"/>
      <p:bldP spid="38" grpId="0" animBg="1"/>
      <p:bldP spid="39" grpId="0" animBg="1"/>
      <p:bldP spid="42" grpId="0"/>
      <p:bldP spid="47" grpId="0"/>
      <p:bldP spid="2" grpId="0"/>
    </p:bldLst>
  </p:timing>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81677FE-9B3E-5D30-F5D5-588B5BEDCA7B}"/>
              </a:ext>
            </a:extLst>
          </p:cNvPr>
          <p:cNvSpPr>
            <a:spLocks noGrp="1"/>
          </p:cNvSpPr>
          <p:nvPr>
            <p:ph type="title"/>
          </p:nvPr>
        </p:nvSpPr>
        <p:spPr>
          <a:xfrm>
            <a:off x="838200" y="341476"/>
            <a:ext cx="10515600" cy="1325563"/>
          </a:xfrm>
        </p:spPr>
        <p:txBody>
          <a:bodyPr/>
          <a:lstStyle/>
          <a:p>
            <a:pPr algn="ctr"/>
            <a:r>
              <a:rPr lang="tr-TR" dirty="0" err="1"/>
              <a:t>Unsupervised</a:t>
            </a:r>
            <a:r>
              <a:rPr lang="tr-TR" dirty="0"/>
              <a:t> Learning</a:t>
            </a:r>
            <a:endParaRPr lang="en-US" dirty="0"/>
          </a:p>
        </p:txBody>
      </p:sp>
      <p:cxnSp>
        <p:nvCxnSpPr>
          <p:cNvPr id="6" name="Straight Arrow Connector 5">
            <a:extLst>
              <a:ext uri="{FF2B5EF4-FFF2-40B4-BE49-F238E27FC236}">
                <a16:creationId xmlns:a16="http://schemas.microsoft.com/office/drawing/2014/main" id="{D276C944-2549-5187-9273-BE7F9AA8F843}"/>
              </a:ext>
            </a:extLst>
          </p:cNvPr>
          <p:cNvCxnSpPr>
            <a:cxnSpLocks/>
          </p:cNvCxnSpPr>
          <p:nvPr/>
        </p:nvCxnSpPr>
        <p:spPr>
          <a:xfrm flipH="1">
            <a:off x="2349061" y="1659419"/>
            <a:ext cx="1349265" cy="923136"/>
          </a:xfrm>
          <a:prstGeom prst="straightConnector1">
            <a:avLst/>
          </a:prstGeom>
          <a:ln w="38100">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7" name="Straight Arrow Connector 6">
            <a:extLst>
              <a:ext uri="{FF2B5EF4-FFF2-40B4-BE49-F238E27FC236}">
                <a16:creationId xmlns:a16="http://schemas.microsoft.com/office/drawing/2014/main" id="{4C05E8E3-842D-6E45-6068-446AA51FFC86}"/>
              </a:ext>
            </a:extLst>
          </p:cNvPr>
          <p:cNvCxnSpPr>
            <a:cxnSpLocks/>
          </p:cNvCxnSpPr>
          <p:nvPr/>
        </p:nvCxnSpPr>
        <p:spPr>
          <a:xfrm>
            <a:off x="8154713" y="1690950"/>
            <a:ext cx="1375542" cy="923136"/>
          </a:xfrm>
          <a:prstGeom prst="straightConnector1">
            <a:avLst/>
          </a:prstGeom>
          <a:ln w="38100">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8" name="Straight Arrow Connector 7">
            <a:extLst>
              <a:ext uri="{FF2B5EF4-FFF2-40B4-BE49-F238E27FC236}">
                <a16:creationId xmlns:a16="http://schemas.microsoft.com/office/drawing/2014/main" id="{1455F345-FCBF-DC11-C9E2-33BA3260D2D5}"/>
              </a:ext>
            </a:extLst>
          </p:cNvPr>
          <p:cNvCxnSpPr>
            <a:cxnSpLocks/>
          </p:cNvCxnSpPr>
          <p:nvPr/>
        </p:nvCxnSpPr>
        <p:spPr>
          <a:xfrm>
            <a:off x="5883165" y="1690950"/>
            <a:ext cx="0" cy="1004953"/>
          </a:xfrm>
          <a:prstGeom prst="straightConnector1">
            <a:avLst/>
          </a:prstGeom>
          <a:ln w="38100">
            <a:solidFill>
              <a:schemeClr val="tx1"/>
            </a:solidFill>
            <a:tailEnd type="triangle"/>
          </a:ln>
        </p:spPr>
        <p:style>
          <a:lnRef idx="1">
            <a:schemeClr val="accent1"/>
          </a:lnRef>
          <a:fillRef idx="0">
            <a:schemeClr val="accent1"/>
          </a:fillRef>
          <a:effectRef idx="0">
            <a:schemeClr val="accent1"/>
          </a:effectRef>
          <a:fontRef idx="minor">
            <a:schemeClr val="tx1"/>
          </a:fontRef>
        </p:style>
      </p:cxnSp>
      <p:sp>
        <p:nvSpPr>
          <p:cNvPr id="10" name="TextBox 9">
            <a:extLst>
              <a:ext uri="{FF2B5EF4-FFF2-40B4-BE49-F238E27FC236}">
                <a16:creationId xmlns:a16="http://schemas.microsoft.com/office/drawing/2014/main" id="{1EA1AB53-211B-4983-2958-B7214A327F2D}"/>
              </a:ext>
            </a:extLst>
          </p:cNvPr>
          <p:cNvSpPr txBox="1"/>
          <p:nvPr/>
        </p:nvSpPr>
        <p:spPr>
          <a:xfrm>
            <a:off x="1037059" y="2692594"/>
            <a:ext cx="1855573" cy="584775"/>
          </a:xfrm>
          <a:prstGeom prst="rect">
            <a:avLst/>
          </a:prstGeom>
          <a:noFill/>
        </p:spPr>
        <p:txBody>
          <a:bodyPr wrap="none" rtlCol="0">
            <a:spAutoFit/>
          </a:bodyPr>
          <a:lstStyle/>
          <a:p>
            <a:r>
              <a:rPr lang="tr-TR" sz="3200" dirty="0">
                <a:solidFill>
                  <a:schemeClr val="accent1"/>
                </a:solidFill>
              </a:rPr>
              <a:t>Clustering</a:t>
            </a:r>
            <a:endParaRPr lang="en-US" sz="3200" dirty="0">
              <a:solidFill>
                <a:schemeClr val="accent1"/>
              </a:solidFill>
            </a:endParaRPr>
          </a:p>
        </p:txBody>
      </p:sp>
      <p:sp>
        <p:nvSpPr>
          <p:cNvPr id="11" name="TextBox 10">
            <a:extLst>
              <a:ext uri="{FF2B5EF4-FFF2-40B4-BE49-F238E27FC236}">
                <a16:creationId xmlns:a16="http://schemas.microsoft.com/office/drawing/2014/main" id="{B0439459-E193-F72A-F7EE-C84E0A77A358}"/>
              </a:ext>
            </a:extLst>
          </p:cNvPr>
          <p:cNvSpPr txBox="1"/>
          <p:nvPr/>
        </p:nvSpPr>
        <p:spPr>
          <a:xfrm>
            <a:off x="3931368" y="2718435"/>
            <a:ext cx="3384068" cy="584775"/>
          </a:xfrm>
          <a:prstGeom prst="rect">
            <a:avLst/>
          </a:prstGeom>
          <a:noFill/>
        </p:spPr>
        <p:txBody>
          <a:bodyPr wrap="none" rtlCol="0">
            <a:spAutoFit/>
          </a:bodyPr>
          <a:lstStyle/>
          <a:p>
            <a:r>
              <a:rPr lang="tr-TR" sz="3200" dirty="0" err="1">
                <a:solidFill>
                  <a:schemeClr val="accent1"/>
                </a:solidFill>
              </a:rPr>
              <a:t>Anomaly</a:t>
            </a:r>
            <a:r>
              <a:rPr lang="tr-TR" sz="3200" dirty="0">
                <a:solidFill>
                  <a:schemeClr val="accent1"/>
                </a:solidFill>
              </a:rPr>
              <a:t> </a:t>
            </a:r>
            <a:r>
              <a:rPr lang="tr-TR" sz="3200" dirty="0" err="1">
                <a:solidFill>
                  <a:schemeClr val="accent1"/>
                </a:solidFill>
              </a:rPr>
              <a:t>Detection</a:t>
            </a:r>
            <a:endParaRPr lang="en-US" sz="3200" dirty="0">
              <a:solidFill>
                <a:schemeClr val="accent1"/>
              </a:solidFill>
            </a:endParaRPr>
          </a:p>
        </p:txBody>
      </p:sp>
      <p:sp>
        <p:nvSpPr>
          <p:cNvPr id="12" name="TextBox 11">
            <a:extLst>
              <a:ext uri="{FF2B5EF4-FFF2-40B4-BE49-F238E27FC236}">
                <a16:creationId xmlns:a16="http://schemas.microsoft.com/office/drawing/2014/main" id="{61CA40CE-5638-553E-970D-78154D665512}"/>
              </a:ext>
            </a:extLst>
          </p:cNvPr>
          <p:cNvSpPr txBox="1"/>
          <p:nvPr/>
        </p:nvSpPr>
        <p:spPr>
          <a:xfrm>
            <a:off x="7808043" y="2723591"/>
            <a:ext cx="4462247" cy="584775"/>
          </a:xfrm>
          <a:prstGeom prst="rect">
            <a:avLst/>
          </a:prstGeom>
          <a:noFill/>
        </p:spPr>
        <p:txBody>
          <a:bodyPr wrap="none" rtlCol="0">
            <a:spAutoFit/>
          </a:bodyPr>
          <a:lstStyle/>
          <a:p>
            <a:r>
              <a:rPr lang="tr-TR" sz="3200" dirty="0" err="1">
                <a:solidFill>
                  <a:schemeClr val="accent1"/>
                </a:solidFill>
              </a:rPr>
              <a:t>Dimensionality</a:t>
            </a:r>
            <a:r>
              <a:rPr lang="tr-TR" sz="3200" dirty="0">
                <a:solidFill>
                  <a:schemeClr val="accent1"/>
                </a:solidFill>
              </a:rPr>
              <a:t> </a:t>
            </a:r>
            <a:r>
              <a:rPr lang="tr-TR" sz="3200" dirty="0" err="1">
                <a:solidFill>
                  <a:schemeClr val="accent1"/>
                </a:solidFill>
              </a:rPr>
              <a:t>Reduction</a:t>
            </a:r>
            <a:endParaRPr lang="en-US" sz="3200" dirty="0">
              <a:solidFill>
                <a:schemeClr val="accent1"/>
              </a:solidFill>
            </a:endParaRPr>
          </a:p>
        </p:txBody>
      </p:sp>
      <p:pic>
        <p:nvPicPr>
          <p:cNvPr id="14" name="Picture 13">
            <a:extLst>
              <a:ext uri="{FF2B5EF4-FFF2-40B4-BE49-F238E27FC236}">
                <a16:creationId xmlns:a16="http://schemas.microsoft.com/office/drawing/2014/main" id="{851ABA89-2977-57C9-9286-25871D96C907}"/>
              </a:ext>
            </a:extLst>
          </p:cNvPr>
          <p:cNvPicPr>
            <a:picLocks noChangeAspect="1"/>
          </p:cNvPicPr>
          <p:nvPr/>
        </p:nvPicPr>
        <p:blipFill>
          <a:blip r:embed="rId3"/>
          <a:stretch>
            <a:fillRect/>
          </a:stretch>
        </p:blipFill>
        <p:spPr>
          <a:xfrm>
            <a:off x="1037059" y="3813108"/>
            <a:ext cx="2000364" cy="1385473"/>
          </a:xfrm>
          <a:prstGeom prst="rect">
            <a:avLst/>
          </a:prstGeom>
        </p:spPr>
      </p:pic>
      <p:cxnSp>
        <p:nvCxnSpPr>
          <p:cNvPr id="15" name="Straight Arrow Connector 14">
            <a:extLst>
              <a:ext uri="{FF2B5EF4-FFF2-40B4-BE49-F238E27FC236}">
                <a16:creationId xmlns:a16="http://schemas.microsoft.com/office/drawing/2014/main" id="{45CA748F-D0E0-AA8F-CB17-4899C7D546A7}"/>
              </a:ext>
            </a:extLst>
          </p:cNvPr>
          <p:cNvCxnSpPr>
            <a:cxnSpLocks/>
          </p:cNvCxnSpPr>
          <p:nvPr/>
        </p:nvCxnSpPr>
        <p:spPr>
          <a:xfrm flipV="1">
            <a:off x="838200" y="3260622"/>
            <a:ext cx="0" cy="2154789"/>
          </a:xfrm>
          <a:prstGeom prst="straightConnector1">
            <a:avLst/>
          </a:prstGeom>
          <a:ln w="38100">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16" name="Straight Arrow Connector 15">
            <a:extLst>
              <a:ext uri="{FF2B5EF4-FFF2-40B4-BE49-F238E27FC236}">
                <a16:creationId xmlns:a16="http://schemas.microsoft.com/office/drawing/2014/main" id="{FDDB759C-592A-338F-F8E3-231C3FB09F73}"/>
              </a:ext>
            </a:extLst>
          </p:cNvPr>
          <p:cNvCxnSpPr>
            <a:cxnSpLocks/>
          </p:cNvCxnSpPr>
          <p:nvPr/>
        </p:nvCxnSpPr>
        <p:spPr>
          <a:xfrm>
            <a:off x="645634" y="5330881"/>
            <a:ext cx="2500004" cy="0"/>
          </a:xfrm>
          <a:prstGeom prst="straightConnector1">
            <a:avLst/>
          </a:prstGeom>
          <a:ln w="38100">
            <a:solidFill>
              <a:schemeClr val="tx1"/>
            </a:solidFill>
            <a:tailEnd type="triangle"/>
          </a:ln>
        </p:spPr>
        <p:style>
          <a:lnRef idx="1">
            <a:schemeClr val="accent1"/>
          </a:lnRef>
          <a:fillRef idx="0">
            <a:schemeClr val="accent1"/>
          </a:fillRef>
          <a:effectRef idx="0">
            <a:schemeClr val="accent1"/>
          </a:effectRef>
          <a:fontRef idx="minor">
            <a:schemeClr val="tx1"/>
          </a:fontRef>
        </p:style>
      </p:cxnSp>
      <p:pic>
        <p:nvPicPr>
          <p:cNvPr id="20" name="Picture 19">
            <a:extLst>
              <a:ext uri="{FF2B5EF4-FFF2-40B4-BE49-F238E27FC236}">
                <a16:creationId xmlns:a16="http://schemas.microsoft.com/office/drawing/2014/main" id="{812FEBBC-1897-A28F-3FDE-FE02FAC4C07C}"/>
              </a:ext>
            </a:extLst>
          </p:cNvPr>
          <p:cNvPicPr>
            <a:picLocks noChangeAspect="1"/>
          </p:cNvPicPr>
          <p:nvPr/>
        </p:nvPicPr>
        <p:blipFill>
          <a:blip r:embed="rId4"/>
          <a:stretch>
            <a:fillRect/>
          </a:stretch>
        </p:blipFill>
        <p:spPr>
          <a:xfrm>
            <a:off x="4252867" y="3554791"/>
            <a:ext cx="2470290" cy="1714455"/>
          </a:xfrm>
          <a:prstGeom prst="rect">
            <a:avLst/>
          </a:prstGeom>
        </p:spPr>
      </p:pic>
      <p:cxnSp>
        <p:nvCxnSpPr>
          <p:cNvPr id="21" name="Straight Arrow Connector 20">
            <a:extLst>
              <a:ext uri="{FF2B5EF4-FFF2-40B4-BE49-F238E27FC236}">
                <a16:creationId xmlns:a16="http://schemas.microsoft.com/office/drawing/2014/main" id="{883F709B-DC47-806C-25A6-32A6E4E9BF9C}"/>
              </a:ext>
            </a:extLst>
          </p:cNvPr>
          <p:cNvCxnSpPr>
            <a:cxnSpLocks/>
          </p:cNvCxnSpPr>
          <p:nvPr/>
        </p:nvCxnSpPr>
        <p:spPr>
          <a:xfrm flipV="1">
            <a:off x="4117662" y="3283847"/>
            <a:ext cx="0" cy="2154789"/>
          </a:xfrm>
          <a:prstGeom prst="straightConnector1">
            <a:avLst/>
          </a:prstGeom>
          <a:ln w="38100">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22" name="Straight Arrow Connector 21">
            <a:extLst>
              <a:ext uri="{FF2B5EF4-FFF2-40B4-BE49-F238E27FC236}">
                <a16:creationId xmlns:a16="http://schemas.microsoft.com/office/drawing/2014/main" id="{2F759DCA-87AF-DDCF-E5DB-F8BA123BEE9F}"/>
              </a:ext>
            </a:extLst>
          </p:cNvPr>
          <p:cNvCxnSpPr>
            <a:cxnSpLocks/>
          </p:cNvCxnSpPr>
          <p:nvPr/>
        </p:nvCxnSpPr>
        <p:spPr>
          <a:xfrm>
            <a:off x="3871434" y="5330881"/>
            <a:ext cx="3020433" cy="0"/>
          </a:xfrm>
          <a:prstGeom prst="straightConnector1">
            <a:avLst/>
          </a:prstGeom>
          <a:ln w="38100">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24" name="Straight Arrow Connector 23">
            <a:extLst>
              <a:ext uri="{FF2B5EF4-FFF2-40B4-BE49-F238E27FC236}">
                <a16:creationId xmlns:a16="http://schemas.microsoft.com/office/drawing/2014/main" id="{C39643BC-A3C2-69BE-0447-7982841B02B4}"/>
              </a:ext>
            </a:extLst>
          </p:cNvPr>
          <p:cNvCxnSpPr>
            <a:cxnSpLocks/>
          </p:cNvCxnSpPr>
          <p:nvPr/>
        </p:nvCxnSpPr>
        <p:spPr>
          <a:xfrm flipV="1">
            <a:off x="7986930" y="3385399"/>
            <a:ext cx="0" cy="2053237"/>
          </a:xfrm>
          <a:prstGeom prst="straightConnector1">
            <a:avLst/>
          </a:prstGeom>
          <a:ln w="38100">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25" name="Straight Arrow Connector 24">
            <a:extLst>
              <a:ext uri="{FF2B5EF4-FFF2-40B4-BE49-F238E27FC236}">
                <a16:creationId xmlns:a16="http://schemas.microsoft.com/office/drawing/2014/main" id="{839E17C9-8540-B95F-077E-E8F780B0779A}"/>
              </a:ext>
            </a:extLst>
          </p:cNvPr>
          <p:cNvCxnSpPr>
            <a:cxnSpLocks/>
          </p:cNvCxnSpPr>
          <p:nvPr/>
        </p:nvCxnSpPr>
        <p:spPr>
          <a:xfrm>
            <a:off x="7740701" y="5330881"/>
            <a:ext cx="2630966" cy="0"/>
          </a:xfrm>
          <a:prstGeom prst="straightConnector1">
            <a:avLst/>
          </a:prstGeom>
          <a:ln w="38100">
            <a:solidFill>
              <a:schemeClr val="tx1"/>
            </a:solidFill>
            <a:tailEnd type="triangle"/>
          </a:ln>
        </p:spPr>
        <p:style>
          <a:lnRef idx="1">
            <a:schemeClr val="accent1"/>
          </a:lnRef>
          <a:fillRef idx="0">
            <a:schemeClr val="accent1"/>
          </a:fillRef>
          <a:effectRef idx="0">
            <a:schemeClr val="accent1"/>
          </a:effectRef>
          <a:fontRef idx="minor">
            <a:schemeClr val="tx1"/>
          </a:fontRef>
        </p:style>
      </p:cxnSp>
      <mc:AlternateContent xmlns:mc="http://schemas.openxmlformats.org/markup-compatibility/2006">
        <mc:Choice xmlns:am3d="http://schemas.microsoft.com/office/drawing/2017/model3d" Requires="am3d">
          <p:graphicFrame>
            <p:nvGraphicFramePr>
              <p:cNvPr id="31" name="3D Model 30" descr="Cube">
                <a:extLst>
                  <a:ext uri="{FF2B5EF4-FFF2-40B4-BE49-F238E27FC236}">
                    <a16:creationId xmlns:a16="http://schemas.microsoft.com/office/drawing/2014/main" id="{622D4299-4C60-5BCE-4B0F-B14BAA27872F}"/>
                  </a:ext>
                </a:extLst>
              </p:cNvPr>
              <p:cNvGraphicFramePr>
                <a:graphicFrameLocks noChangeAspect="1"/>
              </p:cNvGraphicFramePr>
              <p:nvPr/>
            </p:nvGraphicFramePr>
            <p:xfrm>
              <a:off x="8169490" y="3738901"/>
              <a:ext cx="1235012" cy="1348259"/>
            </p:xfrm>
            <a:graphic>
              <a:graphicData uri="http://schemas.microsoft.com/office/drawing/2017/model3d">
                <am3d:model3d r:embed="rId5">
                  <am3d:spPr>
                    <a:xfrm>
                      <a:off x="0" y="0"/>
                      <a:ext cx="1235012" cy="1348259"/>
                    </a:xfrm>
                    <a:prstGeom prst="rect">
                      <a:avLst/>
                    </a:prstGeom>
                  </am3d:spPr>
                  <am3d:camera>
                    <am3d:pos x="0" y="0" z="81469193"/>
                    <am3d:up dx="0" dy="36000000" dz="0"/>
                    <am3d:lookAt x="0" y="0" z="0"/>
                    <am3d:perspective fov="2700000"/>
                  </am3d:camera>
                  <am3d:trans>
                    <am3d:meterPerModelUnit n="7140529" d="1000000"/>
                    <am3d:preTrans dx="0" dy="-17999995" dz="5866"/>
                    <am3d:scale>
                      <am3d:sx n="1000000" d="1000000"/>
                      <am3d:sy n="1000000" d="1000000"/>
                      <am3d:sz n="1000000" d="1000000"/>
                    </am3d:scale>
                    <am3d:rot ax="2123982" ay="3411756" az="1845333"/>
                    <am3d:postTrans dx="0" dy="0" dz="0"/>
                  </am3d:trans>
                  <am3d:raster rName="Office3DRenderer" rVer="16.0.8326">
                    <am3d:blip r:embed="rId6"/>
                  </am3d:raster>
                  <am3d:objViewport viewportSz="1443896"/>
                  <am3d:ambientLight>
                    <am3d:clr>
                      <a:scrgbClr r="50000" g="50000" b="50000"/>
                    </am3d:clr>
                    <am3d:illuminance n="500000" d="1000000"/>
                  </am3d:ambientLight>
                  <am3d:ptLight rad="0">
                    <am3d:clr>
                      <a:scrgbClr r="100000" g="75000" b="50000"/>
                    </am3d:clr>
                    <am3d:intensity n="9765625" d="1000000"/>
                    <am3d:pos x="21959998" y="70920001" z="16344003"/>
                  </am3d:ptLight>
                  <am3d:ptLight rad="0">
                    <am3d:clr>
                      <a:scrgbClr r="40000" g="60000" b="95000"/>
                    </am3d:clr>
                    <am3d:intensity n="12250000" d="1000000"/>
                    <am3d:pos x="-37964106" y="51130435" z="57631972"/>
                  </am3d:ptLight>
                  <am3d:ptLight rad="0">
                    <am3d:clr>
                      <a:scrgbClr r="86837" g="72700" b="100000"/>
                    </am3d:clr>
                    <am3d:intensity n="3125000" d="1000000"/>
                    <am3d:pos x="-37739122" y="58056624" z="-34769649"/>
                  </am3d:ptLight>
                </am3d:model3d>
              </a:graphicData>
            </a:graphic>
          </p:graphicFrame>
        </mc:Choice>
        <mc:Fallback>
          <p:pic>
            <p:nvPicPr>
              <p:cNvPr id="31" name="3D Model 30" descr="Cube">
                <a:extLst>
                  <a:ext uri="{FF2B5EF4-FFF2-40B4-BE49-F238E27FC236}">
                    <a16:creationId xmlns:a16="http://schemas.microsoft.com/office/drawing/2014/main" id="{622D4299-4C60-5BCE-4B0F-B14BAA27872F}"/>
                  </a:ext>
                </a:extLst>
              </p:cNvPr>
              <p:cNvPicPr>
                <a:picLocks noGrp="1" noRot="1" noChangeAspect="1" noMove="1" noResize="1" noEditPoints="1" noAdjustHandles="1" noChangeArrowheads="1" noChangeShapeType="1" noCrop="1"/>
              </p:cNvPicPr>
              <p:nvPr/>
            </p:nvPicPr>
            <p:blipFill>
              <a:blip r:embed="rId6"/>
              <a:stretch>
                <a:fillRect/>
              </a:stretch>
            </p:blipFill>
            <p:spPr>
              <a:xfrm>
                <a:off x="8169490" y="3738901"/>
                <a:ext cx="1235012" cy="1348259"/>
              </a:xfrm>
              <a:prstGeom prst="rect">
                <a:avLst/>
              </a:prstGeom>
            </p:spPr>
          </p:pic>
        </mc:Fallback>
      </mc:AlternateContent>
      <mc:AlternateContent xmlns:mc="http://schemas.openxmlformats.org/markup-compatibility/2006">
        <mc:Choice xmlns:am3d="http://schemas.microsoft.com/office/drawing/2017/model3d" Requires="am3d">
          <p:graphicFrame>
            <p:nvGraphicFramePr>
              <p:cNvPr id="32" name="3D Model 31" descr="Red Cube">
                <a:extLst>
                  <a:ext uri="{FF2B5EF4-FFF2-40B4-BE49-F238E27FC236}">
                    <a16:creationId xmlns:a16="http://schemas.microsoft.com/office/drawing/2014/main" id="{F0D1D92A-39F7-D22C-E9F5-3FD579B74537}"/>
                  </a:ext>
                </a:extLst>
              </p:cNvPr>
              <p:cNvGraphicFramePr>
                <a:graphicFrameLocks noChangeAspect="1"/>
              </p:cNvGraphicFramePr>
              <p:nvPr/>
            </p:nvGraphicFramePr>
            <p:xfrm>
              <a:off x="9404502" y="4064033"/>
              <a:ext cx="968261" cy="1023127"/>
            </p:xfrm>
            <a:graphic>
              <a:graphicData uri="http://schemas.microsoft.com/office/drawing/2017/model3d">
                <am3d:model3d r:embed="rId7">
                  <am3d:spPr>
                    <a:xfrm>
                      <a:off x="0" y="0"/>
                      <a:ext cx="968261" cy="1023127"/>
                    </a:xfrm>
                    <a:prstGeom prst="rect">
                      <a:avLst/>
                    </a:prstGeom>
                  </am3d:spPr>
                  <am3d:camera>
                    <am3d:pos x="0" y="0" z="81469193"/>
                    <am3d:up dx="0" dy="36000000" dz="0"/>
                    <am3d:lookAt x="0" y="0" z="0"/>
                    <am3d:perspective fov="2700000"/>
                  </am3d:camera>
                  <am3d:trans>
                    <am3d:meterPerModelUnit n="7140529" d="1000000"/>
                    <am3d:preTrans dx="0" dy="-17999995" dz="5866"/>
                    <am3d:scale>
                      <am3d:sx n="1000000" d="1000000"/>
                      <am3d:sy n="1000000" d="1000000"/>
                      <am3d:sz n="1000000" d="1000000"/>
                    </am3d:scale>
                    <am3d:rot ax="1615520" ay="-991442" az="-493185"/>
                    <am3d:postTrans dx="0" dy="0" dz="0"/>
                  </am3d:trans>
                  <am3d:raster rName="Office3DRenderer" rVer="16.0.8326">
                    <am3d:blip r:embed="rId8"/>
                  </am3d:raster>
                  <am3d:objViewport viewportSz="1116892"/>
                  <am3d:ambientLight>
                    <am3d:clr>
                      <a:scrgbClr r="50000" g="50000" b="50000"/>
                    </am3d:clr>
                    <am3d:illuminance n="500000" d="1000000"/>
                  </am3d:ambientLight>
                  <am3d:ptLight rad="0">
                    <am3d:clr>
                      <a:scrgbClr r="100000" g="75000" b="50000"/>
                    </am3d:clr>
                    <am3d:intensity n="9765625" d="1000000"/>
                    <am3d:pos x="21959998" y="70920001" z="16344003"/>
                  </am3d:ptLight>
                  <am3d:ptLight rad="0">
                    <am3d:clr>
                      <a:scrgbClr r="40000" g="60000" b="95000"/>
                    </am3d:clr>
                    <am3d:intensity n="12250000" d="1000000"/>
                    <am3d:pos x="-37964106" y="51130435" z="57631972"/>
                  </am3d:ptLight>
                  <am3d:ptLight rad="0">
                    <am3d:clr>
                      <a:scrgbClr r="86837" g="72700" b="100000"/>
                    </am3d:clr>
                    <am3d:intensity n="3125000" d="1000000"/>
                    <am3d:pos x="-37739122" y="58056624" z="-34769649"/>
                  </am3d:ptLight>
                </am3d:model3d>
              </a:graphicData>
            </a:graphic>
          </p:graphicFrame>
        </mc:Choice>
        <mc:Fallback>
          <p:pic>
            <p:nvPicPr>
              <p:cNvPr id="32" name="3D Model 31" descr="Red Cube">
                <a:extLst>
                  <a:ext uri="{FF2B5EF4-FFF2-40B4-BE49-F238E27FC236}">
                    <a16:creationId xmlns:a16="http://schemas.microsoft.com/office/drawing/2014/main" id="{F0D1D92A-39F7-D22C-E9F5-3FD579B74537}"/>
                  </a:ext>
                </a:extLst>
              </p:cNvPr>
              <p:cNvPicPr>
                <a:picLocks noGrp="1" noRot="1" noChangeAspect="1" noMove="1" noResize="1" noEditPoints="1" noAdjustHandles="1" noChangeArrowheads="1" noChangeShapeType="1" noCrop="1"/>
              </p:cNvPicPr>
              <p:nvPr/>
            </p:nvPicPr>
            <p:blipFill>
              <a:blip r:embed="rId8"/>
              <a:stretch>
                <a:fillRect/>
              </a:stretch>
            </p:blipFill>
            <p:spPr>
              <a:xfrm>
                <a:off x="9404502" y="4064033"/>
                <a:ext cx="968261" cy="1023127"/>
              </a:xfrm>
              <a:prstGeom prst="rect">
                <a:avLst/>
              </a:prstGeom>
            </p:spPr>
          </p:pic>
        </mc:Fallback>
      </mc:AlternateContent>
      <p:pic>
        <p:nvPicPr>
          <p:cNvPr id="34" name="Picture 33">
            <a:extLst>
              <a:ext uri="{FF2B5EF4-FFF2-40B4-BE49-F238E27FC236}">
                <a16:creationId xmlns:a16="http://schemas.microsoft.com/office/drawing/2014/main" id="{80747384-C75E-7641-EF00-C6D2258D137D}"/>
              </a:ext>
            </a:extLst>
          </p:cNvPr>
          <p:cNvPicPr>
            <a:picLocks noChangeAspect="1"/>
          </p:cNvPicPr>
          <p:nvPr/>
        </p:nvPicPr>
        <p:blipFill>
          <a:blip r:embed="rId9"/>
          <a:stretch>
            <a:fillRect/>
          </a:stretch>
        </p:blipFill>
        <p:spPr>
          <a:xfrm>
            <a:off x="7969744" y="5478505"/>
            <a:ext cx="1325765" cy="1198491"/>
          </a:xfrm>
          <a:prstGeom prst="rect">
            <a:avLst/>
          </a:prstGeom>
        </p:spPr>
      </p:pic>
      <p:pic>
        <p:nvPicPr>
          <p:cNvPr id="36" name="Picture 35">
            <a:extLst>
              <a:ext uri="{FF2B5EF4-FFF2-40B4-BE49-F238E27FC236}">
                <a16:creationId xmlns:a16="http://schemas.microsoft.com/office/drawing/2014/main" id="{37C15F84-BD32-8807-EE5B-AADDC433FF26}"/>
              </a:ext>
            </a:extLst>
          </p:cNvPr>
          <p:cNvPicPr>
            <a:picLocks noChangeAspect="1"/>
          </p:cNvPicPr>
          <p:nvPr/>
        </p:nvPicPr>
        <p:blipFill>
          <a:blip r:embed="rId10"/>
          <a:stretch>
            <a:fillRect/>
          </a:stretch>
        </p:blipFill>
        <p:spPr>
          <a:xfrm>
            <a:off x="9649022" y="5478505"/>
            <a:ext cx="1445290" cy="1183502"/>
          </a:xfrm>
          <a:prstGeom prst="rect">
            <a:avLst/>
          </a:prstGeom>
        </p:spPr>
      </p:pic>
      <p:pic>
        <p:nvPicPr>
          <p:cNvPr id="4" name="Picture 3" descr="Frontier Tech Leaders (@FTLeadersProg) / X">
            <a:extLst>
              <a:ext uri="{FF2B5EF4-FFF2-40B4-BE49-F238E27FC236}">
                <a16:creationId xmlns:a16="http://schemas.microsoft.com/office/drawing/2014/main" id="{A8DFD8D9-AB89-78FA-3043-ACAA8B160475}"/>
              </a:ext>
            </a:extLst>
          </p:cNvPr>
          <p:cNvPicPr>
            <a:picLocks noChangeAspect="1"/>
          </p:cNvPicPr>
          <p:nvPr/>
        </p:nvPicPr>
        <p:blipFill>
          <a:blip r:embed="rId11"/>
          <a:stretch>
            <a:fillRect/>
          </a:stretch>
        </p:blipFill>
        <p:spPr>
          <a:xfrm>
            <a:off x="10668000" y="94470"/>
            <a:ext cx="1027893" cy="1027893"/>
          </a:xfrm>
          <a:prstGeom prst="rect">
            <a:avLst/>
          </a:prstGeom>
        </p:spPr>
      </p:pic>
    </p:spTree>
    <p:extLst>
      <p:ext uri="{BB962C8B-B14F-4D97-AF65-F5344CB8AC3E}">
        <p14:creationId xmlns:p14="http://schemas.microsoft.com/office/powerpoint/2010/main" val="178559733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2"/>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6"/>
                                        </p:tgtEl>
                                        <p:attrNameLst>
                                          <p:attrName>style.visibility</p:attrName>
                                        </p:attrNameLst>
                                      </p:cBhvr>
                                      <p:to>
                                        <p:strVal val="visible"/>
                                      </p:to>
                                    </p:set>
                                  </p:childTnLst>
                                </p:cTn>
                              </p:par>
                              <p:par>
                                <p:cTn id="11" presetID="1" presetClass="entr" presetSubtype="0" fill="hold" grpId="0" nodeType="withEffect">
                                  <p:stCondLst>
                                    <p:cond delay="0"/>
                                  </p:stCondLst>
                                  <p:childTnLst>
                                    <p:set>
                                      <p:cBhvr>
                                        <p:cTn id="12" dur="1" fill="hold">
                                          <p:stCondLst>
                                            <p:cond delay="0"/>
                                          </p:stCondLst>
                                        </p:cTn>
                                        <p:tgtEl>
                                          <p:spTgt spid="10"/>
                                        </p:tgtEl>
                                        <p:attrNameLst>
                                          <p:attrName>style.visibility</p:attrName>
                                        </p:attrNameLst>
                                      </p:cBhvr>
                                      <p:to>
                                        <p:strVal val="visible"/>
                                      </p:to>
                                    </p:set>
                                  </p:childTnLst>
                                </p:cTn>
                              </p:par>
                              <p:par>
                                <p:cTn id="13" presetID="1" presetClass="entr" presetSubtype="0" fill="hold" nodeType="withEffect">
                                  <p:stCondLst>
                                    <p:cond delay="0"/>
                                  </p:stCondLst>
                                  <p:childTnLst>
                                    <p:set>
                                      <p:cBhvr>
                                        <p:cTn id="14" dur="1" fill="hold">
                                          <p:stCondLst>
                                            <p:cond delay="0"/>
                                          </p:stCondLst>
                                        </p:cTn>
                                        <p:tgtEl>
                                          <p:spTgt spid="14"/>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8"/>
                                        </p:tgtEl>
                                        <p:attrNameLst>
                                          <p:attrName>style.visibility</p:attrName>
                                        </p:attrNameLst>
                                      </p:cBhvr>
                                      <p:to>
                                        <p:strVal val="visible"/>
                                      </p:to>
                                    </p:set>
                                  </p:childTnLst>
                                </p:cTn>
                              </p:par>
                              <p:par>
                                <p:cTn id="19" presetID="1" presetClass="entr" presetSubtype="0" fill="hold" grpId="0" nodeType="withEffect">
                                  <p:stCondLst>
                                    <p:cond delay="0"/>
                                  </p:stCondLst>
                                  <p:childTnLst>
                                    <p:set>
                                      <p:cBhvr>
                                        <p:cTn id="20" dur="1" fill="hold">
                                          <p:stCondLst>
                                            <p:cond delay="0"/>
                                          </p:stCondLst>
                                        </p:cTn>
                                        <p:tgtEl>
                                          <p:spTgt spid="11"/>
                                        </p:tgtEl>
                                        <p:attrNameLst>
                                          <p:attrName>style.visibility</p:attrName>
                                        </p:attrNameLst>
                                      </p:cBhvr>
                                      <p:to>
                                        <p:strVal val="visible"/>
                                      </p:to>
                                    </p:set>
                                  </p:childTnLst>
                                </p:cTn>
                              </p:par>
                              <p:par>
                                <p:cTn id="21" presetID="1" presetClass="entr" presetSubtype="0" fill="hold" nodeType="withEffect">
                                  <p:stCondLst>
                                    <p:cond delay="0"/>
                                  </p:stCondLst>
                                  <p:childTnLst>
                                    <p:set>
                                      <p:cBhvr>
                                        <p:cTn id="22" dur="1" fill="hold">
                                          <p:stCondLst>
                                            <p:cond delay="0"/>
                                          </p:stCondLst>
                                        </p:cTn>
                                        <p:tgtEl>
                                          <p:spTgt spid="20"/>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nodeType="clickEffect">
                                  <p:stCondLst>
                                    <p:cond delay="0"/>
                                  </p:stCondLst>
                                  <p:childTnLst>
                                    <p:set>
                                      <p:cBhvr>
                                        <p:cTn id="26" dur="1" fill="hold">
                                          <p:stCondLst>
                                            <p:cond delay="0"/>
                                          </p:stCondLst>
                                        </p:cTn>
                                        <p:tgtEl>
                                          <p:spTgt spid="7"/>
                                        </p:tgtEl>
                                        <p:attrNameLst>
                                          <p:attrName>style.visibility</p:attrName>
                                        </p:attrNameLst>
                                      </p:cBhvr>
                                      <p:to>
                                        <p:strVal val="visible"/>
                                      </p:to>
                                    </p:set>
                                  </p:childTnLst>
                                </p:cTn>
                              </p:par>
                              <p:par>
                                <p:cTn id="27" presetID="1" presetClass="entr" presetSubtype="0" fill="hold" grpId="0" nodeType="withEffect">
                                  <p:stCondLst>
                                    <p:cond delay="0"/>
                                  </p:stCondLst>
                                  <p:childTnLst>
                                    <p:set>
                                      <p:cBhvr>
                                        <p:cTn id="28" dur="1" fill="hold">
                                          <p:stCondLst>
                                            <p:cond delay="0"/>
                                          </p:stCondLst>
                                        </p:cTn>
                                        <p:tgtEl>
                                          <p:spTgt spid="12"/>
                                        </p:tgtEl>
                                        <p:attrNameLst>
                                          <p:attrName>style.visibility</p:attrName>
                                        </p:attrNameLst>
                                      </p:cBhvr>
                                      <p:to>
                                        <p:strVal val="visible"/>
                                      </p:to>
                                    </p:set>
                                  </p:childTnLst>
                                </p:cTn>
                              </p:par>
                              <p:par>
                                <p:cTn id="29" presetID="1" presetClass="entr" presetSubtype="0" fill="hold" nodeType="withEffect">
                                  <p:stCondLst>
                                    <p:cond delay="0"/>
                                  </p:stCondLst>
                                  <p:childTnLst>
                                    <p:set>
                                      <p:cBhvr>
                                        <p:cTn id="30" dur="1" fill="hold">
                                          <p:stCondLst>
                                            <p:cond delay="0"/>
                                          </p:stCondLst>
                                        </p:cTn>
                                        <p:tgtEl>
                                          <p:spTgt spid="31"/>
                                        </p:tgtEl>
                                        <p:attrNameLst>
                                          <p:attrName>style.visibility</p:attrName>
                                        </p:attrNameLst>
                                      </p:cBhvr>
                                      <p:to>
                                        <p:strVal val="visible"/>
                                      </p:to>
                                    </p:set>
                                  </p:childTnLst>
                                </p:cTn>
                              </p:par>
                              <p:par>
                                <p:cTn id="31" presetID="1" presetClass="entr" presetSubtype="0" fill="hold" nodeType="withEffect">
                                  <p:stCondLst>
                                    <p:cond delay="0"/>
                                  </p:stCondLst>
                                  <p:childTnLst>
                                    <p:set>
                                      <p:cBhvr>
                                        <p:cTn id="32" dur="1" fill="hold">
                                          <p:stCondLst>
                                            <p:cond delay="0"/>
                                          </p:stCondLst>
                                        </p:cTn>
                                        <p:tgtEl>
                                          <p:spTgt spid="24"/>
                                        </p:tgtEl>
                                        <p:attrNameLst>
                                          <p:attrName>style.visibility</p:attrName>
                                        </p:attrNameLst>
                                      </p:cBhvr>
                                      <p:to>
                                        <p:strVal val="visible"/>
                                      </p:to>
                                    </p:set>
                                  </p:childTnLst>
                                </p:cTn>
                              </p:par>
                              <p:par>
                                <p:cTn id="33" presetID="1" presetClass="entr" presetSubtype="0" fill="hold" nodeType="withEffect">
                                  <p:stCondLst>
                                    <p:cond delay="0"/>
                                  </p:stCondLst>
                                  <p:childTnLst>
                                    <p:set>
                                      <p:cBhvr>
                                        <p:cTn id="34" dur="1" fill="hold">
                                          <p:stCondLst>
                                            <p:cond delay="0"/>
                                          </p:stCondLst>
                                        </p:cTn>
                                        <p:tgtEl>
                                          <p:spTgt spid="25"/>
                                        </p:tgtEl>
                                        <p:attrNameLst>
                                          <p:attrName>style.visibility</p:attrName>
                                        </p:attrNameLst>
                                      </p:cBhvr>
                                      <p:to>
                                        <p:strVal val="visible"/>
                                      </p:to>
                                    </p:set>
                                  </p:childTnLst>
                                </p:cTn>
                              </p:par>
                              <p:par>
                                <p:cTn id="35" presetID="1" presetClass="entr" presetSubtype="0" fill="hold" nodeType="withEffect">
                                  <p:stCondLst>
                                    <p:cond delay="0"/>
                                  </p:stCondLst>
                                  <p:childTnLst>
                                    <p:set>
                                      <p:cBhvr>
                                        <p:cTn id="36" dur="1" fill="hold">
                                          <p:stCondLst>
                                            <p:cond delay="0"/>
                                          </p:stCondLst>
                                        </p:cTn>
                                        <p:tgtEl>
                                          <p:spTgt spid="32"/>
                                        </p:tgtEl>
                                        <p:attrNameLst>
                                          <p:attrName>style.visibility</p:attrName>
                                        </p:attrNameLst>
                                      </p:cBhvr>
                                      <p:to>
                                        <p:strVal val="visible"/>
                                      </p:to>
                                    </p:set>
                                  </p:childTnLst>
                                </p:cTn>
                              </p:par>
                              <p:par>
                                <p:cTn id="37" presetID="1" presetClass="entr" presetSubtype="0" fill="hold" nodeType="withEffect">
                                  <p:stCondLst>
                                    <p:cond delay="0"/>
                                  </p:stCondLst>
                                  <p:childTnLst>
                                    <p:set>
                                      <p:cBhvr>
                                        <p:cTn id="38" dur="1" fill="hold">
                                          <p:stCondLst>
                                            <p:cond delay="0"/>
                                          </p:stCondLst>
                                        </p:cTn>
                                        <p:tgtEl>
                                          <p:spTgt spid="34"/>
                                        </p:tgtEl>
                                        <p:attrNameLst>
                                          <p:attrName>style.visibility</p:attrName>
                                        </p:attrNameLst>
                                      </p:cBhvr>
                                      <p:to>
                                        <p:strVal val="visible"/>
                                      </p:to>
                                    </p:set>
                                  </p:childTnLst>
                                </p:cTn>
                              </p:par>
                              <p:par>
                                <p:cTn id="39" presetID="1" presetClass="entr" presetSubtype="0" fill="hold" nodeType="withEffect">
                                  <p:stCondLst>
                                    <p:cond delay="0"/>
                                  </p:stCondLst>
                                  <p:childTnLst>
                                    <p:set>
                                      <p:cBhvr>
                                        <p:cTn id="40" dur="1" fill="hold">
                                          <p:stCondLst>
                                            <p:cond delay="0"/>
                                          </p:stCondLst>
                                        </p:cTn>
                                        <p:tgtEl>
                                          <p:spTgt spid="36"/>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P spid="10" grpId="0"/>
      <p:bldP spid="11" grpId="0"/>
      <p:bldP spid="12" grpId="0"/>
    </p:bldLst>
  </p:timing>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cxnSp>
        <p:nvCxnSpPr>
          <p:cNvPr id="10" name="Straight Arrow Connector 9">
            <a:extLst>
              <a:ext uri="{FF2B5EF4-FFF2-40B4-BE49-F238E27FC236}">
                <a16:creationId xmlns:a16="http://schemas.microsoft.com/office/drawing/2014/main" id="{B08AA740-9187-A5E9-45EA-1DFF6CC95A87}"/>
              </a:ext>
            </a:extLst>
          </p:cNvPr>
          <p:cNvCxnSpPr>
            <a:cxnSpLocks/>
          </p:cNvCxnSpPr>
          <p:nvPr/>
        </p:nvCxnSpPr>
        <p:spPr>
          <a:xfrm flipV="1">
            <a:off x="1225252" y="1363351"/>
            <a:ext cx="0" cy="2774516"/>
          </a:xfrm>
          <a:prstGeom prst="straightConnector1">
            <a:avLst/>
          </a:prstGeom>
          <a:ln w="38100">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11" name="Straight Arrow Connector 10">
            <a:extLst>
              <a:ext uri="{FF2B5EF4-FFF2-40B4-BE49-F238E27FC236}">
                <a16:creationId xmlns:a16="http://schemas.microsoft.com/office/drawing/2014/main" id="{48AD5386-C182-0DF7-9D68-1B24D9D9BFF4}"/>
              </a:ext>
            </a:extLst>
          </p:cNvPr>
          <p:cNvCxnSpPr>
            <a:cxnSpLocks/>
          </p:cNvCxnSpPr>
          <p:nvPr/>
        </p:nvCxnSpPr>
        <p:spPr>
          <a:xfrm>
            <a:off x="970557" y="3757911"/>
            <a:ext cx="3511464" cy="0"/>
          </a:xfrm>
          <a:prstGeom prst="straightConnector1">
            <a:avLst/>
          </a:prstGeom>
          <a:ln w="38100">
            <a:solidFill>
              <a:schemeClr val="tx1"/>
            </a:solidFill>
            <a:tailEnd type="triangle"/>
          </a:ln>
        </p:spPr>
        <p:style>
          <a:lnRef idx="1">
            <a:schemeClr val="accent1"/>
          </a:lnRef>
          <a:fillRef idx="0">
            <a:schemeClr val="accent1"/>
          </a:fillRef>
          <a:effectRef idx="0">
            <a:schemeClr val="accent1"/>
          </a:effectRef>
          <a:fontRef idx="minor">
            <a:schemeClr val="tx1"/>
          </a:fontRef>
        </p:style>
      </p:cxnSp>
      <p:sp>
        <p:nvSpPr>
          <p:cNvPr id="12" name="Star: 5 Points 11">
            <a:extLst>
              <a:ext uri="{FF2B5EF4-FFF2-40B4-BE49-F238E27FC236}">
                <a16:creationId xmlns:a16="http://schemas.microsoft.com/office/drawing/2014/main" id="{483E4539-535F-4D1A-C960-AFA3CF684D4A}"/>
              </a:ext>
            </a:extLst>
          </p:cNvPr>
          <p:cNvSpPr/>
          <p:nvPr/>
        </p:nvSpPr>
        <p:spPr>
          <a:xfrm>
            <a:off x="1505005" y="2449984"/>
            <a:ext cx="288095" cy="328800"/>
          </a:xfrm>
          <a:prstGeom prst="star5">
            <a:avLst/>
          </a:prstGeom>
          <a:solidFill>
            <a:schemeClr val="accent1"/>
          </a:solidFill>
          <a:ln>
            <a:solidFill>
              <a:schemeClr val="accent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3" name="Star: 5 Points 12">
            <a:extLst>
              <a:ext uri="{FF2B5EF4-FFF2-40B4-BE49-F238E27FC236}">
                <a16:creationId xmlns:a16="http://schemas.microsoft.com/office/drawing/2014/main" id="{FCD739B8-EC87-4E0C-DF07-B0C36C9DF13E}"/>
              </a:ext>
            </a:extLst>
          </p:cNvPr>
          <p:cNvSpPr/>
          <p:nvPr/>
        </p:nvSpPr>
        <p:spPr>
          <a:xfrm>
            <a:off x="2236238" y="2666542"/>
            <a:ext cx="288095" cy="328800"/>
          </a:xfrm>
          <a:prstGeom prst="star5">
            <a:avLst/>
          </a:prstGeom>
          <a:solidFill>
            <a:schemeClr val="accent1"/>
          </a:solidFill>
          <a:ln>
            <a:solidFill>
              <a:schemeClr val="accent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4" name="Star: 5 Points 13">
            <a:extLst>
              <a:ext uri="{FF2B5EF4-FFF2-40B4-BE49-F238E27FC236}">
                <a16:creationId xmlns:a16="http://schemas.microsoft.com/office/drawing/2014/main" id="{134DC9AF-F203-226D-63E8-61F10CEAEAF1}"/>
              </a:ext>
            </a:extLst>
          </p:cNvPr>
          <p:cNvSpPr/>
          <p:nvPr/>
        </p:nvSpPr>
        <p:spPr>
          <a:xfrm>
            <a:off x="1912085" y="2449984"/>
            <a:ext cx="288095" cy="328800"/>
          </a:xfrm>
          <a:prstGeom prst="star5">
            <a:avLst/>
          </a:prstGeom>
          <a:solidFill>
            <a:schemeClr val="accent1"/>
          </a:solidFill>
          <a:ln>
            <a:solidFill>
              <a:schemeClr val="accent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5" name="Star: 5 Points 14">
            <a:extLst>
              <a:ext uri="{FF2B5EF4-FFF2-40B4-BE49-F238E27FC236}">
                <a16:creationId xmlns:a16="http://schemas.microsoft.com/office/drawing/2014/main" id="{3B17FE44-0312-EB85-CAF3-CE6FA8E87A31}"/>
              </a:ext>
            </a:extLst>
          </p:cNvPr>
          <p:cNvSpPr/>
          <p:nvPr/>
        </p:nvSpPr>
        <p:spPr>
          <a:xfrm>
            <a:off x="1479948" y="2837447"/>
            <a:ext cx="288095" cy="328800"/>
          </a:xfrm>
          <a:prstGeom prst="star5">
            <a:avLst/>
          </a:prstGeom>
          <a:solidFill>
            <a:schemeClr val="accent1"/>
          </a:solidFill>
          <a:ln>
            <a:solidFill>
              <a:schemeClr val="accent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6" name="Star: 5 Points 15">
            <a:extLst>
              <a:ext uri="{FF2B5EF4-FFF2-40B4-BE49-F238E27FC236}">
                <a16:creationId xmlns:a16="http://schemas.microsoft.com/office/drawing/2014/main" id="{2926B24F-F07B-14A5-AD50-B4B32C0148F3}"/>
              </a:ext>
            </a:extLst>
          </p:cNvPr>
          <p:cNvSpPr/>
          <p:nvPr/>
        </p:nvSpPr>
        <p:spPr>
          <a:xfrm>
            <a:off x="1952792" y="3045986"/>
            <a:ext cx="288095" cy="328800"/>
          </a:xfrm>
          <a:prstGeom prst="star5">
            <a:avLst/>
          </a:prstGeom>
          <a:solidFill>
            <a:schemeClr val="accent1"/>
          </a:solidFill>
          <a:ln>
            <a:solidFill>
              <a:schemeClr val="accent1">
                <a:lumMod val="7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7" name="Star: 5 Points 16">
            <a:extLst>
              <a:ext uri="{FF2B5EF4-FFF2-40B4-BE49-F238E27FC236}">
                <a16:creationId xmlns:a16="http://schemas.microsoft.com/office/drawing/2014/main" id="{89E964C9-7191-DA7D-9486-D3AAD1326258}"/>
              </a:ext>
            </a:extLst>
          </p:cNvPr>
          <p:cNvSpPr/>
          <p:nvPr/>
        </p:nvSpPr>
        <p:spPr>
          <a:xfrm>
            <a:off x="1716370" y="3261030"/>
            <a:ext cx="288095" cy="328800"/>
          </a:xfrm>
          <a:prstGeom prst="star5">
            <a:avLst/>
          </a:prstGeom>
          <a:solidFill>
            <a:schemeClr val="accent1"/>
          </a:solidFill>
          <a:ln>
            <a:solidFill>
              <a:schemeClr val="accent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8" name="Isosceles Triangle 17">
            <a:extLst>
              <a:ext uri="{FF2B5EF4-FFF2-40B4-BE49-F238E27FC236}">
                <a16:creationId xmlns:a16="http://schemas.microsoft.com/office/drawing/2014/main" id="{B4B33943-C979-0F54-FAC0-1F4D2B3B6BD3}"/>
              </a:ext>
            </a:extLst>
          </p:cNvPr>
          <p:cNvSpPr/>
          <p:nvPr/>
        </p:nvSpPr>
        <p:spPr>
          <a:xfrm>
            <a:off x="2777435" y="2247373"/>
            <a:ext cx="200412" cy="225461"/>
          </a:xfrm>
          <a:prstGeom prst="triangle">
            <a:avLst/>
          </a:prstGeom>
          <a:solidFill>
            <a:schemeClr val="accent6">
              <a:lumMod val="75000"/>
            </a:schemeClr>
          </a:solidFill>
          <a:ln>
            <a:solidFill>
              <a:schemeClr val="accent6">
                <a:lumMod val="7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9" name="Isosceles Triangle 18">
            <a:extLst>
              <a:ext uri="{FF2B5EF4-FFF2-40B4-BE49-F238E27FC236}">
                <a16:creationId xmlns:a16="http://schemas.microsoft.com/office/drawing/2014/main" id="{57D44B99-F32B-642B-2F1C-7C28E7E01A61}"/>
              </a:ext>
            </a:extLst>
          </p:cNvPr>
          <p:cNvSpPr/>
          <p:nvPr/>
        </p:nvSpPr>
        <p:spPr>
          <a:xfrm>
            <a:off x="2918356" y="2474931"/>
            <a:ext cx="200412" cy="225461"/>
          </a:xfrm>
          <a:prstGeom prst="triangle">
            <a:avLst/>
          </a:prstGeom>
          <a:solidFill>
            <a:schemeClr val="accent6">
              <a:lumMod val="75000"/>
            </a:schemeClr>
          </a:solidFill>
          <a:ln>
            <a:solidFill>
              <a:schemeClr val="accent6">
                <a:lumMod val="7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0" name="Isosceles Triangle 19">
            <a:extLst>
              <a:ext uri="{FF2B5EF4-FFF2-40B4-BE49-F238E27FC236}">
                <a16:creationId xmlns:a16="http://schemas.microsoft.com/office/drawing/2014/main" id="{A159D9A9-DED9-01F9-4CB6-118E2270A5F9}"/>
              </a:ext>
            </a:extLst>
          </p:cNvPr>
          <p:cNvSpPr/>
          <p:nvPr/>
        </p:nvSpPr>
        <p:spPr>
          <a:xfrm>
            <a:off x="3015411" y="2761972"/>
            <a:ext cx="200412" cy="225461"/>
          </a:xfrm>
          <a:prstGeom prst="triangle">
            <a:avLst/>
          </a:prstGeom>
          <a:solidFill>
            <a:schemeClr val="accent6">
              <a:lumMod val="75000"/>
            </a:schemeClr>
          </a:solidFill>
          <a:ln>
            <a:solidFill>
              <a:schemeClr val="accent6">
                <a:lumMod val="7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2" name="Isosceles Triangle 21">
            <a:extLst>
              <a:ext uri="{FF2B5EF4-FFF2-40B4-BE49-F238E27FC236}">
                <a16:creationId xmlns:a16="http://schemas.microsoft.com/office/drawing/2014/main" id="{2E4F3899-797F-24D2-5AFC-63CB4375EE8A}"/>
              </a:ext>
            </a:extLst>
          </p:cNvPr>
          <p:cNvSpPr/>
          <p:nvPr/>
        </p:nvSpPr>
        <p:spPr>
          <a:xfrm>
            <a:off x="3332749" y="2772679"/>
            <a:ext cx="200412" cy="225461"/>
          </a:xfrm>
          <a:prstGeom prst="triangle">
            <a:avLst/>
          </a:prstGeom>
          <a:solidFill>
            <a:schemeClr val="accent6">
              <a:lumMod val="75000"/>
            </a:schemeClr>
          </a:solidFill>
          <a:ln>
            <a:solidFill>
              <a:schemeClr val="accent6">
                <a:lumMod val="7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3" name="Isosceles Triangle 22">
            <a:extLst>
              <a:ext uri="{FF2B5EF4-FFF2-40B4-BE49-F238E27FC236}">
                <a16:creationId xmlns:a16="http://schemas.microsoft.com/office/drawing/2014/main" id="{E56E215B-F0E1-E0E4-2517-38AD3ED53685}"/>
              </a:ext>
            </a:extLst>
          </p:cNvPr>
          <p:cNvSpPr/>
          <p:nvPr/>
        </p:nvSpPr>
        <p:spPr>
          <a:xfrm>
            <a:off x="2879725" y="1966562"/>
            <a:ext cx="200412" cy="225461"/>
          </a:xfrm>
          <a:prstGeom prst="triangle">
            <a:avLst/>
          </a:prstGeom>
          <a:solidFill>
            <a:schemeClr val="accent6">
              <a:lumMod val="75000"/>
            </a:schemeClr>
          </a:solidFill>
          <a:ln>
            <a:solidFill>
              <a:schemeClr val="accent6">
                <a:lumMod val="7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4" name="Isosceles Triangle 23">
            <a:extLst>
              <a:ext uri="{FF2B5EF4-FFF2-40B4-BE49-F238E27FC236}">
                <a16:creationId xmlns:a16="http://schemas.microsoft.com/office/drawing/2014/main" id="{308C2696-BBB2-8260-5056-F64B480F8B0F}"/>
              </a:ext>
            </a:extLst>
          </p:cNvPr>
          <p:cNvSpPr/>
          <p:nvPr/>
        </p:nvSpPr>
        <p:spPr>
          <a:xfrm>
            <a:off x="3027949" y="2130462"/>
            <a:ext cx="208764" cy="202462"/>
          </a:xfrm>
          <a:prstGeom prst="triangle">
            <a:avLst/>
          </a:prstGeom>
          <a:solidFill>
            <a:schemeClr val="accent6">
              <a:lumMod val="75000"/>
            </a:schemeClr>
          </a:solidFill>
          <a:ln>
            <a:solidFill>
              <a:schemeClr val="accent6">
                <a:lumMod val="7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5" name="Isosceles Triangle 24">
            <a:extLst>
              <a:ext uri="{FF2B5EF4-FFF2-40B4-BE49-F238E27FC236}">
                <a16:creationId xmlns:a16="http://schemas.microsoft.com/office/drawing/2014/main" id="{C920030C-B931-0F1C-75CC-F2C6920A659F}"/>
              </a:ext>
            </a:extLst>
          </p:cNvPr>
          <p:cNvSpPr/>
          <p:nvPr/>
        </p:nvSpPr>
        <p:spPr>
          <a:xfrm>
            <a:off x="3027949" y="2130462"/>
            <a:ext cx="208764" cy="202462"/>
          </a:xfrm>
          <a:prstGeom prst="triangle">
            <a:avLst/>
          </a:prstGeom>
          <a:solidFill>
            <a:schemeClr val="accent6">
              <a:lumMod val="75000"/>
            </a:schemeClr>
          </a:solidFill>
          <a:ln>
            <a:solidFill>
              <a:schemeClr val="accent6">
                <a:lumMod val="7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6" name="Isosceles Triangle 25">
            <a:extLst>
              <a:ext uri="{FF2B5EF4-FFF2-40B4-BE49-F238E27FC236}">
                <a16:creationId xmlns:a16="http://schemas.microsoft.com/office/drawing/2014/main" id="{CFB46CDB-5B3E-798C-FCDD-977A7AA4A183}"/>
              </a:ext>
            </a:extLst>
          </p:cNvPr>
          <p:cNvSpPr/>
          <p:nvPr/>
        </p:nvSpPr>
        <p:spPr>
          <a:xfrm>
            <a:off x="3200189" y="3094109"/>
            <a:ext cx="208764" cy="202462"/>
          </a:xfrm>
          <a:prstGeom prst="triangle">
            <a:avLst/>
          </a:prstGeom>
          <a:solidFill>
            <a:schemeClr val="accent6">
              <a:lumMod val="75000"/>
            </a:schemeClr>
          </a:solidFill>
          <a:ln>
            <a:solidFill>
              <a:schemeClr val="accent6">
                <a:lumMod val="7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7" name="Isosceles Triangle 26">
            <a:extLst>
              <a:ext uri="{FF2B5EF4-FFF2-40B4-BE49-F238E27FC236}">
                <a16:creationId xmlns:a16="http://schemas.microsoft.com/office/drawing/2014/main" id="{18A44422-C312-424F-5196-1C3BB2E239C3}"/>
              </a:ext>
            </a:extLst>
          </p:cNvPr>
          <p:cNvSpPr/>
          <p:nvPr/>
        </p:nvSpPr>
        <p:spPr>
          <a:xfrm>
            <a:off x="3332749" y="2435262"/>
            <a:ext cx="208764" cy="202462"/>
          </a:xfrm>
          <a:prstGeom prst="triangle">
            <a:avLst/>
          </a:prstGeom>
          <a:solidFill>
            <a:schemeClr val="accent6">
              <a:lumMod val="75000"/>
            </a:schemeClr>
          </a:solidFill>
          <a:ln>
            <a:solidFill>
              <a:schemeClr val="accent6">
                <a:lumMod val="7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8" name="Isosceles Triangle 27">
            <a:extLst>
              <a:ext uri="{FF2B5EF4-FFF2-40B4-BE49-F238E27FC236}">
                <a16:creationId xmlns:a16="http://schemas.microsoft.com/office/drawing/2014/main" id="{6C513B18-849F-760C-9F9D-7769E8F5BFF1}"/>
              </a:ext>
            </a:extLst>
          </p:cNvPr>
          <p:cNvSpPr/>
          <p:nvPr/>
        </p:nvSpPr>
        <p:spPr>
          <a:xfrm>
            <a:off x="3485149" y="2587662"/>
            <a:ext cx="208764" cy="202462"/>
          </a:xfrm>
          <a:prstGeom prst="triangle">
            <a:avLst/>
          </a:prstGeom>
          <a:solidFill>
            <a:schemeClr val="accent6">
              <a:lumMod val="75000"/>
            </a:schemeClr>
          </a:solidFill>
          <a:ln>
            <a:solidFill>
              <a:schemeClr val="accent6">
                <a:lumMod val="7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9" name="Isosceles Triangle 28">
            <a:extLst>
              <a:ext uri="{FF2B5EF4-FFF2-40B4-BE49-F238E27FC236}">
                <a16:creationId xmlns:a16="http://schemas.microsoft.com/office/drawing/2014/main" id="{B269D4DA-9854-D420-5887-480F7AE5C247}"/>
              </a:ext>
            </a:extLst>
          </p:cNvPr>
          <p:cNvSpPr/>
          <p:nvPr/>
        </p:nvSpPr>
        <p:spPr>
          <a:xfrm>
            <a:off x="3180349" y="1874734"/>
            <a:ext cx="208764" cy="202462"/>
          </a:xfrm>
          <a:prstGeom prst="triangle">
            <a:avLst/>
          </a:prstGeom>
          <a:solidFill>
            <a:schemeClr val="accent6">
              <a:lumMod val="75000"/>
            </a:schemeClr>
          </a:solidFill>
          <a:ln>
            <a:solidFill>
              <a:schemeClr val="accent6">
                <a:lumMod val="7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0" name="Isosceles Triangle 29">
            <a:extLst>
              <a:ext uri="{FF2B5EF4-FFF2-40B4-BE49-F238E27FC236}">
                <a16:creationId xmlns:a16="http://schemas.microsoft.com/office/drawing/2014/main" id="{CED1403C-EE20-D9A2-E569-8FBC925FF2B9}"/>
              </a:ext>
            </a:extLst>
          </p:cNvPr>
          <p:cNvSpPr/>
          <p:nvPr/>
        </p:nvSpPr>
        <p:spPr>
          <a:xfrm>
            <a:off x="3485149" y="1891670"/>
            <a:ext cx="225465" cy="193080"/>
          </a:xfrm>
          <a:prstGeom prst="triangle">
            <a:avLst/>
          </a:prstGeom>
          <a:solidFill>
            <a:schemeClr val="accent6">
              <a:lumMod val="75000"/>
            </a:schemeClr>
          </a:solidFill>
          <a:ln>
            <a:solidFill>
              <a:schemeClr val="accent6">
                <a:lumMod val="7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1" name="Isosceles Triangle 30">
            <a:extLst>
              <a:ext uri="{FF2B5EF4-FFF2-40B4-BE49-F238E27FC236}">
                <a16:creationId xmlns:a16="http://schemas.microsoft.com/office/drawing/2014/main" id="{26CC2173-9A5B-A4A8-3BE0-D64776885384}"/>
              </a:ext>
            </a:extLst>
          </p:cNvPr>
          <p:cNvSpPr/>
          <p:nvPr/>
        </p:nvSpPr>
        <p:spPr>
          <a:xfrm>
            <a:off x="3586403" y="2318382"/>
            <a:ext cx="225465" cy="193080"/>
          </a:xfrm>
          <a:prstGeom prst="triangle">
            <a:avLst/>
          </a:prstGeom>
          <a:solidFill>
            <a:schemeClr val="accent6">
              <a:lumMod val="75000"/>
            </a:schemeClr>
          </a:solidFill>
          <a:ln>
            <a:solidFill>
              <a:schemeClr val="accent6">
                <a:lumMod val="7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2" name="Isosceles Triangle 31">
            <a:extLst>
              <a:ext uri="{FF2B5EF4-FFF2-40B4-BE49-F238E27FC236}">
                <a16:creationId xmlns:a16="http://schemas.microsoft.com/office/drawing/2014/main" id="{A121F83E-9F12-AE5A-7A35-2B661E4D79D0}"/>
              </a:ext>
            </a:extLst>
          </p:cNvPr>
          <p:cNvSpPr/>
          <p:nvPr/>
        </p:nvSpPr>
        <p:spPr>
          <a:xfrm>
            <a:off x="3384937" y="2130462"/>
            <a:ext cx="225465" cy="193080"/>
          </a:xfrm>
          <a:prstGeom prst="triangle">
            <a:avLst/>
          </a:prstGeom>
          <a:solidFill>
            <a:schemeClr val="accent6">
              <a:lumMod val="75000"/>
            </a:schemeClr>
          </a:solidFill>
          <a:ln>
            <a:solidFill>
              <a:schemeClr val="accent6">
                <a:lumMod val="7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mc:AlternateContent xmlns:mc="http://schemas.openxmlformats.org/markup-compatibility/2006" xmlns:a14="http://schemas.microsoft.com/office/drawing/2010/main">
        <mc:Choice Requires="a14">
          <p:sp>
            <p:nvSpPr>
              <p:cNvPr id="33" name="TextBox 32">
                <a:extLst>
                  <a:ext uri="{FF2B5EF4-FFF2-40B4-BE49-F238E27FC236}">
                    <a16:creationId xmlns:a16="http://schemas.microsoft.com/office/drawing/2014/main" id="{2E661070-2DE6-4F59-917B-D7E8437F3C63}"/>
                  </a:ext>
                </a:extLst>
              </p:cNvPr>
              <p:cNvSpPr txBox="1"/>
              <p:nvPr/>
            </p:nvSpPr>
            <p:spPr>
              <a:xfrm>
                <a:off x="2610410" y="4064854"/>
                <a:ext cx="442588" cy="369332"/>
              </a:xfrm>
              <a:prstGeom prst="rect">
                <a:avLst/>
              </a:prstGeom>
              <a:noFill/>
            </p:spPr>
            <p:txBody>
              <a:bodyPr wrap="square">
                <a:spAutoFit/>
              </a:bodyPr>
              <a:lstStyle/>
              <a:p>
                <a:pPr/>
                <a14:m>
                  <m:oMathPara xmlns:m="http://schemas.openxmlformats.org/officeDocument/2006/math">
                    <m:oMath>
                      <m:r>
                        <a:rPr lang="tr-TR" b="0" i="1" smtClean="0">
                          <a:latin typeface="Cambria Math" panose="02040503050406030204" pitchFamily="18" charset="0"/>
                        </a:rPr>
                        <m:t>𝑇𝑢𝑚𝑜𝑟</m:t>
                      </m:r>
                      <m:r>
                        <a:rPr lang="tr-TR" b="0" i="1" smtClean="0">
                          <a:latin typeface="Cambria Math" panose="02040503050406030204" pitchFamily="18" charset="0"/>
                        </a:rPr>
                        <m:t> </m:t>
                      </m:r>
                      <m:r>
                        <a:rPr lang="tr-TR" b="0" i="1" smtClean="0">
                          <a:latin typeface="Cambria Math" panose="02040503050406030204" pitchFamily="18" charset="0"/>
                        </a:rPr>
                        <m:t>𝑠𝑖𝑧𝑒</m:t>
                      </m:r>
                    </m:oMath>
                  </m:oMathPara>
                </a14:m>
                <a:endParaRPr lang="en-US" dirty="0"/>
              </a:p>
            </p:txBody>
          </p:sp>
        </mc:Choice>
        <mc:Fallback xmlns="">
          <p:sp>
            <p:nvSpPr>
              <p:cNvPr id="33" name="TextBox 32">
                <a:extLst>
                  <a:ext uri="{FF2B5EF4-FFF2-40B4-BE49-F238E27FC236}">
                    <a16:creationId xmlns:a16="http://schemas.microsoft.com/office/drawing/2014/main" id="{2E661070-2DE6-4F59-917B-D7E8437F3C63}"/>
                  </a:ext>
                </a:extLst>
              </p:cNvPr>
              <p:cNvSpPr txBox="1">
                <a:spLocks noRot="1" noChangeAspect="1" noMove="1" noResize="1" noEditPoints="1" noAdjustHandles="1" noChangeArrowheads="1" noChangeShapeType="1" noTextEdit="1"/>
              </p:cNvSpPr>
              <p:nvPr/>
            </p:nvSpPr>
            <p:spPr>
              <a:xfrm>
                <a:off x="2610410" y="4064854"/>
                <a:ext cx="442588" cy="369332"/>
              </a:xfrm>
              <a:prstGeom prst="rect">
                <a:avLst/>
              </a:prstGeom>
              <a:blipFill>
                <a:blip r:embed="rId3"/>
                <a:stretch>
                  <a:fillRect r="-198630"/>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34" name="TextBox 33">
                <a:extLst>
                  <a:ext uri="{FF2B5EF4-FFF2-40B4-BE49-F238E27FC236}">
                    <a16:creationId xmlns:a16="http://schemas.microsoft.com/office/drawing/2014/main" id="{3AACE2E5-6DF9-01C1-3DB2-D28DDF2EEC3A}"/>
                  </a:ext>
                </a:extLst>
              </p:cNvPr>
              <p:cNvSpPr txBox="1"/>
              <p:nvPr/>
            </p:nvSpPr>
            <p:spPr>
              <a:xfrm>
                <a:off x="4506285" y="3573245"/>
                <a:ext cx="442588" cy="369332"/>
              </a:xfrm>
              <a:prstGeom prst="rect">
                <a:avLst/>
              </a:prstGeom>
              <a:noFill/>
            </p:spPr>
            <p:txBody>
              <a:bodyPr wrap="square">
                <a:spAutoFit/>
              </a:bodyPr>
              <a:lstStyle/>
              <a:p>
                <a:pPr/>
                <a14:m>
                  <m:oMathPara xmlns:m="http://schemas.openxmlformats.org/officeDocument/2006/math">
                    <m:oMath>
                      <m:sSub>
                        <m:sSubPr>
                          <m:ctrlPr>
                            <a:rPr lang="tr-TR" b="0" i="1" smtClean="0">
                              <a:latin typeface="Cambria Math" panose="02040503050406030204" pitchFamily="18" charset="0"/>
                            </a:rPr>
                          </m:ctrlPr>
                        </m:sSubPr>
                        <m:e>
                          <m:r>
                            <a:rPr lang="tr-TR" b="0" i="1" smtClean="0">
                              <a:latin typeface="Cambria Math" panose="02040503050406030204" pitchFamily="18" charset="0"/>
                            </a:rPr>
                            <m:t>𝑥</m:t>
                          </m:r>
                        </m:e>
                        <m:sub>
                          <m:r>
                            <a:rPr lang="tr-TR" b="0" i="1" smtClean="0">
                              <a:latin typeface="Cambria Math" panose="02040503050406030204" pitchFamily="18" charset="0"/>
                            </a:rPr>
                            <m:t>1</m:t>
                          </m:r>
                        </m:sub>
                      </m:sSub>
                    </m:oMath>
                  </m:oMathPara>
                </a14:m>
                <a:endParaRPr lang="en-US" dirty="0"/>
              </a:p>
            </p:txBody>
          </p:sp>
        </mc:Choice>
        <mc:Fallback xmlns="">
          <p:sp>
            <p:nvSpPr>
              <p:cNvPr id="34" name="TextBox 33">
                <a:extLst>
                  <a:ext uri="{FF2B5EF4-FFF2-40B4-BE49-F238E27FC236}">
                    <a16:creationId xmlns:a16="http://schemas.microsoft.com/office/drawing/2014/main" id="{3AACE2E5-6DF9-01C1-3DB2-D28DDF2EEC3A}"/>
                  </a:ext>
                </a:extLst>
              </p:cNvPr>
              <p:cNvSpPr txBox="1">
                <a:spLocks noRot="1" noChangeAspect="1" noMove="1" noResize="1" noEditPoints="1" noAdjustHandles="1" noChangeArrowheads="1" noChangeShapeType="1" noTextEdit="1"/>
              </p:cNvSpPr>
              <p:nvPr/>
            </p:nvSpPr>
            <p:spPr>
              <a:xfrm>
                <a:off x="4506285" y="3573245"/>
                <a:ext cx="442588" cy="369332"/>
              </a:xfrm>
              <a:prstGeom prst="rect">
                <a:avLst/>
              </a:prstGeom>
              <a:blipFill>
                <a:blip r:embed="rId4"/>
                <a:stretch>
                  <a:fillRect/>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35" name="TextBox 34">
                <a:extLst>
                  <a:ext uri="{FF2B5EF4-FFF2-40B4-BE49-F238E27FC236}">
                    <a16:creationId xmlns:a16="http://schemas.microsoft.com/office/drawing/2014/main" id="{E103BC32-6A15-AE1F-5D64-7D4F1DE919BC}"/>
                  </a:ext>
                </a:extLst>
              </p:cNvPr>
              <p:cNvSpPr txBox="1"/>
              <p:nvPr/>
            </p:nvSpPr>
            <p:spPr>
              <a:xfrm>
                <a:off x="637571" y="1214720"/>
                <a:ext cx="442588" cy="369332"/>
              </a:xfrm>
              <a:prstGeom prst="rect">
                <a:avLst/>
              </a:prstGeom>
              <a:noFill/>
            </p:spPr>
            <p:txBody>
              <a:bodyPr wrap="square">
                <a:spAutoFit/>
              </a:bodyPr>
              <a:lstStyle/>
              <a:p>
                <a:pPr/>
                <a14:m>
                  <m:oMathPara xmlns:m="http://schemas.openxmlformats.org/officeDocument/2006/math">
                    <m:oMath>
                      <m:sSub>
                        <m:sSubPr>
                          <m:ctrlPr>
                            <a:rPr lang="tr-TR" b="0" i="1" smtClean="0">
                              <a:latin typeface="Cambria Math" panose="02040503050406030204" pitchFamily="18" charset="0"/>
                            </a:rPr>
                          </m:ctrlPr>
                        </m:sSubPr>
                        <m:e>
                          <m:r>
                            <a:rPr lang="tr-TR" b="0" i="1" smtClean="0">
                              <a:latin typeface="Cambria Math" panose="02040503050406030204" pitchFamily="18" charset="0"/>
                            </a:rPr>
                            <m:t>𝑥</m:t>
                          </m:r>
                        </m:e>
                        <m:sub>
                          <m:r>
                            <a:rPr lang="tr-TR" b="0" i="1" smtClean="0">
                              <a:latin typeface="Cambria Math" panose="02040503050406030204" pitchFamily="18" charset="0"/>
                            </a:rPr>
                            <m:t>2</m:t>
                          </m:r>
                        </m:sub>
                      </m:sSub>
                    </m:oMath>
                  </m:oMathPara>
                </a14:m>
                <a:endParaRPr lang="en-US" dirty="0"/>
              </a:p>
            </p:txBody>
          </p:sp>
        </mc:Choice>
        <mc:Fallback xmlns="">
          <p:sp>
            <p:nvSpPr>
              <p:cNvPr id="35" name="TextBox 34">
                <a:extLst>
                  <a:ext uri="{FF2B5EF4-FFF2-40B4-BE49-F238E27FC236}">
                    <a16:creationId xmlns:a16="http://schemas.microsoft.com/office/drawing/2014/main" id="{E103BC32-6A15-AE1F-5D64-7D4F1DE919BC}"/>
                  </a:ext>
                </a:extLst>
              </p:cNvPr>
              <p:cNvSpPr txBox="1">
                <a:spLocks noRot="1" noChangeAspect="1" noMove="1" noResize="1" noEditPoints="1" noAdjustHandles="1" noChangeArrowheads="1" noChangeShapeType="1" noTextEdit="1"/>
              </p:cNvSpPr>
              <p:nvPr/>
            </p:nvSpPr>
            <p:spPr>
              <a:xfrm>
                <a:off x="637571" y="1214720"/>
                <a:ext cx="442588" cy="369332"/>
              </a:xfrm>
              <a:prstGeom prst="rect">
                <a:avLst/>
              </a:prstGeom>
              <a:blipFill>
                <a:blip r:embed="rId5"/>
                <a:stretch>
                  <a:fillRect/>
                </a:stretch>
              </a:blipFill>
            </p:spPr>
            <p:txBody>
              <a:bodyPr/>
              <a:lstStyle/>
              <a:p>
                <a:r>
                  <a:rPr lang="en-US">
                    <a:noFill/>
                  </a:rPr>
                  <a:t> </a:t>
                </a:r>
              </a:p>
            </p:txBody>
          </p:sp>
        </mc:Fallback>
      </mc:AlternateContent>
      <p:sp>
        <p:nvSpPr>
          <p:cNvPr id="36" name="Star: 5 Points 35">
            <a:extLst>
              <a:ext uri="{FF2B5EF4-FFF2-40B4-BE49-F238E27FC236}">
                <a16:creationId xmlns:a16="http://schemas.microsoft.com/office/drawing/2014/main" id="{EA216C93-20F0-AEF8-D5EF-BE2EAB9C44AB}"/>
              </a:ext>
            </a:extLst>
          </p:cNvPr>
          <p:cNvSpPr/>
          <p:nvPr/>
        </p:nvSpPr>
        <p:spPr>
          <a:xfrm>
            <a:off x="2351534" y="3103863"/>
            <a:ext cx="288095" cy="328800"/>
          </a:xfrm>
          <a:prstGeom prst="star5">
            <a:avLst/>
          </a:prstGeom>
          <a:solidFill>
            <a:schemeClr val="accent1"/>
          </a:solidFill>
          <a:ln>
            <a:solidFill>
              <a:schemeClr val="accent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7" name="Star: 5 Points 36">
            <a:extLst>
              <a:ext uri="{FF2B5EF4-FFF2-40B4-BE49-F238E27FC236}">
                <a16:creationId xmlns:a16="http://schemas.microsoft.com/office/drawing/2014/main" id="{17613C85-C08A-FFA9-7639-585AD389656E}"/>
              </a:ext>
            </a:extLst>
          </p:cNvPr>
          <p:cNvSpPr/>
          <p:nvPr/>
        </p:nvSpPr>
        <p:spPr>
          <a:xfrm>
            <a:off x="2547105" y="2786572"/>
            <a:ext cx="288095" cy="328800"/>
          </a:xfrm>
          <a:prstGeom prst="star5">
            <a:avLst/>
          </a:prstGeom>
          <a:solidFill>
            <a:schemeClr val="accent1"/>
          </a:solidFill>
          <a:ln>
            <a:solidFill>
              <a:schemeClr val="accent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8" name="Star: 5 Points 37">
            <a:extLst>
              <a:ext uri="{FF2B5EF4-FFF2-40B4-BE49-F238E27FC236}">
                <a16:creationId xmlns:a16="http://schemas.microsoft.com/office/drawing/2014/main" id="{B6A4A938-6BB1-FA94-3DAC-3EB12560A58C}"/>
              </a:ext>
            </a:extLst>
          </p:cNvPr>
          <p:cNvSpPr/>
          <p:nvPr/>
        </p:nvSpPr>
        <p:spPr>
          <a:xfrm>
            <a:off x="2144348" y="2204141"/>
            <a:ext cx="288095" cy="328800"/>
          </a:xfrm>
          <a:prstGeom prst="star5">
            <a:avLst/>
          </a:prstGeom>
          <a:solidFill>
            <a:schemeClr val="accent1"/>
          </a:solidFill>
          <a:ln>
            <a:solidFill>
              <a:schemeClr val="accent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mc:AlternateContent xmlns:mc="http://schemas.openxmlformats.org/markup-compatibility/2006" xmlns:p14="http://schemas.microsoft.com/office/powerpoint/2010/main">
        <mc:Choice Requires="p14">
          <p:contentPart p14:bwMode="auto" r:id="rId6">
            <p14:nvContentPartPr>
              <p14:cNvPr id="40" name="Ink 39">
                <a:extLst>
                  <a:ext uri="{FF2B5EF4-FFF2-40B4-BE49-F238E27FC236}">
                    <a16:creationId xmlns:a16="http://schemas.microsoft.com/office/drawing/2014/main" id="{1DCCFFD1-1846-E89B-5BD8-FC99C09D3779}"/>
                  </a:ext>
                </a:extLst>
              </p14:cNvPr>
              <p14:cNvContentPartPr/>
              <p14:nvPr/>
            </p14:nvContentPartPr>
            <p14:xfrm>
              <a:off x="1385853" y="1595599"/>
              <a:ext cx="1784880" cy="2070720"/>
            </p14:xfrm>
          </p:contentPart>
        </mc:Choice>
        <mc:Fallback xmlns="">
          <p:pic>
            <p:nvPicPr>
              <p:cNvPr id="40" name="Ink 39">
                <a:extLst>
                  <a:ext uri="{FF2B5EF4-FFF2-40B4-BE49-F238E27FC236}">
                    <a16:creationId xmlns:a16="http://schemas.microsoft.com/office/drawing/2014/main" id="{1DCCFFD1-1846-E89B-5BD8-FC99C09D3779}"/>
                  </a:ext>
                </a:extLst>
              </p:cNvPr>
              <p:cNvPicPr/>
              <p:nvPr/>
            </p:nvPicPr>
            <p:blipFill>
              <a:blip r:embed="rId7"/>
              <a:stretch>
                <a:fillRect/>
              </a:stretch>
            </p:blipFill>
            <p:spPr>
              <a:xfrm>
                <a:off x="1367853" y="1577959"/>
                <a:ext cx="1820520" cy="2106360"/>
              </a:xfrm>
              <a:prstGeom prst="rect">
                <a:avLst/>
              </a:prstGeom>
            </p:spPr>
          </p:pic>
        </mc:Fallback>
      </mc:AlternateContent>
      <p:cxnSp>
        <p:nvCxnSpPr>
          <p:cNvPr id="45" name="Straight Arrow Connector 44">
            <a:extLst>
              <a:ext uri="{FF2B5EF4-FFF2-40B4-BE49-F238E27FC236}">
                <a16:creationId xmlns:a16="http://schemas.microsoft.com/office/drawing/2014/main" id="{80F2C4FA-40B4-5954-03F7-A836DCC8ECFC}"/>
              </a:ext>
            </a:extLst>
          </p:cNvPr>
          <p:cNvCxnSpPr>
            <a:cxnSpLocks/>
          </p:cNvCxnSpPr>
          <p:nvPr/>
        </p:nvCxnSpPr>
        <p:spPr>
          <a:xfrm flipV="1">
            <a:off x="6974945" y="1313134"/>
            <a:ext cx="0" cy="2774516"/>
          </a:xfrm>
          <a:prstGeom prst="straightConnector1">
            <a:avLst/>
          </a:prstGeom>
          <a:ln w="38100">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46" name="Straight Arrow Connector 45">
            <a:extLst>
              <a:ext uri="{FF2B5EF4-FFF2-40B4-BE49-F238E27FC236}">
                <a16:creationId xmlns:a16="http://schemas.microsoft.com/office/drawing/2014/main" id="{A8D4F86A-DFB6-88CA-289B-9160843012E1}"/>
              </a:ext>
            </a:extLst>
          </p:cNvPr>
          <p:cNvCxnSpPr>
            <a:cxnSpLocks/>
          </p:cNvCxnSpPr>
          <p:nvPr/>
        </p:nvCxnSpPr>
        <p:spPr>
          <a:xfrm>
            <a:off x="6720250" y="3707694"/>
            <a:ext cx="3511464" cy="0"/>
          </a:xfrm>
          <a:prstGeom prst="straightConnector1">
            <a:avLst/>
          </a:prstGeom>
          <a:ln w="38100">
            <a:solidFill>
              <a:schemeClr val="tx1"/>
            </a:solidFill>
            <a:tailEnd type="triangle"/>
          </a:ln>
        </p:spPr>
        <p:style>
          <a:lnRef idx="1">
            <a:schemeClr val="accent1"/>
          </a:lnRef>
          <a:fillRef idx="0">
            <a:schemeClr val="accent1"/>
          </a:fillRef>
          <a:effectRef idx="0">
            <a:schemeClr val="accent1"/>
          </a:effectRef>
          <a:fontRef idx="minor">
            <a:schemeClr val="tx1"/>
          </a:fontRef>
        </p:style>
      </p:cxnSp>
      <p:sp>
        <p:nvSpPr>
          <p:cNvPr id="53" name="Isosceles Triangle 52">
            <a:extLst>
              <a:ext uri="{FF2B5EF4-FFF2-40B4-BE49-F238E27FC236}">
                <a16:creationId xmlns:a16="http://schemas.microsoft.com/office/drawing/2014/main" id="{FF61F282-F127-D970-6444-9448ED12EE5B}"/>
              </a:ext>
            </a:extLst>
          </p:cNvPr>
          <p:cNvSpPr/>
          <p:nvPr/>
        </p:nvSpPr>
        <p:spPr>
          <a:xfrm>
            <a:off x="8527128" y="2197156"/>
            <a:ext cx="200412" cy="225461"/>
          </a:xfrm>
          <a:prstGeom prst="triangle">
            <a:avLst/>
          </a:prstGeom>
          <a:solidFill>
            <a:schemeClr val="accent6">
              <a:lumMod val="75000"/>
            </a:schemeClr>
          </a:solidFill>
          <a:ln>
            <a:solidFill>
              <a:schemeClr val="accent6">
                <a:lumMod val="7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4" name="Isosceles Triangle 53">
            <a:extLst>
              <a:ext uri="{FF2B5EF4-FFF2-40B4-BE49-F238E27FC236}">
                <a16:creationId xmlns:a16="http://schemas.microsoft.com/office/drawing/2014/main" id="{F94CE760-E1FF-15D8-509A-59CDBE97181F}"/>
              </a:ext>
            </a:extLst>
          </p:cNvPr>
          <p:cNvSpPr/>
          <p:nvPr/>
        </p:nvSpPr>
        <p:spPr>
          <a:xfrm>
            <a:off x="8668049" y="2424714"/>
            <a:ext cx="200412" cy="225461"/>
          </a:xfrm>
          <a:prstGeom prst="triangle">
            <a:avLst/>
          </a:prstGeom>
          <a:solidFill>
            <a:schemeClr val="accent6">
              <a:lumMod val="75000"/>
            </a:schemeClr>
          </a:solidFill>
          <a:ln>
            <a:solidFill>
              <a:schemeClr val="accent6">
                <a:lumMod val="7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5" name="Isosceles Triangle 54">
            <a:extLst>
              <a:ext uri="{FF2B5EF4-FFF2-40B4-BE49-F238E27FC236}">
                <a16:creationId xmlns:a16="http://schemas.microsoft.com/office/drawing/2014/main" id="{F8B08FEF-F9A7-3190-9815-EAC706B13422}"/>
              </a:ext>
            </a:extLst>
          </p:cNvPr>
          <p:cNvSpPr/>
          <p:nvPr/>
        </p:nvSpPr>
        <p:spPr>
          <a:xfrm>
            <a:off x="8765104" y="2711755"/>
            <a:ext cx="200412" cy="225461"/>
          </a:xfrm>
          <a:prstGeom prst="triangle">
            <a:avLst/>
          </a:prstGeom>
          <a:solidFill>
            <a:schemeClr val="accent6">
              <a:lumMod val="75000"/>
            </a:schemeClr>
          </a:solidFill>
          <a:ln>
            <a:solidFill>
              <a:schemeClr val="accent6">
                <a:lumMod val="7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6" name="Isosceles Triangle 55">
            <a:extLst>
              <a:ext uri="{FF2B5EF4-FFF2-40B4-BE49-F238E27FC236}">
                <a16:creationId xmlns:a16="http://schemas.microsoft.com/office/drawing/2014/main" id="{96FC752A-05DD-AF1F-904E-976F587C2D3F}"/>
              </a:ext>
            </a:extLst>
          </p:cNvPr>
          <p:cNvSpPr/>
          <p:nvPr/>
        </p:nvSpPr>
        <p:spPr>
          <a:xfrm>
            <a:off x="9082442" y="2722462"/>
            <a:ext cx="200412" cy="225461"/>
          </a:xfrm>
          <a:prstGeom prst="triangle">
            <a:avLst/>
          </a:prstGeom>
          <a:solidFill>
            <a:schemeClr val="accent6">
              <a:lumMod val="75000"/>
            </a:schemeClr>
          </a:solidFill>
          <a:ln>
            <a:solidFill>
              <a:schemeClr val="accent6">
                <a:lumMod val="7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7" name="Isosceles Triangle 56">
            <a:extLst>
              <a:ext uri="{FF2B5EF4-FFF2-40B4-BE49-F238E27FC236}">
                <a16:creationId xmlns:a16="http://schemas.microsoft.com/office/drawing/2014/main" id="{F2A89D05-4D71-B3E8-FEA9-ED164C7D3467}"/>
              </a:ext>
            </a:extLst>
          </p:cNvPr>
          <p:cNvSpPr/>
          <p:nvPr/>
        </p:nvSpPr>
        <p:spPr>
          <a:xfrm>
            <a:off x="8629418" y="1916345"/>
            <a:ext cx="200412" cy="225461"/>
          </a:xfrm>
          <a:prstGeom prst="triangle">
            <a:avLst/>
          </a:prstGeom>
          <a:solidFill>
            <a:schemeClr val="accent6">
              <a:lumMod val="75000"/>
            </a:schemeClr>
          </a:solidFill>
          <a:ln>
            <a:solidFill>
              <a:schemeClr val="accent6">
                <a:lumMod val="7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8" name="Isosceles Triangle 57">
            <a:extLst>
              <a:ext uri="{FF2B5EF4-FFF2-40B4-BE49-F238E27FC236}">
                <a16:creationId xmlns:a16="http://schemas.microsoft.com/office/drawing/2014/main" id="{966B656E-CE18-3FE1-2377-3F8BD13046AF}"/>
              </a:ext>
            </a:extLst>
          </p:cNvPr>
          <p:cNvSpPr/>
          <p:nvPr/>
        </p:nvSpPr>
        <p:spPr>
          <a:xfrm>
            <a:off x="8777642" y="2080245"/>
            <a:ext cx="208764" cy="202462"/>
          </a:xfrm>
          <a:prstGeom prst="triangle">
            <a:avLst/>
          </a:prstGeom>
          <a:solidFill>
            <a:schemeClr val="accent6">
              <a:lumMod val="75000"/>
            </a:schemeClr>
          </a:solidFill>
          <a:ln>
            <a:solidFill>
              <a:schemeClr val="accent6">
                <a:lumMod val="7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9" name="Isosceles Triangle 58">
            <a:extLst>
              <a:ext uri="{FF2B5EF4-FFF2-40B4-BE49-F238E27FC236}">
                <a16:creationId xmlns:a16="http://schemas.microsoft.com/office/drawing/2014/main" id="{3F5AA6DE-F822-C5C0-227B-B2BC411C9D9C}"/>
              </a:ext>
            </a:extLst>
          </p:cNvPr>
          <p:cNvSpPr/>
          <p:nvPr/>
        </p:nvSpPr>
        <p:spPr>
          <a:xfrm>
            <a:off x="8777642" y="2080245"/>
            <a:ext cx="208764" cy="202462"/>
          </a:xfrm>
          <a:prstGeom prst="triangle">
            <a:avLst/>
          </a:prstGeom>
          <a:solidFill>
            <a:schemeClr val="accent6">
              <a:lumMod val="75000"/>
            </a:schemeClr>
          </a:solidFill>
          <a:ln>
            <a:solidFill>
              <a:schemeClr val="accent6">
                <a:lumMod val="7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1" name="Isosceles Triangle 60">
            <a:extLst>
              <a:ext uri="{FF2B5EF4-FFF2-40B4-BE49-F238E27FC236}">
                <a16:creationId xmlns:a16="http://schemas.microsoft.com/office/drawing/2014/main" id="{ED480C2F-3287-966D-3537-F77AF9B0DFC2}"/>
              </a:ext>
            </a:extLst>
          </p:cNvPr>
          <p:cNvSpPr/>
          <p:nvPr/>
        </p:nvSpPr>
        <p:spPr>
          <a:xfrm>
            <a:off x="9082442" y="2385045"/>
            <a:ext cx="208764" cy="202462"/>
          </a:xfrm>
          <a:prstGeom prst="triangle">
            <a:avLst/>
          </a:prstGeom>
          <a:solidFill>
            <a:schemeClr val="accent6">
              <a:lumMod val="75000"/>
            </a:schemeClr>
          </a:solidFill>
          <a:ln>
            <a:solidFill>
              <a:schemeClr val="accent6">
                <a:lumMod val="7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2" name="Isosceles Triangle 61">
            <a:extLst>
              <a:ext uri="{FF2B5EF4-FFF2-40B4-BE49-F238E27FC236}">
                <a16:creationId xmlns:a16="http://schemas.microsoft.com/office/drawing/2014/main" id="{22DDE3C0-CDAB-5BF5-0103-926E90798DF4}"/>
              </a:ext>
            </a:extLst>
          </p:cNvPr>
          <p:cNvSpPr/>
          <p:nvPr/>
        </p:nvSpPr>
        <p:spPr>
          <a:xfrm>
            <a:off x="9234842" y="2537445"/>
            <a:ext cx="208764" cy="202462"/>
          </a:xfrm>
          <a:prstGeom prst="triangle">
            <a:avLst/>
          </a:prstGeom>
          <a:solidFill>
            <a:schemeClr val="accent6">
              <a:lumMod val="75000"/>
            </a:schemeClr>
          </a:solidFill>
          <a:ln>
            <a:solidFill>
              <a:schemeClr val="accent6">
                <a:lumMod val="7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3" name="Isosceles Triangle 62">
            <a:extLst>
              <a:ext uri="{FF2B5EF4-FFF2-40B4-BE49-F238E27FC236}">
                <a16:creationId xmlns:a16="http://schemas.microsoft.com/office/drawing/2014/main" id="{3A6BB766-F175-E4FF-9057-7BB90837E6C7}"/>
              </a:ext>
            </a:extLst>
          </p:cNvPr>
          <p:cNvSpPr/>
          <p:nvPr/>
        </p:nvSpPr>
        <p:spPr>
          <a:xfrm>
            <a:off x="8930042" y="1824517"/>
            <a:ext cx="208764" cy="202462"/>
          </a:xfrm>
          <a:prstGeom prst="triangle">
            <a:avLst/>
          </a:prstGeom>
          <a:solidFill>
            <a:schemeClr val="accent6">
              <a:lumMod val="75000"/>
            </a:schemeClr>
          </a:solidFill>
          <a:ln>
            <a:solidFill>
              <a:schemeClr val="accent6">
                <a:lumMod val="7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4" name="Isosceles Triangle 63">
            <a:extLst>
              <a:ext uri="{FF2B5EF4-FFF2-40B4-BE49-F238E27FC236}">
                <a16:creationId xmlns:a16="http://schemas.microsoft.com/office/drawing/2014/main" id="{DDD01C0C-67D6-D3A7-DE47-1F9F010D4C61}"/>
              </a:ext>
            </a:extLst>
          </p:cNvPr>
          <p:cNvSpPr/>
          <p:nvPr/>
        </p:nvSpPr>
        <p:spPr>
          <a:xfrm>
            <a:off x="9234842" y="1841453"/>
            <a:ext cx="225465" cy="193080"/>
          </a:xfrm>
          <a:prstGeom prst="triangle">
            <a:avLst/>
          </a:prstGeom>
          <a:solidFill>
            <a:schemeClr val="accent6">
              <a:lumMod val="75000"/>
            </a:schemeClr>
          </a:solidFill>
          <a:ln>
            <a:solidFill>
              <a:schemeClr val="accent6">
                <a:lumMod val="7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5" name="Isosceles Triangle 64">
            <a:extLst>
              <a:ext uri="{FF2B5EF4-FFF2-40B4-BE49-F238E27FC236}">
                <a16:creationId xmlns:a16="http://schemas.microsoft.com/office/drawing/2014/main" id="{43E62AF9-0880-1091-A761-66890034991D}"/>
              </a:ext>
            </a:extLst>
          </p:cNvPr>
          <p:cNvSpPr/>
          <p:nvPr/>
        </p:nvSpPr>
        <p:spPr>
          <a:xfrm>
            <a:off x="9336096" y="2268165"/>
            <a:ext cx="225465" cy="193080"/>
          </a:xfrm>
          <a:prstGeom prst="triangle">
            <a:avLst/>
          </a:prstGeom>
          <a:solidFill>
            <a:schemeClr val="accent6">
              <a:lumMod val="75000"/>
            </a:schemeClr>
          </a:solidFill>
          <a:ln>
            <a:solidFill>
              <a:schemeClr val="accent6">
                <a:lumMod val="7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6" name="Isosceles Triangle 65">
            <a:extLst>
              <a:ext uri="{FF2B5EF4-FFF2-40B4-BE49-F238E27FC236}">
                <a16:creationId xmlns:a16="http://schemas.microsoft.com/office/drawing/2014/main" id="{DC0C8381-0D95-1917-5824-7A4EF2E434FC}"/>
              </a:ext>
            </a:extLst>
          </p:cNvPr>
          <p:cNvSpPr/>
          <p:nvPr/>
        </p:nvSpPr>
        <p:spPr>
          <a:xfrm>
            <a:off x="9134630" y="2080245"/>
            <a:ext cx="225465" cy="193080"/>
          </a:xfrm>
          <a:prstGeom prst="triangle">
            <a:avLst/>
          </a:prstGeom>
          <a:solidFill>
            <a:schemeClr val="accent6">
              <a:lumMod val="75000"/>
            </a:schemeClr>
          </a:solidFill>
          <a:ln>
            <a:solidFill>
              <a:schemeClr val="accent6">
                <a:lumMod val="7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mc:AlternateContent xmlns:mc="http://schemas.openxmlformats.org/markup-compatibility/2006" xmlns:a14="http://schemas.microsoft.com/office/drawing/2010/main">
        <mc:Choice Requires="a14">
          <p:sp>
            <p:nvSpPr>
              <p:cNvPr id="67" name="TextBox 66">
                <a:extLst>
                  <a:ext uri="{FF2B5EF4-FFF2-40B4-BE49-F238E27FC236}">
                    <a16:creationId xmlns:a16="http://schemas.microsoft.com/office/drawing/2014/main" id="{A81E259A-34AF-ADC7-76D7-8FFDD2506FDD}"/>
                  </a:ext>
                </a:extLst>
              </p:cNvPr>
              <p:cNvSpPr txBox="1"/>
              <p:nvPr/>
            </p:nvSpPr>
            <p:spPr>
              <a:xfrm>
                <a:off x="8360103" y="4014637"/>
                <a:ext cx="442588" cy="369332"/>
              </a:xfrm>
              <a:prstGeom prst="rect">
                <a:avLst/>
              </a:prstGeom>
              <a:noFill/>
            </p:spPr>
            <p:txBody>
              <a:bodyPr wrap="square">
                <a:spAutoFit/>
              </a:bodyPr>
              <a:lstStyle/>
              <a:p>
                <a:pPr/>
                <a14:m>
                  <m:oMathPara xmlns:m="http://schemas.openxmlformats.org/officeDocument/2006/math">
                    <m:oMath>
                      <m:r>
                        <a:rPr lang="tr-TR" b="0" i="1" smtClean="0">
                          <a:latin typeface="Cambria Math" panose="02040503050406030204" pitchFamily="18" charset="0"/>
                        </a:rPr>
                        <m:t>𝑇𝑢𝑚𝑜𝑟</m:t>
                      </m:r>
                      <m:r>
                        <a:rPr lang="tr-TR" b="0" i="1" smtClean="0">
                          <a:latin typeface="Cambria Math" panose="02040503050406030204" pitchFamily="18" charset="0"/>
                        </a:rPr>
                        <m:t> </m:t>
                      </m:r>
                      <m:r>
                        <a:rPr lang="tr-TR" b="0" i="1" smtClean="0">
                          <a:latin typeface="Cambria Math" panose="02040503050406030204" pitchFamily="18" charset="0"/>
                        </a:rPr>
                        <m:t>𝑠𝑖𝑧𝑒</m:t>
                      </m:r>
                    </m:oMath>
                  </m:oMathPara>
                </a14:m>
                <a:endParaRPr lang="en-US" dirty="0"/>
              </a:p>
            </p:txBody>
          </p:sp>
        </mc:Choice>
        <mc:Fallback xmlns="">
          <p:sp>
            <p:nvSpPr>
              <p:cNvPr id="67" name="TextBox 66">
                <a:extLst>
                  <a:ext uri="{FF2B5EF4-FFF2-40B4-BE49-F238E27FC236}">
                    <a16:creationId xmlns:a16="http://schemas.microsoft.com/office/drawing/2014/main" id="{A81E259A-34AF-ADC7-76D7-8FFDD2506FDD}"/>
                  </a:ext>
                </a:extLst>
              </p:cNvPr>
              <p:cNvSpPr txBox="1">
                <a:spLocks noRot="1" noChangeAspect="1" noMove="1" noResize="1" noEditPoints="1" noAdjustHandles="1" noChangeArrowheads="1" noChangeShapeType="1" noTextEdit="1"/>
              </p:cNvSpPr>
              <p:nvPr/>
            </p:nvSpPr>
            <p:spPr>
              <a:xfrm>
                <a:off x="8360103" y="4014637"/>
                <a:ext cx="442588" cy="369332"/>
              </a:xfrm>
              <a:prstGeom prst="rect">
                <a:avLst/>
              </a:prstGeom>
              <a:blipFill>
                <a:blip r:embed="rId8"/>
                <a:stretch>
                  <a:fillRect r="-198630"/>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68" name="TextBox 67">
                <a:extLst>
                  <a:ext uri="{FF2B5EF4-FFF2-40B4-BE49-F238E27FC236}">
                    <a16:creationId xmlns:a16="http://schemas.microsoft.com/office/drawing/2014/main" id="{A2EC68C3-EE38-7FCD-77E4-83D705DBD2E9}"/>
                  </a:ext>
                </a:extLst>
              </p:cNvPr>
              <p:cNvSpPr txBox="1"/>
              <p:nvPr/>
            </p:nvSpPr>
            <p:spPr>
              <a:xfrm>
                <a:off x="10255978" y="3523028"/>
                <a:ext cx="442588" cy="369332"/>
              </a:xfrm>
              <a:prstGeom prst="rect">
                <a:avLst/>
              </a:prstGeom>
              <a:noFill/>
            </p:spPr>
            <p:txBody>
              <a:bodyPr wrap="square">
                <a:spAutoFit/>
              </a:bodyPr>
              <a:lstStyle/>
              <a:p>
                <a:pPr/>
                <a14:m>
                  <m:oMathPara xmlns:m="http://schemas.openxmlformats.org/officeDocument/2006/math">
                    <m:oMath>
                      <m:sSub>
                        <m:sSubPr>
                          <m:ctrlPr>
                            <a:rPr lang="tr-TR" b="0" i="1" smtClean="0">
                              <a:latin typeface="Cambria Math" panose="02040503050406030204" pitchFamily="18" charset="0"/>
                            </a:rPr>
                          </m:ctrlPr>
                        </m:sSubPr>
                        <m:e>
                          <m:r>
                            <a:rPr lang="tr-TR" b="0" i="1" smtClean="0">
                              <a:latin typeface="Cambria Math" panose="02040503050406030204" pitchFamily="18" charset="0"/>
                            </a:rPr>
                            <m:t>𝑥</m:t>
                          </m:r>
                        </m:e>
                        <m:sub>
                          <m:r>
                            <a:rPr lang="tr-TR" b="0" i="1" smtClean="0">
                              <a:latin typeface="Cambria Math" panose="02040503050406030204" pitchFamily="18" charset="0"/>
                            </a:rPr>
                            <m:t>1</m:t>
                          </m:r>
                        </m:sub>
                      </m:sSub>
                    </m:oMath>
                  </m:oMathPara>
                </a14:m>
                <a:endParaRPr lang="en-US" dirty="0"/>
              </a:p>
            </p:txBody>
          </p:sp>
        </mc:Choice>
        <mc:Fallback xmlns="">
          <p:sp>
            <p:nvSpPr>
              <p:cNvPr id="68" name="TextBox 67">
                <a:extLst>
                  <a:ext uri="{FF2B5EF4-FFF2-40B4-BE49-F238E27FC236}">
                    <a16:creationId xmlns:a16="http://schemas.microsoft.com/office/drawing/2014/main" id="{A2EC68C3-EE38-7FCD-77E4-83D705DBD2E9}"/>
                  </a:ext>
                </a:extLst>
              </p:cNvPr>
              <p:cNvSpPr txBox="1">
                <a:spLocks noRot="1" noChangeAspect="1" noMove="1" noResize="1" noEditPoints="1" noAdjustHandles="1" noChangeArrowheads="1" noChangeShapeType="1" noTextEdit="1"/>
              </p:cNvSpPr>
              <p:nvPr/>
            </p:nvSpPr>
            <p:spPr>
              <a:xfrm>
                <a:off x="10255978" y="3523028"/>
                <a:ext cx="442588" cy="369332"/>
              </a:xfrm>
              <a:prstGeom prst="rect">
                <a:avLst/>
              </a:prstGeom>
              <a:blipFill>
                <a:blip r:embed="rId9"/>
                <a:stretch>
                  <a:fillRect/>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69" name="TextBox 68">
                <a:extLst>
                  <a:ext uri="{FF2B5EF4-FFF2-40B4-BE49-F238E27FC236}">
                    <a16:creationId xmlns:a16="http://schemas.microsoft.com/office/drawing/2014/main" id="{818DDE43-507F-FF74-6F2E-4D31854F6873}"/>
                  </a:ext>
                </a:extLst>
              </p:cNvPr>
              <p:cNvSpPr txBox="1"/>
              <p:nvPr/>
            </p:nvSpPr>
            <p:spPr>
              <a:xfrm>
                <a:off x="6387264" y="1164503"/>
                <a:ext cx="442588" cy="369332"/>
              </a:xfrm>
              <a:prstGeom prst="rect">
                <a:avLst/>
              </a:prstGeom>
              <a:noFill/>
            </p:spPr>
            <p:txBody>
              <a:bodyPr wrap="square">
                <a:spAutoFit/>
              </a:bodyPr>
              <a:lstStyle/>
              <a:p>
                <a:pPr/>
                <a14:m>
                  <m:oMathPara xmlns:m="http://schemas.openxmlformats.org/officeDocument/2006/math">
                    <m:oMath>
                      <m:sSub>
                        <m:sSubPr>
                          <m:ctrlPr>
                            <a:rPr lang="tr-TR" b="0" i="1" smtClean="0">
                              <a:latin typeface="Cambria Math" panose="02040503050406030204" pitchFamily="18" charset="0"/>
                            </a:rPr>
                          </m:ctrlPr>
                        </m:sSubPr>
                        <m:e>
                          <m:r>
                            <a:rPr lang="tr-TR" b="0" i="1" smtClean="0">
                              <a:latin typeface="Cambria Math" panose="02040503050406030204" pitchFamily="18" charset="0"/>
                            </a:rPr>
                            <m:t>𝑥</m:t>
                          </m:r>
                        </m:e>
                        <m:sub>
                          <m:r>
                            <a:rPr lang="tr-TR" b="0" i="1" smtClean="0">
                              <a:latin typeface="Cambria Math" panose="02040503050406030204" pitchFamily="18" charset="0"/>
                            </a:rPr>
                            <m:t>2</m:t>
                          </m:r>
                        </m:sub>
                      </m:sSub>
                    </m:oMath>
                  </m:oMathPara>
                </a14:m>
                <a:endParaRPr lang="en-US" dirty="0"/>
              </a:p>
            </p:txBody>
          </p:sp>
        </mc:Choice>
        <mc:Fallback xmlns="">
          <p:sp>
            <p:nvSpPr>
              <p:cNvPr id="69" name="TextBox 68">
                <a:extLst>
                  <a:ext uri="{FF2B5EF4-FFF2-40B4-BE49-F238E27FC236}">
                    <a16:creationId xmlns:a16="http://schemas.microsoft.com/office/drawing/2014/main" id="{818DDE43-507F-FF74-6F2E-4D31854F6873}"/>
                  </a:ext>
                </a:extLst>
              </p:cNvPr>
              <p:cNvSpPr txBox="1">
                <a:spLocks noRot="1" noChangeAspect="1" noMove="1" noResize="1" noEditPoints="1" noAdjustHandles="1" noChangeArrowheads="1" noChangeShapeType="1" noTextEdit="1"/>
              </p:cNvSpPr>
              <p:nvPr/>
            </p:nvSpPr>
            <p:spPr>
              <a:xfrm>
                <a:off x="6387264" y="1164503"/>
                <a:ext cx="442588" cy="369332"/>
              </a:xfrm>
              <a:prstGeom prst="rect">
                <a:avLst/>
              </a:prstGeom>
              <a:blipFill>
                <a:blip r:embed="rId10"/>
                <a:stretch>
                  <a:fillRect/>
                </a:stretch>
              </a:blipFill>
            </p:spPr>
            <p:txBody>
              <a:bodyPr/>
              <a:lstStyle/>
              <a:p>
                <a:r>
                  <a:rPr lang="en-US">
                    <a:noFill/>
                  </a:rPr>
                  <a:t> </a:t>
                </a:r>
              </a:p>
            </p:txBody>
          </p:sp>
        </mc:Fallback>
      </mc:AlternateContent>
      <p:sp>
        <p:nvSpPr>
          <p:cNvPr id="75" name="Isosceles Triangle 74">
            <a:extLst>
              <a:ext uri="{FF2B5EF4-FFF2-40B4-BE49-F238E27FC236}">
                <a16:creationId xmlns:a16="http://schemas.microsoft.com/office/drawing/2014/main" id="{57579D96-78E4-A7C9-5A8F-730CCBE219F5}"/>
              </a:ext>
            </a:extLst>
          </p:cNvPr>
          <p:cNvSpPr/>
          <p:nvPr/>
        </p:nvSpPr>
        <p:spPr>
          <a:xfrm>
            <a:off x="7181631" y="2848466"/>
            <a:ext cx="200412" cy="225461"/>
          </a:xfrm>
          <a:prstGeom prst="triangle">
            <a:avLst/>
          </a:prstGeom>
          <a:solidFill>
            <a:schemeClr val="accent6">
              <a:lumMod val="75000"/>
            </a:schemeClr>
          </a:solidFill>
          <a:ln>
            <a:solidFill>
              <a:schemeClr val="accent6">
                <a:lumMod val="7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6" name="Isosceles Triangle 75">
            <a:extLst>
              <a:ext uri="{FF2B5EF4-FFF2-40B4-BE49-F238E27FC236}">
                <a16:creationId xmlns:a16="http://schemas.microsoft.com/office/drawing/2014/main" id="{993908FB-39B4-4566-23F5-D7C9008DA6F5}"/>
              </a:ext>
            </a:extLst>
          </p:cNvPr>
          <p:cNvSpPr/>
          <p:nvPr/>
        </p:nvSpPr>
        <p:spPr>
          <a:xfrm>
            <a:off x="7322552" y="3076024"/>
            <a:ext cx="200412" cy="225461"/>
          </a:xfrm>
          <a:prstGeom prst="triangle">
            <a:avLst/>
          </a:prstGeom>
          <a:solidFill>
            <a:schemeClr val="accent6">
              <a:lumMod val="75000"/>
            </a:schemeClr>
          </a:solidFill>
          <a:ln>
            <a:solidFill>
              <a:schemeClr val="accent6">
                <a:lumMod val="7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7" name="Isosceles Triangle 76">
            <a:extLst>
              <a:ext uri="{FF2B5EF4-FFF2-40B4-BE49-F238E27FC236}">
                <a16:creationId xmlns:a16="http://schemas.microsoft.com/office/drawing/2014/main" id="{56D3E07A-FB86-7D9D-6F8E-BEAB385E5CA4}"/>
              </a:ext>
            </a:extLst>
          </p:cNvPr>
          <p:cNvSpPr/>
          <p:nvPr/>
        </p:nvSpPr>
        <p:spPr>
          <a:xfrm>
            <a:off x="7419607" y="3363065"/>
            <a:ext cx="200412" cy="225461"/>
          </a:xfrm>
          <a:prstGeom prst="triangle">
            <a:avLst/>
          </a:prstGeom>
          <a:solidFill>
            <a:schemeClr val="accent6">
              <a:lumMod val="75000"/>
            </a:schemeClr>
          </a:solidFill>
          <a:ln>
            <a:solidFill>
              <a:schemeClr val="accent6">
                <a:lumMod val="7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8" name="Isosceles Triangle 77">
            <a:extLst>
              <a:ext uri="{FF2B5EF4-FFF2-40B4-BE49-F238E27FC236}">
                <a16:creationId xmlns:a16="http://schemas.microsoft.com/office/drawing/2014/main" id="{246D4318-561E-7E3B-D6EE-AD0E4F5069FF}"/>
              </a:ext>
            </a:extLst>
          </p:cNvPr>
          <p:cNvSpPr/>
          <p:nvPr/>
        </p:nvSpPr>
        <p:spPr>
          <a:xfrm>
            <a:off x="7736945" y="3373772"/>
            <a:ext cx="200412" cy="225461"/>
          </a:xfrm>
          <a:prstGeom prst="triangle">
            <a:avLst/>
          </a:prstGeom>
          <a:solidFill>
            <a:schemeClr val="accent6">
              <a:lumMod val="75000"/>
            </a:schemeClr>
          </a:solidFill>
          <a:ln>
            <a:solidFill>
              <a:schemeClr val="accent6">
                <a:lumMod val="7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9" name="Isosceles Triangle 78">
            <a:extLst>
              <a:ext uri="{FF2B5EF4-FFF2-40B4-BE49-F238E27FC236}">
                <a16:creationId xmlns:a16="http://schemas.microsoft.com/office/drawing/2014/main" id="{E4150311-081E-7368-C101-85B627BE84EE}"/>
              </a:ext>
            </a:extLst>
          </p:cNvPr>
          <p:cNvSpPr/>
          <p:nvPr/>
        </p:nvSpPr>
        <p:spPr>
          <a:xfrm>
            <a:off x="7283921" y="2567655"/>
            <a:ext cx="200412" cy="225461"/>
          </a:xfrm>
          <a:prstGeom prst="triangle">
            <a:avLst/>
          </a:prstGeom>
          <a:solidFill>
            <a:schemeClr val="accent6">
              <a:lumMod val="75000"/>
            </a:schemeClr>
          </a:solidFill>
          <a:ln>
            <a:solidFill>
              <a:schemeClr val="accent6">
                <a:lumMod val="7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80" name="Isosceles Triangle 79">
            <a:extLst>
              <a:ext uri="{FF2B5EF4-FFF2-40B4-BE49-F238E27FC236}">
                <a16:creationId xmlns:a16="http://schemas.microsoft.com/office/drawing/2014/main" id="{CA229EF2-90ED-8FDC-D5D2-77AF325F2936}"/>
              </a:ext>
            </a:extLst>
          </p:cNvPr>
          <p:cNvSpPr/>
          <p:nvPr/>
        </p:nvSpPr>
        <p:spPr>
          <a:xfrm>
            <a:off x="7432145" y="2731555"/>
            <a:ext cx="208764" cy="202462"/>
          </a:xfrm>
          <a:prstGeom prst="triangle">
            <a:avLst/>
          </a:prstGeom>
          <a:solidFill>
            <a:schemeClr val="accent6">
              <a:lumMod val="75000"/>
            </a:schemeClr>
          </a:solidFill>
          <a:ln>
            <a:solidFill>
              <a:schemeClr val="accent6">
                <a:lumMod val="7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81" name="Isosceles Triangle 80">
            <a:extLst>
              <a:ext uri="{FF2B5EF4-FFF2-40B4-BE49-F238E27FC236}">
                <a16:creationId xmlns:a16="http://schemas.microsoft.com/office/drawing/2014/main" id="{A72E9283-C6C4-EBAA-9AF3-4C55945D4019}"/>
              </a:ext>
            </a:extLst>
          </p:cNvPr>
          <p:cNvSpPr/>
          <p:nvPr/>
        </p:nvSpPr>
        <p:spPr>
          <a:xfrm>
            <a:off x="7432145" y="2731555"/>
            <a:ext cx="208764" cy="202462"/>
          </a:xfrm>
          <a:prstGeom prst="triangle">
            <a:avLst/>
          </a:prstGeom>
          <a:solidFill>
            <a:schemeClr val="accent6">
              <a:lumMod val="75000"/>
            </a:schemeClr>
          </a:solidFill>
          <a:ln>
            <a:solidFill>
              <a:schemeClr val="accent6">
                <a:lumMod val="7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82" name="Isosceles Triangle 81">
            <a:extLst>
              <a:ext uri="{FF2B5EF4-FFF2-40B4-BE49-F238E27FC236}">
                <a16:creationId xmlns:a16="http://schemas.microsoft.com/office/drawing/2014/main" id="{E7D93CD5-6555-F1BC-8647-1717E45D6735}"/>
              </a:ext>
            </a:extLst>
          </p:cNvPr>
          <p:cNvSpPr/>
          <p:nvPr/>
        </p:nvSpPr>
        <p:spPr>
          <a:xfrm>
            <a:off x="7736945" y="3036355"/>
            <a:ext cx="208764" cy="202462"/>
          </a:xfrm>
          <a:prstGeom prst="triangle">
            <a:avLst/>
          </a:prstGeom>
          <a:solidFill>
            <a:schemeClr val="accent6">
              <a:lumMod val="75000"/>
            </a:schemeClr>
          </a:solidFill>
          <a:ln>
            <a:solidFill>
              <a:schemeClr val="accent6">
                <a:lumMod val="7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83" name="Isosceles Triangle 82">
            <a:extLst>
              <a:ext uri="{FF2B5EF4-FFF2-40B4-BE49-F238E27FC236}">
                <a16:creationId xmlns:a16="http://schemas.microsoft.com/office/drawing/2014/main" id="{183F34CB-B7B7-0C41-05C9-D313BB196129}"/>
              </a:ext>
            </a:extLst>
          </p:cNvPr>
          <p:cNvSpPr/>
          <p:nvPr/>
        </p:nvSpPr>
        <p:spPr>
          <a:xfrm>
            <a:off x="7889345" y="3188755"/>
            <a:ext cx="208764" cy="202462"/>
          </a:xfrm>
          <a:prstGeom prst="triangle">
            <a:avLst/>
          </a:prstGeom>
          <a:solidFill>
            <a:schemeClr val="accent6">
              <a:lumMod val="75000"/>
            </a:schemeClr>
          </a:solidFill>
          <a:ln>
            <a:solidFill>
              <a:schemeClr val="accent6">
                <a:lumMod val="7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84" name="Isosceles Triangle 83">
            <a:extLst>
              <a:ext uri="{FF2B5EF4-FFF2-40B4-BE49-F238E27FC236}">
                <a16:creationId xmlns:a16="http://schemas.microsoft.com/office/drawing/2014/main" id="{BDBD693C-3A1C-CCA8-414B-55FF5778BE13}"/>
              </a:ext>
            </a:extLst>
          </p:cNvPr>
          <p:cNvSpPr/>
          <p:nvPr/>
        </p:nvSpPr>
        <p:spPr>
          <a:xfrm>
            <a:off x="7584545" y="2475827"/>
            <a:ext cx="208764" cy="202462"/>
          </a:xfrm>
          <a:prstGeom prst="triangle">
            <a:avLst/>
          </a:prstGeom>
          <a:solidFill>
            <a:schemeClr val="accent6">
              <a:lumMod val="75000"/>
            </a:schemeClr>
          </a:solidFill>
          <a:ln>
            <a:solidFill>
              <a:schemeClr val="accent6">
                <a:lumMod val="7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85" name="Isosceles Triangle 84">
            <a:extLst>
              <a:ext uri="{FF2B5EF4-FFF2-40B4-BE49-F238E27FC236}">
                <a16:creationId xmlns:a16="http://schemas.microsoft.com/office/drawing/2014/main" id="{0229A1AD-2826-59B4-F023-967758D75698}"/>
              </a:ext>
            </a:extLst>
          </p:cNvPr>
          <p:cNvSpPr/>
          <p:nvPr/>
        </p:nvSpPr>
        <p:spPr>
          <a:xfrm>
            <a:off x="7889345" y="2492763"/>
            <a:ext cx="225465" cy="193080"/>
          </a:xfrm>
          <a:prstGeom prst="triangle">
            <a:avLst/>
          </a:prstGeom>
          <a:solidFill>
            <a:schemeClr val="accent6">
              <a:lumMod val="75000"/>
            </a:schemeClr>
          </a:solidFill>
          <a:ln>
            <a:solidFill>
              <a:schemeClr val="accent6">
                <a:lumMod val="7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86" name="Isosceles Triangle 85">
            <a:extLst>
              <a:ext uri="{FF2B5EF4-FFF2-40B4-BE49-F238E27FC236}">
                <a16:creationId xmlns:a16="http://schemas.microsoft.com/office/drawing/2014/main" id="{98DDC023-3A71-BDC8-D3BC-C79D4718AFAD}"/>
              </a:ext>
            </a:extLst>
          </p:cNvPr>
          <p:cNvSpPr/>
          <p:nvPr/>
        </p:nvSpPr>
        <p:spPr>
          <a:xfrm>
            <a:off x="7990599" y="2919475"/>
            <a:ext cx="225465" cy="193080"/>
          </a:xfrm>
          <a:prstGeom prst="triangle">
            <a:avLst/>
          </a:prstGeom>
          <a:solidFill>
            <a:schemeClr val="accent6">
              <a:lumMod val="75000"/>
            </a:schemeClr>
          </a:solidFill>
          <a:ln>
            <a:solidFill>
              <a:schemeClr val="accent6">
                <a:lumMod val="7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87" name="Isosceles Triangle 86">
            <a:extLst>
              <a:ext uri="{FF2B5EF4-FFF2-40B4-BE49-F238E27FC236}">
                <a16:creationId xmlns:a16="http://schemas.microsoft.com/office/drawing/2014/main" id="{B17DD7B0-74E1-2746-7F43-F740702E77E5}"/>
              </a:ext>
            </a:extLst>
          </p:cNvPr>
          <p:cNvSpPr/>
          <p:nvPr/>
        </p:nvSpPr>
        <p:spPr>
          <a:xfrm>
            <a:off x="7789133" y="2731555"/>
            <a:ext cx="225465" cy="193080"/>
          </a:xfrm>
          <a:prstGeom prst="triangle">
            <a:avLst/>
          </a:prstGeom>
          <a:solidFill>
            <a:schemeClr val="accent6">
              <a:lumMod val="75000"/>
            </a:schemeClr>
          </a:solidFill>
          <a:ln>
            <a:solidFill>
              <a:schemeClr val="accent6">
                <a:lumMod val="7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88" name="Oval 87">
            <a:extLst>
              <a:ext uri="{FF2B5EF4-FFF2-40B4-BE49-F238E27FC236}">
                <a16:creationId xmlns:a16="http://schemas.microsoft.com/office/drawing/2014/main" id="{1998FF80-34BE-5A1C-3B30-4B5AA48944BB}"/>
              </a:ext>
            </a:extLst>
          </p:cNvPr>
          <p:cNvSpPr/>
          <p:nvPr/>
        </p:nvSpPr>
        <p:spPr>
          <a:xfrm>
            <a:off x="7101508" y="2359757"/>
            <a:ext cx="1287813" cy="1439528"/>
          </a:xfrm>
          <a:prstGeom prst="ellipse">
            <a:avLst/>
          </a:prstGeom>
          <a:noFill/>
          <a:ln w="28575">
            <a:solidFill>
              <a:schemeClr val="accent2"/>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89" name="Oval 88">
            <a:extLst>
              <a:ext uri="{FF2B5EF4-FFF2-40B4-BE49-F238E27FC236}">
                <a16:creationId xmlns:a16="http://schemas.microsoft.com/office/drawing/2014/main" id="{ECE96815-8579-18E5-C9A2-9D4CA04B762E}"/>
              </a:ext>
            </a:extLst>
          </p:cNvPr>
          <p:cNvSpPr/>
          <p:nvPr/>
        </p:nvSpPr>
        <p:spPr>
          <a:xfrm>
            <a:off x="8417530" y="1654535"/>
            <a:ext cx="1287813" cy="1439528"/>
          </a:xfrm>
          <a:prstGeom prst="ellipse">
            <a:avLst/>
          </a:prstGeom>
          <a:noFill/>
          <a:ln w="28575">
            <a:solidFill>
              <a:schemeClr val="accent2"/>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90" name="TextBox 89">
            <a:extLst>
              <a:ext uri="{FF2B5EF4-FFF2-40B4-BE49-F238E27FC236}">
                <a16:creationId xmlns:a16="http://schemas.microsoft.com/office/drawing/2014/main" id="{295FD704-61E7-B866-8510-82CAEC87EABE}"/>
              </a:ext>
            </a:extLst>
          </p:cNvPr>
          <p:cNvSpPr txBox="1"/>
          <p:nvPr/>
        </p:nvSpPr>
        <p:spPr>
          <a:xfrm>
            <a:off x="6255118" y="2301489"/>
            <a:ext cx="518885" cy="369332"/>
          </a:xfrm>
          <a:prstGeom prst="rect">
            <a:avLst/>
          </a:prstGeom>
          <a:noFill/>
        </p:spPr>
        <p:txBody>
          <a:bodyPr wrap="square">
            <a:spAutoFit/>
          </a:bodyPr>
          <a:lstStyle/>
          <a:p>
            <a:r>
              <a:rPr lang="tr-TR" dirty="0" err="1"/>
              <a:t>age</a:t>
            </a:r>
            <a:endParaRPr lang="en-US" dirty="0"/>
          </a:p>
        </p:txBody>
      </p:sp>
      <p:sp>
        <p:nvSpPr>
          <p:cNvPr id="91" name="TextBox 90">
            <a:extLst>
              <a:ext uri="{FF2B5EF4-FFF2-40B4-BE49-F238E27FC236}">
                <a16:creationId xmlns:a16="http://schemas.microsoft.com/office/drawing/2014/main" id="{80E65FA1-0801-05C4-8397-977ED37B986E}"/>
              </a:ext>
            </a:extLst>
          </p:cNvPr>
          <p:cNvSpPr txBox="1"/>
          <p:nvPr/>
        </p:nvSpPr>
        <p:spPr>
          <a:xfrm>
            <a:off x="564952" y="2354530"/>
            <a:ext cx="518885" cy="369332"/>
          </a:xfrm>
          <a:prstGeom prst="rect">
            <a:avLst/>
          </a:prstGeom>
          <a:noFill/>
        </p:spPr>
        <p:txBody>
          <a:bodyPr wrap="square">
            <a:spAutoFit/>
          </a:bodyPr>
          <a:lstStyle/>
          <a:p>
            <a:r>
              <a:rPr lang="tr-TR" dirty="0" err="1"/>
              <a:t>age</a:t>
            </a:r>
            <a:endParaRPr lang="en-US" dirty="0"/>
          </a:p>
        </p:txBody>
      </p:sp>
      <p:sp>
        <p:nvSpPr>
          <p:cNvPr id="92" name="TextBox 91">
            <a:extLst>
              <a:ext uri="{FF2B5EF4-FFF2-40B4-BE49-F238E27FC236}">
                <a16:creationId xmlns:a16="http://schemas.microsoft.com/office/drawing/2014/main" id="{82DE6094-5E4F-53F8-1683-15673C1C385A}"/>
              </a:ext>
            </a:extLst>
          </p:cNvPr>
          <p:cNvSpPr txBox="1"/>
          <p:nvPr/>
        </p:nvSpPr>
        <p:spPr>
          <a:xfrm>
            <a:off x="1249158" y="4517337"/>
            <a:ext cx="3425317" cy="923330"/>
          </a:xfrm>
          <a:prstGeom prst="rect">
            <a:avLst/>
          </a:prstGeom>
          <a:noFill/>
        </p:spPr>
        <p:txBody>
          <a:bodyPr wrap="square">
            <a:spAutoFit/>
          </a:bodyPr>
          <a:lstStyle/>
          <a:p>
            <a:r>
              <a:rPr lang="tr-TR" dirty="0" err="1"/>
              <a:t>Supervised</a:t>
            </a:r>
            <a:r>
              <a:rPr lang="tr-TR" dirty="0"/>
              <a:t> </a:t>
            </a:r>
            <a:r>
              <a:rPr lang="tr-TR" dirty="0" err="1"/>
              <a:t>learning</a:t>
            </a:r>
            <a:endParaRPr lang="tr-TR" dirty="0"/>
          </a:p>
          <a:p>
            <a:r>
              <a:rPr lang="tr-TR" dirty="0" err="1"/>
              <a:t>Learn</a:t>
            </a:r>
            <a:r>
              <a:rPr lang="tr-TR" dirty="0"/>
              <a:t> </a:t>
            </a:r>
            <a:r>
              <a:rPr lang="tr-TR" dirty="0" err="1"/>
              <a:t>from</a:t>
            </a:r>
            <a:r>
              <a:rPr lang="tr-TR" dirty="0"/>
              <a:t> data </a:t>
            </a:r>
            <a:r>
              <a:rPr lang="tr-TR" dirty="0" err="1"/>
              <a:t>labeled</a:t>
            </a:r>
            <a:endParaRPr lang="tr-TR" dirty="0"/>
          </a:p>
          <a:p>
            <a:r>
              <a:rPr lang="tr-TR" dirty="0" err="1"/>
              <a:t>with</a:t>
            </a:r>
            <a:r>
              <a:rPr lang="tr-TR" dirty="0"/>
              <a:t> </a:t>
            </a:r>
            <a:r>
              <a:rPr lang="tr-TR" dirty="0" err="1"/>
              <a:t>the</a:t>
            </a:r>
            <a:r>
              <a:rPr lang="tr-TR" dirty="0"/>
              <a:t> ‘</a:t>
            </a:r>
            <a:r>
              <a:rPr lang="tr-TR" dirty="0" err="1"/>
              <a:t>right</a:t>
            </a:r>
            <a:r>
              <a:rPr lang="tr-TR" dirty="0"/>
              <a:t> </a:t>
            </a:r>
            <a:r>
              <a:rPr lang="tr-TR" dirty="0" err="1"/>
              <a:t>answer</a:t>
            </a:r>
            <a:r>
              <a:rPr lang="tr-TR" dirty="0"/>
              <a:t>’ </a:t>
            </a:r>
            <a:endParaRPr lang="en-US" dirty="0"/>
          </a:p>
        </p:txBody>
      </p:sp>
      <p:sp>
        <p:nvSpPr>
          <p:cNvPr id="93" name="TextBox 92">
            <a:extLst>
              <a:ext uri="{FF2B5EF4-FFF2-40B4-BE49-F238E27FC236}">
                <a16:creationId xmlns:a16="http://schemas.microsoft.com/office/drawing/2014/main" id="{1F9CEA6E-8C59-4B4E-1D6F-1C6E9023EDDA}"/>
              </a:ext>
            </a:extLst>
          </p:cNvPr>
          <p:cNvSpPr txBox="1"/>
          <p:nvPr/>
        </p:nvSpPr>
        <p:spPr>
          <a:xfrm>
            <a:off x="6955390" y="4647368"/>
            <a:ext cx="3425317" cy="923330"/>
          </a:xfrm>
          <a:prstGeom prst="rect">
            <a:avLst/>
          </a:prstGeom>
          <a:noFill/>
        </p:spPr>
        <p:txBody>
          <a:bodyPr wrap="square">
            <a:spAutoFit/>
          </a:bodyPr>
          <a:lstStyle/>
          <a:p>
            <a:r>
              <a:rPr lang="tr-TR" dirty="0" err="1"/>
              <a:t>Unsupervised</a:t>
            </a:r>
            <a:r>
              <a:rPr lang="tr-TR" dirty="0"/>
              <a:t> </a:t>
            </a:r>
            <a:r>
              <a:rPr lang="tr-TR" dirty="0" err="1"/>
              <a:t>learning</a:t>
            </a:r>
            <a:endParaRPr lang="tr-TR" dirty="0"/>
          </a:p>
          <a:p>
            <a:r>
              <a:rPr lang="tr-TR" dirty="0" err="1"/>
              <a:t>Find</a:t>
            </a:r>
            <a:r>
              <a:rPr lang="tr-TR" dirty="0"/>
              <a:t> </a:t>
            </a:r>
            <a:r>
              <a:rPr lang="tr-TR" dirty="0" err="1"/>
              <a:t>something</a:t>
            </a:r>
            <a:r>
              <a:rPr lang="tr-TR" dirty="0"/>
              <a:t> </a:t>
            </a:r>
            <a:r>
              <a:rPr lang="tr-TR" dirty="0" err="1"/>
              <a:t>interesting</a:t>
            </a:r>
            <a:r>
              <a:rPr lang="tr-TR" dirty="0"/>
              <a:t> </a:t>
            </a:r>
            <a:r>
              <a:rPr lang="tr-TR" dirty="0" err="1"/>
              <a:t>unlabeled</a:t>
            </a:r>
            <a:r>
              <a:rPr lang="tr-TR" dirty="0"/>
              <a:t> data </a:t>
            </a:r>
            <a:endParaRPr lang="en-US" dirty="0"/>
          </a:p>
        </p:txBody>
      </p:sp>
      <p:sp>
        <p:nvSpPr>
          <p:cNvPr id="2" name="Rectangle">
            <a:extLst>
              <a:ext uri="{FF2B5EF4-FFF2-40B4-BE49-F238E27FC236}">
                <a16:creationId xmlns:a16="http://schemas.microsoft.com/office/drawing/2014/main" id="{6EC086A6-1856-B807-641A-93151FA2F1A8}"/>
              </a:ext>
            </a:extLst>
          </p:cNvPr>
          <p:cNvSpPr/>
          <p:nvPr/>
        </p:nvSpPr>
        <p:spPr>
          <a:xfrm>
            <a:off x="-11767" y="6545179"/>
            <a:ext cx="12203767" cy="315200"/>
          </a:xfrm>
          <a:prstGeom prst="rect">
            <a:avLst/>
          </a:prstGeom>
          <a:solidFill>
            <a:schemeClr val="tx1"/>
          </a:solidFill>
          <a:ln w="12700">
            <a:noFill/>
            <a:miter lim="400000"/>
          </a:ln>
        </p:spPr>
        <p:txBody>
          <a:bodyPr lIns="45719" rIns="45719" anchor="ctr"/>
          <a:lstStyle/>
          <a:p>
            <a:endParaRPr/>
          </a:p>
        </p:txBody>
      </p:sp>
      <p:pic>
        <p:nvPicPr>
          <p:cNvPr id="3" name="Picture 2" descr="Frontier Tech Leaders (@FTLeadersProg) / X">
            <a:extLst>
              <a:ext uri="{FF2B5EF4-FFF2-40B4-BE49-F238E27FC236}">
                <a16:creationId xmlns:a16="http://schemas.microsoft.com/office/drawing/2014/main" id="{BFB7B697-3889-4B9B-089B-2C6686B8B1EF}"/>
              </a:ext>
            </a:extLst>
          </p:cNvPr>
          <p:cNvPicPr>
            <a:picLocks noChangeAspect="1"/>
          </p:cNvPicPr>
          <p:nvPr/>
        </p:nvPicPr>
        <p:blipFill>
          <a:blip r:embed="rId11"/>
          <a:stretch>
            <a:fillRect/>
          </a:stretch>
        </p:blipFill>
        <p:spPr>
          <a:xfrm>
            <a:off x="10668000" y="94470"/>
            <a:ext cx="1027893" cy="1027893"/>
          </a:xfrm>
          <a:prstGeom prst="rect">
            <a:avLst/>
          </a:prstGeom>
        </p:spPr>
      </p:pic>
    </p:spTree>
    <p:extLst>
      <p:ext uri="{BB962C8B-B14F-4D97-AF65-F5344CB8AC3E}">
        <p14:creationId xmlns:p14="http://schemas.microsoft.com/office/powerpoint/2010/main" val="257129750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10"/>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11"/>
                                        </p:tgtEl>
                                        <p:attrNameLst>
                                          <p:attrName>style.visibility</p:attrName>
                                        </p:attrNameLst>
                                      </p:cBhvr>
                                      <p:to>
                                        <p:strVal val="visible"/>
                                      </p:to>
                                    </p:set>
                                  </p:childTnLst>
                                </p:cTn>
                              </p:par>
                              <p:par>
                                <p:cTn id="9" presetID="1" presetClass="entr" presetSubtype="0" fill="hold" grpId="0" nodeType="withEffect">
                                  <p:stCondLst>
                                    <p:cond delay="0"/>
                                  </p:stCondLst>
                                  <p:childTnLst>
                                    <p:set>
                                      <p:cBhvr>
                                        <p:cTn id="10" dur="1" fill="hold">
                                          <p:stCondLst>
                                            <p:cond delay="0"/>
                                          </p:stCondLst>
                                        </p:cTn>
                                        <p:tgtEl>
                                          <p:spTgt spid="12"/>
                                        </p:tgtEl>
                                        <p:attrNameLst>
                                          <p:attrName>style.visibility</p:attrName>
                                        </p:attrNameLst>
                                      </p:cBhvr>
                                      <p:to>
                                        <p:strVal val="visible"/>
                                      </p:to>
                                    </p:set>
                                  </p:childTnLst>
                                </p:cTn>
                              </p:par>
                              <p:par>
                                <p:cTn id="11" presetID="1" presetClass="entr" presetSubtype="0" fill="hold" grpId="0" nodeType="withEffect">
                                  <p:stCondLst>
                                    <p:cond delay="0"/>
                                  </p:stCondLst>
                                  <p:childTnLst>
                                    <p:set>
                                      <p:cBhvr>
                                        <p:cTn id="12" dur="1" fill="hold">
                                          <p:stCondLst>
                                            <p:cond delay="0"/>
                                          </p:stCondLst>
                                        </p:cTn>
                                        <p:tgtEl>
                                          <p:spTgt spid="13"/>
                                        </p:tgtEl>
                                        <p:attrNameLst>
                                          <p:attrName>style.visibility</p:attrName>
                                        </p:attrNameLst>
                                      </p:cBhvr>
                                      <p:to>
                                        <p:strVal val="visible"/>
                                      </p:to>
                                    </p:set>
                                  </p:childTnLst>
                                </p:cTn>
                              </p:par>
                              <p:par>
                                <p:cTn id="13" presetID="1" presetClass="entr" presetSubtype="0" fill="hold" grpId="0" nodeType="withEffect">
                                  <p:stCondLst>
                                    <p:cond delay="0"/>
                                  </p:stCondLst>
                                  <p:childTnLst>
                                    <p:set>
                                      <p:cBhvr>
                                        <p:cTn id="14" dur="1" fill="hold">
                                          <p:stCondLst>
                                            <p:cond delay="0"/>
                                          </p:stCondLst>
                                        </p:cTn>
                                        <p:tgtEl>
                                          <p:spTgt spid="14"/>
                                        </p:tgtEl>
                                        <p:attrNameLst>
                                          <p:attrName>style.visibility</p:attrName>
                                        </p:attrNameLst>
                                      </p:cBhvr>
                                      <p:to>
                                        <p:strVal val="visible"/>
                                      </p:to>
                                    </p:set>
                                  </p:childTnLst>
                                </p:cTn>
                              </p:par>
                              <p:par>
                                <p:cTn id="15" presetID="1" presetClass="entr" presetSubtype="0" fill="hold" grpId="0" nodeType="withEffect">
                                  <p:stCondLst>
                                    <p:cond delay="0"/>
                                  </p:stCondLst>
                                  <p:childTnLst>
                                    <p:set>
                                      <p:cBhvr>
                                        <p:cTn id="16" dur="1" fill="hold">
                                          <p:stCondLst>
                                            <p:cond delay="0"/>
                                          </p:stCondLst>
                                        </p:cTn>
                                        <p:tgtEl>
                                          <p:spTgt spid="15"/>
                                        </p:tgtEl>
                                        <p:attrNameLst>
                                          <p:attrName>style.visibility</p:attrName>
                                        </p:attrNameLst>
                                      </p:cBhvr>
                                      <p:to>
                                        <p:strVal val="visible"/>
                                      </p:to>
                                    </p:set>
                                  </p:childTnLst>
                                </p:cTn>
                              </p:par>
                              <p:par>
                                <p:cTn id="17" presetID="1" presetClass="entr" presetSubtype="0" fill="hold" grpId="0" nodeType="withEffect">
                                  <p:stCondLst>
                                    <p:cond delay="0"/>
                                  </p:stCondLst>
                                  <p:childTnLst>
                                    <p:set>
                                      <p:cBhvr>
                                        <p:cTn id="18" dur="1" fill="hold">
                                          <p:stCondLst>
                                            <p:cond delay="0"/>
                                          </p:stCondLst>
                                        </p:cTn>
                                        <p:tgtEl>
                                          <p:spTgt spid="16"/>
                                        </p:tgtEl>
                                        <p:attrNameLst>
                                          <p:attrName>style.visibility</p:attrName>
                                        </p:attrNameLst>
                                      </p:cBhvr>
                                      <p:to>
                                        <p:strVal val="visible"/>
                                      </p:to>
                                    </p:set>
                                  </p:childTnLst>
                                </p:cTn>
                              </p:par>
                              <p:par>
                                <p:cTn id="19" presetID="1" presetClass="entr" presetSubtype="0" fill="hold" grpId="0" nodeType="withEffect">
                                  <p:stCondLst>
                                    <p:cond delay="0"/>
                                  </p:stCondLst>
                                  <p:childTnLst>
                                    <p:set>
                                      <p:cBhvr>
                                        <p:cTn id="20" dur="1" fill="hold">
                                          <p:stCondLst>
                                            <p:cond delay="0"/>
                                          </p:stCondLst>
                                        </p:cTn>
                                        <p:tgtEl>
                                          <p:spTgt spid="17"/>
                                        </p:tgtEl>
                                        <p:attrNameLst>
                                          <p:attrName>style.visibility</p:attrName>
                                        </p:attrNameLst>
                                      </p:cBhvr>
                                      <p:to>
                                        <p:strVal val="visible"/>
                                      </p:to>
                                    </p:set>
                                  </p:childTnLst>
                                </p:cTn>
                              </p:par>
                              <p:par>
                                <p:cTn id="21" presetID="1" presetClass="entr" presetSubtype="0" fill="hold" grpId="0" nodeType="withEffect">
                                  <p:stCondLst>
                                    <p:cond delay="0"/>
                                  </p:stCondLst>
                                  <p:childTnLst>
                                    <p:set>
                                      <p:cBhvr>
                                        <p:cTn id="22" dur="1" fill="hold">
                                          <p:stCondLst>
                                            <p:cond delay="0"/>
                                          </p:stCondLst>
                                        </p:cTn>
                                        <p:tgtEl>
                                          <p:spTgt spid="18"/>
                                        </p:tgtEl>
                                        <p:attrNameLst>
                                          <p:attrName>style.visibility</p:attrName>
                                        </p:attrNameLst>
                                      </p:cBhvr>
                                      <p:to>
                                        <p:strVal val="visible"/>
                                      </p:to>
                                    </p:set>
                                  </p:childTnLst>
                                </p:cTn>
                              </p:par>
                              <p:par>
                                <p:cTn id="23" presetID="1" presetClass="entr" presetSubtype="0" fill="hold" grpId="0" nodeType="withEffect">
                                  <p:stCondLst>
                                    <p:cond delay="0"/>
                                  </p:stCondLst>
                                  <p:childTnLst>
                                    <p:set>
                                      <p:cBhvr>
                                        <p:cTn id="24" dur="1" fill="hold">
                                          <p:stCondLst>
                                            <p:cond delay="0"/>
                                          </p:stCondLst>
                                        </p:cTn>
                                        <p:tgtEl>
                                          <p:spTgt spid="19"/>
                                        </p:tgtEl>
                                        <p:attrNameLst>
                                          <p:attrName>style.visibility</p:attrName>
                                        </p:attrNameLst>
                                      </p:cBhvr>
                                      <p:to>
                                        <p:strVal val="visible"/>
                                      </p:to>
                                    </p:set>
                                  </p:childTnLst>
                                </p:cTn>
                              </p:par>
                              <p:par>
                                <p:cTn id="25" presetID="1" presetClass="entr" presetSubtype="0" fill="hold" grpId="0" nodeType="withEffect">
                                  <p:stCondLst>
                                    <p:cond delay="0"/>
                                  </p:stCondLst>
                                  <p:childTnLst>
                                    <p:set>
                                      <p:cBhvr>
                                        <p:cTn id="26" dur="1" fill="hold">
                                          <p:stCondLst>
                                            <p:cond delay="0"/>
                                          </p:stCondLst>
                                        </p:cTn>
                                        <p:tgtEl>
                                          <p:spTgt spid="20"/>
                                        </p:tgtEl>
                                        <p:attrNameLst>
                                          <p:attrName>style.visibility</p:attrName>
                                        </p:attrNameLst>
                                      </p:cBhvr>
                                      <p:to>
                                        <p:strVal val="visible"/>
                                      </p:to>
                                    </p:set>
                                  </p:childTnLst>
                                </p:cTn>
                              </p:par>
                              <p:par>
                                <p:cTn id="27" presetID="1" presetClass="entr" presetSubtype="0" fill="hold" grpId="0" nodeType="withEffect">
                                  <p:stCondLst>
                                    <p:cond delay="0"/>
                                  </p:stCondLst>
                                  <p:childTnLst>
                                    <p:set>
                                      <p:cBhvr>
                                        <p:cTn id="28" dur="1" fill="hold">
                                          <p:stCondLst>
                                            <p:cond delay="0"/>
                                          </p:stCondLst>
                                        </p:cTn>
                                        <p:tgtEl>
                                          <p:spTgt spid="22"/>
                                        </p:tgtEl>
                                        <p:attrNameLst>
                                          <p:attrName>style.visibility</p:attrName>
                                        </p:attrNameLst>
                                      </p:cBhvr>
                                      <p:to>
                                        <p:strVal val="visible"/>
                                      </p:to>
                                    </p:set>
                                  </p:childTnLst>
                                </p:cTn>
                              </p:par>
                              <p:par>
                                <p:cTn id="29" presetID="1" presetClass="entr" presetSubtype="0" fill="hold" grpId="0" nodeType="withEffect">
                                  <p:stCondLst>
                                    <p:cond delay="0"/>
                                  </p:stCondLst>
                                  <p:childTnLst>
                                    <p:set>
                                      <p:cBhvr>
                                        <p:cTn id="30" dur="1" fill="hold">
                                          <p:stCondLst>
                                            <p:cond delay="0"/>
                                          </p:stCondLst>
                                        </p:cTn>
                                        <p:tgtEl>
                                          <p:spTgt spid="23"/>
                                        </p:tgtEl>
                                        <p:attrNameLst>
                                          <p:attrName>style.visibility</p:attrName>
                                        </p:attrNameLst>
                                      </p:cBhvr>
                                      <p:to>
                                        <p:strVal val="visible"/>
                                      </p:to>
                                    </p:set>
                                  </p:childTnLst>
                                </p:cTn>
                              </p:par>
                              <p:par>
                                <p:cTn id="31" presetID="1" presetClass="entr" presetSubtype="0" fill="hold" grpId="0" nodeType="withEffect">
                                  <p:stCondLst>
                                    <p:cond delay="0"/>
                                  </p:stCondLst>
                                  <p:childTnLst>
                                    <p:set>
                                      <p:cBhvr>
                                        <p:cTn id="32" dur="1" fill="hold">
                                          <p:stCondLst>
                                            <p:cond delay="0"/>
                                          </p:stCondLst>
                                        </p:cTn>
                                        <p:tgtEl>
                                          <p:spTgt spid="24"/>
                                        </p:tgtEl>
                                        <p:attrNameLst>
                                          <p:attrName>style.visibility</p:attrName>
                                        </p:attrNameLst>
                                      </p:cBhvr>
                                      <p:to>
                                        <p:strVal val="visible"/>
                                      </p:to>
                                    </p:set>
                                  </p:childTnLst>
                                </p:cTn>
                              </p:par>
                              <p:par>
                                <p:cTn id="33" presetID="1" presetClass="entr" presetSubtype="0" fill="hold" grpId="0" nodeType="withEffect">
                                  <p:stCondLst>
                                    <p:cond delay="0"/>
                                  </p:stCondLst>
                                  <p:childTnLst>
                                    <p:set>
                                      <p:cBhvr>
                                        <p:cTn id="34" dur="1" fill="hold">
                                          <p:stCondLst>
                                            <p:cond delay="0"/>
                                          </p:stCondLst>
                                        </p:cTn>
                                        <p:tgtEl>
                                          <p:spTgt spid="25"/>
                                        </p:tgtEl>
                                        <p:attrNameLst>
                                          <p:attrName>style.visibility</p:attrName>
                                        </p:attrNameLst>
                                      </p:cBhvr>
                                      <p:to>
                                        <p:strVal val="visible"/>
                                      </p:to>
                                    </p:set>
                                  </p:childTnLst>
                                </p:cTn>
                              </p:par>
                              <p:par>
                                <p:cTn id="35" presetID="1" presetClass="entr" presetSubtype="0" fill="hold" grpId="0" nodeType="withEffect">
                                  <p:stCondLst>
                                    <p:cond delay="0"/>
                                  </p:stCondLst>
                                  <p:childTnLst>
                                    <p:set>
                                      <p:cBhvr>
                                        <p:cTn id="36" dur="1" fill="hold">
                                          <p:stCondLst>
                                            <p:cond delay="0"/>
                                          </p:stCondLst>
                                        </p:cTn>
                                        <p:tgtEl>
                                          <p:spTgt spid="26"/>
                                        </p:tgtEl>
                                        <p:attrNameLst>
                                          <p:attrName>style.visibility</p:attrName>
                                        </p:attrNameLst>
                                      </p:cBhvr>
                                      <p:to>
                                        <p:strVal val="visible"/>
                                      </p:to>
                                    </p:set>
                                  </p:childTnLst>
                                </p:cTn>
                              </p:par>
                              <p:par>
                                <p:cTn id="37" presetID="1" presetClass="entr" presetSubtype="0" fill="hold" grpId="0" nodeType="withEffect">
                                  <p:stCondLst>
                                    <p:cond delay="0"/>
                                  </p:stCondLst>
                                  <p:childTnLst>
                                    <p:set>
                                      <p:cBhvr>
                                        <p:cTn id="38" dur="1" fill="hold">
                                          <p:stCondLst>
                                            <p:cond delay="0"/>
                                          </p:stCondLst>
                                        </p:cTn>
                                        <p:tgtEl>
                                          <p:spTgt spid="27"/>
                                        </p:tgtEl>
                                        <p:attrNameLst>
                                          <p:attrName>style.visibility</p:attrName>
                                        </p:attrNameLst>
                                      </p:cBhvr>
                                      <p:to>
                                        <p:strVal val="visible"/>
                                      </p:to>
                                    </p:set>
                                  </p:childTnLst>
                                </p:cTn>
                              </p:par>
                              <p:par>
                                <p:cTn id="39" presetID="1" presetClass="entr" presetSubtype="0" fill="hold" grpId="0" nodeType="withEffect">
                                  <p:stCondLst>
                                    <p:cond delay="0"/>
                                  </p:stCondLst>
                                  <p:childTnLst>
                                    <p:set>
                                      <p:cBhvr>
                                        <p:cTn id="40" dur="1" fill="hold">
                                          <p:stCondLst>
                                            <p:cond delay="0"/>
                                          </p:stCondLst>
                                        </p:cTn>
                                        <p:tgtEl>
                                          <p:spTgt spid="28"/>
                                        </p:tgtEl>
                                        <p:attrNameLst>
                                          <p:attrName>style.visibility</p:attrName>
                                        </p:attrNameLst>
                                      </p:cBhvr>
                                      <p:to>
                                        <p:strVal val="visible"/>
                                      </p:to>
                                    </p:set>
                                  </p:childTnLst>
                                </p:cTn>
                              </p:par>
                              <p:par>
                                <p:cTn id="41" presetID="1" presetClass="entr" presetSubtype="0" fill="hold" grpId="0" nodeType="withEffect">
                                  <p:stCondLst>
                                    <p:cond delay="0"/>
                                  </p:stCondLst>
                                  <p:childTnLst>
                                    <p:set>
                                      <p:cBhvr>
                                        <p:cTn id="42" dur="1" fill="hold">
                                          <p:stCondLst>
                                            <p:cond delay="0"/>
                                          </p:stCondLst>
                                        </p:cTn>
                                        <p:tgtEl>
                                          <p:spTgt spid="29"/>
                                        </p:tgtEl>
                                        <p:attrNameLst>
                                          <p:attrName>style.visibility</p:attrName>
                                        </p:attrNameLst>
                                      </p:cBhvr>
                                      <p:to>
                                        <p:strVal val="visible"/>
                                      </p:to>
                                    </p:set>
                                  </p:childTnLst>
                                </p:cTn>
                              </p:par>
                              <p:par>
                                <p:cTn id="43" presetID="1" presetClass="entr" presetSubtype="0" fill="hold" grpId="0" nodeType="withEffect">
                                  <p:stCondLst>
                                    <p:cond delay="0"/>
                                  </p:stCondLst>
                                  <p:childTnLst>
                                    <p:set>
                                      <p:cBhvr>
                                        <p:cTn id="44" dur="1" fill="hold">
                                          <p:stCondLst>
                                            <p:cond delay="0"/>
                                          </p:stCondLst>
                                        </p:cTn>
                                        <p:tgtEl>
                                          <p:spTgt spid="30"/>
                                        </p:tgtEl>
                                        <p:attrNameLst>
                                          <p:attrName>style.visibility</p:attrName>
                                        </p:attrNameLst>
                                      </p:cBhvr>
                                      <p:to>
                                        <p:strVal val="visible"/>
                                      </p:to>
                                    </p:set>
                                  </p:childTnLst>
                                </p:cTn>
                              </p:par>
                              <p:par>
                                <p:cTn id="45" presetID="1" presetClass="entr" presetSubtype="0" fill="hold" grpId="0" nodeType="withEffect">
                                  <p:stCondLst>
                                    <p:cond delay="0"/>
                                  </p:stCondLst>
                                  <p:childTnLst>
                                    <p:set>
                                      <p:cBhvr>
                                        <p:cTn id="46" dur="1" fill="hold">
                                          <p:stCondLst>
                                            <p:cond delay="0"/>
                                          </p:stCondLst>
                                        </p:cTn>
                                        <p:tgtEl>
                                          <p:spTgt spid="31"/>
                                        </p:tgtEl>
                                        <p:attrNameLst>
                                          <p:attrName>style.visibility</p:attrName>
                                        </p:attrNameLst>
                                      </p:cBhvr>
                                      <p:to>
                                        <p:strVal val="visible"/>
                                      </p:to>
                                    </p:set>
                                  </p:childTnLst>
                                </p:cTn>
                              </p:par>
                              <p:par>
                                <p:cTn id="47" presetID="1" presetClass="entr" presetSubtype="0" fill="hold" grpId="0" nodeType="withEffect">
                                  <p:stCondLst>
                                    <p:cond delay="0"/>
                                  </p:stCondLst>
                                  <p:childTnLst>
                                    <p:set>
                                      <p:cBhvr>
                                        <p:cTn id="48" dur="1" fill="hold">
                                          <p:stCondLst>
                                            <p:cond delay="0"/>
                                          </p:stCondLst>
                                        </p:cTn>
                                        <p:tgtEl>
                                          <p:spTgt spid="32"/>
                                        </p:tgtEl>
                                        <p:attrNameLst>
                                          <p:attrName>style.visibility</p:attrName>
                                        </p:attrNameLst>
                                      </p:cBhvr>
                                      <p:to>
                                        <p:strVal val="visible"/>
                                      </p:to>
                                    </p:set>
                                  </p:childTnLst>
                                </p:cTn>
                              </p:par>
                              <p:par>
                                <p:cTn id="49" presetID="1" presetClass="entr" presetSubtype="0" fill="hold" grpId="0" nodeType="withEffect">
                                  <p:stCondLst>
                                    <p:cond delay="0"/>
                                  </p:stCondLst>
                                  <p:childTnLst>
                                    <p:set>
                                      <p:cBhvr>
                                        <p:cTn id="50" dur="1" fill="hold">
                                          <p:stCondLst>
                                            <p:cond delay="0"/>
                                          </p:stCondLst>
                                        </p:cTn>
                                        <p:tgtEl>
                                          <p:spTgt spid="33"/>
                                        </p:tgtEl>
                                        <p:attrNameLst>
                                          <p:attrName>style.visibility</p:attrName>
                                        </p:attrNameLst>
                                      </p:cBhvr>
                                      <p:to>
                                        <p:strVal val="visible"/>
                                      </p:to>
                                    </p:set>
                                  </p:childTnLst>
                                </p:cTn>
                              </p:par>
                              <p:par>
                                <p:cTn id="51" presetID="1" presetClass="entr" presetSubtype="0" fill="hold" grpId="0" nodeType="withEffect">
                                  <p:stCondLst>
                                    <p:cond delay="0"/>
                                  </p:stCondLst>
                                  <p:childTnLst>
                                    <p:set>
                                      <p:cBhvr>
                                        <p:cTn id="52" dur="1" fill="hold">
                                          <p:stCondLst>
                                            <p:cond delay="0"/>
                                          </p:stCondLst>
                                        </p:cTn>
                                        <p:tgtEl>
                                          <p:spTgt spid="34"/>
                                        </p:tgtEl>
                                        <p:attrNameLst>
                                          <p:attrName>style.visibility</p:attrName>
                                        </p:attrNameLst>
                                      </p:cBhvr>
                                      <p:to>
                                        <p:strVal val="visible"/>
                                      </p:to>
                                    </p:set>
                                  </p:childTnLst>
                                </p:cTn>
                              </p:par>
                              <p:par>
                                <p:cTn id="53" presetID="1" presetClass="entr" presetSubtype="0" fill="hold" grpId="0" nodeType="withEffect">
                                  <p:stCondLst>
                                    <p:cond delay="0"/>
                                  </p:stCondLst>
                                  <p:childTnLst>
                                    <p:set>
                                      <p:cBhvr>
                                        <p:cTn id="54" dur="1" fill="hold">
                                          <p:stCondLst>
                                            <p:cond delay="0"/>
                                          </p:stCondLst>
                                        </p:cTn>
                                        <p:tgtEl>
                                          <p:spTgt spid="35"/>
                                        </p:tgtEl>
                                        <p:attrNameLst>
                                          <p:attrName>style.visibility</p:attrName>
                                        </p:attrNameLst>
                                      </p:cBhvr>
                                      <p:to>
                                        <p:strVal val="visible"/>
                                      </p:to>
                                    </p:set>
                                  </p:childTnLst>
                                </p:cTn>
                              </p:par>
                              <p:par>
                                <p:cTn id="55" presetID="1" presetClass="entr" presetSubtype="0" fill="hold" grpId="0" nodeType="withEffect">
                                  <p:stCondLst>
                                    <p:cond delay="0"/>
                                  </p:stCondLst>
                                  <p:childTnLst>
                                    <p:set>
                                      <p:cBhvr>
                                        <p:cTn id="56" dur="1" fill="hold">
                                          <p:stCondLst>
                                            <p:cond delay="0"/>
                                          </p:stCondLst>
                                        </p:cTn>
                                        <p:tgtEl>
                                          <p:spTgt spid="36"/>
                                        </p:tgtEl>
                                        <p:attrNameLst>
                                          <p:attrName>style.visibility</p:attrName>
                                        </p:attrNameLst>
                                      </p:cBhvr>
                                      <p:to>
                                        <p:strVal val="visible"/>
                                      </p:to>
                                    </p:set>
                                  </p:childTnLst>
                                </p:cTn>
                              </p:par>
                              <p:par>
                                <p:cTn id="57" presetID="1" presetClass="entr" presetSubtype="0" fill="hold" grpId="0" nodeType="withEffect">
                                  <p:stCondLst>
                                    <p:cond delay="0"/>
                                  </p:stCondLst>
                                  <p:childTnLst>
                                    <p:set>
                                      <p:cBhvr>
                                        <p:cTn id="58" dur="1" fill="hold">
                                          <p:stCondLst>
                                            <p:cond delay="0"/>
                                          </p:stCondLst>
                                        </p:cTn>
                                        <p:tgtEl>
                                          <p:spTgt spid="37"/>
                                        </p:tgtEl>
                                        <p:attrNameLst>
                                          <p:attrName>style.visibility</p:attrName>
                                        </p:attrNameLst>
                                      </p:cBhvr>
                                      <p:to>
                                        <p:strVal val="visible"/>
                                      </p:to>
                                    </p:set>
                                  </p:childTnLst>
                                </p:cTn>
                              </p:par>
                              <p:par>
                                <p:cTn id="59" presetID="1" presetClass="entr" presetSubtype="0" fill="hold" grpId="0" nodeType="withEffect">
                                  <p:stCondLst>
                                    <p:cond delay="0"/>
                                  </p:stCondLst>
                                  <p:childTnLst>
                                    <p:set>
                                      <p:cBhvr>
                                        <p:cTn id="60" dur="1" fill="hold">
                                          <p:stCondLst>
                                            <p:cond delay="0"/>
                                          </p:stCondLst>
                                        </p:cTn>
                                        <p:tgtEl>
                                          <p:spTgt spid="38"/>
                                        </p:tgtEl>
                                        <p:attrNameLst>
                                          <p:attrName>style.visibility</p:attrName>
                                        </p:attrNameLst>
                                      </p:cBhvr>
                                      <p:to>
                                        <p:strVal val="visible"/>
                                      </p:to>
                                    </p:set>
                                  </p:childTnLst>
                                </p:cTn>
                              </p:par>
                              <p:par>
                                <p:cTn id="61" presetID="1" presetClass="entr" presetSubtype="0" fill="hold" nodeType="withEffect">
                                  <p:stCondLst>
                                    <p:cond delay="0"/>
                                  </p:stCondLst>
                                  <p:childTnLst>
                                    <p:set>
                                      <p:cBhvr>
                                        <p:cTn id="62" dur="1" fill="hold">
                                          <p:stCondLst>
                                            <p:cond delay="0"/>
                                          </p:stCondLst>
                                        </p:cTn>
                                        <p:tgtEl>
                                          <p:spTgt spid="40"/>
                                        </p:tgtEl>
                                        <p:attrNameLst>
                                          <p:attrName>style.visibility</p:attrName>
                                        </p:attrNameLst>
                                      </p:cBhvr>
                                      <p:to>
                                        <p:strVal val="visible"/>
                                      </p:to>
                                    </p:set>
                                  </p:childTnLst>
                                </p:cTn>
                              </p:par>
                              <p:par>
                                <p:cTn id="63" presetID="1" presetClass="entr" presetSubtype="0" fill="hold" grpId="0" nodeType="withEffect">
                                  <p:stCondLst>
                                    <p:cond delay="0"/>
                                  </p:stCondLst>
                                  <p:childTnLst>
                                    <p:set>
                                      <p:cBhvr>
                                        <p:cTn id="64" dur="1" fill="hold">
                                          <p:stCondLst>
                                            <p:cond delay="0"/>
                                          </p:stCondLst>
                                        </p:cTn>
                                        <p:tgtEl>
                                          <p:spTgt spid="91"/>
                                        </p:tgtEl>
                                        <p:attrNameLst>
                                          <p:attrName>style.visibility</p:attrName>
                                        </p:attrNameLst>
                                      </p:cBhvr>
                                      <p:to>
                                        <p:strVal val="visible"/>
                                      </p:to>
                                    </p:set>
                                  </p:childTnLst>
                                </p:cTn>
                              </p:par>
                            </p:childTnLst>
                          </p:cTn>
                        </p:par>
                      </p:childTnLst>
                    </p:cTn>
                  </p:par>
                  <p:par>
                    <p:cTn id="65" fill="hold">
                      <p:stCondLst>
                        <p:cond delay="indefinite"/>
                      </p:stCondLst>
                      <p:childTnLst>
                        <p:par>
                          <p:cTn id="66" fill="hold">
                            <p:stCondLst>
                              <p:cond delay="0"/>
                            </p:stCondLst>
                            <p:childTnLst>
                              <p:par>
                                <p:cTn id="67" presetID="1" presetClass="entr" presetSubtype="0" fill="hold" nodeType="clickEffect">
                                  <p:stCondLst>
                                    <p:cond delay="0"/>
                                  </p:stCondLst>
                                  <p:childTnLst>
                                    <p:set>
                                      <p:cBhvr>
                                        <p:cTn id="68" dur="1" fill="hold">
                                          <p:stCondLst>
                                            <p:cond delay="0"/>
                                          </p:stCondLst>
                                        </p:cTn>
                                        <p:tgtEl>
                                          <p:spTgt spid="45"/>
                                        </p:tgtEl>
                                        <p:attrNameLst>
                                          <p:attrName>style.visibility</p:attrName>
                                        </p:attrNameLst>
                                      </p:cBhvr>
                                      <p:to>
                                        <p:strVal val="visible"/>
                                      </p:to>
                                    </p:set>
                                  </p:childTnLst>
                                </p:cTn>
                              </p:par>
                              <p:par>
                                <p:cTn id="69" presetID="1" presetClass="entr" presetSubtype="0" fill="hold" nodeType="withEffect">
                                  <p:stCondLst>
                                    <p:cond delay="0"/>
                                  </p:stCondLst>
                                  <p:childTnLst>
                                    <p:set>
                                      <p:cBhvr>
                                        <p:cTn id="70" dur="1" fill="hold">
                                          <p:stCondLst>
                                            <p:cond delay="0"/>
                                          </p:stCondLst>
                                        </p:cTn>
                                        <p:tgtEl>
                                          <p:spTgt spid="46"/>
                                        </p:tgtEl>
                                        <p:attrNameLst>
                                          <p:attrName>style.visibility</p:attrName>
                                        </p:attrNameLst>
                                      </p:cBhvr>
                                      <p:to>
                                        <p:strVal val="visible"/>
                                      </p:to>
                                    </p:set>
                                  </p:childTnLst>
                                </p:cTn>
                              </p:par>
                              <p:par>
                                <p:cTn id="71" presetID="1" presetClass="entr" presetSubtype="0" fill="hold" grpId="0" nodeType="withEffect">
                                  <p:stCondLst>
                                    <p:cond delay="0"/>
                                  </p:stCondLst>
                                  <p:childTnLst>
                                    <p:set>
                                      <p:cBhvr>
                                        <p:cTn id="72" dur="1" fill="hold">
                                          <p:stCondLst>
                                            <p:cond delay="0"/>
                                          </p:stCondLst>
                                        </p:cTn>
                                        <p:tgtEl>
                                          <p:spTgt spid="53"/>
                                        </p:tgtEl>
                                        <p:attrNameLst>
                                          <p:attrName>style.visibility</p:attrName>
                                        </p:attrNameLst>
                                      </p:cBhvr>
                                      <p:to>
                                        <p:strVal val="visible"/>
                                      </p:to>
                                    </p:set>
                                  </p:childTnLst>
                                </p:cTn>
                              </p:par>
                              <p:par>
                                <p:cTn id="73" presetID="1" presetClass="entr" presetSubtype="0" fill="hold" grpId="0" nodeType="withEffect">
                                  <p:stCondLst>
                                    <p:cond delay="0"/>
                                  </p:stCondLst>
                                  <p:childTnLst>
                                    <p:set>
                                      <p:cBhvr>
                                        <p:cTn id="74" dur="1" fill="hold">
                                          <p:stCondLst>
                                            <p:cond delay="0"/>
                                          </p:stCondLst>
                                        </p:cTn>
                                        <p:tgtEl>
                                          <p:spTgt spid="54"/>
                                        </p:tgtEl>
                                        <p:attrNameLst>
                                          <p:attrName>style.visibility</p:attrName>
                                        </p:attrNameLst>
                                      </p:cBhvr>
                                      <p:to>
                                        <p:strVal val="visible"/>
                                      </p:to>
                                    </p:set>
                                  </p:childTnLst>
                                </p:cTn>
                              </p:par>
                              <p:par>
                                <p:cTn id="75" presetID="1" presetClass="entr" presetSubtype="0" fill="hold" grpId="0" nodeType="withEffect">
                                  <p:stCondLst>
                                    <p:cond delay="0"/>
                                  </p:stCondLst>
                                  <p:childTnLst>
                                    <p:set>
                                      <p:cBhvr>
                                        <p:cTn id="76" dur="1" fill="hold">
                                          <p:stCondLst>
                                            <p:cond delay="0"/>
                                          </p:stCondLst>
                                        </p:cTn>
                                        <p:tgtEl>
                                          <p:spTgt spid="55"/>
                                        </p:tgtEl>
                                        <p:attrNameLst>
                                          <p:attrName>style.visibility</p:attrName>
                                        </p:attrNameLst>
                                      </p:cBhvr>
                                      <p:to>
                                        <p:strVal val="visible"/>
                                      </p:to>
                                    </p:set>
                                  </p:childTnLst>
                                </p:cTn>
                              </p:par>
                              <p:par>
                                <p:cTn id="77" presetID="1" presetClass="entr" presetSubtype="0" fill="hold" grpId="0" nodeType="withEffect">
                                  <p:stCondLst>
                                    <p:cond delay="0"/>
                                  </p:stCondLst>
                                  <p:childTnLst>
                                    <p:set>
                                      <p:cBhvr>
                                        <p:cTn id="78" dur="1" fill="hold">
                                          <p:stCondLst>
                                            <p:cond delay="0"/>
                                          </p:stCondLst>
                                        </p:cTn>
                                        <p:tgtEl>
                                          <p:spTgt spid="56"/>
                                        </p:tgtEl>
                                        <p:attrNameLst>
                                          <p:attrName>style.visibility</p:attrName>
                                        </p:attrNameLst>
                                      </p:cBhvr>
                                      <p:to>
                                        <p:strVal val="visible"/>
                                      </p:to>
                                    </p:set>
                                  </p:childTnLst>
                                </p:cTn>
                              </p:par>
                              <p:par>
                                <p:cTn id="79" presetID="1" presetClass="entr" presetSubtype="0" fill="hold" grpId="0" nodeType="withEffect">
                                  <p:stCondLst>
                                    <p:cond delay="0"/>
                                  </p:stCondLst>
                                  <p:childTnLst>
                                    <p:set>
                                      <p:cBhvr>
                                        <p:cTn id="80" dur="1" fill="hold">
                                          <p:stCondLst>
                                            <p:cond delay="0"/>
                                          </p:stCondLst>
                                        </p:cTn>
                                        <p:tgtEl>
                                          <p:spTgt spid="57"/>
                                        </p:tgtEl>
                                        <p:attrNameLst>
                                          <p:attrName>style.visibility</p:attrName>
                                        </p:attrNameLst>
                                      </p:cBhvr>
                                      <p:to>
                                        <p:strVal val="visible"/>
                                      </p:to>
                                    </p:set>
                                  </p:childTnLst>
                                </p:cTn>
                              </p:par>
                              <p:par>
                                <p:cTn id="81" presetID="1" presetClass="entr" presetSubtype="0" fill="hold" grpId="0" nodeType="withEffect">
                                  <p:stCondLst>
                                    <p:cond delay="0"/>
                                  </p:stCondLst>
                                  <p:childTnLst>
                                    <p:set>
                                      <p:cBhvr>
                                        <p:cTn id="82" dur="1" fill="hold">
                                          <p:stCondLst>
                                            <p:cond delay="0"/>
                                          </p:stCondLst>
                                        </p:cTn>
                                        <p:tgtEl>
                                          <p:spTgt spid="58"/>
                                        </p:tgtEl>
                                        <p:attrNameLst>
                                          <p:attrName>style.visibility</p:attrName>
                                        </p:attrNameLst>
                                      </p:cBhvr>
                                      <p:to>
                                        <p:strVal val="visible"/>
                                      </p:to>
                                    </p:set>
                                  </p:childTnLst>
                                </p:cTn>
                              </p:par>
                              <p:par>
                                <p:cTn id="83" presetID="1" presetClass="entr" presetSubtype="0" fill="hold" grpId="0" nodeType="withEffect">
                                  <p:stCondLst>
                                    <p:cond delay="0"/>
                                  </p:stCondLst>
                                  <p:childTnLst>
                                    <p:set>
                                      <p:cBhvr>
                                        <p:cTn id="84" dur="1" fill="hold">
                                          <p:stCondLst>
                                            <p:cond delay="0"/>
                                          </p:stCondLst>
                                        </p:cTn>
                                        <p:tgtEl>
                                          <p:spTgt spid="59"/>
                                        </p:tgtEl>
                                        <p:attrNameLst>
                                          <p:attrName>style.visibility</p:attrName>
                                        </p:attrNameLst>
                                      </p:cBhvr>
                                      <p:to>
                                        <p:strVal val="visible"/>
                                      </p:to>
                                    </p:set>
                                  </p:childTnLst>
                                </p:cTn>
                              </p:par>
                              <p:par>
                                <p:cTn id="85" presetID="1" presetClass="entr" presetSubtype="0" fill="hold" grpId="0" nodeType="withEffect">
                                  <p:stCondLst>
                                    <p:cond delay="0"/>
                                  </p:stCondLst>
                                  <p:childTnLst>
                                    <p:set>
                                      <p:cBhvr>
                                        <p:cTn id="86" dur="1" fill="hold">
                                          <p:stCondLst>
                                            <p:cond delay="0"/>
                                          </p:stCondLst>
                                        </p:cTn>
                                        <p:tgtEl>
                                          <p:spTgt spid="61"/>
                                        </p:tgtEl>
                                        <p:attrNameLst>
                                          <p:attrName>style.visibility</p:attrName>
                                        </p:attrNameLst>
                                      </p:cBhvr>
                                      <p:to>
                                        <p:strVal val="visible"/>
                                      </p:to>
                                    </p:set>
                                  </p:childTnLst>
                                </p:cTn>
                              </p:par>
                              <p:par>
                                <p:cTn id="87" presetID="1" presetClass="entr" presetSubtype="0" fill="hold" grpId="0" nodeType="withEffect">
                                  <p:stCondLst>
                                    <p:cond delay="0"/>
                                  </p:stCondLst>
                                  <p:childTnLst>
                                    <p:set>
                                      <p:cBhvr>
                                        <p:cTn id="88" dur="1" fill="hold">
                                          <p:stCondLst>
                                            <p:cond delay="0"/>
                                          </p:stCondLst>
                                        </p:cTn>
                                        <p:tgtEl>
                                          <p:spTgt spid="62"/>
                                        </p:tgtEl>
                                        <p:attrNameLst>
                                          <p:attrName>style.visibility</p:attrName>
                                        </p:attrNameLst>
                                      </p:cBhvr>
                                      <p:to>
                                        <p:strVal val="visible"/>
                                      </p:to>
                                    </p:set>
                                  </p:childTnLst>
                                </p:cTn>
                              </p:par>
                              <p:par>
                                <p:cTn id="89" presetID="1" presetClass="entr" presetSubtype="0" fill="hold" grpId="0" nodeType="withEffect">
                                  <p:stCondLst>
                                    <p:cond delay="0"/>
                                  </p:stCondLst>
                                  <p:childTnLst>
                                    <p:set>
                                      <p:cBhvr>
                                        <p:cTn id="90" dur="1" fill="hold">
                                          <p:stCondLst>
                                            <p:cond delay="0"/>
                                          </p:stCondLst>
                                        </p:cTn>
                                        <p:tgtEl>
                                          <p:spTgt spid="63"/>
                                        </p:tgtEl>
                                        <p:attrNameLst>
                                          <p:attrName>style.visibility</p:attrName>
                                        </p:attrNameLst>
                                      </p:cBhvr>
                                      <p:to>
                                        <p:strVal val="visible"/>
                                      </p:to>
                                    </p:set>
                                  </p:childTnLst>
                                </p:cTn>
                              </p:par>
                              <p:par>
                                <p:cTn id="91" presetID="1" presetClass="entr" presetSubtype="0" fill="hold" grpId="0" nodeType="withEffect">
                                  <p:stCondLst>
                                    <p:cond delay="0"/>
                                  </p:stCondLst>
                                  <p:childTnLst>
                                    <p:set>
                                      <p:cBhvr>
                                        <p:cTn id="92" dur="1" fill="hold">
                                          <p:stCondLst>
                                            <p:cond delay="0"/>
                                          </p:stCondLst>
                                        </p:cTn>
                                        <p:tgtEl>
                                          <p:spTgt spid="64"/>
                                        </p:tgtEl>
                                        <p:attrNameLst>
                                          <p:attrName>style.visibility</p:attrName>
                                        </p:attrNameLst>
                                      </p:cBhvr>
                                      <p:to>
                                        <p:strVal val="visible"/>
                                      </p:to>
                                    </p:set>
                                  </p:childTnLst>
                                </p:cTn>
                              </p:par>
                              <p:par>
                                <p:cTn id="93" presetID="1" presetClass="entr" presetSubtype="0" fill="hold" grpId="0" nodeType="withEffect">
                                  <p:stCondLst>
                                    <p:cond delay="0"/>
                                  </p:stCondLst>
                                  <p:childTnLst>
                                    <p:set>
                                      <p:cBhvr>
                                        <p:cTn id="94" dur="1" fill="hold">
                                          <p:stCondLst>
                                            <p:cond delay="0"/>
                                          </p:stCondLst>
                                        </p:cTn>
                                        <p:tgtEl>
                                          <p:spTgt spid="65"/>
                                        </p:tgtEl>
                                        <p:attrNameLst>
                                          <p:attrName>style.visibility</p:attrName>
                                        </p:attrNameLst>
                                      </p:cBhvr>
                                      <p:to>
                                        <p:strVal val="visible"/>
                                      </p:to>
                                    </p:set>
                                  </p:childTnLst>
                                </p:cTn>
                              </p:par>
                              <p:par>
                                <p:cTn id="95" presetID="1" presetClass="entr" presetSubtype="0" fill="hold" grpId="0" nodeType="withEffect">
                                  <p:stCondLst>
                                    <p:cond delay="0"/>
                                  </p:stCondLst>
                                  <p:childTnLst>
                                    <p:set>
                                      <p:cBhvr>
                                        <p:cTn id="96" dur="1" fill="hold">
                                          <p:stCondLst>
                                            <p:cond delay="0"/>
                                          </p:stCondLst>
                                        </p:cTn>
                                        <p:tgtEl>
                                          <p:spTgt spid="66"/>
                                        </p:tgtEl>
                                        <p:attrNameLst>
                                          <p:attrName>style.visibility</p:attrName>
                                        </p:attrNameLst>
                                      </p:cBhvr>
                                      <p:to>
                                        <p:strVal val="visible"/>
                                      </p:to>
                                    </p:set>
                                  </p:childTnLst>
                                </p:cTn>
                              </p:par>
                              <p:par>
                                <p:cTn id="97" presetID="1" presetClass="entr" presetSubtype="0" fill="hold" grpId="0" nodeType="withEffect">
                                  <p:stCondLst>
                                    <p:cond delay="0"/>
                                  </p:stCondLst>
                                  <p:childTnLst>
                                    <p:set>
                                      <p:cBhvr>
                                        <p:cTn id="98" dur="1" fill="hold">
                                          <p:stCondLst>
                                            <p:cond delay="0"/>
                                          </p:stCondLst>
                                        </p:cTn>
                                        <p:tgtEl>
                                          <p:spTgt spid="67"/>
                                        </p:tgtEl>
                                        <p:attrNameLst>
                                          <p:attrName>style.visibility</p:attrName>
                                        </p:attrNameLst>
                                      </p:cBhvr>
                                      <p:to>
                                        <p:strVal val="visible"/>
                                      </p:to>
                                    </p:set>
                                  </p:childTnLst>
                                </p:cTn>
                              </p:par>
                              <p:par>
                                <p:cTn id="99" presetID="1" presetClass="entr" presetSubtype="0" fill="hold" grpId="0" nodeType="withEffect">
                                  <p:stCondLst>
                                    <p:cond delay="0"/>
                                  </p:stCondLst>
                                  <p:childTnLst>
                                    <p:set>
                                      <p:cBhvr>
                                        <p:cTn id="100" dur="1" fill="hold">
                                          <p:stCondLst>
                                            <p:cond delay="0"/>
                                          </p:stCondLst>
                                        </p:cTn>
                                        <p:tgtEl>
                                          <p:spTgt spid="68"/>
                                        </p:tgtEl>
                                        <p:attrNameLst>
                                          <p:attrName>style.visibility</p:attrName>
                                        </p:attrNameLst>
                                      </p:cBhvr>
                                      <p:to>
                                        <p:strVal val="visible"/>
                                      </p:to>
                                    </p:set>
                                  </p:childTnLst>
                                </p:cTn>
                              </p:par>
                              <p:par>
                                <p:cTn id="101" presetID="1" presetClass="entr" presetSubtype="0" fill="hold" grpId="0" nodeType="withEffect">
                                  <p:stCondLst>
                                    <p:cond delay="0"/>
                                  </p:stCondLst>
                                  <p:childTnLst>
                                    <p:set>
                                      <p:cBhvr>
                                        <p:cTn id="102" dur="1" fill="hold">
                                          <p:stCondLst>
                                            <p:cond delay="0"/>
                                          </p:stCondLst>
                                        </p:cTn>
                                        <p:tgtEl>
                                          <p:spTgt spid="69"/>
                                        </p:tgtEl>
                                        <p:attrNameLst>
                                          <p:attrName>style.visibility</p:attrName>
                                        </p:attrNameLst>
                                      </p:cBhvr>
                                      <p:to>
                                        <p:strVal val="visible"/>
                                      </p:to>
                                    </p:set>
                                  </p:childTnLst>
                                </p:cTn>
                              </p:par>
                              <p:par>
                                <p:cTn id="103" presetID="1" presetClass="entr" presetSubtype="0" fill="hold" grpId="0" nodeType="withEffect">
                                  <p:stCondLst>
                                    <p:cond delay="0"/>
                                  </p:stCondLst>
                                  <p:childTnLst>
                                    <p:set>
                                      <p:cBhvr>
                                        <p:cTn id="104" dur="1" fill="hold">
                                          <p:stCondLst>
                                            <p:cond delay="0"/>
                                          </p:stCondLst>
                                        </p:cTn>
                                        <p:tgtEl>
                                          <p:spTgt spid="75"/>
                                        </p:tgtEl>
                                        <p:attrNameLst>
                                          <p:attrName>style.visibility</p:attrName>
                                        </p:attrNameLst>
                                      </p:cBhvr>
                                      <p:to>
                                        <p:strVal val="visible"/>
                                      </p:to>
                                    </p:set>
                                  </p:childTnLst>
                                </p:cTn>
                              </p:par>
                              <p:par>
                                <p:cTn id="105" presetID="1" presetClass="entr" presetSubtype="0" fill="hold" grpId="0" nodeType="withEffect">
                                  <p:stCondLst>
                                    <p:cond delay="0"/>
                                  </p:stCondLst>
                                  <p:childTnLst>
                                    <p:set>
                                      <p:cBhvr>
                                        <p:cTn id="106" dur="1" fill="hold">
                                          <p:stCondLst>
                                            <p:cond delay="0"/>
                                          </p:stCondLst>
                                        </p:cTn>
                                        <p:tgtEl>
                                          <p:spTgt spid="76"/>
                                        </p:tgtEl>
                                        <p:attrNameLst>
                                          <p:attrName>style.visibility</p:attrName>
                                        </p:attrNameLst>
                                      </p:cBhvr>
                                      <p:to>
                                        <p:strVal val="visible"/>
                                      </p:to>
                                    </p:set>
                                  </p:childTnLst>
                                </p:cTn>
                              </p:par>
                              <p:par>
                                <p:cTn id="107" presetID="1" presetClass="entr" presetSubtype="0" fill="hold" grpId="0" nodeType="withEffect">
                                  <p:stCondLst>
                                    <p:cond delay="0"/>
                                  </p:stCondLst>
                                  <p:childTnLst>
                                    <p:set>
                                      <p:cBhvr>
                                        <p:cTn id="108" dur="1" fill="hold">
                                          <p:stCondLst>
                                            <p:cond delay="0"/>
                                          </p:stCondLst>
                                        </p:cTn>
                                        <p:tgtEl>
                                          <p:spTgt spid="77"/>
                                        </p:tgtEl>
                                        <p:attrNameLst>
                                          <p:attrName>style.visibility</p:attrName>
                                        </p:attrNameLst>
                                      </p:cBhvr>
                                      <p:to>
                                        <p:strVal val="visible"/>
                                      </p:to>
                                    </p:set>
                                  </p:childTnLst>
                                </p:cTn>
                              </p:par>
                              <p:par>
                                <p:cTn id="109" presetID="1" presetClass="entr" presetSubtype="0" fill="hold" grpId="0" nodeType="withEffect">
                                  <p:stCondLst>
                                    <p:cond delay="0"/>
                                  </p:stCondLst>
                                  <p:childTnLst>
                                    <p:set>
                                      <p:cBhvr>
                                        <p:cTn id="110" dur="1" fill="hold">
                                          <p:stCondLst>
                                            <p:cond delay="0"/>
                                          </p:stCondLst>
                                        </p:cTn>
                                        <p:tgtEl>
                                          <p:spTgt spid="78"/>
                                        </p:tgtEl>
                                        <p:attrNameLst>
                                          <p:attrName>style.visibility</p:attrName>
                                        </p:attrNameLst>
                                      </p:cBhvr>
                                      <p:to>
                                        <p:strVal val="visible"/>
                                      </p:to>
                                    </p:set>
                                  </p:childTnLst>
                                </p:cTn>
                              </p:par>
                              <p:par>
                                <p:cTn id="111" presetID="1" presetClass="entr" presetSubtype="0" fill="hold" grpId="0" nodeType="withEffect">
                                  <p:stCondLst>
                                    <p:cond delay="0"/>
                                  </p:stCondLst>
                                  <p:childTnLst>
                                    <p:set>
                                      <p:cBhvr>
                                        <p:cTn id="112" dur="1" fill="hold">
                                          <p:stCondLst>
                                            <p:cond delay="0"/>
                                          </p:stCondLst>
                                        </p:cTn>
                                        <p:tgtEl>
                                          <p:spTgt spid="79"/>
                                        </p:tgtEl>
                                        <p:attrNameLst>
                                          <p:attrName>style.visibility</p:attrName>
                                        </p:attrNameLst>
                                      </p:cBhvr>
                                      <p:to>
                                        <p:strVal val="visible"/>
                                      </p:to>
                                    </p:set>
                                  </p:childTnLst>
                                </p:cTn>
                              </p:par>
                              <p:par>
                                <p:cTn id="113" presetID="1" presetClass="entr" presetSubtype="0" fill="hold" grpId="0" nodeType="withEffect">
                                  <p:stCondLst>
                                    <p:cond delay="0"/>
                                  </p:stCondLst>
                                  <p:childTnLst>
                                    <p:set>
                                      <p:cBhvr>
                                        <p:cTn id="114" dur="1" fill="hold">
                                          <p:stCondLst>
                                            <p:cond delay="0"/>
                                          </p:stCondLst>
                                        </p:cTn>
                                        <p:tgtEl>
                                          <p:spTgt spid="80"/>
                                        </p:tgtEl>
                                        <p:attrNameLst>
                                          <p:attrName>style.visibility</p:attrName>
                                        </p:attrNameLst>
                                      </p:cBhvr>
                                      <p:to>
                                        <p:strVal val="visible"/>
                                      </p:to>
                                    </p:set>
                                  </p:childTnLst>
                                </p:cTn>
                              </p:par>
                              <p:par>
                                <p:cTn id="115" presetID="1" presetClass="entr" presetSubtype="0" fill="hold" grpId="0" nodeType="withEffect">
                                  <p:stCondLst>
                                    <p:cond delay="0"/>
                                  </p:stCondLst>
                                  <p:childTnLst>
                                    <p:set>
                                      <p:cBhvr>
                                        <p:cTn id="116" dur="1" fill="hold">
                                          <p:stCondLst>
                                            <p:cond delay="0"/>
                                          </p:stCondLst>
                                        </p:cTn>
                                        <p:tgtEl>
                                          <p:spTgt spid="81"/>
                                        </p:tgtEl>
                                        <p:attrNameLst>
                                          <p:attrName>style.visibility</p:attrName>
                                        </p:attrNameLst>
                                      </p:cBhvr>
                                      <p:to>
                                        <p:strVal val="visible"/>
                                      </p:to>
                                    </p:set>
                                  </p:childTnLst>
                                </p:cTn>
                              </p:par>
                              <p:par>
                                <p:cTn id="117" presetID="1" presetClass="entr" presetSubtype="0" fill="hold" grpId="0" nodeType="withEffect">
                                  <p:stCondLst>
                                    <p:cond delay="0"/>
                                  </p:stCondLst>
                                  <p:childTnLst>
                                    <p:set>
                                      <p:cBhvr>
                                        <p:cTn id="118" dur="1" fill="hold">
                                          <p:stCondLst>
                                            <p:cond delay="0"/>
                                          </p:stCondLst>
                                        </p:cTn>
                                        <p:tgtEl>
                                          <p:spTgt spid="82"/>
                                        </p:tgtEl>
                                        <p:attrNameLst>
                                          <p:attrName>style.visibility</p:attrName>
                                        </p:attrNameLst>
                                      </p:cBhvr>
                                      <p:to>
                                        <p:strVal val="visible"/>
                                      </p:to>
                                    </p:set>
                                  </p:childTnLst>
                                </p:cTn>
                              </p:par>
                              <p:par>
                                <p:cTn id="119" presetID="1" presetClass="entr" presetSubtype="0" fill="hold" grpId="0" nodeType="withEffect">
                                  <p:stCondLst>
                                    <p:cond delay="0"/>
                                  </p:stCondLst>
                                  <p:childTnLst>
                                    <p:set>
                                      <p:cBhvr>
                                        <p:cTn id="120" dur="1" fill="hold">
                                          <p:stCondLst>
                                            <p:cond delay="0"/>
                                          </p:stCondLst>
                                        </p:cTn>
                                        <p:tgtEl>
                                          <p:spTgt spid="83"/>
                                        </p:tgtEl>
                                        <p:attrNameLst>
                                          <p:attrName>style.visibility</p:attrName>
                                        </p:attrNameLst>
                                      </p:cBhvr>
                                      <p:to>
                                        <p:strVal val="visible"/>
                                      </p:to>
                                    </p:set>
                                  </p:childTnLst>
                                </p:cTn>
                              </p:par>
                              <p:par>
                                <p:cTn id="121" presetID="1" presetClass="entr" presetSubtype="0" fill="hold" grpId="0" nodeType="withEffect">
                                  <p:stCondLst>
                                    <p:cond delay="0"/>
                                  </p:stCondLst>
                                  <p:childTnLst>
                                    <p:set>
                                      <p:cBhvr>
                                        <p:cTn id="122" dur="1" fill="hold">
                                          <p:stCondLst>
                                            <p:cond delay="0"/>
                                          </p:stCondLst>
                                        </p:cTn>
                                        <p:tgtEl>
                                          <p:spTgt spid="84"/>
                                        </p:tgtEl>
                                        <p:attrNameLst>
                                          <p:attrName>style.visibility</p:attrName>
                                        </p:attrNameLst>
                                      </p:cBhvr>
                                      <p:to>
                                        <p:strVal val="visible"/>
                                      </p:to>
                                    </p:set>
                                  </p:childTnLst>
                                </p:cTn>
                              </p:par>
                              <p:par>
                                <p:cTn id="123" presetID="1" presetClass="entr" presetSubtype="0" fill="hold" grpId="0" nodeType="withEffect">
                                  <p:stCondLst>
                                    <p:cond delay="0"/>
                                  </p:stCondLst>
                                  <p:childTnLst>
                                    <p:set>
                                      <p:cBhvr>
                                        <p:cTn id="124" dur="1" fill="hold">
                                          <p:stCondLst>
                                            <p:cond delay="0"/>
                                          </p:stCondLst>
                                        </p:cTn>
                                        <p:tgtEl>
                                          <p:spTgt spid="85"/>
                                        </p:tgtEl>
                                        <p:attrNameLst>
                                          <p:attrName>style.visibility</p:attrName>
                                        </p:attrNameLst>
                                      </p:cBhvr>
                                      <p:to>
                                        <p:strVal val="visible"/>
                                      </p:to>
                                    </p:set>
                                  </p:childTnLst>
                                </p:cTn>
                              </p:par>
                              <p:par>
                                <p:cTn id="125" presetID="1" presetClass="entr" presetSubtype="0" fill="hold" grpId="0" nodeType="withEffect">
                                  <p:stCondLst>
                                    <p:cond delay="0"/>
                                  </p:stCondLst>
                                  <p:childTnLst>
                                    <p:set>
                                      <p:cBhvr>
                                        <p:cTn id="126" dur="1" fill="hold">
                                          <p:stCondLst>
                                            <p:cond delay="0"/>
                                          </p:stCondLst>
                                        </p:cTn>
                                        <p:tgtEl>
                                          <p:spTgt spid="86"/>
                                        </p:tgtEl>
                                        <p:attrNameLst>
                                          <p:attrName>style.visibility</p:attrName>
                                        </p:attrNameLst>
                                      </p:cBhvr>
                                      <p:to>
                                        <p:strVal val="visible"/>
                                      </p:to>
                                    </p:set>
                                  </p:childTnLst>
                                </p:cTn>
                              </p:par>
                              <p:par>
                                <p:cTn id="127" presetID="1" presetClass="entr" presetSubtype="0" fill="hold" grpId="0" nodeType="withEffect">
                                  <p:stCondLst>
                                    <p:cond delay="0"/>
                                  </p:stCondLst>
                                  <p:childTnLst>
                                    <p:set>
                                      <p:cBhvr>
                                        <p:cTn id="128" dur="1" fill="hold">
                                          <p:stCondLst>
                                            <p:cond delay="0"/>
                                          </p:stCondLst>
                                        </p:cTn>
                                        <p:tgtEl>
                                          <p:spTgt spid="87"/>
                                        </p:tgtEl>
                                        <p:attrNameLst>
                                          <p:attrName>style.visibility</p:attrName>
                                        </p:attrNameLst>
                                      </p:cBhvr>
                                      <p:to>
                                        <p:strVal val="visible"/>
                                      </p:to>
                                    </p:set>
                                  </p:childTnLst>
                                </p:cTn>
                              </p:par>
                              <p:par>
                                <p:cTn id="129" presetID="1" presetClass="entr" presetSubtype="0" fill="hold" grpId="0" nodeType="withEffect">
                                  <p:stCondLst>
                                    <p:cond delay="0"/>
                                  </p:stCondLst>
                                  <p:childTnLst>
                                    <p:set>
                                      <p:cBhvr>
                                        <p:cTn id="130" dur="1" fill="hold">
                                          <p:stCondLst>
                                            <p:cond delay="0"/>
                                          </p:stCondLst>
                                        </p:cTn>
                                        <p:tgtEl>
                                          <p:spTgt spid="88"/>
                                        </p:tgtEl>
                                        <p:attrNameLst>
                                          <p:attrName>style.visibility</p:attrName>
                                        </p:attrNameLst>
                                      </p:cBhvr>
                                      <p:to>
                                        <p:strVal val="visible"/>
                                      </p:to>
                                    </p:set>
                                  </p:childTnLst>
                                </p:cTn>
                              </p:par>
                              <p:par>
                                <p:cTn id="131" presetID="1" presetClass="entr" presetSubtype="0" fill="hold" grpId="0" nodeType="withEffect">
                                  <p:stCondLst>
                                    <p:cond delay="0"/>
                                  </p:stCondLst>
                                  <p:childTnLst>
                                    <p:set>
                                      <p:cBhvr>
                                        <p:cTn id="132" dur="1" fill="hold">
                                          <p:stCondLst>
                                            <p:cond delay="0"/>
                                          </p:stCondLst>
                                        </p:cTn>
                                        <p:tgtEl>
                                          <p:spTgt spid="89"/>
                                        </p:tgtEl>
                                        <p:attrNameLst>
                                          <p:attrName>style.visibility</p:attrName>
                                        </p:attrNameLst>
                                      </p:cBhvr>
                                      <p:to>
                                        <p:strVal val="visible"/>
                                      </p:to>
                                    </p:set>
                                  </p:childTnLst>
                                </p:cTn>
                              </p:par>
                              <p:par>
                                <p:cTn id="133" presetID="1" presetClass="entr" presetSubtype="0" fill="hold" grpId="0" nodeType="withEffect">
                                  <p:stCondLst>
                                    <p:cond delay="0"/>
                                  </p:stCondLst>
                                  <p:childTnLst>
                                    <p:set>
                                      <p:cBhvr>
                                        <p:cTn id="134" dur="1" fill="hold">
                                          <p:stCondLst>
                                            <p:cond delay="0"/>
                                          </p:stCondLst>
                                        </p:cTn>
                                        <p:tgtEl>
                                          <p:spTgt spid="90"/>
                                        </p:tgtEl>
                                        <p:attrNameLst>
                                          <p:attrName>style.visibility</p:attrName>
                                        </p:attrNameLst>
                                      </p:cBhvr>
                                      <p:to>
                                        <p:strVal val="visible"/>
                                      </p:to>
                                    </p:set>
                                  </p:childTnLst>
                                </p:cTn>
                              </p:par>
                            </p:childTnLst>
                          </p:cTn>
                        </p:par>
                      </p:childTnLst>
                    </p:cTn>
                  </p:par>
                  <p:par>
                    <p:cTn id="135" fill="hold">
                      <p:stCondLst>
                        <p:cond delay="indefinite"/>
                      </p:stCondLst>
                      <p:childTnLst>
                        <p:par>
                          <p:cTn id="136" fill="hold">
                            <p:stCondLst>
                              <p:cond delay="0"/>
                            </p:stCondLst>
                            <p:childTnLst>
                              <p:par>
                                <p:cTn id="137" presetID="1" presetClass="entr" presetSubtype="0" fill="hold" grpId="0" nodeType="clickEffect">
                                  <p:stCondLst>
                                    <p:cond delay="0"/>
                                  </p:stCondLst>
                                  <p:childTnLst>
                                    <p:set>
                                      <p:cBhvr>
                                        <p:cTn id="138" dur="1" fill="hold">
                                          <p:stCondLst>
                                            <p:cond delay="0"/>
                                          </p:stCondLst>
                                        </p:cTn>
                                        <p:tgtEl>
                                          <p:spTgt spid="92"/>
                                        </p:tgtEl>
                                        <p:attrNameLst>
                                          <p:attrName>style.visibility</p:attrName>
                                        </p:attrNameLst>
                                      </p:cBhvr>
                                      <p:to>
                                        <p:strVal val="visible"/>
                                      </p:to>
                                    </p:set>
                                  </p:childTnLst>
                                </p:cTn>
                              </p:par>
                            </p:childTnLst>
                          </p:cTn>
                        </p:par>
                      </p:childTnLst>
                    </p:cTn>
                  </p:par>
                  <p:par>
                    <p:cTn id="139" fill="hold">
                      <p:stCondLst>
                        <p:cond delay="indefinite"/>
                      </p:stCondLst>
                      <p:childTnLst>
                        <p:par>
                          <p:cTn id="140" fill="hold">
                            <p:stCondLst>
                              <p:cond delay="0"/>
                            </p:stCondLst>
                            <p:childTnLst>
                              <p:par>
                                <p:cTn id="141" presetID="1" presetClass="entr" presetSubtype="0" fill="hold" grpId="0" nodeType="clickEffect">
                                  <p:stCondLst>
                                    <p:cond delay="0"/>
                                  </p:stCondLst>
                                  <p:childTnLst>
                                    <p:set>
                                      <p:cBhvr>
                                        <p:cTn id="142" dur="1" fill="hold">
                                          <p:stCondLst>
                                            <p:cond delay="0"/>
                                          </p:stCondLst>
                                        </p:cTn>
                                        <p:tgtEl>
                                          <p:spTgt spid="93"/>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2" grpId="0" animBg="1"/>
      <p:bldP spid="13" grpId="0" animBg="1"/>
      <p:bldP spid="14" grpId="0" animBg="1"/>
      <p:bldP spid="15" grpId="0" animBg="1"/>
      <p:bldP spid="16" grpId="0" animBg="1"/>
      <p:bldP spid="17" grpId="0" animBg="1"/>
      <p:bldP spid="18" grpId="0" animBg="1"/>
      <p:bldP spid="19" grpId="0" animBg="1"/>
      <p:bldP spid="20" grpId="0" animBg="1"/>
      <p:bldP spid="22" grpId="0" animBg="1"/>
      <p:bldP spid="23" grpId="0" animBg="1"/>
      <p:bldP spid="24" grpId="0" animBg="1"/>
      <p:bldP spid="25" grpId="0" animBg="1"/>
      <p:bldP spid="26" grpId="0" animBg="1"/>
      <p:bldP spid="27" grpId="0" animBg="1"/>
      <p:bldP spid="28" grpId="0" animBg="1"/>
      <p:bldP spid="29" grpId="0" animBg="1"/>
      <p:bldP spid="30" grpId="0" animBg="1"/>
      <p:bldP spid="31" grpId="0" animBg="1"/>
      <p:bldP spid="32" grpId="0" animBg="1"/>
      <p:bldP spid="33" grpId="0"/>
      <p:bldP spid="34" grpId="0"/>
      <p:bldP spid="35" grpId="0"/>
      <p:bldP spid="36" grpId="0" animBg="1"/>
      <p:bldP spid="37" grpId="0" animBg="1"/>
      <p:bldP spid="38" grpId="0" animBg="1"/>
      <p:bldP spid="53" grpId="0" animBg="1"/>
      <p:bldP spid="54" grpId="0" animBg="1"/>
      <p:bldP spid="55" grpId="0" animBg="1"/>
      <p:bldP spid="56" grpId="0" animBg="1"/>
      <p:bldP spid="57" grpId="0" animBg="1"/>
      <p:bldP spid="58" grpId="0" animBg="1"/>
      <p:bldP spid="59" grpId="0" animBg="1"/>
      <p:bldP spid="61" grpId="0" animBg="1"/>
      <p:bldP spid="62" grpId="0" animBg="1"/>
      <p:bldP spid="63" grpId="0" animBg="1"/>
      <p:bldP spid="64" grpId="0" animBg="1"/>
      <p:bldP spid="65" grpId="0" animBg="1"/>
      <p:bldP spid="66" grpId="0" animBg="1"/>
      <p:bldP spid="67" grpId="0"/>
      <p:bldP spid="68" grpId="0"/>
      <p:bldP spid="69" grpId="0"/>
      <p:bldP spid="75" grpId="0" animBg="1"/>
      <p:bldP spid="76" grpId="0" animBg="1"/>
      <p:bldP spid="77" grpId="0" animBg="1"/>
      <p:bldP spid="78" grpId="0" animBg="1"/>
      <p:bldP spid="79" grpId="0" animBg="1"/>
      <p:bldP spid="80" grpId="0" animBg="1"/>
      <p:bldP spid="81" grpId="0" animBg="1"/>
      <p:bldP spid="82" grpId="0" animBg="1"/>
      <p:bldP spid="83" grpId="0" animBg="1"/>
      <p:bldP spid="84" grpId="0" animBg="1"/>
      <p:bldP spid="85" grpId="0" animBg="1"/>
      <p:bldP spid="86" grpId="0" animBg="1"/>
      <p:bldP spid="87" grpId="0" animBg="1"/>
      <p:bldP spid="88" grpId="0" animBg="1"/>
      <p:bldP spid="89" grpId="0" animBg="1"/>
      <p:bldP spid="90" grpId="0"/>
      <p:bldP spid="91" grpId="0"/>
      <p:bldP spid="92" grpId="0"/>
      <p:bldP spid="93" grpId="0"/>
    </p:bldLst>
  </p:timing>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Picture 4">
            <a:extLst>
              <a:ext uri="{FF2B5EF4-FFF2-40B4-BE49-F238E27FC236}">
                <a16:creationId xmlns:a16="http://schemas.microsoft.com/office/drawing/2014/main" id="{381D8194-88D1-BE71-7686-61183258C156}"/>
              </a:ext>
            </a:extLst>
          </p:cNvPr>
          <p:cNvPicPr>
            <a:picLocks noChangeAspect="1"/>
          </p:cNvPicPr>
          <p:nvPr/>
        </p:nvPicPr>
        <p:blipFill>
          <a:blip r:embed="rId3"/>
          <a:stretch>
            <a:fillRect/>
          </a:stretch>
        </p:blipFill>
        <p:spPr>
          <a:xfrm>
            <a:off x="644525" y="2179639"/>
            <a:ext cx="5254625" cy="4275138"/>
          </a:xfrm>
          <a:prstGeom prst="rect">
            <a:avLst/>
          </a:prstGeom>
        </p:spPr>
      </p:pic>
      <p:pic>
        <p:nvPicPr>
          <p:cNvPr id="9" name="Picture 8">
            <a:extLst>
              <a:ext uri="{FF2B5EF4-FFF2-40B4-BE49-F238E27FC236}">
                <a16:creationId xmlns:a16="http://schemas.microsoft.com/office/drawing/2014/main" id="{06EEBC98-7ECC-8CEF-F0FF-C771F0BE305E}"/>
              </a:ext>
            </a:extLst>
          </p:cNvPr>
          <p:cNvPicPr>
            <a:picLocks noChangeAspect="1"/>
          </p:cNvPicPr>
          <p:nvPr/>
        </p:nvPicPr>
        <p:blipFill>
          <a:blip r:embed="rId4"/>
          <a:stretch>
            <a:fillRect/>
          </a:stretch>
        </p:blipFill>
        <p:spPr>
          <a:xfrm>
            <a:off x="6096000" y="2225486"/>
            <a:ext cx="5360925" cy="4110755"/>
          </a:xfrm>
          <a:prstGeom prst="rect">
            <a:avLst/>
          </a:prstGeom>
        </p:spPr>
      </p:pic>
      <p:sp>
        <p:nvSpPr>
          <p:cNvPr id="2" name="Title 1">
            <a:extLst>
              <a:ext uri="{FF2B5EF4-FFF2-40B4-BE49-F238E27FC236}">
                <a16:creationId xmlns:a16="http://schemas.microsoft.com/office/drawing/2014/main" id="{D6283DD6-2350-C80D-E7AD-A52B2B176DD9}"/>
              </a:ext>
            </a:extLst>
          </p:cNvPr>
          <p:cNvSpPr>
            <a:spLocks noGrp="1"/>
          </p:cNvSpPr>
          <p:nvPr>
            <p:ph type="title"/>
          </p:nvPr>
        </p:nvSpPr>
        <p:spPr>
          <a:xfrm>
            <a:off x="714375" y="833752"/>
            <a:ext cx="10515600" cy="942664"/>
          </a:xfrm>
        </p:spPr>
        <p:txBody>
          <a:bodyPr vert="horz" lIns="91440" tIns="45720" rIns="91440" bIns="45720" rtlCol="0" anchor="ctr">
            <a:normAutofit/>
          </a:bodyPr>
          <a:lstStyle/>
          <a:p>
            <a:pPr algn="ctr"/>
            <a:r>
              <a:rPr lang="en-US" sz="5200" kern="1200" dirty="0">
                <a:solidFill>
                  <a:schemeClr val="tx1"/>
                </a:solidFill>
                <a:latin typeface="+mj-lt"/>
                <a:ea typeface="+mj-ea"/>
                <a:cs typeface="+mj-cs"/>
              </a:rPr>
              <a:t>Clustering</a:t>
            </a:r>
          </a:p>
        </p:txBody>
      </p:sp>
      <p:sp>
        <p:nvSpPr>
          <p:cNvPr id="3" name="Rectangle">
            <a:extLst>
              <a:ext uri="{FF2B5EF4-FFF2-40B4-BE49-F238E27FC236}">
                <a16:creationId xmlns:a16="http://schemas.microsoft.com/office/drawing/2014/main" id="{11FCB769-2D7A-A410-A147-48D8940BAD70}"/>
              </a:ext>
            </a:extLst>
          </p:cNvPr>
          <p:cNvSpPr/>
          <p:nvPr/>
        </p:nvSpPr>
        <p:spPr>
          <a:xfrm>
            <a:off x="-11767" y="6545179"/>
            <a:ext cx="12203767" cy="315200"/>
          </a:xfrm>
          <a:prstGeom prst="rect">
            <a:avLst/>
          </a:prstGeom>
          <a:solidFill>
            <a:schemeClr val="tx1"/>
          </a:solidFill>
          <a:ln w="12700">
            <a:noFill/>
            <a:miter lim="400000"/>
          </a:ln>
        </p:spPr>
        <p:txBody>
          <a:bodyPr lIns="45719" rIns="45719" anchor="ctr"/>
          <a:lstStyle/>
          <a:p>
            <a:endParaRPr/>
          </a:p>
        </p:txBody>
      </p:sp>
      <p:pic>
        <p:nvPicPr>
          <p:cNvPr id="4" name="Picture 3" descr="Frontier Tech Leaders (@FTLeadersProg) / X">
            <a:extLst>
              <a:ext uri="{FF2B5EF4-FFF2-40B4-BE49-F238E27FC236}">
                <a16:creationId xmlns:a16="http://schemas.microsoft.com/office/drawing/2014/main" id="{8AB2E5C4-582F-5AEF-668B-2524A8F9E4DE}"/>
              </a:ext>
            </a:extLst>
          </p:cNvPr>
          <p:cNvPicPr>
            <a:picLocks noChangeAspect="1"/>
          </p:cNvPicPr>
          <p:nvPr/>
        </p:nvPicPr>
        <p:blipFill>
          <a:blip r:embed="rId5"/>
          <a:stretch>
            <a:fillRect/>
          </a:stretch>
        </p:blipFill>
        <p:spPr>
          <a:xfrm>
            <a:off x="10668000" y="94470"/>
            <a:ext cx="1027893" cy="1027893"/>
          </a:xfrm>
          <a:prstGeom prst="rect">
            <a:avLst/>
          </a:prstGeom>
        </p:spPr>
      </p:pic>
    </p:spTree>
    <p:extLst>
      <p:ext uri="{BB962C8B-B14F-4D97-AF65-F5344CB8AC3E}">
        <p14:creationId xmlns:p14="http://schemas.microsoft.com/office/powerpoint/2010/main" val="45873999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2"/>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5"/>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9"/>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Lst>
  </p:timing>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B525286F-4E23-8CAA-918E-3D039E5F6C65}"/>
              </a:ext>
            </a:extLst>
          </p:cNvPr>
          <p:cNvSpPr>
            <a:spLocks noGrp="1"/>
          </p:cNvSpPr>
          <p:nvPr>
            <p:ph idx="1"/>
          </p:nvPr>
        </p:nvSpPr>
        <p:spPr>
          <a:xfrm>
            <a:off x="743606" y="1092529"/>
            <a:ext cx="10515600" cy="4351338"/>
          </a:xfrm>
        </p:spPr>
        <p:txBody>
          <a:bodyPr>
            <a:normAutofit fontScale="92500" lnSpcReduction="10000"/>
          </a:bodyPr>
          <a:lstStyle/>
          <a:p>
            <a:r>
              <a:rPr lang="en-US" dirty="0"/>
              <a:t>What is unsupervised learning, and how does it differ from supervised learning?</a:t>
            </a:r>
          </a:p>
          <a:p>
            <a:endParaRPr lang="en-US" dirty="0"/>
          </a:p>
          <a:p>
            <a:r>
              <a:rPr lang="en-US" dirty="0"/>
              <a:t>A) Unsupervised learning involves training a model with labeled data, while supervised learning uses unlabeled data.</a:t>
            </a:r>
          </a:p>
          <a:p>
            <a:r>
              <a:rPr lang="en-US" dirty="0"/>
              <a:t>B) Unsupervised learning is used for classification tasks, whereas supervised learning is used for clustering.</a:t>
            </a:r>
          </a:p>
          <a:p>
            <a:r>
              <a:rPr lang="en-US" dirty="0"/>
              <a:t>C) Unsupervised learning deals with unlabeled data and seeks to find patterns or structures within the data without explicit target labels.</a:t>
            </a:r>
          </a:p>
          <a:p>
            <a:r>
              <a:rPr lang="en-US" dirty="0"/>
              <a:t>D) Unsupervised learning requires more computational resources compared to supervised learning.</a:t>
            </a:r>
          </a:p>
        </p:txBody>
      </p:sp>
      <p:sp>
        <p:nvSpPr>
          <p:cNvPr id="6" name="Rectangle 5">
            <a:extLst>
              <a:ext uri="{FF2B5EF4-FFF2-40B4-BE49-F238E27FC236}">
                <a16:creationId xmlns:a16="http://schemas.microsoft.com/office/drawing/2014/main" id="{4F8D0580-9A8B-2B1C-7EBC-F1AF0FF6A93C}"/>
              </a:ext>
            </a:extLst>
          </p:cNvPr>
          <p:cNvSpPr/>
          <p:nvPr/>
        </p:nvSpPr>
        <p:spPr>
          <a:xfrm>
            <a:off x="743606" y="3824732"/>
            <a:ext cx="10000594" cy="692089"/>
          </a:xfrm>
          <a:prstGeom prst="rect">
            <a:avLst/>
          </a:prstGeom>
          <a:noFill/>
          <a:ln w="38100">
            <a:solidFill>
              <a:srgbClr val="C0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Rectangle">
            <a:extLst>
              <a:ext uri="{FF2B5EF4-FFF2-40B4-BE49-F238E27FC236}">
                <a16:creationId xmlns:a16="http://schemas.microsoft.com/office/drawing/2014/main" id="{8F0FBC83-3963-89D0-95C1-4AAB23176C9B}"/>
              </a:ext>
            </a:extLst>
          </p:cNvPr>
          <p:cNvSpPr/>
          <p:nvPr/>
        </p:nvSpPr>
        <p:spPr>
          <a:xfrm>
            <a:off x="-11767" y="6545179"/>
            <a:ext cx="12203767" cy="315200"/>
          </a:xfrm>
          <a:prstGeom prst="rect">
            <a:avLst/>
          </a:prstGeom>
          <a:solidFill>
            <a:schemeClr val="tx1"/>
          </a:solidFill>
          <a:ln w="12700">
            <a:noFill/>
            <a:miter lim="400000"/>
          </a:ln>
        </p:spPr>
        <p:txBody>
          <a:bodyPr lIns="45719" rIns="45719" anchor="ctr"/>
          <a:lstStyle/>
          <a:p>
            <a:endParaRPr/>
          </a:p>
        </p:txBody>
      </p:sp>
      <p:pic>
        <p:nvPicPr>
          <p:cNvPr id="4" name="Picture 3" descr="Frontier Tech Leaders (@FTLeadersProg) / X">
            <a:extLst>
              <a:ext uri="{FF2B5EF4-FFF2-40B4-BE49-F238E27FC236}">
                <a16:creationId xmlns:a16="http://schemas.microsoft.com/office/drawing/2014/main" id="{E3991EF8-E6C6-7441-6D76-FB789CA4D77C}"/>
              </a:ext>
            </a:extLst>
          </p:cNvPr>
          <p:cNvPicPr>
            <a:picLocks noChangeAspect="1"/>
          </p:cNvPicPr>
          <p:nvPr/>
        </p:nvPicPr>
        <p:blipFill>
          <a:blip r:embed="rId3"/>
          <a:stretch>
            <a:fillRect/>
          </a:stretch>
        </p:blipFill>
        <p:spPr>
          <a:xfrm>
            <a:off x="10668000" y="94470"/>
            <a:ext cx="1027893" cy="1027893"/>
          </a:xfrm>
          <a:prstGeom prst="rect">
            <a:avLst/>
          </a:prstGeom>
        </p:spPr>
      </p:pic>
    </p:spTree>
    <p:extLst>
      <p:ext uri="{BB962C8B-B14F-4D97-AF65-F5344CB8AC3E}">
        <p14:creationId xmlns:p14="http://schemas.microsoft.com/office/powerpoint/2010/main" val="136019321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3">
                                            <p:txEl>
                                              <p:pRg st="3" end="3"/>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3">
                                            <p:txEl>
                                              <p:pRg st="4" end="4"/>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grpId="0" nodeType="clickEffect">
                                  <p:stCondLst>
                                    <p:cond delay="0"/>
                                  </p:stCondLst>
                                  <p:childTnLst>
                                    <p:set>
                                      <p:cBhvr>
                                        <p:cTn id="22" dur="1" fill="hold">
                                          <p:stCondLst>
                                            <p:cond delay="0"/>
                                          </p:stCondLst>
                                        </p:cTn>
                                        <p:tgtEl>
                                          <p:spTgt spid="3">
                                            <p:txEl>
                                              <p:pRg st="5" end="5"/>
                                            </p:txEl>
                                          </p:spTgt>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grpId="0" nodeType="clickEffect">
                                  <p:stCondLst>
                                    <p:cond delay="0"/>
                                  </p:stCondLst>
                                  <p:childTnLst>
                                    <p:set>
                                      <p:cBhvr>
                                        <p:cTn id="26" dur="1" fill="hold">
                                          <p:stCondLst>
                                            <p:cond delay="0"/>
                                          </p:stCondLst>
                                        </p:cTn>
                                        <p:tgtEl>
                                          <p:spTgt spid="6"/>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P spid="6" grpId="0" animBg="1"/>
    </p:bldLst>
  </p:timing>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1E224EE6-C0E4-C851-4FB9-86561A0076E2}"/>
              </a:ext>
            </a:extLst>
          </p:cNvPr>
          <p:cNvSpPr>
            <a:spLocks noGrp="1"/>
          </p:cNvSpPr>
          <p:nvPr>
            <p:ph idx="1"/>
          </p:nvPr>
        </p:nvSpPr>
        <p:spPr/>
        <p:txBody>
          <a:bodyPr/>
          <a:lstStyle/>
          <a:p>
            <a:r>
              <a:rPr lang="en-US" dirty="0"/>
              <a:t>Which of the following is</a:t>
            </a:r>
            <a:r>
              <a:rPr lang="tr-TR" dirty="0"/>
              <a:t> </a:t>
            </a:r>
            <a:r>
              <a:rPr lang="en-US" i="1" dirty="0"/>
              <a:t>typically</a:t>
            </a:r>
            <a:r>
              <a:rPr lang="en-US" dirty="0"/>
              <a:t> NOT a common application of unsupervised learning?</a:t>
            </a:r>
          </a:p>
          <a:p>
            <a:endParaRPr lang="en-US" dirty="0"/>
          </a:p>
          <a:p>
            <a:r>
              <a:rPr lang="en-US" dirty="0"/>
              <a:t>A) Customer segmentation in marketing</a:t>
            </a:r>
          </a:p>
          <a:p>
            <a:r>
              <a:rPr lang="en-US" dirty="0"/>
              <a:t>B) Handwriting recognition</a:t>
            </a:r>
          </a:p>
          <a:p>
            <a:r>
              <a:rPr lang="en-US" dirty="0"/>
              <a:t>C) Anomaly detection in cybersecurity</a:t>
            </a:r>
          </a:p>
          <a:p>
            <a:r>
              <a:rPr lang="en-US" dirty="0"/>
              <a:t>D) Image </a:t>
            </a:r>
            <a:r>
              <a:rPr lang="en-US" dirty="0" err="1"/>
              <a:t>compressio</a:t>
            </a:r>
            <a:r>
              <a:rPr lang="tr-TR" dirty="0"/>
              <a:t>n</a:t>
            </a:r>
            <a:endParaRPr lang="en-US" dirty="0"/>
          </a:p>
        </p:txBody>
      </p:sp>
      <p:sp>
        <p:nvSpPr>
          <p:cNvPr id="4" name="Rectangle 3">
            <a:extLst>
              <a:ext uri="{FF2B5EF4-FFF2-40B4-BE49-F238E27FC236}">
                <a16:creationId xmlns:a16="http://schemas.microsoft.com/office/drawing/2014/main" id="{175F3B7A-13AA-B452-97E4-9C7F5A713ACB}"/>
              </a:ext>
            </a:extLst>
          </p:cNvPr>
          <p:cNvSpPr/>
          <p:nvPr/>
        </p:nvSpPr>
        <p:spPr>
          <a:xfrm>
            <a:off x="735479" y="3604016"/>
            <a:ext cx="8498959" cy="668440"/>
          </a:xfrm>
          <a:prstGeom prst="rect">
            <a:avLst/>
          </a:prstGeom>
          <a:noFill/>
          <a:ln w="38100">
            <a:solidFill>
              <a:srgbClr val="C0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Rectangle">
            <a:extLst>
              <a:ext uri="{FF2B5EF4-FFF2-40B4-BE49-F238E27FC236}">
                <a16:creationId xmlns:a16="http://schemas.microsoft.com/office/drawing/2014/main" id="{F12035E3-69B7-1A50-EE76-96B04CFFA2CC}"/>
              </a:ext>
            </a:extLst>
          </p:cNvPr>
          <p:cNvSpPr/>
          <p:nvPr/>
        </p:nvSpPr>
        <p:spPr>
          <a:xfrm>
            <a:off x="-11767" y="6545179"/>
            <a:ext cx="12203767" cy="315200"/>
          </a:xfrm>
          <a:prstGeom prst="rect">
            <a:avLst/>
          </a:prstGeom>
          <a:solidFill>
            <a:schemeClr val="tx1"/>
          </a:solidFill>
          <a:ln w="12700">
            <a:noFill/>
            <a:miter lim="400000"/>
          </a:ln>
        </p:spPr>
        <p:txBody>
          <a:bodyPr lIns="45719" rIns="45719" anchor="ctr"/>
          <a:lstStyle/>
          <a:p>
            <a:endParaRPr/>
          </a:p>
        </p:txBody>
      </p:sp>
      <p:pic>
        <p:nvPicPr>
          <p:cNvPr id="5" name="Picture 4" descr="Frontier Tech Leaders (@FTLeadersProg) / X">
            <a:extLst>
              <a:ext uri="{FF2B5EF4-FFF2-40B4-BE49-F238E27FC236}">
                <a16:creationId xmlns:a16="http://schemas.microsoft.com/office/drawing/2014/main" id="{EDE3989C-5CC9-A80D-2DAC-A1B23E7AF096}"/>
              </a:ext>
            </a:extLst>
          </p:cNvPr>
          <p:cNvPicPr>
            <a:picLocks noChangeAspect="1"/>
          </p:cNvPicPr>
          <p:nvPr/>
        </p:nvPicPr>
        <p:blipFill>
          <a:blip r:embed="rId3"/>
          <a:stretch>
            <a:fillRect/>
          </a:stretch>
        </p:blipFill>
        <p:spPr>
          <a:xfrm>
            <a:off x="10668000" y="94470"/>
            <a:ext cx="1027893" cy="1027893"/>
          </a:xfrm>
          <a:prstGeom prst="rect">
            <a:avLst/>
          </a:prstGeom>
        </p:spPr>
      </p:pic>
    </p:spTree>
    <p:extLst>
      <p:ext uri="{BB962C8B-B14F-4D97-AF65-F5344CB8AC3E}">
        <p14:creationId xmlns:p14="http://schemas.microsoft.com/office/powerpoint/2010/main" val="113259360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3">
                                            <p:txEl>
                                              <p:pRg st="3" end="3"/>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3">
                                            <p:txEl>
                                              <p:pRg st="4" end="4"/>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grpId="0" nodeType="clickEffect">
                                  <p:stCondLst>
                                    <p:cond delay="0"/>
                                  </p:stCondLst>
                                  <p:childTnLst>
                                    <p:set>
                                      <p:cBhvr>
                                        <p:cTn id="22" dur="1" fill="hold">
                                          <p:stCondLst>
                                            <p:cond delay="0"/>
                                          </p:stCondLst>
                                        </p:cTn>
                                        <p:tgtEl>
                                          <p:spTgt spid="3">
                                            <p:txEl>
                                              <p:pRg st="5" end="5"/>
                                            </p:txEl>
                                          </p:spTgt>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grpId="0" nodeType="clickEffect">
                                  <p:stCondLst>
                                    <p:cond delay="0"/>
                                  </p:stCondLst>
                                  <p:childTnLst>
                                    <p:set>
                                      <p:cBhvr>
                                        <p:cTn id="26" dur="1" fill="hold">
                                          <p:stCondLst>
                                            <p:cond delay="0"/>
                                          </p:stCondLst>
                                        </p:cTn>
                                        <p:tgtEl>
                                          <p:spTgt spid="4"/>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P spid="4" grpId="0" animBg="1"/>
    </p:bldLst>
  </p:timing>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C46CE32-7E59-3FBB-BFD8-FDCE96697519}"/>
              </a:ext>
            </a:extLst>
          </p:cNvPr>
          <p:cNvSpPr>
            <a:spLocks noGrp="1"/>
          </p:cNvSpPr>
          <p:nvPr>
            <p:ph type="title"/>
          </p:nvPr>
        </p:nvSpPr>
        <p:spPr/>
        <p:txBody>
          <a:bodyPr/>
          <a:lstStyle/>
          <a:p>
            <a:pPr algn="ctr"/>
            <a:r>
              <a:rPr lang="tr-TR" dirty="0"/>
              <a:t> </a:t>
            </a:r>
            <a:r>
              <a:rPr lang="tr-TR" dirty="0" err="1"/>
              <a:t>Linear</a:t>
            </a:r>
            <a:r>
              <a:rPr lang="tr-TR" dirty="0"/>
              <a:t> </a:t>
            </a:r>
            <a:r>
              <a:rPr lang="tr-TR" dirty="0" err="1"/>
              <a:t>Regression</a:t>
            </a:r>
            <a:r>
              <a:rPr lang="tr-TR" dirty="0"/>
              <a:t> Model</a:t>
            </a:r>
            <a:endParaRPr lang="en-US" dirty="0"/>
          </a:p>
        </p:txBody>
      </p:sp>
      <p:cxnSp>
        <p:nvCxnSpPr>
          <p:cNvPr id="6" name="Straight Arrow Connector 5">
            <a:extLst>
              <a:ext uri="{FF2B5EF4-FFF2-40B4-BE49-F238E27FC236}">
                <a16:creationId xmlns:a16="http://schemas.microsoft.com/office/drawing/2014/main" id="{124050D8-A302-2507-9D9A-99C790F0AF93}"/>
              </a:ext>
            </a:extLst>
          </p:cNvPr>
          <p:cNvCxnSpPr>
            <a:cxnSpLocks/>
          </p:cNvCxnSpPr>
          <p:nvPr/>
        </p:nvCxnSpPr>
        <p:spPr>
          <a:xfrm flipV="1">
            <a:off x="1297092" y="1387366"/>
            <a:ext cx="0" cy="3146972"/>
          </a:xfrm>
          <a:prstGeom prst="straightConnector1">
            <a:avLst/>
          </a:prstGeom>
          <a:ln w="38100">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7" name="Straight Arrow Connector 6">
            <a:extLst>
              <a:ext uri="{FF2B5EF4-FFF2-40B4-BE49-F238E27FC236}">
                <a16:creationId xmlns:a16="http://schemas.microsoft.com/office/drawing/2014/main" id="{CE310ADD-CA5E-E417-C7CF-0BD0244A1F28}"/>
              </a:ext>
            </a:extLst>
          </p:cNvPr>
          <p:cNvCxnSpPr>
            <a:cxnSpLocks/>
          </p:cNvCxnSpPr>
          <p:nvPr/>
        </p:nvCxnSpPr>
        <p:spPr>
          <a:xfrm>
            <a:off x="1171285" y="4416433"/>
            <a:ext cx="6963722" cy="0"/>
          </a:xfrm>
          <a:prstGeom prst="straightConnector1">
            <a:avLst/>
          </a:prstGeom>
          <a:ln w="38100">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8" name="Straight Connector 7">
            <a:extLst>
              <a:ext uri="{FF2B5EF4-FFF2-40B4-BE49-F238E27FC236}">
                <a16:creationId xmlns:a16="http://schemas.microsoft.com/office/drawing/2014/main" id="{DE35C2C6-5E7D-254D-91CD-8B10820155DB}"/>
              </a:ext>
            </a:extLst>
          </p:cNvPr>
          <p:cNvCxnSpPr>
            <a:cxnSpLocks/>
          </p:cNvCxnSpPr>
          <p:nvPr/>
        </p:nvCxnSpPr>
        <p:spPr>
          <a:xfrm>
            <a:off x="2789743" y="4321840"/>
            <a:ext cx="0" cy="189186"/>
          </a:xfrm>
          <a:prstGeom prst="line">
            <a:avLst/>
          </a:prstGeom>
          <a:ln w="381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9" name="Straight Connector 8">
            <a:extLst>
              <a:ext uri="{FF2B5EF4-FFF2-40B4-BE49-F238E27FC236}">
                <a16:creationId xmlns:a16="http://schemas.microsoft.com/office/drawing/2014/main" id="{FA025748-A057-359A-8FCD-ECCA5AC68010}"/>
              </a:ext>
            </a:extLst>
          </p:cNvPr>
          <p:cNvCxnSpPr>
            <a:cxnSpLocks/>
          </p:cNvCxnSpPr>
          <p:nvPr/>
        </p:nvCxnSpPr>
        <p:spPr>
          <a:xfrm>
            <a:off x="4850405" y="4331475"/>
            <a:ext cx="0" cy="189186"/>
          </a:xfrm>
          <a:prstGeom prst="line">
            <a:avLst/>
          </a:prstGeom>
          <a:ln w="381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0" name="Straight Connector 9">
            <a:extLst>
              <a:ext uri="{FF2B5EF4-FFF2-40B4-BE49-F238E27FC236}">
                <a16:creationId xmlns:a16="http://schemas.microsoft.com/office/drawing/2014/main" id="{18C07360-1EB7-6B1A-D001-C3AE438F2199}"/>
              </a:ext>
            </a:extLst>
          </p:cNvPr>
          <p:cNvCxnSpPr>
            <a:cxnSpLocks/>
          </p:cNvCxnSpPr>
          <p:nvPr/>
        </p:nvCxnSpPr>
        <p:spPr>
          <a:xfrm>
            <a:off x="6941965" y="4321840"/>
            <a:ext cx="0" cy="189186"/>
          </a:xfrm>
          <a:prstGeom prst="line">
            <a:avLst/>
          </a:prstGeom>
          <a:ln w="381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1" name="Straight Connector 10">
            <a:extLst>
              <a:ext uri="{FF2B5EF4-FFF2-40B4-BE49-F238E27FC236}">
                <a16:creationId xmlns:a16="http://schemas.microsoft.com/office/drawing/2014/main" id="{3A86AFB6-1C76-C2A4-FB0F-2F38905DB1BF}"/>
              </a:ext>
            </a:extLst>
          </p:cNvPr>
          <p:cNvCxnSpPr>
            <a:cxnSpLocks/>
          </p:cNvCxnSpPr>
          <p:nvPr/>
        </p:nvCxnSpPr>
        <p:spPr>
          <a:xfrm flipH="1">
            <a:off x="1171285" y="3979868"/>
            <a:ext cx="251613" cy="0"/>
          </a:xfrm>
          <a:prstGeom prst="line">
            <a:avLst/>
          </a:prstGeom>
          <a:ln w="381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2" name="Straight Connector 11">
            <a:extLst>
              <a:ext uri="{FF2B5EF4-FFF2-40B4-BE49-F238E27FC236}">
                <a16:creationId xmlns:a16="http://schemas.microsoft.com/office/drawing/2014/main" id="{FFEB688F-1A83-FB57-CD49-1A60AF471E06}"/>
              </a:ext>
            </a:extLst>
          </p:cNvPr>
          <p:cNvCxnSpPr>
            <a:cxnSpLocks/>
          </p:cNvCxnSpPr>
          <p:nvPr/>
        </p:nvCxnSpPr>
        <p:spPr>
          <a:xfrm flipH="1">
            <a:off x="1171285" y="3415323"/>
            <a:ext cx="251613" cy="0"/>
          </a:xfrm>
          <a:prstGeom prst="line">
            <a:avLst/>
          </a:prstGeom>
          <a:ln w="381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3" name="Straight Connector 12">
            <a:extLst>
              <a:ext uri="{FF2B5EF4-FFF2-40B4-BE49-F238E27FC236}">
                <a16:creationId xmlns:a16="http://schemas.microsoft.com/office/drawing/2014/main" id="{A0459D11-6A4E-04CE-626F-205230DD4C35}"/>
              </a:ext>
            </a:extLst>
          </p:cNvPr>
          <p:cNvCxnSpPr>
            <a:cxnSpLocks/>
          </p:cNvCxnSpPr>
          <p:nvPr/>
        </p:nvCxnSpPr>
        <p:spPr>
          <a:xfrm flipH="1">
            <a:off x="1163220" y="2937102"/>
            <a:ext cx="251613" cy="0"/>
          </a:xfrm>
          <a:prstGeom prst="line">
            <a:avLst/>
          </a:prstGeom>
          <a:ln w="38100">
            <a:solidFill>
              <a:schemeClr val="tx1"/>
            </a:solidFill>
          </a:ln>
        </p:spPr>
        <p:style>
          <a:lnRef idx="1">
            <a:schemeClr val="accent1"/>
          </a:lnRef>
          <a:fillRef idx="0">
            <a:schemeClr val="accent1"/>
          </a:fillRef>
          <a:effectRef idx="0">
            <a:schemeClr val="accent1"/>
          </a:effectRef>
          <a:fontRef idx="minor">
            <a:schemeClr val="tx1"/>
          </a:fontRef>
        </p:style>
      </p:cxnSp>
      <p:sp>
        <p:nvSpPr>
          <p:cNvPr id="14" name="TextBox 13">
            <a:extLst>
              <a:ext uri="{FF2B5EF4-FFF2-40B4-BE49-F238E27FC236}">
                <a16:creationId xmlns:a16="http://schemas.microsoft.com/office/drawing/2014/main" id="{6F4964D6-B4D2-A960-9D05-841B963B7AEE}"/>
              </a:ext>
            </a:extLst>
          </p:cNvPr>
          <p:cNvSpPr txBox="1"/>
          <p:nvPr/>
        </p:nvSpPr>
        <p:spPr>
          <a:xfrm>
            <a:off x="842178" y="4185600"/>
            <a:ext cx="313730" cy="461665"/>
          </a:xfrm>
          <a:prstGeom prst="rect">
            <a:avLst/>
          </a:prstGeom>
          <a:noFill/>
        </p:spPr>
        <p:txBody>
          <a:bodyPr wrap="square" rtlCol="0">
            <a:spAutoFit/>
          </a:bodyPr>
          <a:lstStyle/>
          <a:p>
            <a:r>
              <a:rPr lang="tr-TR" sz="2400" dirty="0"/>
              <a:t>0</a:t>
            </a:r>
            <a:endParaRPr lang="en-US" sz="2400" dirty="0"/>
          </a:p>
        </p:txBody>
      </p:sp>
      <p:sp>
        <p:nvSpPr>
          <p:cNvPr id="15" name="TextBox 14">
            <a:extLst>
              <a:ext uri="{FF2B5EF4-FFF2-40B4-BE49-F238E27FC236}">
                <a16:creationId xmlns:a16="http://schemas.microsoft.com/office/drawing/2014/main" id="{AAFBBAFC-EE29-D070-F156-3FB285BF9A83}"/>
              </a:ext>
            </a:extLst>
          </p:cNvPr>
          <p:cNvSpPr txBox="1"/>
          <p:nvPr/>
        </p:nvSpPr>
        <p:spPr>
          <a:xfrm>
            <a:off x="562877" y="3735213"/>
            <a:ext cx="671311" cy="461665"/>
          </a:xfrm>
          <a:prstGeom prst="rect">
            <a:avLst/>
          </a:prstGeom>
          <a:noFill/>
        </p:spPr>
        <p:txBody>
          <a:bodyPr wrap="square" rtlCol="0">
            <a:spAutoFit/>
          </a:bodyPr>
          <a:lstStyle/>
          <a:p>
            <a:r>
              <a:rPr lang="tr-TR" sz="2400" dirty="0"/>
              <a:t>100</a:t>
            </a:r>
            <a:endParaRPr lang="en-US" sz="2400" dirty="0"/>
          </a:p>
        </p:txBody>
      </p:sp>
      <p:sp>
        <p:nvSpPr>
          <p:cNvPr id="16" name="TextBox 15">
            <a:extLst>
              <a:ext uri="{FF2B5EF4-FFF2-40B4-BE49-F238E27FC236}">
                <a16:creationId xmlns:a16="http://schemas.microsoft.com/office/drawing/2014/main" id="{549AD45C-9ED5-FD75-344F-ED99181AD0F0}"/>
              </a:ext>
            </a:extLst>
          </p:cNvPr>
          <p:cNvSpPr txBox="1"/>
          <p:nvPr/>
        </p:nvSpPr>
        <p:spPr>
          <a:xfrm>
            <a:off x="575224" y="3154246"/>
            <a:ext cx="832296" cy="461665"/>
          </a:xfrm>
          <a:prstGeom prst="rect">
            <a:avLst/>
          </a:prstGeom>
          <a:noFill/>
        </p:spPr>
        <p:txBody>
          <a:bodyPr wrap="square" rtlCol="0">
            <a:spAutoFit/>
          </a:bodyPr>
          <a:lstStyle/>
          <a:p>
            <a:r>
              <a:rPr lang="tr-TR" sz="2400" dirty="0"/>
              <a:t>200</a:t>
            </a:r>
            <a:endParaRPr lang="en-US" sz="2400" dirty="0"/>
          </a:p>
        </p:txBody>
      </p:sp>
      <p:sp>
        <p:nvSpPr>
          <p:cNvPr id="17" name="TextBox 16">
            <a:extLst>
              <a:ext uri="{FF2B5EF4-FFF2-40B4-BE49-F238E27FC236}">
                <a16:creationId xmlns:a16="http://schemas.microsoft.com/office/drawing/2014/main" id="{14406414-CD63-5670-F777-57C128C89711}"/>
              </a:ext>
            </a:extLst>
          </p:cNvPr>
          <p:cNvSpPr txBox="1"/>
          <p:nvPr/>
        </p:nvSpPr>
        <p:spPr>
          <a:xfrm>
            <a:off x="584802" y="2661122"/>
            <a:ext cx="822718" cy="461665"/>
          </a:xfrm>
          <a:prstGeom prst="rect">
            <a:avLst/>
          </a:prstGeom>
          <a:noFill/>
        </p:spPr>
        <p:txBody>
          <a:bodyPr wrap="square" rtlCol="0">
            <a:spAutoFit/>
          </a:bodyPr>
          <a:lstStyle/>
          <a:p>
            <a:r>
              <a:rPr lang="tr-TR" sz="2400" dirty="0"/>
              <a:t>300</a:t>
            </a:r>
            <a:endParaRPr lang="en-US" sz="2400" dirty="0"/>
          </a:p>
        </p:txBody>
      </p:sp>
      <p:cxnSp>
        <p:nvCxnSpPr>
          <p:cNvPr id="18" name="Straight Connector 17">
            <a:extLst>
              <a:ext uri="{FF2B5EF4-FFF2-40B4-BE49-F238E27FC236}">
                <a16:creationId xmlns:a16="http://schemas.microsoft.com/office/drawing/2014/main" id="{F9E4F0C3-4B72-4CD2-688B-DAEA1F3D77F1}"/>
              </a:ext>
            </a:extLst>
          </p:cNvPr>
          <p:cNvCxnSpPr>
            <a:cxnSpLocks/>
          </p:cNvCxnSpPr>
          <p:nvPr/>
        </p:nvCxnSpPr>
        <p:spPr>
          <a:xfrm flipV="1">
            <a:off x="2183972" y="1690688"/>
            <a:ext cx="4121823" cy="2035807"/>
          </a:xfrm>
          <a:prstGeom prst="line">
            <a:avLst/>
          </a:prstGeom>
          <a:ln w="38100">
            <a:solidFill>
              <a:srgbClr val="FF0000"/>
            </a:solidFill>
          </a:ln>
        </p:spPr>
        <p:style>
          <a:lnRef idx="1">
            <a:schemeClr val="accent1"/>
          </a:lnRef>
          <a:fillRef idx="0">
            <a:schemeClr val="accent1"/>
          </a:fillRef>
          <a:effectRef idx="0">
            <a:schemeClr val="accent1"/>
          </a:effectRef>
          <a:fontRef idx="minor">
            <a:schemeClr val="tx1"/>
          </a:fontRef>
        </p:style>
      </p:cxnSp>
      <p:cxnSp>
        <p:nvCxnSpPr>
          <p:cNvPr id="31" name="Straight Connector 30">
            <a:extLst>
              <a:ext uri="{FF2B5EF4-FFF2-40B4-BE49-F238E27FC236}">
                <a16:creationId xmlns:a16="http://schemas.microsoft.com/office/drawing/2014/main" id="{7DAC53CC-AB2C-9230-6965-867989A7A7C0}"/>
              </a:ext>
            </a:extLst>
          </p:cNvPr>
          <p:cNvCxnSpPr>
            <a:cxnSpLocks/>
          </p:cNvCxnSpPr>
          <p:nvPr/>
        </p:nvCxnSpPr>
        <p:spPr>
          <a:xfrm flipH="1">
            <a:off x="1155908" y="2458881"/>
            <a:ext cx="251613" cy="0"/>
          </a:xfrm>
          <a:prstGeom prst="line">
            <a:avLst/>
          </a:prstGeom>
          <a:ln w="38100">
            <a:solidFill>
              <a:schemeClr val="tx1"/>
            </a:solidFill>
          </a:ln>
        </p:spPr>
        <p:style>
          <a:lnRef idx="1">
            <a:schemeClr val="accent1"/>
          </a:lnRef>
          <a:fillRef idx="0">
            <a:schemeClr val="accent1"/>
          </a:fillRef>
          <a:effectRef idx="0">
            <a:schemeClr val="accent1"/>
          </a:effectRef>
          <a:fontRef idx="minor">
            <a:schemeClr val="tx1"/>
          </a:fontRef>
        </p:style>
      </p:cxnSp>
      <p:sp>
        <p:nvSpPr>
          <p:cNvPr id="32" name="TextBox 31">
            <a:extLst>
              <a:ext uri="{FF2B5EF4-FFF2-40B4-BE49-F238E27FC236}">
                <a16:creationId xmlns:a16="http://schemas.microsoft.com/office/drawing/2014/main" id="{5C94645C-3F39-D431-D919-EFF82CD0BF74}"/>
              </a:ext>
            </a:extLst>
          </p:cNvPr>
          <p:cNvSpPr txBox="1"/>
          <p:nvPr/>
        </p:nvSpPr>
        <p:spPr>
          <a:xfrm>
            <a:off x="620722" y="2156863"/>
            <a:ext cx="822718" cy="461665"/>
          </a:xfrm>
          <a:prstGeom prst="rect">
            <a:avLst/>
          </a:prstGeom>
          <a:noFill/>
        </p:spPr>
        <p:txBody>
          <a:bodyPr wrap="square" rtlCol="0">
            <a:spAutoFit/>
          </a:bodyPr>
          <a:lstStyle/>
          <a:p>
            <a:r>
              <a:rPr lang="tr-TR" sz="2400" dirty="0"/>
              <a:t>400</a:t>
            </a:r>
            <a:endParaRPr lang="en-US" sz="2400" dirty="0"/>
          </a:p>
        </p:txBody>
      </p:sp>
      <p:cxnSp>
        <p:nvCxnSpPr>
          <p:cNvPr id="33" name="Straight Connector 32">
            <a:extLst>
              <a:ext uri="{FF2B5EF4-FFF2-40B4-BE49-F238E27FC236}">
                <a16:creationId xmlns:a16="http://schemas.microsoft.com/office/drawing/2014/main" id="{D2B09033-E96A-A57F-FBDD-95F427404D0C}"/>
              </a:ext>
            </a:extLst>
          </p:cNvPr>
          <p:cNvCxnSpPr>
            <a:cxnSpLocks/>
          </p:cNvCxnSpPr>
          <p:nvPr/>
        </p:nvCxnSpPr>
        <p:spPr>
          <a:xfrm flipH="1">
            <a:off x="1146700" y="1940861"/>
            <a:ext cx="251613" cy="0"/>
          </a:xfrm>
          <a:prstGeom prst="line">
            <a:avLst/>
          </a:prstGeom>
          <a:ln w="38100">
            <a:solidFill>
              <a:schemeClr val="tx1"/>
            </a:solidFill>
          </a:ln>
        </p:spPr>
        <p:style>
          <a:lnRef idx="1">
            <a:schemeClr val="accent1"/>
          </a:lnRef>
          <a:fillRef idx="0">
            <a:schemeClr val="accent1"/>
          </a:fillRef>
          <a:effectRef idx="0">
            <a:schemeClr val="accent1"/>
          </a:effectRef>
          <a:fontRef idx="minor">
            <a:schemeClr val="tx1"/>
          </a:fontRef>
        </p:style>
      </p:cxnSp>
      <p:sp>
        <p:nvSpPr>
          <p:cNvPr id="34" name="TextBox 33">
            <a:extLst>
              <a:ext uri="{FF2B5EF4-FFF2-40B4-BE49-F238E27FC236}">
                <a16:creationId xmlns:a16="http://schemas.microsoft.com/office/drawing/2014/main" id="{78A4CAA1-40B0-8E4F-B3CE-93F683ACDCA3}"/>
              </a:ext>
            </a:extLst>
          </p:cNvPr>
          <p:cNvSpPr txBox="1"/>
          <p:nvPr/>
        </p:nvSpPr>
        <p:spPr>
          <a:xfrm>
            <a:off x="592115" y="1644056"/>
            <a:ext cx="822718" cy="461665"/>
          </a:xfrm>
          <a:prstGeom prst="rect">
            <a:avLst/>
          </a:prstGeom>
          <a:noFill/>
        </p:spPr>
        <p:txBody>
          <a:bodyPr wrap="square" rtlCol="0">
            <a:spAutoFit/>
          </a:bodyPr>
          <a:lstStyle/>
          <a:p>
            <a:r>
              <a:rPr lang="tr-TR" sz="2400" dirty="0"/>
              <a:t>500</a:t>
            </a:r>
            <a:endParaRPr lang="en-US" sz="2400" dirty="0"/>
          </a:p>
        </p:txBody>
      </p:sp>
      <p:sp>
        <p:nvSpPr>
          <p:cNvPr id="35" name="TextBox 34">
            <a:extLst>
              <a:ext uri="{FF2B5EF4-FFF2-40B4-BE49-F238E27FC236}">
                <a16:creationId xmlns:a16="http://schemas.microsoft.com/office/drawing/2014/main" id="{B0B1FA02-47C7-56F6-4955-F3833BC4CE61}"/>
              </a:ext>
            </a:extLst>
          </p:cNvPr>
          <p:cNvSpPr txBox="1"/>
          <p:nvPr/>
        </p:nvSpPr>
        <p:spPr>
          <a:xfrm>
            <a:off x="2466246" y="4586183"/>
            <a:ext cx="822718" cy="461665"/>
          </a:xfrm>
          <a:prstGeom prst="rect">
            <a:avLst/>
          </a:prstGeom>
          <a:noFill/>
        </p:spPr>
        <p:txBody>
          <a:bodyPr wrap="square" rtlCol="0">
            <a:spAutoFit/>
          </a:bodyPr>
          <a:lstStyle/>
          <a:p>
            <a:r>
              <a:rPr lang="tr-TR" sz="2400" dirty="0"/>
              <a:t>1000</a:t>
            </a:r>
            <a:endParaRPr lang="en-US" sz="2400" dirty="0"/>
          </a:p>
        </p:txBody>
      </p:sp>
      <p:sp>
        <p:nvSpPr>
          <p:cNvPr id="36" name="TextBox 35">
            <a:extLst>
              <a:ext uri="{FF2B5EF4-FFF2-40B4-BE49-F238E27FC236}">
                <a16:creationId xmlns:a16="http://schemas.microsoft.com/office/drawing/2014/main" id="{0EA3108D-FCDB-6693-E2A5-DD48FCB86EF0}"/>
              </a:ext>
            </a:extLst>
          </p:cNvPr>
          <p:cNvSpPr txBox="1"/>
          <p:nvPr/>
        </p:nvSpPr>
        <p:spPr>
          <a:xfrm>
            <a:off x="4439046" y="4604830"/>
            <a:ext cx="822718" cy="461665"/>
          </a:xfrm>
          <a:prstGeom prst="rect">
            <a:avLst/>
          </a:prstGeom>
          <a:noFill/>
        </p:spPr>
        <p:txBody>
          <a:bodyPr wrap="square" rtlCol="0">
            <a:spAutoFit/>
          </a:bodyPr>
          <a:lstStyle/>
          <a:p>
            <a:r>
              <a:rPr lang="tr-TR" sz="2400" dirty="0"/>
              <a:t>2000</a:t>
            </a:r>
            <a:endParaRPr lang="en-US" sz="2400" dirty="0"/>
          </a:p>
        </p:txBody>
      </p:sp>
      <p:sp>
        <p:nvSpPr>
          <p:cNvPr id="37" name="TextBox 36">
            <a:extLst>
              <a:ext uri="{FF2B5EF4-FFF2-40B4-BE49-F238E27FC236}">
                <a16:creationId xmlns:a16="http://schemas.microsoft.com/office/drawing/2014/main" id="{3614DA84-BC80-CB66-D570-7F572CC2BC4F}"/>
              </a:ext>
            </a:extLst>
          </p:cNvPr>
          <p:cNvSpPr txBox="1"/>
          <p:nvPr/>
        </p:nvSpPr>
        <p:spPr>
          <a:xfrm>
            <a:off x="6609433" y="4604830"/>
            <a:ext cx="822718" cy="461665"/>
          </a:xfrm>
          <a:prstGeom prst="rect">
            <a:avLst/>
          </a:prstGeom>
          <a:noFill/>
        </p:spPr>
        <p:txBody>
          <a:bodyPr wrap="square" rtlCol="0">
            <a:spAutoFit/>
          </a:bodyPr>
          <a:lstStyle/>
          <a:p>
            <a:r>
              <a:rPr lang="tr-TR" sz="2400" dirty="0"/>
              <a:t>3000</a:t>
            </a:r>
            <a:endParaRPr lang="en-US" sz="2400" dirty="0"/>
          </a:p>
        </p:txBody>
      </p:sp>
      <p:sp>
        <p:nvSpPr>
          <p:cNvPr id="38" name="Star: 5 Points 37">
            <a:extLst>
              <a:ext uri="{FF2B5EF4-FFF2-40B4-BE49-F238E27FC236}">
                <a16:creationId xmlns:a16="http://schemas.microsoft.com/office/drawing/2014/main" id="{41D40688-6E8E-4CB6-075F-1FD3F8A71A7F}"/>
              </a:ext>
            </a:extLst>
          </p:cNvPr>
          <p:cNvSpPr/>
          <p:nvPr/>
        </p:nvSpPr>
        <p:spPr>
          <a:xfrm>
            <a:off x="3269716" y="2482484"/>
            <a:ext cx="288095" cy="328800"/>
          </a:xfrm>
          <a:prstGeom prst="star5">
            <a:avLst/>
          </a:prstGeom>
          <a:solidFill>
            <a:schemeClr val="accent1"/>
          </a:solidFill>
          <a:ln>
            <a:solidFill>
              <a:schemeClr val="accent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9" name="Star: 5 Points 38">
            <a:extLst>
              <a:ext uri="{FF2B5EF4-FFF2-40B4-BE49-F238E27FC236}">
                <a16:creationId xmlns:a16="http://schemas.microsoft.com/office/drawing/2014/main" id="{9784B88D-EDC2-B417-C880-8FDB3027E5FF}"/>
              </a:ext>
            </a:extLst>
          </p:cNvPr>
          <p:cNvSpPr/>
          <p:nvPr/>
        </p:nvSpPr>
        <p:spPr>
          <a:xfrm>
            <a:off x="2977782" y="2676504"/>
            <a:ext cx="288095" cy="328800"/>
          </a:xfrm>
          <a:prstGeom prst="star5">
            <a:avLst/>
          </a:prstGeom>
          <a:solidFill>
            <a:schemeClr val="accent1"/>
          </a:solidFill>
          <a:ln>
            <a:solidFill>
              <a:schemeClr val="accent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0" name="Star: 5 Points 39">
            <a:extLst>
              <a:ext uri="{FF2B5EF4-FFF2-40B4-BE49-F238E27FC236}">
                <a16:creationId xmlns:a16="http://schemas.microsoft.com/office/drawing/2014/main" id="{08C5E926-7D2C-0A17-002A-37AB3C35A394}"/>
              </a:ext>
            </a:extLst>
          </p:cNvPr>
          <p:cNvSpPr/>
          <p:nvPr/>
        </p:nvSpPr>
        <p:spPr>
          <a:xfrm>
            <a:off x="3547854" y="2324574"/>
            <a:ext cx="288095" cy="328800"/>
          </a:xfrm>
          <a:prstGeom prst="star5">
            <a:avLst/>
          </a:prstGeom>
          <a:solidFill>
            <a:schemeClr val="accent1"/>
          </a:solidFill>
          <a:ln>
            <a:solidFill>
              <a:schemeClr val="accent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1" name="Star: 5 Points 40">
            <a:extLst>
              <a:ext uri="{FF2B5EF4-FFF2-40B4-BE49-F238E27FC236}">
                <a16:creationId xmlns:a16="http://schemas.microsoft.com/office/drawing/2014/main" id="{48F588DE-92B4-0D5F-ED88-A1E73FC2CC9B}"/>
              </a:ext>
            </a:extLst>
          </p:cNvPr>
          <p:cNvSpPr/>
          <p:nvPr/>
        </p:nvSpPr>
        <p:spPr>
          <a:xfrm>
            <a:off x="4273563" y="2072241"/>
            <a:ext cx="288095" cy="328800"/>
          </a:xfrm>
          <a:prstGeom prst="star5">
            <a:avLst/>
          </a:prstGeom>
          <a:solidFill>
            <a:schemeClr val="accent1"/>
          </a:solidFill>
          <a:ln>
            <a:solidFill>
              <a:schemeClr val="accent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2" name="Star: 5 Points 41">
            <a:extLst>
              <a:ext uri="{FF2B5EF4-FFF2-40B4-BE49-F238E27FC236}">
                <a16:creationId xmlns:a16="http://schemas.microsoft.com/office/drawing/2014/main" id="{96989CD8-07E9-4B42-3BB6-B1502EE1F7E6}"/>
              </a:ext>
            </a:extLst>
          </p:cNvPr>
          <p:cNvSpPr/>
          <p:nvPr/>
        </p:nvSpPr>
        <p:spPr>
          <a:xfrm>
            <a:off x="3909059" y="2236641"/>
            <a:ext cx="288095" cy="328800"/>
          </a:xfrm>
          <a:prstGeom prst="star5">
            <a:avLst/>
          </a:prstGeom>
          <a:solidFill>
            <a:schemeClr val="accent1"/>
          </a:solidFill>
          <a:ln>
            <a:solidFill>
              <a:schemeClr val="accent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3" name="Star: 5 Points 42">
            <a:extLst>
              <a:ext uri="{FF2B5EF4-FFF2-40B4-BE49-F238E27FC236}">
                <a16:creationId xmlns:a16="http://schemas.microsoft.com/office/drawing/2014/main" id="{1390DEF6-D82F-A8E7-317E-28A4171617FA}"/>
              </a:ext>
            </a:extLst>
          </p:cNvPr>
          <p:cNvSpPr/>
          <p:nvPr/>
        </p:nvSpPr>
        <p:spPr>
          <a:xfrm>
            <a:off x="4147260" y="2591018"/>
            <a:ext cx="288095" cy="328800"/>
          </a:xfrm>
          <a:prstGeom prst="star5">
            <a:avLst/>
          </a:prstGeom>
          <a:solidFill>
            <a:schemeClr val="accent1"/>
          </a:solidFill>
          <a:ln>
            <a:solidFill>
              <a:schemeClr val="accent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44" name="Star: 5 Points 43">
            <a:extLst>
              <a:ext uri="{FF2B5EF4-FFF2-40B4-BE49-F238E27FC236}">
                <a16:creationId xmlns:a16="http://schemas.microsoft.com/office/drawing/2014/main" id="{9F9F7159-54D4-C81E-CD69-A20CE5E68ED4}"/>
              </a:ext>
            </a:extLst>
          </p:cNvPr>
          <p:cNvSpPr/>
          <p:nvPr/>
        </p:nvSpPr>
        <p:spPr>
          <a:xfrm>
            <a:off x="3867180" y="2679714"/>
            <a:ext cx="288095" cy="328800"/>
          </a:xfrm>
          <a:prstGeom prst="star5">
            <a:avLst/>
          </a:prstGeom>
          <a:solidFill>
            <a:schemeClr val="accent1"/>
          </a:solidFill>
          <a:ln>
            <a:solidFill>
              <a:schemeClr val="accent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5" name="Star: 5 Points 44">
            <a:extLst>
              <a:ext uri="{FF2B5EF4-FFF2-40B4-BE49-F238E27FC236}">
                <a16:creationId xmlns:a16="http://schemas.microsoft.com/office/drawing/2014/main" id="{DF716904-831D-F98B-26E9-955853D74EE9}"/>
              </a:ext>
            </a:extLst>
          </p:cNvPr>
          <p:cNvSpPr/>
          <p:nvPr/>
        </p:nvSpPr>
        <p:spPr>
          <a:xfrm>
            <a:off x="3587100" y="2793987"/>
            <a:ext cx="288095" cy="328800"/>
          </a:xfrm>
          <a:prstGeom prst="star5">
            <a:avLst/>
          </a:prstGeom>
          <a:solidFill>
            <a:schemeClr val="accent1"/>
          </a:solidFill>
          <a:ln>
            <a:solidFill>
              <a:schemeClr val="accent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6" name="Star: 5 Points 45">
            <a:extLst>
              <a:ext uri="{FF2B5EF4-FFF2-40B4-BE49-F238E27FC236}">
                <a16:creationId xmlns:a16="http://schemas.microsoft.com/office/drawing/2014/main" id="{24489219-BC6A-F081-D5DE-CEA3917584CD}"/>
              </a:ext>
            </a:extLst>
          </p:cNvPr>
          <p:cNvSpPr/>
          <p:nvPr/>
        </p:nvSpPr>
        <p:spPr>
          <a:xfrm>
            <a:off x="4787538" y="2090473"/>
            <a:ext cx="288095" cy="328800"/>
          </a:xfrm>
          <a:prstGeom prst="star5">
            <a:avLst/>
          </a:prstGeom>
          <a:solidFill>
            <a:schemeClr val="accent1"/>
          </a:solidFill>
          <a:ln>
            <a:solidFill>
              <a:schemeClr val="accent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7" name="Star: 5 Points 46">
            <a:extLst>
              <a:ext uri="{FF2B5EF4-FFF2-40B4-BE49-F238E27FC236}">
                <a16:creationId xmlns:a16="http://schemas.microsoft.com/office/drawing/2014/main" id="{58F721B0-694A-2714-1D96-E519DCD3498B}"/>
              </a:ext>
            </a:extLst>
          </p:cNvPr>
          <p:cNvSpPr/>
          <p:nvPr/>
        </p:nvSpPr>
        <p:spPr>
          <a:xfrm>
            <a:off x="4495604" y="2284493"/>
            <a:ext cx="288095" cy="328800"/>
          </a:xfrm>
          <a:prstGeom prst="star5">
            <a:avLst/>
          </a:prstGeom>
          <a:solidFill>
            <a:schemeClr val="accent1"/>
          </a:solidFill>
          <a:ln>
            <a:solidFill>
              <a:schemeClr val="accent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8" name="Star: 5 Points 47">
            <a:extLst>
              <a:ext uri="{FF2B5EF4-FFF2-40B4-BE49-F238E27FC236}">
                <a16:creationId xmlns:a16="http://schemas.microsoft.com/office/drawing/2014/main" id="{3CDBAE8A-702D-C3F4-105F-ADBB73DC7997}"/>
              </a:ext>
            </a:extLst>
          </p:cNvPr>
          <p:cNvSpPr/>
          <p:nvPr/>
        </p:nvSpPr>
        <p:spPr>
          <a:xfrm>
            <a:off x="5065676" y="1932563"/>
            <a:ext cx="288095" cy="328800"/>
          </a:xfrm>
          <a:prstGeom prst="star5">
            <a:avLst/>
          </a:prstGeom>
          <a:solidFill>
            <a:schemeClr val="accent1"/>
          </a:solidFill>
          <a:ln>
            <a:solidFill>
              <a:schemeClr val="accent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9" name="Star: 5 Points 48">
            <a:extLst>
              <a:ext uri="{FF2B5EF4-FFF2-40B4-BE49-F238E27FC236}">
                <a16:creationId xmlns:a16="http://schemas.microsoft.com/office/drawing/2014/main" id="{45681C2F-9915-53DF-2382-AE25798BE41F}"/>
              </a:ext>
            </a:extLst>
          </p:cNvPr>
          <p:cNvSpPr/>
          <p:nvPr/>
        </p:nvSpPr>
        <p:spPr>
          <a:xfrm>
            <a:off x="5791385" y="1680230"/>
            <a:ext cx="288095" cy="328800"/>
          </a:xfrm>
          <a:prstGeom prst="star5">
            <a:avLst/>
          </a:prstGeom>
          <a:solidFill>
            <a:schemeClr val="accent1"/>
          </a:solidFill>
          <a:ln>
            <a:solidFill>
              <a:schemeClr val="accent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0" name="Star: 5 Points 49">
            <a:extLst>
              <a:ext uri="{FF2B5EF4-FFF2-40B4-BE49-F238E27FC236}">
                <a16:creationId xmlns:a16="http://schemas.microsoft.com/office/drawing/2014/main" id="{493A5D3D-8C37-41FF-84CC-6FF83A31766D}"/>
              </a:ext>
            </a:extLst>
          </p:cNvPr>
          <p:cNvSpPr/>
          <p:nvPr/>
        </p:nvSpPr>
        <p:spPr>
          <a:xfrm>
            <a:off x="5426881" y="1844630"/>
            <a:ext cx="288095" cy="328800"/>
          </a:xfrm>
          <a:prstGeom prst="star5">
            <a:avLst/>
          </a:prstGeom>
          <a:solidFill>
            <a:schemeClr val="accent1"/>
          </a:solidFill>
          <a:ln>
            <a:solidFill>
              <a:schemeClr val="accent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1" name="Star: 5 Points 50">
            <a:extLst>
              <a:ext uri="{FF2B5EF4-FFF2-40B4-BE49-F238E27FC236}">
                <a16:creationId xmlns:a16="http://schemas.microsoft.com/office/drawing/2014/main" id="{1E7EB658-C550-8C71-E82E-22ADC78EF150}"/>
              </a:ext>
            </a:extLst>
          </p:cNvPr>
          <p:cNvSpPr/>
          <p:nvPr/>
        </p:nvSpPr>
        <p:spPr>
          <a:xfrm>
            <a:off x="5665082" y="2199007"/>
            <a:ext cx="288095" cy="328800"/>
          </a:xfrm>
          <a:prstGeom prst="star5">
            <a:avLst/>
          </a:prstGeom>
          <a:solidFill>
            <a:schemeClr val="accent1"/>
          </a:solidFill>
          <a:ln>
            <a:solidFill>
              <a:schemeClr val="accent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2" name="Star: 5 Points 51">
            <a:extLst>
              <a:ext uri="{FF2B5EF4-FFF2-40B4-BE49-F238E27FC236}">
                <a16:creationId xmlns:a16="http://schemas.microsoft.com/office/drawing/2014/main" id="{3AF42830-1B7B-D08F-4064-0D24EA80DE54}"/>
              </a:ext>
            </a:extLst>
          </p:cNvPr>
          <p:cNvSpPr/>
          <p:nvPr/>
        </p:nvSpPr>
        <p:spPr>
          <a:xfrm>
            <a:off x="5385002" y="2287703"/>
            <a:ext cx="288095" cy="328800"/>
          </a:xfrm>
          <a:prstGeom prst="star5">
            <a:avLst/>
          </a:prstGeom>
          <a:solidFill>
            <a:schemeClr val="accent1"/>
          </a:solidFill>
          <a:ln>
            <a:solidFill>
              <a:schemeClr val="accent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3" name="Star: 5 Points 52">
            <a:extLst>
              <a:ext uri="{FF2B5EF4-FFF2-40B4-BE49-F238E27FC236}">
                <a16:creationId xmlns:a16="http://schemas.microsoft.com/office/drawing/2014/main" id="{3693FF49-F1F9-BD84-8095-6F3D46576467}"/>
              </a:ext>
            </a:extLst>
          </p:cNvPr>
          <p:cNvSpPr/>
          <p:nvPr/>
        </p:nvSpPr>
        <p:spPr>
          <a:xfrm>
            <a:off x="5104922" y="2401976"/>
            <a:ext cx="288095" cy="328800"/>
          </a:xfrm>
          <a:prstGeom prst="star5">
            <a:avLst/>
          </a:prstGeom>
          <a:solidFill>
            <a:schemeClr val="accent1"/>
          </a:solidFill>
          <a:ln>
            <a:solidFill>
              <a:schemeClr val="accent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4" name="Star: 5 Points 53">
            <a:extLst>
              <a:ext uri="{FF2B5EF4-FFF2-40B4-BE49-F238E27FC236}">
                <a16:creationId xmlns:a16="http://schemas.microsoft.com/office/drawing/2014/main" id="{E80406F2-5F8E-43AB-BFAB-4C6DEDAA1CE0}"/>
              </a:ext>
            </a:extLst>
          </p:cNvPr>
          <p:cNvSpPr/>
          <p:nvPr/>
        </p:nvSpPr>
        <p:spPr>
          <a:xfrm>
            <a:off x="4672331" y="2646884"/>
            <a:ext cx="288095" cy="328800"/>
          </a:xfrm>
          <a:prstGeom prst="star5">
            <a:avLst/>
          </a:prstGeom>
          <a:solidFill>
            <a:schemeClr val="accent1"/>
          </a:solidFill>
          <a:ln>
            <a:solidFill>
              <a:schemeClr val="accent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55" name="Star: 5 Points 54">
            <a:extLst>
              <a:ext uri="{FF2B5EF4-FFF2-40B4-BE49-F238E27FC236}">
                <a16:creationId xmlns:a16="http://schemas.microsoft.com/office/drawing/2014/main" id="{90EBB3FD-354B-502A-7522-E11153014B1D}"/>
              </a:ext>
            </a:extLst>
          </p:cNvPr>
          <p:cNvSpPr/>
          <p:nvPr/>
        </p:nvSpPr>
        <p:spPr>
          <a:xfrm>
            <a:off x="6017700" y="2646884"/>
            <a:ext cx="288095" cy="328800"/>
          </a:xfrm>
          <a:prstGeom prst="star5">
            <a:avLst/>
          </a:prstGeom>
          <a:solidFill>
            <a:schemeClr val="accent1"/>
          </a:solidFill>
          <a:ln>
            <a:solidFill>
              <a:schemeClr val="accent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56" name="Star: 5 Points 55">
            <a:extLst>
              <a:ext uri="{FF2B5EF4-FFF2-40B4-BE49-F238E27FC236}">
                <a16:creationId xmlns:a16="http://schemas.microsoft.com/office/drawing/2014/main" id="{85A911D5-8B5F-8A67-2A14-D812345D188C}"/>
              </a:ext>
            </a:extLst>
          </p:cNvPr>
          <p:cNvSpPr/>
          <p:nvPr/>
        </p:nvSpPr>
        <p:spPr>
          <a:xfrm>
            <a:off x="3144916" y="3202859"/>
            <a:ext cx="288095" cy="328800"/>
          </a:xfrm>
          <a:prstGeom prst="star5">
            <a:avLst/>
          </a:prstGeom>
          <a:solidFill>
            <a:schemeClr val="accent1"/>
          </a:solidFill>
          <a:ln>
            <a:solidFill>
              <a:schemeClr val="accent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57" name="Star: 5 Points 56">
            <a:extLst>
              <a:ext uri="{FF2B5EF4-FFF2-40B4-BE49-F238E27FC236}">
                <a16:creationId xmlns:a16="http://schemas.microsoft.com/office/drawing/2014/main" id="{DC52AD1E-0005-06C3-2742-9F5CAE238B7D}"/>
              </a:ext>
            </a:extLst>
          </p:cNvPr>
          <p:cNvSpPr/>
          <p:nvPr/>
        </p:nvSpPr>
        <p:spPr>
          <a:xfrm>
            <a:off x="2394962" y="2756014"/>
            <a:ext cx="288095" cy="328800"/>
          </a:xfrm>
          <a:prstGeom prst="star5">
            <a:avLst/>
          </a:prstGeom>
          <a:solidFill>
            <a:schemeClr val="accent1"/>
          </a:solidFill>
          <a:ln>
            <a:solidFill>
              <a:schemeClr val="accent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58" name="Star: 5 Points 57">
            <a:extLst>
              <a:ext uri="{FF2B5EF4-FFF2-40B4-BE49-F238E27FC236}">
                <a16:creationId xmlns:a16="http://schemas.microsoft.com/office/drawing/2014/main" id="{03525797-DA7E-7832-262B-27C5A2007468}"/>
              </a:ext>
            </a:extLst>
          </p:cNvPr>
          <p:cNvSpPr/>
          <p:nvPr/>
        </p:nvSpPr>
        <p:spPr>
          <a:xfrm>
            <a:off x="2496365" y="3264600"/>
            <a:ext cx="288095" cy="328800"/>
          </a:xfrm>
          <a:prstGeom prst="star5">
            <a:avLst/>
          </a:prstGeom>
          <a:solidFill>
            <a:schemeClr val="accent1"/>
          </a:solidFill>
          <a:ln>
            <a:solidFill>
              <a:schemeClr val="accent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59" name="Star: 5 Points 58">
            <a:extLst>
              <a:ext uri="{FF2B5EF4-FFF2-40B4-BE49-F238E27FC236}">
                <a16:creationId xmlns:a16="http://schemas.microsoft.com/office/drawing/2014/main" id="{879D784D-8271-7A0E-0284-AA7CF1299561}"/>
              </a:ext>
            </a:extLst>
          </p:cNvPr>
          <p:cNvSpPr/>
          <p:nvPr/>
        </p:nvSpPr>
        <p:spPr>
          <a:xfrm>
            <a:off x="4757762" y="1648569"/>
            <a:ext cx="288095" cy="328800"/>
          </a:xfrm>
          <a:prstGeom prst="star5">
            <a:avLst/>
          </a:prstGeom>
          <a:solidFill>
            <a:schemeClr val="accent1"/>
          </a:solidFill>
          <a:ln>
            <a:solidFill>
              <a:schemeClr val="accent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61" name="TextBox 60">
            <a:extLst>
              <a:ext uri="{FF2B5EF4-FFF2-40B4-BE49-F238E27FC236}">
                <a16:creationId xmlns:a16="http://schemas.microsoft.com/office/drawing/2014/main" id="{9DCB1C92-B4B4-FE8E-8126-E7B5F181A183}"/>
              </a:ext>
            </a:extLst>
          </p:cNvPr>
          <p:cNvSpPr txBox="1"/>
          <p:nvPr/>
        </p:nvSpPr>
        <p:spPr>
          <a:xfrm>
            <a:off x="1032081" y="5502166"/>
            <a:ext cx="3538533" cy="369332"/>
          </a:xfrm>
          <a:prstGeom prst="rect">
            <a:avLst/>
          </a:prstGeom>
          <a:noFill/>
        </p:spPr>
        <p:txBody>
          <a:bodyPr wrap="none" rtlCol="0">
            <a:spAutoFit/>
          </a:bodyPr>
          <a:lstStyle/>
          <a:p>
            <a:r>
              <a:rPr lang="tr-TR" dirty="0" err="1"/>
              <a:t>Regression</a:t>
            </a:r>
            <a:r>
              <a:rPr lang="tr-TR" dirty="0"/>
              <a:t> model </a:t>
            </a:r>
            <a:r>
              <a:rPr lang="tr-TR" dirty="0" err="1"/>
              <a:t>predicts</a:t>
            </a:r>
            <a:r>
              <a:rPr lang="tr-TR" dirty="0"/>
              <a:t> </a:t>
            </a:r>
            <a:r>
              <a:rPr lang="tr-TR" dirty="0" err="1"/>
              <a:t>numbers</a:t>
            </a:r>
            <a:endParaRPr lang="en-US" dirty="0"/>
          </a:p>
        </p:txBody>
      </p:sp>
      <p:sp>
        <p:nvSpPr>
          <p:cNvPr id="62" name="TextBox 61">
            <a:extLst>
              <a:ext uri="{FF2B5EF4-FFF2-40B4-BE49-F238E27FC236}">
                <a16:creationId xmlns:a16="http://schemas.microsoft.com/office/drawing/2014/main" id="{E253D8D0-12FA-016D-037A-A8E0572F64E7}"/>
              </a:ext>
            </a:extLst>
          </p:cNvPr>
          <p:cNvSpPr txBox="1"/>
          <p:nvPr/>
        </p:nvSpPr>
        <p:spPr>
          <a:xfrm>
            <a:off x="999255" y="5888072"/>
            <a:ext cx="3868367" cy="369332"/>
          </a:xfrm>
          <a:prstGeom prst="rect">
            <a:avLst/>
          </a:prstGeom>
          <a:noFill/>
        </p:spPr>
        <p:txBody>
          <a:bodyPr wrap="none" rtlCol="0">
            <a:spAutoFit/>
          </a:bodyPr>
          <a:lstStyle/>
          <a:p>
            <a:r>
              <a:rPr lang="tr-TR" dirty="0" err="1"/>
              <a:t>Classification</a:t>
            </a:r>
            <a:r>
              <a:rPr lang="tr-TR" dirty="0"/>
              <a:t> model </a:t>
            </a:r>
            <a:r>
              <a:rPr lang="tr-TR" dirty="0" err="1"/>
              <a:t>predicts</a:t>
            </a:r>
            <a:r>
              <a:rPr lang="tr-TR" dirty="0"/>
              <a:t> </a:t>
            </a:r>
            <a:r>
              <a:rPr lang="tr-TR" dirty="0" err="1"/>
              <a:t>categories</a:t>
            </a:r>
            <a:endParaRPr lang="en-US" dirty="0"/>
          </a:p>
        </p:txBody>
      </p:sp>
      <p:sp>
        <p:nvSpPr>
          <p:cNvPr id="63" name="TextBox 62">
            <a:extLst>
              <a:ext uri="{FF2B5EF4-FFF2-40B4-BE49-F238E27FC236}">
                <a16:creationId xmlns:a16="http://schemas.microsoft.com/office/drawing/2014/main" id="{E9D43CDC-4E17-13A2-8F88-9E74FC800CD6}"/>
              </a:ext>
            </a:extLst>
          </p:cNvPr>
          <p:cNvSpPr txBox="1"/>
          <p:nvPr/>
        </p:nvSpPr>
        <p:spPr>
          <a:xfrm>
            <a:off x="3265877" y="5047919"/>
            <a:ext cx="1503425" cy="461665"/>
          </a:xfrm>
          <a:prstGeom prst="rect">
            <a:avLst/>
          </a:prstGeom>
          <a:noFill/>
        </p:spPr>
        <p:txBody>
          <a:bodyPr wrap="none" rtlCol="0">
            <a:spAutoFit/>
          </a:bodyPr>
          <a:lstStyle/>
          <a:p>
            <a:r>
              <a:rPr lang="tr-TR" sz="2400" dirty="0"/>
              <a:t>House size</a:t>
            </a:r>
            <a:endParaRPr lang="en-US" sz="2400" dirty="0"/>
          </a:p>
        </p:txBody>
      </p:sp>
      <p:sp>
        <p:nvSpPr>
          <p:cNvPr id="64" name="TextBox 63">
            <a:extLst>
              <a:ext uri="{FF2B5EF4-FFF2-40B4-BE49-F238E27FC236}">
                <a16:creationId xmlns:a16="http://schemas.microsoft.com/office/drawing/2014/main" id="{AE792ED2-9CE6-BE7A-48BE-2AE9FC561958}"/>
              </a:ext>
            </a:extLst>
          </p:cNvPr>
          <p:cNvSpPr txBox="1"/>
          <p:nvPr/>
        </p:nvSpPr>
        <p:spPr>
          <a:xfrm>
            <a:off x="-89840" y="2310987"/>
            <a:ext cx="805029" cy="461665"/>
          </a:xfrm>
          <a:prstGeom prst="rect">
            <a:avLst/>
          </a:prstGeom>
          <a:noFill/>
        </p:spPr>
        <p:txBody>
          <a:bodyPr wrap="none" rtlCol="0">
            <a:spAutoFit/>
          </a:bodyPr>
          <a:lstStyle/>
          <a:p>
            <a:r>
              <a:rPr lang="tr-TR" sz="2400" dirty="0" err="1"/>
              <a:t>Price</a:t>
            </a:r>
            <a:endParaRPr lang="en-US" sz="2400" dirty="0"/>
          </a:p>
        </p:txBody>
      </p:sp>
      <p:cxnSp>
        <p:nvCxnSpPr>
          <p:cNvPr id="66" name="Straight Arrow Connector 65">
            <a:extLst>
              <a:ext uri="{FF2B5EF4-FFF2-40B4-BE49-F238E27FC236}">
                <a16:creationId xmlns:a16="http://schemas.microsoft.com/office/drawing/2014/main" id="{BFA148A8-2416-14BC-296D-1BC10CD11DD8}"/>
              </a:ext>
            </a:extLst>
          </p:cNvPr>
          <p:cNvCxnSpPr/>
          <p:nvPr/>
        </p:nvCxnSpPr>
        <p:spPr>
          <a:xfrm flipV="1">
            <a:off x="6432331" y="1644056"/>
            <a:ext cx="1702676" cy="0"/>
          </a:xfrm>
          <a:prstGeom prst="straightConnector1">
            <a:avLst/>
          </a:prstGeom>
          <a:ln w="28575">
            <a:solidFill>
              <a:schemeClr val="tx1"/>
            </a:solidFill>
            <a:tailEnd type="triangle"/>
          </a:ln>
        </p:spPr>
        <p:style>
          <a:lnRef idx="1">
            <a:schemeClr val="accent1"/>
          </a:lnRef>
          <a:fillRef idx="0">
            <a:schemeClr val="accent1"/>
          </a:fillRef>
          <a:effectRef idx="0">
            <a:schemeClr val="accent1"/>
          </a:effectRef>
          <a:fontRef idx="minor">
            <a:schemeClr val="tx1"/>
          </a:fontRef>
        </p:style>
      </p:cxnSp>
      <p:sp>
        <p:nvSpPr>
          <p:cNvPr id="67" name="TextBox 66">
            <a:extLst>
              <a:ext uri="{FF2B5EF4-FFF2-40B4-BE49-F238E27FC236}">
                <a16:creationId xmlns:a16="http://schemas.microsoft.com/office/drawing/2014/main" id="{D9842101-A895-2A16-C4FE-45B6EF41A7FC}"/>
              </a:ext>
            </a:extLst>
          </p:cNvPr>
          <p:cNvSpPr txBox="1"/>
          <p:nvPr/>
        </p:nvSpPr>
        <p:spPr>
          <a:xfrm>
            <a:off x="8479009" y="1305994"/>
            <a:ext cx="2318199" cy="461665"/>
          </a:xfrm>
          <a:prstGeom prst="rect">
            <a:avLst/>
          </a:prstGeom>
          <a:noFill/>
        </p:spPr>
        <p:txBody>
          <a:bodyPr wrap="none" rtlCol="0">
            <a:spAutoFit/>
          </a:bodyPr>
          <a:lstStyle/>
          <a:p>
            <a:r>
              <a:rPr lang="tr-TR" sz="2400" dirty="0" err="1"/>
              <a:t>Linear</a:t>
            </a:r>
            <a:r>
              <a:rPr lang="tr-TR" sz="2400" dirty="0"/>
              <a:t> </a:t>
            </a:r>
            <a:r>
              <a:rPr lang="tr-TR" sz="2400" dirty="0" err="1"/>
              <a:t>regression</a:t>
            </a:r>
            <a:endParaRPr lang="en-US" sz="2400" dirty="0"/>
          </a:p>
        </p:txBody>
      </p:sp>
      <p:sp>
        <p:nvSpPr>
          <p:cNvPr id="3" name="Rectangle">
            <a:extLst>
              <a:ext uri="{FF2B5EF4-FFF2-40B4-BE49-F238E27FC236}">
                <a16:creationId xmlns:a16="http://schemas.microsoft.com/office/drawing/2014/main" id="{D2BE3ECF-73BB-AFCE-87BF-7B8F844013C0}"/>
              </a:ext>
            </a:extLst>
          </p:cNvPr>
          <p:cNvSpPr/>
          <p:nvPr/>
        </p:nvSpPr>
        <p:spPr>
          <a:xfrm>
            <a:off x="-11767" y="6545179"/>
            <a:ext cx="12203767" cy="315200"/>
          </a:xfrm>
          <a:prstGeom prst="rect">
            <a:avLst/>
          </a:prstGeom>
          <a:solidFill>
            <a:schemeClr val="tx1"/>
          </a:solidFill>
          <a:ln w="12700">
            <a:noFill/>
            <a:miter lim="400000"/>
          </a:ln>
        </p:spPr>
        <p:txBody>
          <a:bodyPr lIns="45719" rIns="45719" anchor="ctr"/>
          <a:lstStyle/>
          <a:p>
            <a:endParaRPr/>
          </a:p>
        </p:txBody>
      </p:sp>
      <p:pic>
        <p:nvPicPr>
          <p:cNvPr id="4" name="Picture 3" descr="Frontier Tech Leaders (@FTLeadersProg) / X">
            <a:extLst>
              <a:ext uri="{FF2B5EF4-FFF2-40B4-BE49-F238E27FC236}">
                <a16:creationId xmlns:a16="http://schemas.microsoft.com/office/drawing/2014/main" id="{639AEE10-0F5D-AA6E-8AFD-05B14892A12A}"/>
              </a:ext>
            </a:extLst>
          </p:cNvPr>
          <p:cNvPicPr>
            <a:picLocks noChangeAspect="1"/>
          </p:cNvPicPr>
          <p:nvPr/>
        </p:nvPicPr>
        <p:blipFill>
          <a:blip r:embed="rId3"/>
          <a:stretch>
            <a:fillRect/>
          </a:stretch>
        </p:blipFill>
        <p:spPr>
          <a:xfrm>
            <a:off x="10668000" y="94470"/>
            <a:ext cx="1027893" cy="1027893"/>
          </a:xfrm>
          <a:prstGeom prst="rect">
            <a:avLst/>
          </a:prstGeom>
        </p:spPr>
      </p:pic>
    </p:spTree>
    <p:extLst>
      <p:ext uri="{BB962C8B-B14F-4D97-AF65-F5344CB8AC3E}">
        <p14:creationId xmlns:p14="http://schemas.microsoft.com/office/powerpoint/2010/main" val="423475960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2"/>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6"/>
                                        </p:tgtEl>
                                        <p:attrNameLst>
                                          <p:attrName>style.visibility</p:attrName>
                                        </p:attrNameLst>
                                      </p:cBhvr>
                                      <p:to>
                                        <p:strVal val="visible"/>
                                      </p:to>
                                    </p:set>
                                  </p:childTnLst>
                                </p:cTn>
                              </p:par>
                              <p:par>
                                <p:cTn id="11" presetID="1" presetClass="entr" presetSubtype="0" fill="hold" nodeType="withEffect">
                                  <p:stCondLst>
                                    <p:cond delay="0"/>
                                  </p:stCondLst>
                                  <p:childTnLst>
                                    <p:set>
                                      <p:cBhvr>
                                        <p:cTn id="12" dur="1" fill="hold">
                                          <p:stCondLst>
                                            <p:cond delay="0"/>
                                          </p:stCondLst>
                                        </p:cTn>
                                        <p:tgtEl>
                                          <p:spTgt spid="7"/>
                                        </p:tgtEl>
                                        <p:attrNameLst>
                                          <p:attrName>style.visibility</p:attrName>
                                        </p:attrNameLst>
                                      </p:cBhvr>
                                      <p:to>
                                        <p:strVal val="visible"/>
                                      </p:to>
                                    </p:set>
                                  </p:childTnLst>
                                </p:cTn>
                              </p:par>
                              <p:par>
                                <p:cTn id="13" presetID="1" presetClass="entr" presetSubtype="0" fill="hold" nodeType="withEffect">
                                  <p:stCondLst>
                                    <p:cond delay="0"/>
                                  </p:stCondLst>
                                  <p:childTnLst>
                                    <p:set>
                                      <p:cBhvr>
                                        <p:cTn id="14" dur="1" fill="hold">
                                          <p:stCondLst>
                                            <p:cond delay="0"/>
                                          </p:stCondLst>
                                        </p:cTn>
                                        <p:tgtEl>
                                          <p:spTgt spid="8"/>
                                        </p:tgtEl>
                                        <p:attrNameLst>
                                          <p:attrName>style.visibility</p:attrName>
                                        </p:attrNameLst>
                                      </p:cBhvr>
                                      <p:to>
                                        <p:strVal val="visible"/>
                                      </p:to>
                                    </p:set>
                                  </p:childTnLst>
                                </p:cTn>
                              </p:par>
                              <p:par>
                                <p:cTn id="15" presetID="1" presetClass="entr" presetSubtype="0" fill="hold" nodeType="withEffect">
                                  <p:stCondLst>
                                    <p:cond delay="0"/>
                                  </p:stCondLst>
                                  <p:childTnLst>
                                    <p:set>
                                      <p:cBhvr>
                                        <p:cTn id="16" dur="1" fill="hold">
                                          <p:stCondLst>
                                            <p:cond delay="0"/>
                                          </p:stCondLst>
                                        </p:cTn>
                                        <p:tgtEl>
                                          <p:spTgt spid="9"/>
                                        </p:tgtEl>
                                        <p:attrNameLst>
                                          <p:attrName>style.visibility</p:attrName>
                                        </p:attrNameLst>
                                      </p:cBhvr>
                                      <p:to>
                                        <p:strVal val="visible"/>
                                      </p:to>
                                    </p:set>
                                  </p:childTnLst>
                                </p:cTn>
                              </p:par>
                              <p:par>
                                <p:cTn id="17" presetID="1" presetClass="entr" presetSubtype="0" fill="hold" nodeType="withEffect">
                                  <p:stCondLst>
                                    <p:cond delay="0"/>
                                  </p:stCondLst>
                                  <p:childTnLst>
                                    <p:set>
                                      <p:cBhvr>
                                        <p:cTn id="18" dur="1" fill="hold">
                                          <p:stCondLst>
                                            <p:cond delay="0"/>
                                          </p:stCondLst>
                                        </p:cTn>
                                        <p:tgtEl>
                                          <p:spTgt spid="10"/>
                                        </p:tgtEl>
                                        <p:attrNameLst>
                                          <p:attrName>style.visibility</p:attrName>
                                        </p:attrNameLst>
                                      </p:cBhvr>
                                      <p:to>
                                        <p:strVal val="visible"/>
                                      </p:to>
                                    </p:set>
                                  </p:childTnLst>
                                </p:cTn>
                              </p:par>
                              <p:par>
                                <p:cTn id="19" presetID="1" presetClass="entr" presetSubtype="0" fill="hold" nodeType="withEffect">
                                  <p:stCondLst>
                                    <p:cond delay="0"/>
                                  </p:stCondLst>
                                  <p:childTnLst>
                                    <p:set>
                                      <p:cBhvr>
                                        <p:cTn id="20" dur="1" fill="hold">
                                          <p:stCondLst>
                                            <p:cond delay="0"/>
                                          </p:stCondLst>
                                        </p:cTn>
                                        <p:tgtEl>
                                          <p:spTgt spid="11"/>
                                        </p:tgtEl>
                                        <p:attrNameLst>
                                          <p:attrName>style.visibility</p:attrName>
                                        </p:attrNameLst>
                                      </p:cBhvr>
                                      <p:to>
                                        <p:strVal val="visible"/>
                                      </p:to>
                                    </p:set>
                                  </p:childTnLst>
                                </p:cTn>
                              </p:par>
                              <p:par>
                                <p:cTn id="21" presetID="1" presetClass="entr" presetSubtype="0" fill="hold" nodeType="withEffect">
                                  <p:stCondLst>
                                    <p:cond delay="0"/>
                                  </p:stCondLst>
                                  <p:childTnLst>
                                    <p:set>
                                      <p:cBhvr>
                                        <p:cTn id="22" dur="1" fill="hold">
                                          <p:stCondLst>
                                            <p:cond delay="0"/>
                                          </p:stCondLst>
                                        </p:cTn>
                                        <p:tgtEl>
                                          <p:spTgt spid="12"/>
                                        </p:tgtEl>
                                        <p:attrNameLst>
                                          <p:attrName>style.visibility</p:attrName>
                                        </p:attrNameLst>
                                      </p:cBhvr>
                                      <p:to>
                                        <p:strVal val="visible"/>
                                      </p:to>
                                    </p:set>
                                  </p:childTnLst>
                                </p:cTn>
                              </p:par>
                              <p:par>
                                <p:cTn id="23" presetID="1" presetClass="entr" presetSubtype="0" fill="hold" nodeType="withEffect">
                                  <p:stCondLst>
                                    <p:cond delay="0"/>
                                  </p:stCondLst>
                                  <p:childTnLst>
                                    <p:set>
                                      <p:cBhvr>
                                        <p:cTn id="24" dur="1" fill="hold">
                                          <p:stCondLst>
                                            <p:cond delay="0"/>
                                          </p:stCondLst>
                                        </p:cTn>
                                        <p:tgtEl>
                                          <p:spTgt spid="13"/>
                                        </p:tgtEl>
                                        <p:attrNameLst>
                                          <p:attrName>style.visibility</p:attrName>
                                        </p:attrNameLst>
                                      </p:cBhvr>
                                      <p:to>
                                        <p:strVal val="visible"/>
                                      </p:to>
                                    </p:set>
                                  </p:childTnLst>
                                </p:cTn>
                              </p:par>
                              <p:par>
                                <p:cTn id="25" presetID="1" presetClass="entr" presetSubtype="0" fill="hold" grpId="0" nodeType="withEffect">
                                  <p:stCondLst>
                                    <p:cond delay="0"/>
                                  </p:stCondLst>
                                  <p:childTnLst>
                                    <p:set>
                                      <p:cBhvr>
                                        <p:cTn id="26" dur="1" fill="hold">
                                          <p:stCondLst>
                                            <p:cond delay="0"/>
                                          </p:stCondLst>
                                        </p:cTn>
                                        <p:tgtEl>
                                          <p:spTgt spid="14"/>
                                        </p:tgtEl>
                                        <p:attrNameLst>
                                          <p:attrName>style.visibility</p:attrName>
                                        </p:attrNameLst>
                                      </p:cBhvr>
                                      <p:to>
                                        <p:strVal val="visible"/>
                                      </p:to>
                                    </p:set>
                                  </p:childTnLst>
                                </p:cTn>
                              </p:par>
                              <p:par>
                                <p:cTn id="27" presetID="1" presetClass="entr" presetSubtype="0" fill="hold" grpId="0" nodeType="withEffect">
                                  <p:stCondLst>
                                    <p:cond delay="0"/>
                                  </p:stCondLst>
                                  <p:childTnLst>
                                    <p:set>
                                      <p:cBhvr>
                                        <p:cTn id="28" dur="1" fill="hold">
                                          <p:stCondLst>
                                            <p:cond delay="0"/>
                                          </p:stCondLst>
                                        </p:cTn>
                                        <p:tgtEl>
                                          <p:spTgt spid="15"/>
                                        </p:tgtEl>
                                        <p:attrNameLst>
                                          <p:attrName>style.visibility</p:attrName>
                                        </p:attrNameLst>
                                      </p:cBhvr>
                                      <p:to>
                                        <p:strVal val="visible"/>
                                      </p:to>
                                    </p:set>
                                  </p:childTnLst>
                                </p:cTn>
                              </p:par>
                              <p:par>
                                <p:cTn id="29" presetID="1" presetClass="entr" presetSubtype="0" fill="hold" grpId="0" nodeType="withEffect">
                                  <p:stCondLst>
                                    <p:cond delay="0"/>
                                  </p:stCondLst>
                                  <p:childTnLst>
                                    <p:set>
                                      <p:cBhvr>
                                        <p:cTn id="30" dur="1" fill="hold">
                                          <p:stCondLst>
                                            <p:cond delay="0"/>
                                          </p:stCondLst>
                                        </p:cTn>
                                        <p:tgtEl>
                                          <p:spTgt spid="16"/>
                                        </p:tgtEl>
                                        <p:attrNameLst>
                                          <p:attrName>style.visibility</p:attrName>
                                        </p:attrNameLst>
                                      </p:cBhvr>
                                      <p:to>
                                        <p:strVal val="visible"/>
                                      </p:to>
                                    </p:set>
                                  </p:childTnLst>
                                </p:cTn>
                              </p:par>
                              <p:par>
                                <p:cTn id="31" presetID="1" presetClass="entr" presetSubtype="0" fill="hold" grpId="0" nodeType="withEffect">
                                  <p:stCondLst>
                                    <p:cond delay="0"/>
                                  </p:stCondLst>
                                  <p:childTnLst>
                                    <p:set>
                                      <p:cBhvr>
                                        <p:cTn id="32" dur="1" fill="hold">
                                          <p:stCondLst>
                                            <p:cond delay="0"/>
                                          </p:stCondLst>
                                        </p:cTn>
                                        <p:tgtEl>
                                          <p:spTgt spid="17"/>
                                        </p:tgtEl>
                                        <p:attrNameLst>
                                          <p:attrName>style.visibility</p:attrName>
                                        </p:attrNameLst>
                                      </p:cBhvr>
                                      <p:to>
                                        <p:strVal val="visible"/>
                                      </p:to>
                                    </p:set>
                                  </p:childTnLst>
                                </p:cTn>
                              </p:par>
                              <p:par>
                                <p:cTn id="33" presetID="1" presetClass="entr" presetSubtype="0" fill="hold" nodeType="withEffect">
                                  <p:stCondLst>
                                    <p:cond delay="0"/>
                                  </p:stCondLst>
                                  <p:childTnLst>
                                    <p:set>
                                      <p:cBhvr>
                                        <p:cTn id="34" dur="1" fill="hold">
                                          <p:stCondLst>
                                            <p:cond delay="0"/>
                                          </p:stCondLst>
                                        </p:cTn>
                                        <p:tgtEl>
                                          <p:spTgt spid="31"/>
                                        </p:tgtEl>
                                        <p:attrNameLst>
                                          <p:attrName>style.visibility</p:attrName>
                                        </p:attrNameLst>
                                      </p:cBhvr>
                                      <p:to>
                                        <p:strVal val="visible"/>
                                      </p:to>
                                    </p:set>
                                  </p:childTnLst>
                                </p:cTn>
                              </p:par>
                              <p:par>
                                <p:cTn id="35" presetID="1" presetClass="entr" presetSubtype="0" fill="hold" grpId="0" nodeType="withEffect">
                                  <p:stCondLst>
                                    <p:cond delay="0"/>
                                  </p:stCondLst>
                                  <p:childTnLst>
                                    <p:set>
                                      <p:cBhvr>
                                        <p:cTn id="36" dur="1" fill="hold">
                                          <p:stCondLst>
                                            <p:cond delay="0"/>
                                          </p:stCondLst>
                                        </p:cTn>
                                        <p:tgtEl>
                                          <p:spTgt spid="32"/>
                                        </p:tgtEl>
                                        <p:attrNameLst>
                                          <p:attrName>style.visibility</p:attrName>
                                        </p:attrNameLst>
                                      </p:cBhvr>
                                      <p:to>
                                        <p:strVal val="visible"/>
                                      </p:to>
                                    </p:set>
                                  </p:childTnLst>
                                </p:cTn>
                              </p:par>
                              <p:par>
                                <p:cTn id="37" presetID="1" presetClass="entr" presetSubtype="0" fill="hold" nodeType="withEffect">
                                  <p:stCondLst>
                                    <p:cond delay="0"/>
                                  </p:stCondLst>
                                  <p:childTnLst>
                                    <p:set>
                                      <p:cBhvr>
                                        <p:cTn id="38" dur="1" fill="hold">
                                          <p:stCondLst>
                                            <p:cond delay="0"/>
                                          </p:stCondLst>
                                        </p:cTn>
                                        <p:tgtEl>
                                          <p:spTgt spid="33"/>
                                        </p:tgtEl>
                                        <p:attrNameLst>
                                          <p:attrName>style.visibility</p:attrName>
                                        </p:attrNameLst>
                                      </p:cBhvr>
                                      <p:to>
                                        <p:strVal val="visible"/>
                                      </p:to>
                                    </p:set>
                                  </p:childTnLst>
                                </p:cTn>
                              </p:par>
                              <p:par>
                                <p:cTn id="39" presetID="1" presetClass="entr" presetSubtype="0" fill="hold" grpId="0" nodeType="withEffect">
                                  <p:stCondLst>
                                    <p:cond delay="0"/>
                                  </p:stCondLst>
                                  <p:childTnLst>
                                    <p:set>
                                      <p:cBhvr>
                                        <p:cTn id="40" dur="1" fill="hold">
                                          <p:stCondLst>
                                            <p:cond delay="0"/>
                                          </p:stCondLst>
                                        </p:cTn>
                                        <p:tgtEl>
                                          <p:spTgt spid="34"/>
                                        </p:tgtEl>
                                        <p:attrNameLst>
                                          <p:attrName>style.visibility</p:attrName>
                                        </p:attrNameLst>
                                      </p:cBhvr>
                                      <p:to>
                                        <p:strVal val="visible"/>
                                      </p:to>
                                    </p:set>
                                  </p:childTnLst>
                                </p:cTn>
                              </p:par>
                              <p:par>
                                <p:cTn id="41" presetID="1" presetClass="entr" presetSubtype="0" fill="hold" grpId="0" nodeType="withEffect">
                                  <p:stCondLst>
                                    <p:cond delay="0"/>
                                  </p:stCondLst>
                                  <p:childTnLst>
                                    <p:set>
                                      <p:cBhvr>
                                        <p:cTn id="42" dur="1" fill="hold">
                                          <p:stCondLst>
                                            <p:cond delay="0"/>
                                          </p:stCondLst>
                                        </p:cTn>
                                        <p:tgtEl>
                                          <p:spTgt spid="35"/>
                                        </p:tgtEl>
                                        <p:attrNameLst>
                                          <p:attrName>style.visibility</p:attrName>
                                        </p:attrNameLst>
                                      </p:cBhvr>
                                      <p:to>
                                        <p:strVal val="visible"/>
                                      </p:to>
                                    </p:set>
                                  </p:childTnLst>
                                </p:cTn>
                              </p:par>
                              <p:par>
                                <p:cTn id="43" presetID="1" presetClass="entr" presetSubtype="0" fill="hold" grpId="0" nodeType="withEffect">
                                  <p:stCondLst>
                                    <p:cond delay="0"/>
                                  </p:stCondLst>
                                  <p:childTnLst>
                                    <p:set>
                                      <p:cBhvr>
                                        <p:cTn id="44" dur="1" fill="hold">
                                          <p:stCondLst>
                                            <p:cond delay="0"/>
                                          </p:stCondLst>
                                        </p:cTn>
                                        <p:tgtEl>
                                          <p:spTgt spid="36"/>
                                        </p:tgtEl>
                                        <p:attrNameLst>
                                          <p:attrName>style.visibility</p:attrName>
                                        </p:attrNameLst>
                                      </p:cBhvr>
                                      <p:to>
                                        <p:strVal val="visible"/>
                                      </p:to>
                                    </p:set>
                                  </p:childTnLst>
                                </p:cTn>
                              </p:par>
                              <p:par>
                                <p:cTn id="45" presetID="1" presetClass="entr" presetSubtype="0" fill="hold" grpId="0" nodeType="withEffect">
                                  <p:stCondLst>
                                    <p:cond delay="0"/>
                                  </p:stCondLst>
                                  <p:childTnLst>
                                    <p:set>
                                      <p:cBhvr>
                                        <p:cTn id="46" dur="1" fill="hold">
                                          <p:stCondLst>
                                            <p:cond delay="0"/>
                                          </p:stCondLst>
                                        </p:cTn>
                                        <p:tgtEl>
                                          <p:spTgt spid="37"/>
                                        </p:tgtEl>
                                        <p:attrNameLst>
                                          <p:attrName>style.visibility</p:attrName>
                                        </p:attrNameLst>
                                      </p:cBhvr>
                                      <p:to>
                                        <p:strVal val="visible"/>
                                      </p:to>
                                    </p:set>
                                  </p:childTnLst>
                                </p:cTn>
                              </p:par>
                              <p:par>
                                <p:cTn id="47" presetID="1" presetClass="entr" presetSubtype="0" fill="hold" grpId="0" nodeType="withEffect">
                                  <p:stCondLst>
                                    <p:cond delay="0"/>
                                  </p:stCondLst>
                                  <p:childTnLst>
                                    <p:set>
                                      <p:cBhvr>
                                        <p:cTn id="48" dur="1" fill="hold">
                                          <p:stCondLst>
                                            <p:cond delay="0"/>
                                          </p:stCondLst>
                                        </p:cTn>
                                        <p:tgtEl>
                                          <p:spTgt spid="38"/>
                                        </p:tgtEl>
                                        <p:attrNameLst>
                                          <p:attrName>style.visibility</p:attrName>
                                        </p:attrNameLst>
                                      </p:cBhvr>
                                      <p:to>
                                        <p:strVal val="visible"/>
                                      </p:to>
                                    </p:set>
                                  </p:childTnLst>
                                </p:cTn>
                              </p:par>
                              <p:par>
                                <p:cTn id="49" presetID="1" presetClass="entr" presetSubtype="0" fill="hold" grpId="0" nodeType="withEffect">
                                  <p:stCondLst>
                                    <p:cond delay="0"/>
                                  </p:stCondLst>
                                  <p:childTnLst>
                                    <p:set>
                                      <p:cBhvr>
                                        <p:cTn id="50" dur="1" fill="hold">
                                          <p:stCondLst>
                                            <p:cond delay="0"/>
                                          </p:stCondLst>
                                        </p:cTn>
                                        <p:tgtEl>
                                          <p:spTgt spid="39"/>
                                        </p:tgtEl>
                                        <p:attrNameLst>
                                          <p:attrName>style.visibility</p:attrName>
                                        </p:attrNameLst>
                                      </p:cBhvr>
                                      <p:to>
                                        <p:strVal val="visible"/>
                                      </p:to>
                                    </p:set>
                                  </p:childTnLst>
                                </p:cTn>
                              </p:par>
                              <p:par>
                                <p:cTn id="51" presetID="1" presetClass="entr" presetSubtype="0" fill="hold" grpId="0" nodeType="withEffect">
                                  <p:stCondLst>
                                    <p:cond delay="0"/>
                                  </p:stCondLst>
                                  <p:childTnLst>
                                    <p:set>
                                      <p:cBhvr>
                                        <p:cTn id="52" dur="1" fill="hold">
                                          <p:stCondLst>
                                            <p:cond delay="0"/>
                                          </p:stCondLst>
                                        </p:cTn>
                                        <p:tgtEl>
                                          <p:spTgt spid="40"/>
                                        </p:tgtEl>
                                        <p:attrNameLst>
                                          <p:attrName>style.visibility</p:attrName>
                                        </p:attrNameLst>
                                      </p:cBhvr>
                                      <p:to>
                                        <p:strVal val="visible"/>
                                      </p:to>
                                    </p:set>
                                  </p:childTnLst>
                                </p:cTn>
                              </p:par>
                              <p:par>
                                <p:cTn id="53" presetID="1" presetClass="entr" presetSubtype="0" fill="hold" grpId="0" nodeType="withEffect">
                                  <p:stCondLst>
                                    <p:cond delay="0"/>
                                  </p:stCondLst>
                                  <p:childTnLst>
                                    <p:set>
                                      <p:cBhvr>
                                        <p:cTn id="54" dur="1" fill="hold">
                                          <p:stCondLst>
                                            <p:cond delay="0"/>
                                          </p:stCondLst>
                                        </p:cTn>
                                        <p:tgtEl>
                                          <p:spTgt spid="41"/>
                                        </p:tgtEl>
                                        <p:attrNameLst>
                                          <p:attrName>style.visibility</p:attrName>
                                        </p:attrNameLst>
                                      </p:cBhvr>
                                      <p:to>
                                        <p:strVal val="visible"/>
                                      </p:to>
                                    </p:set>
                                  </p:childTnLst>
                                </p:cTn>
                              </p:par>
                              <p:par>
                                <p:cTn id="55" presetID="1" presetClass="entr" presetSubtype="0" fill="hold" grpId="0" nodeType="withEffect">
                                  <p:stCondLst>
                                    <p:cond delay="0"/>
                                  </p:stCondLst>
                                  <p:childTnLst>
                                    <p:set>
                                      <p:cBhvr>
                                        <p:cTn id="56" dur="1" fill="hold">
                                          <p:stCondLst>
                                            <p:cond delay="0"/>
                                          </p:stCondLst>
                                        </p:cTn>
                                        <p:tgtEl>
                                          <p:spTgt spid="42"/>
                                        </p:tgtEl>
                                        <p:attrNameLst>
                                          <p:attrName>style.visibility</p:attrName>
                                        </p:attrNameLst>
                                      </p:cBhvr>
                                      <p:to>
                                        <p:strVal val="visible"/>
                                      </p:to>
                                    </p:set>
                                  </p:childTnLst>
                                </p:cTn>
                              </p:par>
                              <p:par>
                                <p:cTn id="57" presetID="1" presetClass="entr" presetSubtype="0" fill="hold" grpId="0" nodeType="withEffect">
                                  <p:stCondLst>
                                    <p:cond delay="0"/>
                                  </p:stCondLst>
                                  <p:childTnLst>
                                    <p:set>
                                      <p:cBhvr>
                                        <p:cTn id="58" dur="1" fill="hold">
                                          <p:stCondLst>
                                            <p:cond delay="0"/>
                                          </p:stCondLst>
                                        </p:cTn>
                                        <p:tgtEl>
                                          <p:spTgt spid="43"/>
                                        </p:tgtEl>
                                        <p:attrNameLst>
                                          <p:attrName>style.visibility</p:attrName>
                                        </p:attrNameLst>
                                      </p:cBhvr>
                                      <p:to>
                                        <p:strVal val="visible"/>
                                      </p:to>
                                    </p:set>
                                  </p:childTnLst>
                                </p:cTn>
                              </p:par>
                              <p:par>
                                <p:cTn id="59" presetID="1" presetClass="entr" presetSubtype="0" fill="hold" grpId="0" nodeType="withEffect">
                                  <p:stCondLst>
                                    <p:cond delay="0"/>
                                  </p:stCondLst>
                                  <p:childTnLst>
                                    <p:set>
                                      <p:cBhvr>
                                        <p:cTn id="60" dur="1" fill="hold">
                                          <p:stCondLst>
                                            <p:cond delay="0"/>
                                          </p:stCondLst>
                                        </p:cTn>
                                        <p:tgtEl>
                                          <p:spTgt spid="44"/>
                                        </p:tgtEl>
                                        <p:attrNameLst>
                                          <p:attrName>style.visibility</p:attrName>
                                        </p:attrNameLst>
                                      </p:cBhvr>
                                      <p:to>
                                        <p:strVal val="visible"/>
                                      </p:to>
                                    </p:set>
                                  </p:childTnLst>
                                </p:cTn>
                              </p:par>
                              <p:par>
                                <p:cTn id="61" presetID="1" presetClass="entr" presetSubtype="0" fill="hold" grpId="0" nodeType="withEffect">
                                  <p:stCondLst>
                                    <p:cond delay="0"/>
                                  </p:stCondLst>
                                  <p:childTnLst>
                                    <p:set>
                                      <p:cBhvr>
                                        <p:cTn id="62" dur="1" fill="hold">
                                          <p:stCondLst>
                                            <p:cond delay="0"/>
                                          </p:stCondLst>
                                        </p:cTn>
                                        <p:tgtEl>
                                          <p:spTgt spid="45"/>
                                        </p:tgtEl>
                                        <p:attrNameLst>
                                          <p:attrName>style.visibility</p:attrName>
                                        </p:attrNameLst>
                                      </p:cBhvr>
                                      <p:to>
                                        <p:strVal val="visible"/>
                                      </p:to>
                                    </p:set>
                                  </p:childTnLst>
                                </p:cTn>
                              </p:par>
                              <p:par>
                                <p:cTn id="63" presetID="1" presetClass="entr" presetSubtype="0" fill="hold" grpId="0" nodeType="withEffect">
                                  <p:stCondLst>
                                    <p:cond delay="0"/>
                                  </p:stCondLst>
                                  <p:childTnLst>
                                    <p:set>
                                      <p:cBhvr>
                                        <p:cTn id="64" dur="1" fill="hold">
                                          <p:stCondLst>
                                            <p:cond delay="0"/>
                                          </p:stCondLst>
                                        </p:cTn>
                                        <p:tgtEl>
                                          <p:spTgt spid="46"/>
                                        </p:tgtEl>
                                        <p:attrNameLst>
                                          <p:attrName>style.visibility</p:attrName>
                                        </p:attrNameLst>
                                      </p:cBhvr>
                                      <p:to>
                                        <p:strVal val="visible"/>
                                      </p:to>
                                    </p:set>
                                  </p:childTnLst>
                                </p:cTn>
                              </p:par>
                              <p:par>
                                <p:cTn id="65" presetID="1" presetClass="entr" presetSubtype="0" fill="hold" grpId="0" nodeType="withEffect">
                                  <p:stCondLst>
                                    <p:cond delay="0"/>
                                  </p:stCondLst>
                                  <p:childTnLst>
                                    <p:set>
                                      <p:cBhvr>
                                        <p:cTn id="66" dur="1" fill="hold">
                                          <p:stCondLst>
                                            <p:cond delay="0"/>
                                          </p:stCondLst>
                                        </p:cTn>
                                        <p:tgtEl>
                                          <p:spTgt spid="47"/>
                                        </p:tgtEl>
                                        <p:attrNameLst>
                                          <p:attrName>style.visibility</p:attrName>
                                        </p:attrNameLst>
                                      </p:cBhvr>
                                      <p:to>
                                        <p:strVal val="visible"/>
                                      </p:to>
                                    </p:set>
                                  </p:childTnLst>
                                </p:cTn>
                              </p:par>
                              <p:par>
                                <p:cTn id="67" presetID="1" presetClass="entr" presetSubtype="0" fill="hold" grpId="0" nodeType="withEffect">
                                  <p:stCondLst>
                                    <p:cond delay="0"/>
                                  </p:stCondLst>
                                  <p:childTnLst>
                                    <p:set>
                                      <p:cBhvr>
                                        <p:cTn id="68" dur="1" fill="hold">
                                          <p:stCondLst>
                                            <p:cond delay="0"/>
                                          </p:stCondLst>
                                        </p:cTn>
                                        <p:tgtEl>
                                          <p:spTgt spid="48"/>
                                        </p:tgtEl>
                                        <p:attrNameLst>
                                          <p:attrName>style.visibility</p:attrName>
                                        </p:attrNameLst>
                                      </p:cBhvr>
                                      <p:to>
                                        <p:strVal val="visible"/>
                                      </p:to>
                                    </p:set>
                                  </p:childTnLst>
                                </p:cTn>
                              </p:par>
                              <p:par>
                                <p:cTn id="69" presetID="1" presetClass="entr" presetSubtype="0" fill="hold" grpId="0" nodeType="withEffect">
                                  <p:stCondLst>
                                    <p:cond delay="0"/>
                                  </p:stCondLst>
                                  <p:childTnLst>
                                    <p:set>
                                      <p:cBhvr>
                                        <p:cTn id="70" dur="1" fill="hold">
                                          <p:stCondLst>
                                            <p:cond delay="0"/>
                                          </p:stCondLst>
                                        </p:cTn>
                                        <p:tgtEl>
                                          <p:spTgt spid="49"/>
                                        </p:tgtEl>
                                        <p:attrNameLst>
                                          <p:attrName>style.visibility</p:attrName>
                                        </p:attrNameLst>
                                      </p:cBhvr>
                                      <p:to>
                                        <p:strVal val="visible"/>
                                      </p:to>
                                    </p:set>
                                  </p:childTnLst>
                                </p:cTn>
                              </p:par>
                              <p:par>
                                <p:cTn id="71" presetID="1" presetClass="entr" presetSubtype="0" fill="hold" grpId="0" nodeType="withEffect">
                                  <p:stCondLst>
                                    <p:cond delay="0"/>
                                  </p:stCondLst>
                                  <p:childTnLst>
                                    <p:set>
                                      <p:cBhvr>
                                        <p:cTn id="72" dur="1" fill="hold">
                                          <p:stCondLst>
                                            <p:cond delay="0"/>
                                          </p:stCondLst>
                                        </p:cTn>
                                        <p:tgtEl>
                                          <p:spTgt spid="50"/>
                                        </p:tgtEl>
                                        <p:attrNameLst>
                                          <p:attrName>style.visibility</p:attrName>
                                        </p:attrNameLst>
                                      </p:cBhvr>
                                      <p:to>
                                        <p:strVal val="visible"/>
                                      </p:to>
                                    </p:set>
                                  </p:childTnLst>
                                </p:cTn>
                              </p:par>
                              <p:par>
                                <p:cTn id="73" presetID="1" presetClass="entr" presetSubtype="0" fill="hold" grpId="0" nodeType="withEffect">
                                  <p:stCondLst>
                                    <p:cond delay="0"/>
                                  </p:stCondLst>
                                  <p:childTnLst>
                                    <p:set>
                                      <p:cBhvr>
                                        <p:cTn id="74" dur="1" fill="hold">
                                          <p:stCondLst>
                                            <p:cond delay="0"/>
                                          </p:stCondLst>
                                        </p:cTn>
                                        <p:tgtEl>
                                          <p:spTgt spid="51"/>
                                        </p:tgtEl>
                                        <p:attrNameLst>
                                          <p:attrName>style.visibility</p:attrName>
                                        </p:attrNameLst>
                                      </p:cBhvr>
                                      <p:to>
                                        <p:strVal val="visible"/>
                                      </p:to>
                                    </p:set>
                                  </p:childTnLst>
                                </p:cTn>
                              </p:par>
                              <p:par>
                                <p:cTn id="75" presetID="1" presetClass="entr" presetSubtype="0" fill="hold" grpId="0" nodeType="withEffect">
                                  <p:stCondLst>
                                    <p:cond delay="0"/>
                                  </p:stCondLst>
                                  <p:childTnLst>
                                    <p:set>
                                      <p:cBhvr>
                                        <p:cTn id="76" dur="1" fill="hold">
                                          <p:stCondLst>
                                            <p:cond delay="0"/>
                                          </p:stCondLst>
                                        </p:cTn>
                                        <p:tgtEl>
                                          <p:spTgt spid="52"/>
                                        </p:tgtEl>
                                        <p:attrNameLst>
                                          <p:attrName>style.visibility</p:attrName>
                                        </p:attrNameLst>
                                      </p:cBhvr>
                                      <p:to>
                                        <p:strVal val="visible"/>
                                      </p:to>
                                    </p:set>
                                  </p:childTnLst>
                                </p:cTn>
                              </p:par>
                              <p:par>
                                <p:cTn id="77" presetID="1" presetClass="entr" presetSubtype="0" fill="hold" grpId="0" nodeType="withEffect">
                                  <p:stCondLst>
                                    <p:cond delay="0"/>
                                  </p:stCondLst>
                                  <p:childTnLst>
                                    <p:set>
                                      <p:cBhvr>
                                        <p:cTn id="78" dur="1" fill="hold">
                                          <p:stCondLst>
                                            <p:cond delay="0"/>
                                          </p:stCondLst>
                                        </p:cTn>
                                        <p:tgtEl>
                                          <p:spTgt spid="53"/>
                                        </p:tgtEl>
                                        <p:attrNameLst>
                                          <p:attrName>style.visibility</p:attrName>
                                        </p:attrNameLst>
                                      </p:cBhvr>
                                      <p:to>
                                        <p:strVal val="visible"/>
                                      </p:to>
                                    </p:set>
                                  </p:childTnLst>
                                </p:cTn>
                              </p:par>
                              <p:par>
                                <p:cTn id="79" presetID="1" presetClass="entr" presetSubtype="0" fill="hold" grpId="0" nodeType="withEffect">
                                  <p:stCondLst>
                                    <p:cond delay="0"/>
                                  </p:stCondLst>
                                  <p:childTnLst>
                                    <p:set>
                                      <p:cBhvr>
                                        <p:cTn id="80" dur="1" fill="hold">
                                          <p:stCondLst>
                                            <p:cond delay="0"/>
                                          </p:stCondLst>
                                        </p:cTn>
                                        <p:tgtEl>
                                          <p:spTgt spid="54"/>
                                        </p:tgtEl>
                                        <p:attrNameLst>
                                          <p:attrName>style.visibility</p:attrName>
                                        </p:attrNameLst>
                                      </p:cBhvr>
                                      <p:to>
                                        <p:strVal val="visible"/>
                                      </p:to>
                                    </p:set>
                                  </p:childTnLst>
                                </p:cTn>
                              </p:par>
                              <p:par>
                                <p:cTn id="81" presetID="1" presetClass="entr" presetSubtype="0" fill="hold" grpId="0" nodeType="withEffect">
                                  <p:stCondLst>
                                    <p:cond delay="0"/>
                                  </p:stCondLst>
                                  <p:childTnLst>
                                    <p:set>
                                      <p:cBhvr>
                                        <p:cTn id="82" dur="1" fill="hold">
                                          <p:stCondLst>
                                            <p:cond delay="0"/>
                                          </p:stCondLst>
                                        </p:cTn>
                                        <p:tgtEl>
                                          <p:spTgt spid="55"/>
                                        </p:tgtEl>
                                        <p:attrNameLst>
                                          <p:attrName>style.visibility</p:attrName>
                                        </p:attrNameLst>
                                      </p:cBhvr>
                                      <p:to>
                                        <p:strVal val="visible"/>
                                      </p:to>
                                    </p:set>
                                  </p:childTnLst>
                                </p:cTn>
                              </p:par>
                              <p:par>
                                <p:cTn id="83" presetID="1" presetClass="entr" presetSubtype="0" fill="hold" grpId="0" nodeType="withEffect">
                                  <p:stCondLst>
                                    <p:cond delay="0"/>
                                  </p:stCondLst>
                                  <p:childTnLst>
                                    <p:set>
                                      <p:cBhvr>
                                        <p:cTn id="84" dur="1" fill="hold">
                                          <p:stCondLst>
                                            <p:cond delay="0"/>
                                          </p:stCondLst>
                                        </p:cTn>
                                        <p:tgtEl>
                                          <p:spTgt spid="56"/>
                                        </p:tgtEl>
                                        <p:attrNameLst>
                                          <p:attrName>style.visibility</p:attrName>
                                        </p:attrNameLst>
                                      </p:cBhvr>
                                      <p:to>
                                        <p:strVal val="visible"/>
                                      </p:to>
                                    </p:set>
                                  </p:childTnLst>
                                </p:cTn>
                              </p:par>
                              <p:par>
                                <p:cTn id="85" presetID="1" presetClass="entr" presetSubtype="0" fill="hold" grpId="0" nodeType="withEffect">
                                  <p:stCondLst>
                                    <p:cond delay="0"/>
                                  </p:stCondLst>
                                  <p:childTnLst>
                                    <p:set>
                                      <p:cBhvr>
                                        <p:cTn id="86" dur="1" fill="hold">
                                          <p:stCondLst>
                                            <p:cond delay="0"/>
                                          </p:stCondLst>
                                        </p:cTn>
                                        <p:tgtEl>
                                          <p:spTgt spid="57"/>
                                        </p:tgtEl>
                                        <p:attrNameLst>
                                          <p:attrName>style.visibility</p:attrName>
                                        </p:attrNameLst>
                                      </p:cBhvr>
                                      <p:to>
                                        <p:strVal val="visible"/>
                                      </p:to>
                                    </p:set>
                                  </p:childTnLst>
                                </p:cTn>
                              </p:par>
                              <p:par>
                                <p:cTn id="87" presetID="1" presetClass="entr" presetSubtype="0" fill="hold" grpId="0" nodeType="withEffect">
                                  <p:stCondLst>
                                    <p:cond delay="0"/>
                                  </p:stCondLst>
                                  <p:childTnLst>
                                    <p:set>
                                      <p:cBhvr>
                                        <p:cTn id="88" dur="1" fill="hold">
                                          <p:stCondLst>
                                            <p:cond delay="0"/>
                                          </p:stCondLst>
                                        </p:cTn>
                                        <p:tgtEl>
                                          <p:spTgt spid="58"/>
                                        </p:tgtEl>
                                        <p:attrNameLst>
                                          <p:attrName>style.visibility</p:attrName>
                                        </p:attrNameLst>
                                      </p:cBhvr>
                                      <p:to>
                                        <p:strVal val="visible"/>
                                      </p:to>
                                    </p:set>
                                  </p:childTnLst>
                                </p:cTn>
                              </p:par>
                              <p:par>
                                <p:cTn id="89" presetID="1" presetClass="entr" presetSubtype="0" fill="hold" grpId="0" nodeType="withEffect">
                                  <p:stCondLst>
                                    <p:cond delay="0"/>
                                  </p:stCondLst>
                                  <p:childTnLst>
                                    <p:set>
                                      <p:cBhvr>
                                        <p:cTn id="90" dur="1" fill="hold">
                                          <p:stCondLst>
                                            <p:cond delay="0"/>
                                          </p:stCondLst>
                                        </p:cTn>
                                        <p:tgtEl>
                                          <p:spTgt spid="59"/>
                                        </p:tgtEl>
                                        <p:attrNameLst>
                                          <p:attrName>style.visibility</p:attrName>
                                        </p:attrNameLst>
                                      </p:cBhvr>
                                      <p:to>
                                        <p:strVal val="visible"/>
                                      </p:to>
                                    </p:set>
                                  </p:childTnLst>
                                </p:cTn>
                              </p:par>
                              <p:par>
                                <p:cTn id="91" presetID="1" presetClass="entr" presetSubtype="0" fill="hold" grpId="0" nodeType="withEffect">
                                  <p:stCondLst>
                                    <p:cond delay="0"/>
                                  </p:stCondLst>
                                  <p:childTnLst>
                                    <p:set>
                                      <p:cBhvr>
                                        <p:cTn id="92" dur="1" fill="hold">
                                          <p:stCondLst>
                                            <p:cond delay="0"/>
                                          </p:stCondLst>
                                        </p:cTn>
                                        <p:tgtEl>
                                          <p:spTgt spid="63"/>
                                        </p:tgtEl>
                                        <p:attrNameLst>
                                          <p:attrName>style.visibility</p:attrName>
                                        </p:attrNameLst>
                                      </p:cBhvr>
                                      <p:to>
                                        <p:strVal val="visible"/>
                                      </p:to>
                                    </p:set>
                                  </p:childTnLst>
                                </p:cTn>
                              </p:par>
                            </p:childTnLst>
                          </p:cTn>
                        </p:par>
                      </p:childTnLst>
                    </p:cTn>
                  </p:par>
                  <p:par>
                    <p:cTn id="93" fill="hold">
                      <p:stCondLst>
                        <p:cond delay="indefinite"/>
                      </p:stCondLst>
                      <p:childTnLst>
                        <p:par>
                          <p:cTn id="94" fill="hold">
                            <p:stCondLst>
                              <p:cond delay="0"/>
                            </p:stCondLst>
                            <p:childTnLst>
                              <p:par>
                                <p:cTn id="95" presetID="1" presetClass="entr" presetSubtype="0" fill="hold" nodeType="clickEffect">
                                  <p:stCondLst>
                                    <p:cond delay="0"/>
                                  </p:stCondLst>
                                  <p:childTnLst>
                                    <p:set>
                                      <p:cBhvr>
                                        <p:cTn id="96" dur="1" fill="hold">
                                          <p:stCondLst>
                                            <p:cond delay="0"/>
                                          </p:stCondLst>
                                        </p:cTn>
                                        <p:tgtEl>
                                          <p:spTgt spid="18"/>
                                        </p:tgtEl>
                                        <p:attrNameLst>
                                          <p:attrName>style.visibility</p:attrName>
                                        </p:attrNameLst>
                                      </p:cBhvr>
                                      <p:to>
                                        <p:strVal val="visible"/>
                                      </p:to>
                                    </p:set>
                                  </p:childTnLst>
                                </p:cTn>
                              </p:par>
                            </p:childTnLst>
                          </p:cTn>
                        </p:par>
                      </p:childTnLst>
                    </p:cTn>
                  </p:par>
                  <p:par>
                    <p:cTn id="97" fill="hold">
                      <p:stCondLst>
                        <p:cond delay="indefinite"/>
                      </p:stCondLst>
                      <p:childTnLst>
                        <p:par>
                          <p:cTn id="98" fill="hold">
                            <p:stCondLst>
                              <p:cond delay="0"/>
                            </p:stCondLst>
                            <p:childTnLst>
                              <p:par>
                                <p:cTn id="99" presetID="1" presetClass="entr" presetSubtype="0" fill="hold" nodeType="clickEffect">
                                  <p:stCondLst>
                                    <p:cond delay="0"/>
                                  </p:stCondLst>
                                  <p:childTnLst>
                                    <p:set>
                                      <p:cBhvr>
                                        <p:cTn id="100" dur="1" fill="hold">
                                          <p:stCondLst>
                                            <p:cond delay="0"/>
                                          </p:stCondLst>
                                        </p:cTn>
                                        <p:tgtEl>
                                          <p:spTgt spid="66"/>
                                        </p:tgtEl>
                                        <p:attrNameLst>
                                          <p:attrName>style.visibility</p:attrName>
                                        </p:attrNameLst>
                                      </p:cBhvr>
                                      <p:to>
                                        <p:strVal val="visible"/>
                                      </p:to>
                                    </p:set>
                                  </p:childTnLst>
                                </p:cTn>
                              </p:par>
                            </p:childTnLst>
                          </p:cTn>
                        </p:par>
                      </p:childTnLst>
                    </p:cTn>
                  </p:par>
                  <p:par>
                    <p:cTn id="101" fill="hold">
                      <p:stCondLst>
                        <p:cond delay="indefinite"/>
                      </p:stCondLst>
                      <p:childTnLst>
                        <p:par>
                          <p:cTn id="102" fill="hold">
                            <p:stCondLst>
                              <p:cond delay="0"/>
                            </p:stCondLst>
                            <p:childTnLst>
                              <p:par>
                                <p:cTn id="103" presetID="1" presetClass="entr" presetSubtype="0" fill="hold" grpId="0" nodeType="clickEffect">
                                  <p:stCondLst>
                                    <p:cond delay="0"/>
                                  </p:stCondLst>
                                  <p:childTnLst>
                                    <p:set>
                                      <p:cBhvr>
                                        <p:cTn id="104" dur="1" fill="hold">
                                          <p:stCondLst>
                                            <p:cond delay="0"/>
                                          </p:stCondLst>
                                        </p:cTn>
                                        <p:tgtEl>
                                          <p:spTgt spid="67"/>
                                        </p:tgtEl>
                                        <p:attrNameLst>
                                          <p:attrName>style.visibility</p:attrName>
                                        </p:attrNameLst>
                                      </p:cBhvr>
                                      <p:to>
                                        <p:strVal val="visible"/>
                                      </p:to>
                                    </p:set>
                                  </p:childTnLst>
                                </p:cTn>
                              </p:par>
                            </p:childTnLst>
                          </p:cTn>
                        </p:par>
                      </p:childTnLst>
                    </p:cTn>
                  </p:par>
                  <p:par>
                    <p:cTn id="105" fill="hold">
                      <p:stCondLst>
                        <p:cond delay="indefinite"/>
                      </p:stCondLst>
                      <p:childTnLst>
                        <p:par>
                          <p:cTn id="106" fill="hold">
                            <p:stCondLst>
                              <p:cond delay="0"/>
                            </p:stCondLst>
                            <p:childTnLst>
                              <p:par>
                                <p:cTn id="107" presetID="1" presetClass="entr" presetSubtype="0" fill="hold" grpId="0" nodeType="clickEffect">
                                  <p:stCondLst>
                                    <p:cond delay="0"/>
                                  </p:stCondLst>
                                  <p:childTnLst>
                                    <p:set>
                                      <p:cBhvr>
                                        <p:cTn id="108" dur="1" fill="hold">
                                          <p:stCondLst>
                                            <p:cond delay="0"/>
                                          </p:stCondLst>
                                        </p:cTn>
                                        <p:tgtEl>
                                          <p:spTgt spid="61"/>
                                        </p:tgtEl>
                                        <p:attrNameLst>
                                          <p:attrName>style.visibility</p:attrName>
                                        </p:attrNameLst>
                                      </p:cBhvr>
                                      <p:to>
                                        <p:strVal val="visible"/>
                                      </p:to>
                                    </p:set>
                                  </p:childTnLst>
                                </p:cTn>
                              </p:par>
                            </p:childTnLst>
                          </p:cTn>
                        </p:par>
                      </p:childTnLst>
                    </p:cTn>
                  </p:par>
                  <p:par>
                    <p:cTn id="109" fill="hold">
                      <p:stCondLst>
                        <p:cond delay="indefinite"/>
                      </p:stCondLst>
                      <p:childTnLst>
                        <p:par>
                          <p:cTn id="110" fill="hold">
                            <p:stCondLst>
                              <p:cond delay="0"/>
                            </p:stCondLst>
                            <p:childTnLst>
                              <p:par>
                                <p:cTn id="111" presetID="1" presetClass="entr" presetSubtype="0" fill="hold" grpId="0" nodeType="clickEffect">
                                  <p:stCondLst>
                                    <p:cond delay="0"/>
                                  </p:stCondLst>
                                  <p:childTnLst>
                                    <p:set>
                                      <p:cBhvr>
                                        <p:cTn id="112" dur="1" fill="hold">
                                          <p:stCondLst>
                                            <p:cond delay="0"/>
                                          </p:stCondLst>
                                        </p:cTn>
                                        <p:tgtEl>
                                          <p:spTgt spid="62"/>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P spid="14" grpId="0"/>
      <p:bldP spid="15" grpId="0"/>
      <p:bldP spid="16" grpId="0"/>
      <p:bldP spid="17" grpId="0"/>
      <p:bldP spid="32" grpId="0"/>
      <p:bldP spid="34" grpId="0"/>
      <p:bldP spid="35" grpId="0"/>
      <p:bldP spid="36" grpId="0"/>
      <p:bldP spid="37" grpId="0"/>
      <p:bldP spid="38" grpId="0" animBg="1"/>
      <p:bldP spid="39" grpId="0" animBg="1"/>
      <p:bldP spid="40" grpId="0" animBg="1"/>
      <p:bldP spid="41" grpId="0" animBg="1"/>
      <p:bldP spid="42" grpId="0" animBg="1"/>
      <p:bldP spid="43" grpId="0" animBg="1"/>
      <p:bldP spid="44" grpId="0" animBg="1"/>
      <p:bldP spid="45" grpId="0" animBg="1"/>
      <p:bldP spid="46" grpId="0" animBg="1"/>
      <p:bldP spid="47" grpId="0" animBg="1"/>
      <p:bldP spid="48" grpId="0" animBg="1"/>
      <p:bldP spid="49" grpId="0" animBg="1"/>
      <p:bldP spid="50" grpId="0" animBg="1"/>
      <p:bldP spid="51" grpId="0" animBg="1"/>
      <p:bldP spid="52" grpId="0" animBg="1"/>
      <p:bldP spid="53" grpId="0" animBg="1"/>
      <p:bldP spid="54" grpId="0" animBg="1"/>
      <p:bldP spid="55" grpId="0" animBg="1"/>
      <p:bldP spid="56" grpId="0" animBg="1"/>
      <p:bldP spid="57" grpId="0" animBg="1"/>
      <p:bldP spid="58" grpId="0" animBg="1"/>
      <p:bldP spid="59" grpId="0" animBg="1"/>
      <p:bldP spid="61" grpId="0"/>
      <p:bldP spid="62" grpId="0"/>
      <p:bldP spid="63" grpId="0"/>
      <p:bldP spid="67" grpId="0"/>
    </p:bldLst>
  </p:timing>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FB83C4C-E145-C3CC-CBD8-79C83DC00D67}"/>
              </a:ext>
            </a:extLst>
          </p:cNvPr>
          <p:cNvSpPr>
            <a:spLocks noGrp="1"/>
          </p:cNvSpPr>
          <p:nvPr>
            <p:ph type="title"/>
          </p:nvPr>
        </p:nvSpPr>
        <p:spPr>
          <a:xfrm>
            <a:off x="838200" y="365125"/>
            <a:ext cx="10515600" cy="1325563"/>
          </a:xfrm>
        </p:spPr>
        <p:txBody>
          <a:bodyPr>
            <a:normAutofit/>
          </a:bodyPr>
          <a:lstStyle/>
          <a:p>
            <a:pPr algn="ctr"/>
            <a:r>
              <a:rPr lang="tr-TR" dirty="0" err="1"/>
              <a:t>Terminology</a:t>
            </a:r>
            <a:endParaRPr lang="en-US" dirty="0"/>
          </a:p>
        </p:txBody>
      </p:sp>
      <p:graphicFrame>
        <p:nvGraphicFramePr>
          <p:cNvPr id="13" name="Table 12">
            <a:extLst>
              <a:ext uri="{FF2B5EF4-FFF2-40B4-BE49-F238E27FC236}">
                <a16:creationId xmlns:a16="http://schemas.microsoft.com/office/drawing/2014/main" id="{ED87BC2D-7697-9871-1A72-9D6319A98818}"/>
              </a:ext>
            </a:extLst>
          </p:cNvPr>
          <p:cNvGraphicFramePr>
            <a:graphicFrameLocks noGrp="1"/>
          </p:cNvGraphicFramePr>
          <p:nvPr/>
        </p:nvGraphicFramePr>
        <p:xfrm>
          <a:off x="838200" y="2500571"/>
          <a:ext cx="4322818" cy="2691826"/>
        </p:xfrm>
        <a:graphic>
          <a:graphicData uri="http://schemas.openxmlformats.org/drawingml/2006/table">
            <a:tbl>
              <a:tblPr/>
              <a:tblGrid>
                <a:gridCol w="2252224">
                  <a:extLst>
                    <a:ext uri="{9D8B030D-6E8A-4147-A177-3AD203B41FA5}">
                      <a16:colId xmlns:a16="http://schemas.microsoft.com/office/drawing/2014/main" val="1587196699"/>
                    </a:ext>
                  </a:extLst>
                </a:gridCol>
                <a:gridCol w="2070594">
                  <a:extLst>
                    <a:ext uri="{9D8B030D-6E8A-4147-A177-3AD203B41FA5}">
                      <a16:colId xmlns:a16="http://schemas.microsoft.com/office/drawing/2014/main" val="879358496"/>
                    </a:ext>
                  </a:extLst>
                </a:gridCol>
              </a:tblGrid>
              <a:tr h="294914">
                <a:tc>
                  <a:txBody>
                    <a:bodyPr/>
                    <a:lstStyle/>
                    <a:p>
                      <a:pPr algn="ctr" fontAlgn="b"/>
                      <a:r>
                        <a:rPr lang="en-US" sz="1800" b="1" i="0" u="none" strike="noStrike">
                          <a:solidFill>
                            <a:srgbClr val="000000"/>
                          </a:solidFill>
                          <a:effectLst/>
                          <a:latin typeface="Calibri" panose="020F0502020204030204" pitchFamily="34" charset="0"/>
                        </a:rPr>
                        <a:t>x</a:t>
                      </a:r>
                    </a:p>
                  </a:txBody>
                  <a:tcPr marL="6350" marR="6350" marT="6350" marB="0" anchor="b">
                    <a:lnL>
                      <a:noFill/>
                    </a:lnL>
                    <a:lnR w="6350" cap="flat" cmpd="sng" algn="ctr">
                      <a:solidFill>
                        <a:srgbClr val="000000"/>
                      </a:solidFill>
                      <a:prstDash val="solid"/>
                      <a:round/>
                      <a:headEnd type="none" w="med" len="med"/>
                      <a:tailEnd type="none" w="med" len="med"/>
                    </a:lnR>
                    <a:lnT>
                      <a:noFill/>
                    </a:lnT>
                    <a:lnB>
                      <a:noFill/>
                    </a:lnB>
                  </a:tcPr>
                </a:tc>
                <a:tc>
                  <a:txBody>
                    <a:bodyPr/>
                    <a:lstStyle/>
                    <a:p>
                      <a:pPr algn="ctr" fontAlgn="b"/>
                      <a:r>
                        <a:rPr lang="en-US" sz="1800" b="1" i="0" u="none" strike="noStrike">
                          <a:solidFill>
                            <a:srgbClr val="000000"/>
                          </a:solidFill>
                          <a:effectLst/>
                          <a:latin typeface="Calibri" panose="020F0502020204030204" pitchFamily="34" charset="0"/>
                        </a:rPr>
                        <a:t>y</a:t>
                      </a:r>
                    </a:p>
                  </a:txBody>
                  <a:tcPr marL="6350" marR="6350" marT="6350" marB="0" anchor="b">
                    <a:lnL w="6350" cap="flat" cmpd="sng" algn="ctr">
                      <a:solidFill>
                        <a:srgbClr val="000000"/>
                      </a:solidFill>
                      <a:prstDash val="solid"/>
                      <a:round/>
                      <a:headEnd type="none" w="med" len="med"/>
                      <a:tailEnd type="none" w="med" len="med"/>
                    </a:lnL>
                    <a:lnR>
                      <a:noFill/>
                    </a:lnR>
                    <a:lnT>
                      <a:noFill/>
                    </a:lnT>
                    <a:lnB>
                      <a:noFill/>
                    </a:lnB>
                  </a:tcPr>
                </a:tc>
                <a:extLst>
                  <a:ext uri="{0D108BD9-81ED-4DB2-BD59-A6C34878D82A}">
                    <a16:rowId xmlns:a16="http://schemas.microsoft.com/office/drawing/2014/main" val="2112740309"/>
                  </a:ext>
                </a:extLst>
              </a:tr>
              <a:tr h="342416">
                <a:tc>
                  <a:txBody>
                    <a:bodyPr/>
                    <a:lstStyle/>
                    <a:p>
                      <a:pPr algn="ctr" fontAlgn="ctr"/>
                      <a:r>
                        <a:rPr lang="en-US" sz="2000" b="1" i="0" u="none" strike="noStrike">
                          <a:solidFill>
                            <a:srgbClr val="000000"/>
                          </a:solidFill>
                          <a:effectLst/>
                          <a:latin typeface="Calibri" panose="020F0502020204030204" pitchFamily="34" charset="0"/>
                        </a:rPr>
                        <a:t>Size(feet^2)</a:t>
                      </a:r>
                    </a:p>
                  </a:txBody>
                  <a:tcPr marL="6350" marR="6350" marT="6350" marB="0" anchor="ctr">
                    <a:lnL>
                      <a:noFill/>
                    </a:lnL>
                    <a:lnR w="6350" cap="flat" cmpd="sng" algn="ctr">
                      <a:solidFill>
                        <a:srgbClr val="000000"/>
                      </a:solidFill>
                      <a:prstDash val="solid"/>
                      <a:round/>
                      <a:headEnd type="none" w="med" len="med"/>
                      <a:tailEnd type="none" w="med" len="med"/>
                    </a:lnR>
                    <a:lnT>
                      <a:noFill/>
                    </a:lnT>
                    <a:lnB w="6350" cap="flat" cmpd="sng" algn="ctr">
                      <a:solidFill>
                        <a:srgbClr val="000000"/>
                      </a:solidFill>
                      <a:prstDash val="solid"/>
                      <a:round/>
                      <a:headEnd type="none" w="med" len="med"/>
                      <a:tailEnd type="none" w="med" len="med"/>
                    </a:lnB>
                  </a:tcPr>
                </a:tc>
                <a:tc>
                  <a:txBody>
                    <a:bodyPr/>
                    <a:lstStyle/>
                    <a:p>
                      <a:pPr algn="ctr" fontAlgn="ctr"/>
                      <a:r>
                        <a:rPr lang="en-US" sz="2000" b="1" i="0" u="none" strike="noStrike">
                          <a:solidFill>
                            <a:srgbClr val="000000"/>
                          </a:solidFill>
                          <a:effectLst/>
                          <a:latin typeface="Calibri" panose="020F0502020204030204" pitchFamily="34" charset="0"/>
                        </a:rPr>
                        <a:t>Price</a:t>
                      </a:r>
                    </a:p>
                  </a:txBody>
                  <a:tcPr marL="6350" marR="6350" marT="6350" marB="0" anchor="ctr">
                    <a:lnL w="6350" cap="flat" cmpd="sng" algn="ctr">
                      <a:solidFill>
                        <a:srgbClr val="000000"/>
                      </a:solidFill>
                      <a:prstDash val="solid"/>
                      <a:round/>
                      <a:headEnd type="none" w="med" len="med"/>
                      <a:tailEnd type="none" w="med" len="med"/>
                    </a:lnL>
                    <a:lnR>
                      <a:noFill/>
                    </a:lnR>
                    <a:lnT>
                      <a:noFill/>
                    </a:lnT>
                    <a:lnB w="635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3494656126"/>
                  </a:ext>
                </a:extLst>
              </a:tr>
              <a:tr h="342416">
                <a:tc>
                  <a:txBody>
                    <a:bodyPr/>
                    <a:lstStyle/>
                    <a:p>
                      <a:pPr algn="l" fontAlgn="ctr"/>
                      <a:r>
                        <a:rPr lang="tr-TR" sz="2000" b="0" i="0" u="none" strike="noStrike" dirty="0">
                          <a:solidFill>
                            <a:srgbClr val="000000"/>
                          </a:solidFill>
                          <a:effectLst/>
                          <a:latin typeface="Calibri" panose="020F0502020204030204" pitchFamily="34" charset="0"/>
                        </a:rPr>
                        <a:t>(1)          </a:t>
                      </a:r>
                      <a:r>
                        <a:rPr lang="en-US" sz="2000" b="0" i="0" u="none" strike="noStrike" dirty="0">
                          <a:solidFill>
                            <a:srgbClr val="000000"/>
                          </a:solidFill>
                          <a:effectLst/>
                          <a:latin typeface="Calibri" panose="020F0502020204030204" pitchFamily="34" charset="0"/>
                        </a:rPr>
                        <a:t>2104</a:t>
                      </a:r>
                    </a:p>
                  </a:txBody>
                  <a:tcPr marL="6350" marR="6350" marT="6350" marB="0" anchor="ctr">
                    <a:lnL>
                      <a:noFill/>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a:noFill/>
                    </a:lnB>
                  </a:tcPr>
                </a:tc>
                <a:tc>
                  <a:txBody>
                    <a:bodyPr/>
                    <a:lstStyle/>
                    <a:p>
                      <a:pPr algn="ctr" fontAlgn="ctr"/>
                      <a:r>
                        <a:rPr lang="en-US" sz="2000" b="0" i="0" u="none" strike="noStrike" dirty="0">
                          <a:solidFill>
                            <a:srgbClr val="000000"/>
                          </a:solidFill>
                          <a:effectLst/>
                          <a:latin typeface="Calibri" panose="020F0502020204030204" pitchFamily="34" charset="0"/>
                        </a:rPr>
                        <a:t>460</a:t>
                      </a:r>
                    </a:p>
                  </a:txBody>
                  <a:tcPr marL="6350" marR="6350" marT="6350" marB="0" anchor="ctr">
                    <a:lnL w="6350" cap="flat" cmpd="sng" algn="ctr">
                      <a:solidFill>
                        <a:srgbClr val="000000"/>
                      </a:solidFill>
                      <a:prstDash val="solid"/>
                      <a:round/>
                      <a:headEnd type="none" w="med" len="med"/>
                      <a:tailEnd type="none" w="med" len="med"/>
                    </a:lnL>
                    <a:lnR>
                      <a:noFill/>
                    </a:lnR>
                    <a:lnT w="6350" cap="flat" cmpd="sng" algn="ctr">
                      <a:solidFill>
                        <a:srgbClr val="000000"/>
                      </a:solidFill>
                      <a:prstDash val="solid"/>
                      <a:round/>
                      <a:headEnd type="none" w="med" len="med"/>
                      <a:tailEnd type="none" w="med" len="med"/>
                    </a:lnT>
                    <a:lnB>
                      <a:noFill/>
                    </a:lnB>
                  </a:tcPr>
                </a:tc>
                <a:extLst>
                  <a:ext uri="{0D108BD9-81ED-4DB2-BD59-A6C34878D82A}">
                    <a16:rowId xmlns:a16="http://schemas.microsoft.com/office/drawing/2014/main" val="4076294355"/>
                  </a:ext>
                </a:extLst>
              </a:tr>
              <a:tr h="342416">
                <a:tc>
                  <a:txBody>
                    <a:bodyPr/>
                    <a:lstStyle/>
                    <a:p>
                      <a:pPr algn="l" fontAlgn="ctr"/>
                      <a:r>
                        <a:rPr lang="tr-TR" sz="2000" b="0" i="0" u="none" strike="noStrike" dirty="0">
                          <a:solidFill>
                            <a:srgbClr val="000000"/>
                          </a:solidFill>
                          <a:effectLst/>
                          <a:latin typeface="Calibri" panose="020F0502020204030204" pitchFamily="34" charset="0"/>
                        </a:rPr>
                        <a:t>(2)          </a:t>
                      </a:r>
                      <a:r>
                        <a:rPr lang="en-US" sz="2000" b="0" i="0" u="none" strike="noStrike" dirty="0">
                          <a:solidFill>
                            <a:srgbClr val="000000"/>
                          </a:solidFill>
                          <a:effectLst/>
                          <a:latin typeface="Calibri" panose="020F0502020204030204" pitchFamily="34" charset="0"/>
                        </a:rPr>
                        <a:t>1416</a:t>
                      </a:r>
                    </a:p>
                  </a:txBody>
                  <a:tcPr marL="6350" marR="6350" marT="6350" marB="0" anchor="ctr">
                    <a:lnL>
                      <a:noFill/>
                    </a:lnL>
                    <a:lnR w="6350" cap="flat" cmpd="sng" algn="ctr">
                      <a:solidFill>
                        <a:srgbClr val="000000"/>
                      </a:solidFill>
                      <a:prstDash val="solid"/>
                      <a:round/>
                      <a:headEnd type="none" w="med" len="med"/>
                      <a:tailEnd type="none" w="med" len="med"/>
                    </a:lnR>
                    <a:lnT>
                      <a:noFill/>
                    </a:lnT>
                    <a:lnB>
                      <a:noFill/>
                    </a:lnB>
                  </a:tcPr>
                </a:tc>
                <a:tc>
                  <a:txBody>
                    <a:bodyPr/>
                    <a:lstStyle/>
                    <a:p>
                      <a:pPr algn="ctr" fontAlgn="ctr"/>
                      <a:r>
                        <a:rPr lang="en-US" sz="2000" b="0" i="0" u="none" strike="noStrike">
                          <a:solidFill>
                            <a:srgbClr val="000000"/>
                          </a:solidFill>
                          <a:effectLst/>
                          <a:latin typeface="Calibri" panose="020F0502020204030204" pitchFamily="34" charset="0"/>
                        </a:rPr>
                        <a:t>232</a:t>
                      </a:r>
                    </a:p>
                  </a:txBody>
                  <a:tcPr marL="6350" marR="6350" marT="6350" marB="0" anchor="ctr">
                    <a:lnL w="6350" cap="flat" cmpd="sng" algn="ctr">
                      <a:solidFill>
                        <a:srgbClr val="000000"/>
                      </a:solidFill>
                      <a:prstDash val="solid"/>
                      <a:round/>
                      <a:headEnd type="none" w="med" len="med"/>
                      <a:tailEnd type="none" w="med" len="med"/>
                    </a:lnL>
                    <a:lnR>
                      <a:noFill/>
                    </a:lnR>
                    <a:lnT>
                      <a:noFill/>
                    </a:lnT>
                    <a:lnB>
                      <a:noFill/>
                    </a:lnB>
                  </a:tcPr>
                </a:tc>
                <a:extLst>
                  <a:ext uri="{0D108BD9-81ED-4DB2-BD59-A6C34878D82A}">
                    <a16:rowId xmlns:a16="http://schemas.microsoft.com/office/drawing/2014/main" val="2373802067"/>
                  </a:ext>
                </a:extLst>
              </a:tr>
              <a:tr h="342416">
                <a:tc>
                  <a:txBody>
                    <a:bodyPr/>
                    <a:lstStyle/>
                    <a:p>
                      <a:pPr algn="l" fontAlgn="ctr"/>
                      <a:r>
                        <a:rPr lang="tr-TR" sz="2000" b="0" i="0" u="none" strike="noStrike" dirty="0">
                          <a:solidFill>
                            <a:srgbClr val="000000"/>
                          </a:solidFill>
                          <a:effectLst/>
                          <a:latin typeface="Calibri" panose="020F0502020204030204" pitchFamily="34" charset="0"/>
                        </a:rPr>
                        <a:t>(3)          </a:t>
                      </a:r>
                      <a:r>
                        <a:rPr lang="en-US" sz="2000" b="0" i="0" u="none" strike="noStrike" dirty="0">
                          <a:solidFill>
                            <a:srgbClr val="000000"/>
                          </a:solidFill>
                          <a:effectLst/>
                          <a:latin typeface="Calibri" panose="020F0502020204030204" pitchFamily="34" charset="0"/>
                        </a:rPr>
                        <a:t>1534</a:t>
                      </a:r>
                    </a:p>
                  </a:txBody>
                  <a:tcPr marL="6350" marR="6350" marT="6350" marB="0" anchor="ctr">
                    <a:lnL>
                      <a:noFill/>
                    </a:lnL>
                    <a:lnR w="6350" cap="flat" cmpd="sng" algn="ctr">
                      <a:solidFill>
                        <a:srgbClr val="000000"/>
                      </a:solidFill>
                      <a:prstDash val="solid"/>
                      <a:round/>
                      <a:headEnd type="none" w="med" len="med"/>
                      <a:tailEnd type="none" w="med" len="med"/>
                    </a:lnR>
                    <a:lnT>
                      <a:noFill/>
                    </a:lnT>
                    <a:lnB>
                      <a:noFill/>
                    </a:lnB>
                  </a:tcPr>
                </a:tc>
                <a:tc>
                  <a:txBody>
                    <a:bodyPr/>
                    <a:lstStyle/>
                    <a:p>
                      <a:pPr algn="ctr" fontAlgn="ctr"/>
                      <a:r>
                        <a:rPr lang="en-US" sz="2000" b="0" i="0" u="none" strike="noStrike" dirty="0">
                          <a:solidFill>
                            <a:srgbClr val="000000"/>
                          </a:solidFill>
                          <a:effectLst/>
                          <a:latin typeface="Calibri" panose="020F0502020204030204" pitchFamily="34" charset="0"/>
                        </a:rPr>
                        <a:t>315</a:t>
                      </a:r>
                    </a:p>
                  </a:txBody>
                  <a:tcPr marL="6350" marR="6350" marT="6350" marB="0" anchor="ctr">
                    <a:lnL w="6350" cap="flat" cmpd="sng" algn="ctr">
                      <a:solidFill>
                        <a:srgbClr val="000000"/>
                      </a:solidFill>
                      <a:prstDash val="solid"/>
                      <a:round/>
                      <a:headEnd type="none" w="med" len="med"/>
                      <a:tailEnd type="none" w="med" len="med"/>
                    </a:lnL>
                    <a:lnR>
                      <a:noFill/>
                    </a:lnR>
                    <a:lnT>
                      <a:noFill/>
                    </a:lnT>
                    <a:lnB>
                      <a:noFill/>
                    </a:lnB>
                  </a:tcPr>
                </a:tc>
                <a:extLst>
                  <a:ext uri="{0D108BD9-81ED-4DB2-BD59-A6C34878D82A}">
                    <a16:rowId xmlns:a16="http://schemas.microsoft.com/office/drawing/2014/main" val="1146028344"/>
                  </a:ext>
                </a:extLst>
              </a:tr>
              <a:tr h="342416">
                <a:tc>
                  <a:txBody>
                    <a:bodyPr/>
                    <a:lstStyle/>
                    <a:p>
                      <a:pPr algn="l" fontAlgn="ctr"/>
                      <a:r>
                        <a:rPr lang="tr-TR" sz="2000" b="0" i="0" u="none" strike="noStrike" dirty="0">
                          <a:solidFill>
                            <a:srgbClr val="000000"/>
                          </a:solidFill>
                          <a:effectLst/>
                          <a:latin typeface="Calibri" panose="020F0502020204030204" pitchFamily="34" charset="0"/>
                        </a:rPr>
                        <a:t>(4)           </a:t>
                      </a:r>
                      <a:r>
                        <a:rPr lang="en-US" sz="2000" b="0" i="0" u="none" strike="noStrike" dirty="0">
                          <a:solidFill>
                            <a:srgbClr val="000000"/>
                          </a:solidFill>
                          <a:effectLst/>
                          <a:latin typeface="Calibri" panose="020F0502020204030204" pitchFamily="34" charset="0"/>
                        </a:rPr>
                        <a:t>852</a:t>
                      </a:r>
                    </a:p>
                  </a:txBody>
                  <a:tcPr marL="6350" marR="6350" marT="6350" marB="0" anchor="ctr">
                    <a:lnL>
                      <a:noFill/>
                    </a:lnL>
                    <a:lnR w="6350" cap="flat" cmpd="sng" algn="ctr">
                      <a:solidFill>
                        <a:srgbClr val="000000"/>
                      </a:solidFill>
                      <a:prstDash val="solid"/>
                      <a:round/>
                      <a:headEnd type="none" w="med" len="med"/>
                      <a:tailEnd type="none" w="med" len="med"/>
                    </a:lnR>
                    <a:lnT>
                      <a:noFill/>
                    </a:lnT>
                    <a:lnB>
                      <a:noFill/>
                    </a:lnB>
                  </a:tcPr>
                </a:tc>
                <a:tc>
                  <a:txBody>
                    <a:bodyPr/>
                    <a:lstStyle/>
                    <a:p>
                      <a:pPr algn="ctr" fontAlgn="ctr"/>
                      <a:r>
                        <a:rPr lang="en-US" sz="2000" b="0" i="0" u="none" strike="noStrike" dirty="0">
                          <a:solidFill>
                            <a:srgbClr val="000000"/>
                          </a:solidFill>
                          <a:effectLst/>
                          <a:latin typeface="Calibri" panose="020F0502020204030204" pitchFamily="34" charset="0"/>
                        </a:rPr>
                        <a:t>178</a:t>
                      </a:r>
                    </a:p>
                  </a:txBody>
                  <a:tcPr marL="6350" marR="6350" marT="6350" marB="0" anchor="ctr">
                    <a:lnL w="6350" cap="flat" cmpd="sng" algn="ctr">
                      <a:solidFill>
                        <a:srgbClr val="000000"/>
                      </a:solidFill>
                      <a:prstDash val="solid"/>
                      <a:round/>
                      <a:headEnd type="none" w="med" len="med"/>
                      <a:tailEnd type="none" w="med" len="med"/>
                    </a:lnL>
                    <a:lnR>
                      <a:noFill/>
                    </a:lnR>
                    <a:lnT>
                      <a:noFill/>
                    </a:lnT>
                    <a:lnB>
                      <a:noFill/>
                    </a:lnB>
                  </a:tcPr>
                </a:tc>
                <a:extLst>
                  <a:ext uri="{0D108BD9-81ED-4DB2-BD59-A6C34878D82A}">
                    <a16:rowId xmlns:a16="http://schemas.microsoft.com/office/drawing/2014/main" val="3584771595"/>
                  </a:ext>
                </a:extLst>
              </a:tr>
              <a:tr h="342416">
                <a:tc>
                  <a:txBody>
                    <a:bodyPr/>
                    <a:lstStyle/>
                    <a:p>
                      <a:pPr algn="ctr" fontAlgn="ctr"/>
                      <a:r>
                        <a:rPr lang="en-US" sz="2000" b="0" i="0" u="none" strike="noStrike" dirty="0">
                          <a:solidFill>
                            <a:srgbClr val="000000"/>
                          </a:solidFill>
                          <a:effectLst/>
                          <a:latin typeface="Calibri" panose="020F0502020204030204" pitchFamily="34" charset="0"/>
                        </a:rPr>
                        <a:t>…</a:t>
                      </a:r>
                    </a:p>
                  </a:txBody>
                  <a:tcPr marL="6350" marR="6350" marT="6350" marB="0" anchor="ctr">
                    <a:lnL>
                      <a:noFill/>
                    </a:lnL>
                    <a:lnR w="6350" cap="flat" cmpd="sng" algn="ctr">
                      <a:solidFill>
                        <a:srgbClr val="000000"/>
                      </a:solidFill>
                      <a:prstDash val="solid"/>
                      <a:round/>
                      <a:headEnd type="none" w="med" len="med"/>
                      <a:tailEnd type="none" w="med" len="med"/>
                    </a:lnR>
                    <a:lnT>
                      <a:noFill/>
                    </a:lnT>
                    <a:lnB>
                      <a:noFill/>
                    </a:lnB>
                  </a:tcPr>
                </a:tc>
                <a:tc>
                  <a:txBody>
                    <a:bodyPr/>
                    <a:lstStyle/>
                    <a:p>
                      <a:pPr algn="ctr" fontAlgn="ctr"/>
                      <a:r>
                        <a:rPr lang="en-US" sz="2000" b="0" i="0" u="none" strike="noStrike">
                          <a:solidFill>
                            <a:srgbClr val="000000"/>
                          </a:solidFill>
                          <a:effectLst/>
                          <a:latin typeface="Calibri" panose="020F0502020204030204" pitchFamily="34" charset="0"/>
                        </a:rPr>
                        <a:t>…</a:t>
                      </a:r>
                    </a:p>
                  </a:txBody>
                  <a:tcPr marL="6350" marR="6350" marT="6350" marB="0" anchor="ctr">
                    <a:lnL w="6350" cap="flat" cmpd="sng" algn="ctr">
                      <a:solidFill>
                        <a:srgbClr val="000000"/>
                      </a:solidFill>
                      <a:prstDash val="solid"/>
                      <a:round/>
                      <a:headEnd type="none" w="med" len="med"/>
                      <a:tailEnd type="none" w="med" len="med"/>
                    </a:lnL>
                    <a:lnR>
                      <a:noFill/>
                    </a:lnR>
                    <a:lnT>
                      <a:noFill/>
                    </a:lnT>
                    <a:lnB>
                      <a:noFill/>
                    </a:lnB>
                  </a:tcPr>
                </a:tc>
                <a:extLst>
                  <a:ext uri="{0D108BD9-81ED-4DB2-BD59-A6C34878D82A}">
                    <a16:rowId xmlns:a16="http://schemas.microsoft.com/office/drawing/2014/main" val="224414060"/>
                  </a:ext>
                </a:extLst>
              </a:tr>
              <a:tr h="342416">
                <a:tc>
                  <a:txBody>
                    <a:bodyPr/>
                    <a:lstStyle/>
                    <a:p>
                      <a:pPr algn="l" fontAlgn="ctr"/>
                      <a:r>
                        <a:rPr lang="tr-TR" sz="2000" b="0" i="0" u="none" strike="noStrike" dirty="0">
                          <a:solidFill>
                            <a:srgbClr val="000000"/>
                          </a:solidFill>
                          <a:effectLst/>
                          <a:latin typeface="Calibri" panose="020F0502020204030204" pitchFamily="34" charset="0"/>
                        </a:rPr>
                        <a:t>(47)       </a:t>
                      </a:r>
                      <a:r>
                        <a:rPr lang="en-US" sz="2000" b="0" i="0" u="none" strike="noStrike" dirty="0">
                          <a:solidFill>
                            <a:srgbClr val="000000"/>
                          </a:solidFill>
                          <a:effectLst/>
                          <a:latin typeface="Calibri" panose="020F0502020204030204" pitchFamily="34" charset="0"/>
                        </a:rPr>
                        <a:t>3210</a:t>
                      </a:r>
                    </a:p>
                  </a:txBody>
                  <a:tcPr marL="6350" marR="6350" marT="6350" marB="0" anchor="ctr">
                    <a:lnL>
                      <a:noFill/>
                    </a:lnL>
                    <a:lnR w="6350" cap="flat" cmpd="sng" algn="ctr">
                      <a:solidFill>
                        <a:srgbClr val="000000"/>
                      </a:solidFill>
                      <a:prstDash val="solid"/>
                      <a:round/>
                      <a:headEnd type="none" w="med" len="med"/>
                      <a:tailEnd type="none" w="med" len="med"/>
                    </a:lnR>
                    <a:lnT>
                      <a:noFill/>
                    </a:lnT>
                    <a:lnB>
                      <a:noFill/>
                    </a:lnB>
                  </a:tcPr>
                </a:tc>
                <a:tc>
                  <a:txBody>
                    <a:bodyPr/>
                    <a:lstStyle/>
                    <a:p>
                      <a:pPr algn="ctr" fontAlgn="ctr"/>
                      <a:r>
                        <a:rPr lang="en-US" sz="2000" b="0" i="0" u="none" strike="noStrike" dirty="0">
                          <a:solidFill>
                            <a:srgbClr val="000000"/>
                          </a:solidFill>
                          <a:effectLst/>
                          <a:latin typeface="Calibri" panose="020F0502020204030204" pitchFamily="34" charset="0"/>
                        </a:rPr>
                        <a:t>870</a:t>
                      </a:r>
                    </a:p>
                  </a:txBody>
                  <a:tcPr marL="6350" marR="6350" marT="6350" marB="0" anchor="ctr">
                    <a:lnL w="6350" cap="flat" cmpd="sng" algn="ctr">
                      <a:solidFill>
                        <a:srgbClr val="000000"/>
                      </a:solidFill>
                      <a:prstDash val="solid"/>
                      <a:round/>
                      <a:headEnd type="none" w="med" len="med"/>
                      <a:tailEnd type="none" w="med" len="med"/>
                    </a:lnL>
                    <a:lnR>
                      <a:noFill/>
                    </a:lnR>
                    <a:lnT>
                      <a:noFill/>
                    </a:lnT>
                    <a:lnB>
                      <a:noFill/>
                    </a:lnB>
                  </a:tcPr>
                </a:tc>
                <a:extLst>
                  <a:ext uri="{0D108BD9-81ED-4DB2-BD59-A6C34878D82A}">
                    <a16:rowId xmlns:a16="http://schemas.microsoft.com/office/drawing/2014/main" val="3647835099"/>
                  </a:ext>
                </a:extLst>
              </a:tr>
            </a:tbl>
          </a:graphicData>
        </a:graphic>
      </p:graphicFrame>
      <mc:AlternateContent xmlns:mc="http://schemas.openxmlformats.org/markup-compatibility/2006" xmlns:a14="http://schemas.microsoft.com/office/drawing/2010/main">
        <mc:Choice Requires="a14">
          <p:sp>
            <p:nvSpPr>
              <p:cNvPr id="14" name="TextBox 13">
                <a:extLst>
                  <a:ext uri="{FF2B5EF4-FFF2-40B4-BE49-F238E27FC236}">
                    <a16:creationId xmlns:a16="http://schemas.microsoft.com/office/drawing/2014/main" id="{5C2B25C4-63C1-4CC7-7036-7E8A22BE1BF4}"/>
                  </a:ext>
                </a:extLst>
              </p:cNvPr>
              <p:cNvSpPr txBox="1"/>
              <p:nvPr/>
            </p:nvSpPr>
            <p:spPr>
              <a:xfrm>
                <a:off x="6976654" y="2828758"/>
                <a:ext cx="4377146" cy="3180551"/>
              </a:xfrm>
              <a:prstGeom prst="rect">
                <a:avLst/>
              </a:prstGeom>
              <a:noFill/>
            </p:spPr>
            <p:txBody>
              <a:bodyPr wrap="square" rtlCol="0">
                <a:spAutoFit/>
              </a:bodyPr>
              <a:lstStyle/>
              <a:p>
                <a:pPr defTabSz="1014984">
                  <a:spcAft>
                    <a:spcPts val="600"/>
                  </a:spcAft>
                </a:pPr>
                <a:r>
                  <a:rPr lang="tr-TR" sz="1998" kern="1200">
                    <a:solidFill>
                      <a:schemeClr val="tx1"/>
                    </a:solidFill>
                    <a:latin typeface="+mn-lt"/>
                    <a:ea typeface="+mn-ea"/>
                    <a:cs typeface="+mn-cs"/>
                  </a:rPr>
                  <a:t>Notation:</a:t>
                </a:r>
              </a:p>
              <a:p>
                <a:pPr defTabSz="1014984">
                  <a:spcAft>
                    <a:spcPts val="600"/>
                  </a:spcAft>
                </a:pPr>
                <a:r>
                  <a:rPr lang="tr-TR" sz="1998" kern="1200">
                    <a:solidFill>
                      <a:schemeClr val="tx1"/>
                    </a:solidFill>
                    <a:latin typeface="+mn-lt"/>
                    <a:ea typeface="+mn-ea"/>
                    <a:cs typeface="+mn-cs"/>
                  </a:rPr>
                  <a:t>x = ‘</a:t>
                </a:r>
                <a:r>
                  <a:rPr lang="tr-TR" sz="1998" kern="1200" err="1">
                    <a:solidFill>
                      <a:schemeClr val="tx1"/>
                    </a:solidFill>
                    <a:latin typeface="+mn-lt"/>
                    <a:ea typeface="+mn-ea"/>
                    <a:cs typeface="+mn-cs"/>
                  </a:rPr>
                  <a:t>input</a:t>
                </a:r>
                <a:r>
                  <a:rPr lang="tr-TR" sz="1998" kern="1200">
                    <a:solidFill>
                      <a:schemeClr val="tx1"/>
                    </a:solidFill>
                    <a:latin typeface="+mn-lt"/>
                    <a:ea typeface="+mn-ea"/>
                    <a:cs typeface="+mn-cs"/>
                  </a:rPr>
                  <a:t>’ </a:t>
                </a:r>
                <a:r>
                  <a:rPr lang="tr-TR" sz="1998" kern="1200" err="1">
                    <a:solidFill>
                      <a:schemeClr val="tx1"/>
                    </a:solidFill>
                    <a:latin typeface="+mn-lt"/>
                    <a:ea typeface="+mn-ea"/>
                    <a:cs typeface="+mn-cs"/>
                  </a:rPr>
                  <a:t>variable</a:t>
                </a:r>
                <a:r>
                  <a:rPr lang="tr-TR" sz="1998" kern="1200">
                    <a:solidFill>
                      <a:schemeClr val="tx1"/>
                    </a:solidFill>
                    <a:latin typeface="+mn-lt"/>
                    <a:ea typeface="+mn-ea"/>
                    <a:cs typeface="+mn-cs"/>
                  </a:rPr>
                  <a:t> </a:t>
                </a:r>
                <a:r>
                  <a:rPr lang="tr-TR" sz="1998" kern="1200" err="1">
                    <a:solidFill>
                      <a:schemeClr val="tx1"/>
                    </a:solidFill>
                    <a:latin typeface="+mn-lt"/>
                    <a:ea typeface="+mn-ea"/>
                    <a:cs typeface="+mn-cs"/>
                  </a:rPr>
                  <a:t>feature</a:t>
                </a:r>
                <a:endParaRPr lang="tr-TR" sz="1998" kern="1200">
                  <a:solidFill>
                    <a:schemeClr val="tx1"/>
                  </a:solidFill>
                  <a:latin typeface="+mn-lt"/>
                  <a:ea typeface="+mn-ea"/>
                  <a:cs typeface="+mn-cs"/>
                </a:endParaRPr>
              </a:p>
              <a:p>
                <a:pPr defTabSz="1014984">
                  <a:spcAft>
                    <a:spcPts val="600"/>
                  </a:spcAft>
                </a:pPr>
                <a:r>
                  <a:rPr lang="tr-TR" sz="1998" kern="1200">
                    <a:solidFill>
                      <a:schemeClr val="tx1"/>
                    </a:solidFill>
                    <a:latin typeface="+mn-lt"/>
                    <a:ea typeface="+mn-ea"/>
                    <a:cs typeface="+mn-cs"/>
                  </a:rPr>
                  <a:t>y = ‘</a:t>
                </a:r>
                <a:r>
                  <a:rPr lang="tr-TR" sz="1998" kern="1200" err="1">
                    <a:solidFill>
                      <a:schemeClr val="tx1"/>
                    </a:solidFill>
                    <a:latin typeface="+mn-lt"/>
                    <a:ea typeface="+mn-ea"/>
                    <a:cs typeface="+mn-cs"/>
                  </a:rPr>
                  <a:t>output</a:t>
                </a:r>
                <a:r>
                  <a:rPr lang="tr-TR" sz="1998" kern="1200">
                    <a:solidFill>
                      <a:schemeClr val="tx1"/>
                    </a:solidFill>
                    <a:latin typeface="+mn-lt"/>
                    <a:ea typeface="+mn-ea"/>
                    <a:cs typeface="+mn-cs"/>
                  </a:rPr>
                  <a:t>’ </a:t>
                </a:r>
                <a:r>
                  <a:rPr lang="tr-TR" sz="1998" kern="1200" err="1">
                    <a:solidFill>
                      <a:schemeClr val="tx1"/>
                    </a:solidFill>
                    <a:latin typeface="+mn-lt"/>
                    <a:ea typeface="+mn-ea"/>
                    <a:cs typeface="+mn-cs"/>
                  </a:rPr>
                  <a:t>variable</a:t>
                </a:r>
                <a:endParaRPr lang="tr-TR" sz="1998" kern="1200">
                  <a:solidFill>
                    <a:schemeClr val="tx1"/>
                  </a:solidFill>
                  <a:latin typeface="+mn-lt"/>
                  <a:ea typeface="+mn-ea"/>
                  <a:cs typeface="+mn-cs"/>
                </a:endParaRPr>
              </a:p>
              <a:p>
                <a:pPr defTabSz="1014984">
                  <a:spcAft>
                    <a:spcPts val="600"/>
                  </a:spcAft>
                </a:pPr>
                <a:r>
                  <a:rPr lang="tr-TR" sz="1998" kern="1200">
                    <a:solidFill>
                      <a:schemeClr val="tx1"/>
                    </a:solidFill>
                    <a:latin typeface="+mn-lt"/>
                    <a:ea typeface="+mn-ea"/>
                    <a:cs typeface="+mn-cs"/>
                  </a:rPr>
                  <a:t>m = </a:t>
                </a:r>
                <a:r>
                  <a:rPr lang="tr-TR" sz="1998" kern="1200" err="1">
                    <a:solidFill>
                      <a:schemeClr val="tx1"/>
                    </a:solidFill>
                    <a:latin typeface="+mn-lt"/>
                    <a:ea typeface="+mn-ea"/>
                    <a:cs typeface="+mn-cs"/>
                  </a:rPr>
                  <a:t>number</a:t>
                </a:r>
                <a:r>
                  <a:rPr lang="tr-TR" sz="1998" kern="1200">
                    <a:solidFill>
                      <a:schemeClr val="tx1"/>
                    </a:solidFill>
                    <a:latin typeface="+mn-lt"/>
                    <a:ea typeface="+mn-ea"/>
                    <a:cs typeface="+mn-cs"/>
                  </a:rPr>
                  <a:t> of </a:t>
                </a:r>
                <a:r>
                  <a:rPr lang="tr-TR" sz="1998" kern="1200" err="1">
                    <a:solidFill>
                      <a:schemeClr val="tx1"/>
                    </a:solidFill>
                    <a:latin typeface="+mn-lt"/>
                    <a:ea typeface="+mn-ea"/>
                    <a:cs typeface="+mn-cs"/>
                  </a:rPr>
                  <a:t>training</a:t>
                </a:r>
                <a:r>
                  <a:rPr lang="tr-TR" sz="1998" kern="1200">
                    <a:solidFill>
                      <a:schemeClr val="tx1"/>
                    </a:solidFill>
                    <a:latin typeface="+mn-lt"/>
                    <a:ea typeface="+mn-ea"/>
                    <a:cs typeface="+mn-cs"/>
                  </a:rPr>
                  <a:t> </a:t>
                </a:r>
                <a:r>
                  <a:rPr lang="tr-TR" sz="1998" kern="1200" err="1">
                    <a:solidFill>
                      <a:schemeClr val="tx1"/>
                    </a:solidFill>
                    <a:latin typeface="+mn-lt"/>
                    <a:ea typeface="+mn-ea"/>
                    <a:cs typeface="+mn-cs"/>
                  </a:rPr>
                  <a:t>examples</a:t>
                </a:r>
                <a:endParaRPr lang="tr-TR" sz="1998" kern="1200">
                  <a:solidFill>
                    <a:schemeClr val="tx1"/>
                  </a:solidFill>
                  <a:latin typeface="+mn-lt"/>
                  <a:ea typeface="+mn-ea"/>
                  <a:cs typeface="+mn-cs"/>
                </a:endParaRPr>
              </a:p>
              <a:p>
                <a:pPr defTabSz="1014984">
                  <a:spcAft>
                    <a:spcPts val="600"/>
                  </a:spcAft>
                </a:pPr>
                <a:endParaRPr lang="tr-TR" sz="1998" kern="1200">
                  <a:solidFill>
                    <a:schemeClr val="tx1"/>
                  </a:solidFill>
                  <a:latin typeface="+mn-lt"/>
                  <a:ea typeface="+mn-ea"/>
                  <a:cs typeface="+mn-cs"/>
                </a:endParaRPr>
              </a:p>
              <a:p>
                <a:pPr defTabSz="1014984">
                  <a:spcAft>
                    <a:spcPts val="600"/>
                  </a:spcAft>
                </a:pPr>
                <a:r>
                  <a:rPr lang="tr-TR" sz="1998" kern="1200">
                    <a:solidFill>
                      <a:schemeClr val="tx1"/>
                    </a:solidFill>
                    <a:latin typeface="+mn-lt"/>
                    <a:ea typeface="+mn-ea"/>
                    <a:cs typeface="+mn-cs"/>
                  </a:rPr>
                  <a:t>(</a:t>
                </a:r>
                <a:r>
                  <a:rPr lang="tr-TR" sz="1998" kern="1200" err="1">
                    <a:solidFill>
                      <a:schemeClr val="tx1"/>
                    </a:solidFill>
                    <a:latin typeface="+mn-lt"/>
                    <a:ea typeface="+mn-ea"/>
                    <a:cs typeface="+mn-cs"/>
                  </a:rPr>
                  <a:t>x,y</a:t>
                </a:r>
                <a:r>
                  <a:rPr lang="tr-TR" sz="1998" kern="1200">
                    <a:solidFill>
                      <a:schemeClr val="tx1"/>
                    </a:solidFill>
                    <a:latin typeface="+mn-lt"/>
                    <a:ea typeface="+mn-ea"/>
                    <a:cs typeface="+mn-cs"/>
                  </a:rPr>
                  <a:t>) = </a:t>
                </a:r>
                <a:r>
                  <a:rPr lang="tr-TR" sz="1998" kern="1200" err="1">
                    <a:solidFill>
                      <a:schemeClr val="tx1"/>
                    </a:solidFill>
                    <a:latin typeface="+mn-lt"/>
                    <a:ea typeface="+mn-ea"/>
                    <a:cs typeface="+mn-cs"/>
                  </a:rPr>
                  <a:t>single</a:t>
                </a:r>
                <a:r>
                  <a:rPr lang="tr-TR" sz="1998" kern="1200">
                    <a:solidFill>
                      <a:schemeClr val="tx1"/>
                    </a:solidFill>
                    <a:latin typeface="+mn-lt"/>
                    <a:ea typeface="+mn-ea"/>
                    <a:cs typeface="+mn-cs"/>
                  </a:rPr>
                  <a:t> </a:t>
                </a:r>
                <a:r>
                  <a:rPr lang="tr-TR" sz="1998" kern="1200" err="1">
                    <a:solidFill>
                      <a:schemeClr val="tx1"/>
                    </a:solidFill>
                    <a:latin typeface="+mn-lt"/>
                    <a:ea typeface="+mn-ea"/>
                    <a:cs typeface="+mn-cs"/>
                  </a:rPr>
                  <a:t>training</a:t>
                </a:r>
                <a:r>
                  <a:rPr lang="tr-TR" sz="1998" kern="1200">
                    <a:solidFill>
                      <a:schemeClr val="tx1"/>
                    </a:solidFill>
                    <a:latin typeface="+mn-lt"/>
                    <a:ea typeface="+mn-ea"/>
                    <a:cs typeface="+mn-cs"/>
                  </a:rPr>
                  <a:t> </a:t>
                </a:r>
                <a:r>
                  <a:rPr lang="tr-TR" sz="1998" kern="1200" err="1">
                    <a:solidFill>
                      <a:schemeClr val="tx1"/>
                    </a:solidFill>
                    <a:latin typeface="+mn-lt"/>
                    <a:ea typeface="+mn-ea"/>
                    <a:cs typeface="+mn-cs"/>
                  </a:rPr>
                  <a:t>example</a:t>
                </a:r>
                <a:endParaRPr lang="tr-TR" sz="1998" kern="1200">
                  <a:solidFill>
                    <a:schemeClr val="tx1"/>
                  </a:solidFill>
                  <a:latin typeface="+mn-lt"/>
                  <a:ea typeface="+mn-ea"/>
                  <a:cs typeface="+mn-cs"/>
                </a:endParaRPr>
              </a:p>
              <a:p>
                <a:pPr defTabSz="1014984">
                  <a:spcAft>
                    <a:spcPts val="600"/>
                  </a:spcAft>
                </a:pPr>
                <a:endParaRPr lang="tr-TR" sz="1998" kern="1200">
                  <a:solidFill>
                    <a:schemeClr val="tx1"/>
                  </a:solidFill>
                  <a:latin typeface="+mn-lt"/>
                  <a:ea typeface="+mn-ea"/>
                  <a:cs typeface="+mn-cs"/>
                </a:endParaRPr>
              </a:p>
              <a:p>
                <a:pPr defTabSz="1014984">
                  <a:spcAft>
                    <a:spcPts val="600"/>
                  </a:spcAft>
                </a:pPr>
                <a14:m>
                  <m:oMathPara xmlns:m="http://schemas.openxmlformats.org/officeDocument/2006/math">
                    <m:oMath>
                      <m:sSup>
                        <m:sSupPr>
                          <m:ctrlPr>
                            <a:rPr lang="tr-TR" sz="1998" i="1" kern="1200">
                              <a:solidFill>
                                <a:schemeClr val="tx1"/>
                              </a:solidFill>
                              <a:latin typeface="Cambria Math" panose="02040503050406030204" pitchFamily="18" charset="0"/>
                              <a:ea typeface="+mn-ea"/>
                              <a:cs typeface="+mn-cs"/>
                            </a:rPr>
                          </m:ctrlPr>
                        </m:sSupPr>
                        <m:e>
                          <m:r>
                            <a:rPr lang="tr-TR" sz="1998" i="1" kern="1200">
                              <a:solidFill>
                                <a:schemeClr val="tx1"/>
                              </a:solidFill>
                              <a:latin typeface="Cambria Math" panose="02040503050406030204" pitchFamily="18" charset="0"/>
                              <a:ea typeface="+mn-ea"/>
                              <a:cs typeface="+mn-cs"/>
                            </a:rPr>
                            <m:t>(</m:t>
                          </m:r>
                          <m:r>
                            <a:rPr lang="tr-TR" sz="1998" i="1" kern="1200">
                              <a:solidFill>
                                <a:schemeClr val="tx1"/>
                              </a:solidFill>
                              <a:latin typeface="Cambria Math" panose="02040503050406030204" pitchFamily="18" charset="0"/>
                              <a:ea typeface="+mn-ea"/>
                              <a:cs typeface="+mn-cs"/>
                            </a:rPr>
                            <m:t>𝑥</m:t>
                          </m:r>
                        </m:e>
                        <m:sup>
                          <m:r>
                            <a:rPr lang="tr-TR" sz="1998" i="1" kern="1200">
                              <a:solidFill>
                                <a:schemeClr val="tx1"/>
                              </a:solidFill>
                              <a:latin typeface="Cambria Math" panose="02040503050406030204" pitchFamily="18" charset="0"/>
                              <a:ea typeface="+mn-ea"/>
                              <a:cs typeface="+mn-cs"/>
                            </a:rPr>
                            <m:t>(</m:t>
                          </m:r>
                          <m:r>
                            <a:rPr lang="tr-TR" sz="1998" i="1" kern="1200">
                              <a:solidFill>
                                <a:schemeClr val="tx1"/>
                              </a:solidFill>
                              <a:latin typeface="Cambria Math" panose="02040503050406030204" pitchFamily="18" charset="0"/>
                              <a:ea typeface="+mn-ea"/>
                              <a:cs typeface="+mn-cs"/>
                            </a:rPr>
                            <m:t>𝑖</m:t>
                          </m:r>
                          <m:r>
                            <a:rPr lang="tr-TR" sz="1998" i="1" kern="1200">
                              <a:solidFill>
                                <a:schemeClr val="tx1"/>
                              </a:solidFill>
                              <a:latin typeface="Cambria Math" panose="02040503050406030204" pitchFamily="18" charset="0"/>
                              <a:ea typeface="+mn-ea"/>
                              <a:cs typeface="+mn-cs"/>
                            </a:rPr>
                            <m:t>)</m:t>
                          </m:r>
                        </m:sup>
                      </m:sSup>
                      <m:r>
                        <a:rPr lang="tr-TR" sz="1998" i="1" kern="1200">
                          <a:solidFill>
                            <a:schemeClr val="tx1"/>
                          </a:solidFill>
                          <a:latin typeface="Cambria Math" panose="02040503050406030204" pitchFamily="18" charset="0"/>
                          <a:ea typeface="+mn-ea"/>
                          <a:cs typeface="+mn-cs"/>
                        </a:rPr>
                        <m:t>,</m:t>
                      </m:r>
                      <m:sSup>
                        <m:sSupPr>
                          <m:ctrlPr>
                            <a:rPr lang="tr-TR" sz="1998" i="1" kern="1200">
                              <a:solidFill>
                                <a:schemeClr val="tx1"/>
                              </a:solidFill>
                              <a:latin typeface="Cambria Math" panose="02040503050406030204" pitchFamily="18" charset="0"/>
                              <a:ea typeface="+mn-ea"/>
                              <a:cs typeface="+mn-cs"/>
                            </a:rPr>
                          </m:ctrlPr>
                        </m:sSupPr>
                        <m:e>
                          <m:r>
                            <a:rPr lang="tr-TR" sz="1998" i="1" kern="1200">
                              <a:solidFill>
                                <a:schemeClr val="tx1"/>
                              </a:solidFill>
                              <a:latin typeface="Cambria Math" panose="02040503050406030204" pitchFamily="18" charset="0"/>
                              <a:ea typeface="+mn-ea"/>
                              <a:cs typeface="+mn-cs"/>
                            </a:rPr>
                            <m:t>𝑦</m:t>
                          </m:r>
                        </m:e>
                        <m:sup>
                          <m:r>
                            <a:rPr lang="tr-TR" sz="1998" i="1" kern="1200">
                              <a:solidFill>
                                <a:schemeClr val="tx1"/>
                              </a:solidFill>
                              <a:latin typeface="Cambria Math" panose="02040503050406030204" pitchFamily="18" charset="0"/>
                              <a:ea typeface="+mn-ea"/>
                              <a:cs typeface="+mn-cs"/>
                            </a:rPr>
                            <m:t>(</m:t>
                          </m:r>
                          <m:r>
                            <a:rPr lang="tr-TR" sz="1998" i="1" kern="1200">
                              <a:solidFill>
                                <a:schemeClr val="tx1"/>
                              </a:solidFill>
                              <a:latin typeface="Cambria Math" panose="02040503050406030204" pitchFamily="18" charset="0"/>
                              <a:ea typeface="+mn-ea"/>
                              <a:cs typeface="+mn-cs"/>
                            </a:rPr>
                            <m:t>𝑖</m:t>
                          </m:r>
                          <m:r>
                            <a:rPr lang="tr-TR" sz="1998" i="1" kern="1200">
                              <a:solidFill>
                                <a:schemeClr val="tx1"/>
                              </a:solidFill>
                              <a:latin typeface="Cambria Math" panose="02040503050406030204" pitchFamily="18" charset="0"/>
                              <a:ea typeface="+mn-ea"/>
                              <a:cs typeface="+mn-cs"/>
                            </a:rPr>
                            <m:t>)</m:t>
                          </m:r>
                        </m:sup>
                      </m:sSup>
                      <m:r>
                        <a:rPr lang="tr-TR" sz="1998" i="1" kern="1200">
                          <a:solidFill>
                            <a:schemeClr val="tx1"/>
                          </a:solidFill>
                          <a:latin typeface="Cambria Math" panose="02040503050406030204" pitchFamily="18" charset="0"/>
                          <a:ea typeface="+mn-ea"/>
                          <a:cs typeface="+mn-cs"/>
                        </a:rPr>
                        <m:t>)</m:t>
                      </m:r>
                      <m:r>
                        <a:rPr lang="tr-TR" sz="1998" kern="1200">
                          <a:solidFill>
                            <a:schemeClr val="tx1"/>
                          </a:solidFill>
                          <a:latin typeface="Cambria Math" panose="02040503050406030204" pitchFamily="18" charset="0"/>
                          <a:ea typeface="+mn-ea"/>
                          <a:cs typeface="+mn-cs"/>
                        </a:rPr>
                        <m:t>= </m:t>
                      </m:r>
                      <m:sSup>
                        <m:sSupPr>
                          <m:ctrlPr>
                            <a:rPr lang="tr-TR" sz="1998" i="1" kern="1200">
                              <a:solidFill>
                                <a:schemeClr val="tx1"/>
                              </a:solidFill>
                              <a:latin typeface="Cambria Math" panose="02040503050406030204" pitchFamily="18" charset="0"/>
                              <a:ea typeface="+mn-ea"/>
                              <a:cs typeface="+mn-cs"/>
                            </a:rPr>
                          </m:ctrlPr>
                        </m:sSupPr>
                        <m:e>
                          <m:r>
                            <a:rPr lang="tr-TR" sz="1998" i="1" kern="1200">
                              <a:solidFill>
                                <a:schemeClr val="tx1"/>
                              </a:solidFill>
                              <a:latin typeface="Cambria Math" panose="02040503050406030204" pitchFamily="18" charset="0"/>
                              <a:ea typeface="+mn-ea"/>
                              <a:cs typeface="+mn-cs"/>
                            </a:rPr>
                            <m:t>𝑖</m:t>
                          </m:r>
                        </m:e>
                        <m:sup>
                          <m:r>
                            <a:rPr lang="tr-TR" sz="1998" i="1" kern="1200">
                              <a:solidFill>
                                <a:schemeClr val="tx1"/>
                              </a:solidFill>
                              <a:latin typeface="Cambria Math" panose="02040503050406030204" pitchFamily="18" charset="0"/>
                              <a:ea typeface="+mn-ea"/>
                              <a:cs typeface="+mn-cs"/>
                            </a:rPr>
                            <m:t>𝑡ℎ</m:t>
                          </m:r>
                        </m:sup>
                      </m:sSup>
                      <m:r>
                        <a:rPr lang="tr-TR" sz="1998" i="1" kern="1200">
                          <a:solidFill>
                            <a:schemeClr val="tx1"/>
                          </a:solidFill>
                          <a:latin typeface="Cambria Math" panose="02040503050406030204" pitchFamily="18" charset="0"/>
                          <a:ea typeface="+mn-ea"/>
                          <a:cs typeface="+mn-cs"/>
                        </a:rPr>
                        <m:t> </m:t>
                      </m:r>
                      <m:r>
                        <a:rPr lang="tr-TR" sz="1998" i="1" kern="1200">
                          <a:solidFill>
                            <a:schemeClr val="tx1"/>
                          </a:solidFill>
                          <a:latin typeface="Cambria Math" panose="02040503050406030204" pitchFamily="18" charset="0"/>
                          <a:ea typeface="+mn-ea"/>
                          <a:cs typeface="+mn-cs"/>
                        </a:rPr>
                        <m:t>𝑡𝑟𝑎𝑖𝑛𝑖𝑛𝑔</m:t>
                      </m:r>
                      <m:r>
                        <a:rPr lang="tr-TR" sz="1998" i="1" kern="1200">
                          <a:solidFill>
                            <a:schemeClr val="tx1"/>
                          </a:solidFill>
                          <a:latin typeface="Cambria Math" panose="02040503050406030204" pitchFamily="18" charset="0"/>
                          <a:ea typeface="+mn-ea"/>
                          <a:cs typeface="+mn-cs"/>
                        </a:rPr>
                        <m:t> </m:t>
                      </m:r>
                      <m:r>
                        <a:rPr lang="tr-TR" sz="1998" i="1" kern="1200">
                          <a:solidFill>
                            <a:schemeClr val="tx1"/>
                          </a:solidFill>
                          <a:latin typeface="Cambria Math" panose="02040503050406030204" pitchFamily="18" charset="0"/>
                          <a:ea typeface="+mn-ea"/>
                          <a:cs typeface="+mn-cs"/>
                        </a:rPr>
                        <m:t>𝑒𝑥𝑎𝑚𝑝𝑙𝑒</m:t>
                      </m:r>
                    </m:oMath>
                  </m:oMathPara>
                </a14:m>
                <a:endParaRPr lang="tr-TR"/>
              </a:p>
            </p:txBody>
          </p:sp>
        </mc:Choice>
        <mc:Fallback xmlns="">
          <p:sp>
            <p:nvSpPr>
              <p:cNvPr id="14" name="TextBox 13">
                <a:extLst>
                  <a:ext uri="{FF2B5EF4-FFF2-40B4-BE49-F238E27FC236}">
                    <a16:creationId xmlns:a16="http://schemas.microsoft.com/office/drawing/2014/main" id="{5C2B25C4-63C1-4CC7-7036-7E8A22BE1BF4}"/>
                  </a:ext>
                </a:extLst>
              </p:cNvPr>
              <p:cNvSpPr txBox="1">
                <a:spLocks noRot="1" noChangeAspect="1" noMove="1" noResize="1" noEditPoints="1" noAdjustHandles="1" noChangeArrowheads="1" noChangeShapeType="1" noTextEdit="1"/>
              </p:cNvSpPr>
              <p:nvPr/>
            </p:nvSpPr>
            <p:spPr>
              <a:xfrm>
                <a:off x="6976654" y="2828758"/>
                <a:ext cx="4377146" cy="3180551"/>
              </a:xfrm>
              <a:prstGeom prst="rect">
                <a:avLst/>
              </a:prstGeom>
              <a:blipFill>
                <a:blip r:embed="rId3"/>
                <a:stretch>
                  <a:fillRect l="-1391" t="-958"/>
                </a:stretch>
              </a:blipFill>
            </p:spPr>
            <p:txBody>
              <a:bodyPr/>
              <a:lstStyle/>
              <a:p>
                <a:r>
                  <a:rPr lang="en-US">
                    <a:noFill/>
                  </a:rPr>
                  <a:t> </a:t>
                </a:r>
              </a:p>
            </p:txBody>
          </p:sp>
        </mc:Fallback>
      </mc:AlternateContent>
      <p:sp>
        <p:nvSpPr>
          <p:cNvPr id="3" name="Rectangle">
            <a:extLst>
              <a:ext uri="{FF2B5EF4-FFF2-40B4-BE49-F238E27FC236}">
                <a16:creationId xmlns:a16="http://schemas.microsoft.com/office/drawing/2014/main" id="{8C9C0B20-00DC-82EC-DAD6-C2104FCADA3F}"/>
              </a:ext>
            </a:extLst>
          </p:cNvPr>
          <p:cNvSpPr/>
          <p:nvPr/>
        </p:nvSpPr>
        <p:spPr>
          <a:xfrm>
            <a:off x="-11767" y="6545179"/>
            <a:ext cx="12203767" cy="315200"/>
          </a:xfrm>
          <a:prstGeom prst="rect">
            <a:avLst/>
          </a:prstGeom>
          <a:solidFill>
            <a:schemeClr val="tx1"/>
          </a:solidFill>
          <a:ln w="12700">
            <a:noFill/>
            <a:miter lim="400000"/>
          </a:ln>
        </p:spPr>
        <p:txBody>
          <a:bodyPr lIns="45719" rIns="45719" anchor="ctr"/>
          <a:lstStyle/>
          <a:p>
            <a:endParaRPr/>
          </a:p>
        </p:txBody>
      </p:sp>
      <p:pic>
        <p:nvPicPr>
          <p:cNvPr id="4" name="Picture 3" descr="Frontier Tech Leaders (@FTLeadersProg) / X">
            <a:extLst>
              <a:ext uri="{FF2B5EF4-FFF2-40B4-BE49-F238E27FC236}">
                <a16:creationId xmlns:a16="http://schemas.microsoft.com/office/drawing/2014/main" id="{EC4AD7DF-F294-34DC-CBE2-53543BA5304E}"/>
              </a:ext>
            </a:extLst>
          </p:cNvPr>
          <p:cNvPicPr>
            <a:picLocks noChangeAspect="1"/>
          </p:cNvPicPr>
          <p:nvPr/>
        </p:nvPicPr>
        <p:blipFill>
          <a:blip r:embed="rId4"/>
          <a:stretch>
            <a:fillRect/>
          </a:stretch>
        </p:blipFill>
        <p:spPr>
          <a:xfrm>
            <a:off x="10668000" y="94470"/>
            <a:ext cx="1027893" cy="1027893"/>
          </a:xfrm>
          <a:prstGeom prst="rect">
            <a:avLst/>
          </a:prstGeom>
        </p:spPr>
      </p:pic>
    </p:spTree>
    <p:extLst>
      <p:ext uri="{BB962C8B-B14F-4D97-AF65-F5344CB8AC3E}">
        <p14:creationId xmlns:p14="http://schemas.microsoft.com/office/powerpoint/2010/main" val="318531244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2"/>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13"/>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14"/>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P spid="14" grpId="0"/>
    </p:bldLst>
  </p:timing>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BE88CF56-2086-2D20-1347-8353DDD506C2}"/>
              </a:ext>
            </a:extLst>
          </p:cNvPr>
          <p:cNvSpPr/>
          <p:nvPr/>
        </p:nvSpPr>
        <p:spPr>
          <a:xfrm>
            <a:off x="6676222" y="253388"/>
            <a:ext cx="2148289" cy="1782181"/>
          </a:xfrm>
          <a:prstGeom prst="rect">
            <a:avLst/>
          </a:prstGeom>
          <a:solidFill>
            <a:schemeClr val="accent1">
              <a:lumMod val="40000"/>
              <a:lumOff val="60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9" name="Rectangle: Rounded Corners 8">
            <a:extLst>
              <a:ext uri="{FF2B5EF4-FFF2-40B4-BE49-F238E27FC236}">
                <a16:creationId xmlns:a16="http://schemas.microsoft.com/office/drawing/2014/main" id="{7826BF41-829C-F2B9-8D08-EC917921006D}"/>
              </a:ext>
            </a:extLst>
          </p:cNvPr>
          <p:cNvSpPr/>
          <p:nvPr/>
        </p:nvSpPr>
        <p:spPr>
          <a:xfrm>
            <a:off x="811924" y="559676"/>
            <a:ext cx="2475186" cy="630621"/>
          </a:xfrm>
          <a:prstGeom prst="roundRect">
            <a:avLst/>
          </a:prstGeom>
          <a:ln w="38100"/>
        </p:spPr>
        <p:style>
          <a:lnRef idx="2">
            <a:schemeClr val="accent2"/>
          </a:lnRef>
          <a:fillRef idx="1">
            <a:schemeClr val="lt1"/>
          </a:fillRef>
          <a:effectRef idx="0">
            <a:schemeClr val="accent2"/>
          </a:effectRef>
          <a:fontRef idx="minor">
            <a:schemeClr val="dk1"/>
          </a:fontRef>
        </p:style>
        <p:txBody>
          <a:bodyPr rtlCol="0" anchor="ctr"/>
          <a:lstStyle/>
          <a:p>
            <a:pPr algn="ctr"/>
            <a:r>
              <a:rPr lang="tr-TR" sz="2400" dirty="0"/>
              <a:t>Training set</a:t>
            </a:r>
            <a:endParaRPr lang="en-US" sz="2400" dirty="0"/>
          </a:p>
        </p:txBody>
      </p:sp>
      <p:sp>
        <p:nvSpPr>
          <p:cNvPr id="10" name="Rectangle: Rounded Corners 9">
            <a:extLst>
              <a:ext uri="{FF2B5EF4-FFF2-40B4-BE49-F238E27FC236}">
                <a16:creationId xmlns:a16="http://schemas.microsoft.com/office/drawing/2014/main" id="{8DD3BB1B-8FBC-26DC-61C1-DD15F67C17C7}"/>
              </a:ext>
            </a:extLst>
          </p:cNvPr>
          <p:cNvSpPr/>
          <p:nvPr/>
        </p:nvSpPr>
        <p:spPr>
          <a:xfrm>
            <a:off x="3762703" y="559675"/>
            <a:ext cx="2685393" cy="630621"/>
          </a:xfrm>
          <a:prstGeom prst="roundRect">
            <a:avLst/>
          </a:prstGeom>
          <a:ln w="38100"/>
        </p:spPr>
        <p:style>
          <a:lnRef idx="2">
            <a:schemeClr val="accent2"/>
          </a:lnRef>
          <a:fillRef idx="1">
            <a:schemeClr val="lt1"/>
          </a:fillRef>
          <a:effectRef idx="0">
            <a:schemeClr val="accent2"/>
          </a:effectRef>
          <a:fontRef idx="minor">
            <a:schemeClr val="dk1"/>
          </a:fontRef>
        </p:style>
        <p:txBody>
          <a:bodyPr rtlCol="0" anchor="ctr"/>
          <a:lstStyle/>
          <a:p>
            <a:pPr algn="ctr"/>
            <a:r>
              <a:rPr lang="tr-TR" sz="2400" dirty="0"/>
              <a:t>Learning </a:t>
            </a:r>
            <a:r>
              <a:rPr lang="tr-TR" sz="2400" dirty="0" err="1"/>
              <a:t>Algorithm</a:t>
            </a:r>
            <a:endParaRPr lang="en-US" sz="2400" dirty="0"/>
          </a:p>
        </p:txBody>
      </p:sp>
      <p:sp>
        <p:nvSpPr>
          <p:cNvPr id="11" name="Rectangle: Rounded Corners 10">
            <a:extLst>
              <a:ext uri="{FF2B5EF4-FFF2-40B4-BE49-F238E27FC236}">
                <a16:creationId xmlns:a16="http://schemas.microsoft.com/office/drawing/2014/main" id="{628599EF-3304-E87B-0D76-DAE8937607A9}"/>
              </a:ext>
            </a:extLst>
          </p:cNvPr>
          <p:cNvSpPr/>
          <p:nvPr/>
        </p:nvSpPr>
        <p:spPr>
          <a:xfrm>
            <a:off x="6923690" y="546537"/>
            <a:ext cx="754118" cy="630621"/>
          </a:xfrm>
          <a:prstGeom prst="roundRect">
            <a:avLst/>
          </a:prstGeom>
          <a:ln w="38100"/>
        </p:spPr>
        <p:style>
          <a:lnRef idx="2">
            <a:schemeClr val="accent2"/>
          </a:lnRef>
          <a:fillRef idx="1">
            <a:schemeClr val="lt1"/>
          </a:fillRef>
          <a:effectRef idx="0">
            <a:schemeClr val="accent2"/>
          </a:effectRef>
          <a:fontRef idx="minor">
            <a:schemeClr val="dk1"/>
          </a:fontRef>
        </p:style>
        <p:txBody>
          <a:bodyPr rtlCol="0" anchor="ctr"/>
          <a:lstStyle/>
          <a:p>
            <a:pPr algn="ctr"/>
            <a:r>
              <a:rPr lang="tr-TR" sz="2400" dirty="0"/>
              <a:t>f</a:t>
            </a:r>
            <a:endParaRPr lang="en-US" sz="2400" dirty="0"/>
          </a:p>
        </p:txBody>
      </p:sp>
      <p:cxnSp>
        <p:nvCxnSpPr>
          <p:cNvPr id="13" name="Straight Arrow Connector 12">
            <a:extLst>
              <a:ext uri="{FF2B5EF4-FFF2-40B4-BE49-F238E27FC236}">
                <a16:creationId xmlns:a16="http://schemas.microsoft.com/office/drawing/2014/main" id="{B39CE986-FC6D-811F-0F92-79F505B9F767}"/>
              </a:ext>
            </a:extLst>
          </p:cNvPr>
          <p:cNvCxnSpPr>
            <a:stCxn id="9" idx="3"/>
            <a:endCxn id="10" idx="1"/>
          </p:cNvCxnSpPr>
          <p:nvPr/>
        </p:nvCxnSpPr>
        <p:spPr>
          <a:xfrm flipV="1">
            <a:off x="3287110" y="874986"/>
            <a:ext cx="475593" cy="1"/>
          </a:xfrm>
          <a:prstGeom prst="straightConnector1">
            <a:avLst/>
          </a:prstGeom>
          <a:ln w="38100">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14" name="Straight Arrow Connector 13">
            <a:extLst>
              <a:ext uri="{FF2B5EF4-FFF2-40B4-BE49-F238E27FC236}">
                <a16:creationId xmlns:a16="http://schemas.microsoft.com/office/drawing/2014/main" id="{9B48FB59-41DA-09A1-66FE-B84187D0720E}"/>
              </a:ext>
            </a:extLst>
          </p:cNvPr>
          <p:cNvCxnSpPr/>
          <p:nvPr/>
        </p:nvCxnSpPr>
        <p:spPr>
          <a:xfrm flipV="1">
            <a:off x="6448096" y="874985"/>
            <a:ext cx="475593" cy="1"/>
          </a:xfrm>
          <a:prstGeom prst="straightConnector1">
            <a:avLst/>
          </a:prstGeom>
          <a:ln w="38100">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15" name="Straight Arrow Connector 14">
            <a:extLst>
              <a:ext uri="{FF2B5EF4-FFF2-40B4-BE49-F238E27FC236}">
                <a16:creationId xmlns:a16="http://schemas.microsoft.com/office/drawing/2014/main" id="{7D9B50A5-A600-9464-9C6A-F3F5860B0152}"/>
              </a:ext>
            </a:extLst>
          </p:cNvPr>
          <p:cNvCxnSpPr/>
          <p:nvPr/>
        </p:nvCxnSpPr>
        <p:spPr>
          <a:xfrm flipV="1">
            <a:off x="7677809" y="874985"/>
            <a:ext cx="475593" cy="1"/>
          </a:xfrm>
          <a:prstGeom prst="straightConnector1">
            <a:avLst/>
          </a:prstGeom>
          <a:ln w="38100">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16" name="Straight Arrow Connector 15">
            <a:extLst>
              <a:ext uri="{FF2B5EF4-FFF2-40B4-BE49-F238E27FC236}">
                <a16:creationId xmlns:a16="http://schemas.microsoft.com/office/drawing/2014/main" id="{8023F44C-6120-FC17-B8F9-7F6487D09630}"/>
              </a:ext>
            </a:extLst>
          </p:cNvPr>
          <p:cNvCxnSpPr>
            <a:cxnSpLocks/>
          </p:cNvCxnSpPr>
          <p:nvPr/>
        </p:nvCxnSpPr>
        <p:spPr>
          <a:xfrm flipV="1">
            <a:off x="7300749" y="1190295"/>
            <a:ext cx="0" cy="462805"/>
          </a:xfrm>
          <a:prstGeom prst="straightConnector1">
            <a:avLst/>
          </a:prstGeom>
          <a:ln w="38100">
            <a:solidFill>
              <a:schemeClr val="tx1"/>
            </a:solidFill>
            <a:tailEnd type="triangle"/>
          </a:ln>
        </p:spPr>
        <p:style>
          <a:lnRef idx="1">
            <a:schemeClr val="accent1"/>
          </a:lnRef>
          <a:fillRef idx="0">
            <a:schemeClr val="accent1"/>
          </a:fillRef>
          <a:effectRef idx="0">
            <a:schemeClr val="accent1"/>
          </a:effectRef>
          <a:fontRef idx="minor">
            <a:schemeClr val="tx1"/>
          </a:fontRef>
        </p:style>
      </p:cxnSp>
      <mc:AlternateContent xmlns:mc="http://schemas.openxmlformats.org/markup-compatibility/2006" xmlns:a14="http://schemas.microsoft.com/office/drawing/2010/main">
        <mc:Choice Requires="a14">
          <p:sp>
            <p:nvSpPr>
              <p:cNvPr id="18" name="TextBox 17">
                <a:extLst>
                  <a:ext uri="{FF2B5EF4-FFF2-40B4-BE49-F238E27FC236}">
                    <a16:creationId xmlns:a16="http://schemas.microsoft.com/office/drawing/2014/main" id="{D1793F2F-205E-5293-1D63-E375FA022A68}"/>
                  </a:ext>
                </a:extLst>
              </p:cNvPr>
              <p:cNvSpPr txBox="1"/>
              <p:nvPr/>
            </p:nvSpPr>
            <p:spPr>
              <a:xfrm>
                <a:off x="8253248" y="677181"/>
                <a:ext cx="371384" cy="369332"/>
              </a:xfrm>
              <a:prstGeom prst="rect">
                <a:avLst/>
              </a:prstGeom>
              <a:noFill/>
            </p:spPr>
            <p:txBody>
              <a:bodyPr wrap="none" rtlCol="0">
                <a:spAutoFit/>
              </a:bodyPr>
              <a:lstStyle/>
              <a:p>
                <a:pPr/>
                <a14:m>
                  <m:oMathPara xmlns:m="http://schemas.openxmlformats.org/officeDocument/2006/math">
                    <m:oMath>
                      <m:acc>
                        <m:accPr>
                          <m:chr m:val="̂"/>
                          <m:ctrlPr>
                            <a:rPr lang="tr-TR" i="1">
                              <a:latin typeface="Cambria Math" panose="02040503050406030204" pitchFamily="18" charset="0"/>
                            </a:rPr>
                          </m:ctrlPr>
                        </m:accPr>
                        <m:e>
                          <m:r>
                            <a:rPr lang="tr-TR" i="1">
                              <a:latin typeface="Cambria Math" panose="02040503050406030204" pitchFamily="18" charset="0"/>
                            </a:rPr>
                            <m:t>𝑦</m:t>
                          </m:r>
                        </m:e>
                      </m:acc>
                    </m:oMath>
                  </m:oMathPara>
                </a14:m>
                <a:endParaRPr lang="en-US" dirty="0"/>
              </a:p>
            </p:txBody>
          </p:sp>
        </mc:Choice>
        <mc:Fallback xmlns="">
          <p:sp>
            <p:nvSpPr>
              <p:cNvPr id="18" name="TextBox 17">
                <a:extLst>
                  <a:ext uri="{FF2B5EF4-FFF2-40B4-BE49-F238E27FC236}">
                    <a16:creationId xmlns:a16="http://schemas.microsoft.com/office/drawing/2014/main" id="{D1793F2F-205E-5293-1D63-E375FA022A68}"/>
                  </a:ext>
                </a:extLst>
              </p:cNvPr>
              <p:cNvSpPr txBox="1">
                <a:spLocks noRot="1" noChangeAspect="1" noMove="1" noResize="1" noEditPoints="1" noAdjustHandles="1" noChangeArrowheads="1" noChangeShapeType="1" noTextEdit="1"/>
              </p:cNvSpPr>
              <p:nvPr/>
            </p:nvSpPr>
            <p:spPr>
              <a:xfrm>
                <a:off x="8253248" y="677181"/>
                <a:ext cx="371384" cy="369332"/>
              </a:xfrm>
              <a:prstGeom prst="rect">
                <a:avLst/>
              </a:prstGeom>
              <a:blipFill>
                <a:blip r:embed="rId3"/>
                <a:stretch>
                  <a:fillRect t="-6557" r="-14754" b="-6557"/>
                </a:stretch>
              </a:blipFill>
            </p:spPr>
            <p:txBody>
              <a:bodyPr/>
              <a:lstStyle/>
              <a:p>
                <a:r>
                  <a:rPr lang="en-US">
                    <a:noFill/>
                  </a:rPr>
                  <a:t> </a:t>
                </a:r>
              </a:p>
            </p:txBody>
          </p:sp>
        </mc:Fallback>
      </mc:AlternateContent>
      <p:sp>
        <p:nvSpPr>
          <p:cNvPr id="19" name="TextBox 18">
            <a:extLst>
              <a:ext uri="{FF2B5EF4-FFF2-40B4-BE49-F238E27FC236}">
                <a16:creationId xmlns:a16="http://schemas.microsoft.com/office/drawing/2014/main" id="{3C5CB566-94EE-2697-4244-DBB2AEDC4993}"/>
              </a:ext>
            </a:extLst>
          </p:cNvPr>
          <p:cNvSpPr txBox="1"/>
          <p:nvPr/>
        </p:nvSpPr>
        <p:spPr>
          <a:xfrm>
            <a:off x="7156318" y="1666237"/>
            <a:ext cx="284052" cy="369332"/>
          </a:xfrm>
          <a:prstGeom prst="rect">
            <a:avLst/>
          </a:prstGeom>
          <a:noFill/>
        </p:spPr>
        <p:txBody>
          <a:bodyPr wrap="none" rtlCol="0">
            <a:spAutoFit/>
          </a:bodyPr>
          <a:lstStyle/>
          <a:p>
            <a:r>
              <a:rPr lang="tr-TR" dirty="0"/>
              <a:t>x</a:t>
            </a:r>
            <a:endParaRPr lang="en-US" dirty="0"/>
          </a:p>
        </p:txBody>
      </p:sp>
      <p:sp>
        <p:nvSpPr>
          <p:cNvPr id="20" name="TextBox 19">
            <a:extLst>
              <a:ext uri="{FF2B5EF4-FFF2-40B4-BE49-F238E27FC236}">
                <a16:creationId xmlns:a16="http://schemas.microsoft.com/office/drawing/2014/main" id="{D3B6461A-F2A9-18D9-5D80-6A06DC12272C}"/>
              </a:ext>
            </a:extLst>
          </p:cNvPr>
          <p:cNvSpPr txBox="1"/>
          <p:nvPr/>
        </p:nvSpPr>
        <p:spPr>
          <a:xfrm>
            <a:off x="1213945" y="2142179"/>
            <a:ext cx="2674963" cy="461665"/>
          </a:xfrm>
          <a:prstGeom prst="rect">
            <a:avLst/>
          </a:prstGeom>
          <a:noFill/>
        </p:spPr>
        <p:txBody>
          <a:bodyPr wrap="none" rtlCol="0">
            <a:spAutoFit/>
          </a:bodyPr>
          <a:lstStyle/>
          <a:p>
            <a:r>
              <a:rPr lang="tr-TR" sz="2400" dirty="0"/>
              <a:t>How </a:t>
            </a:r>
            <a:r>
              <a:rPr lang="tr-TR" sz="2400" dirty="0" err="1"/>
              <a:t>to</a:t>
            </a:r>
            <a:r>
              <a:rPr lang="tr-TR" sz="2400" dirty="0"/>
              <a:t> </a:t>
            </a:r>
            <a:r>
              <a:rPr lang="tr-TR" sz="2400" dirty="0" err="1"/>
              <a:t>represent</a:t>
            </a:r>
            <a:r>
              <a:rPr lang="tr-TR" sz="2400" dirty="0"/>
              <a:t> f?</a:t>
            </a:r>
            <a:endParaRPr lang="en-US" sz="2400" dirty="0"/>
          </a:p>
        </p:txBody>
      </p:sp>
      <p:cxnSp>
        <p:nvCxnSpPr>
          <p:cNvPr id="21" name="Straight Arrow Connector 20">
            <a:extLst>
              <a:ext uri="{FF2B5EF4-FFF2-40B4-BE49-F238E27FC236}">
                <a16:creationId xmlns:a16="http://schemas.microsoft.com/office/drawing/2014/main" id="{5EFF5059-EDC6-E2B4-9074-9351EF950FE6}"/>
              </a:ext>
            </a:extLst>
          </p:cNvPr>
          <p:cNvCxnSpPr>
            <a:cxnSpLocks/>
          </p:cNvCxnSpPr>
          <p:nvPr/>
        </p:nvCxnSpPr>
        <p:spPr>
          <a:xfrm flipV="1">
            <a:off x="1258432" y="3275232"/>
            <a:ext cx="0" cy="2774516"/>
          </a:xfrm>
          <a:prstGeom prst="straightConnector1">
            <a:avLst/>
          </a:prstGeom>
          <a:ln w="38100">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22" name="Straight Arrow Connector 21">
            <a:extLst>
              <a:ext uri="{FF2B5EF4-FFF2-40B4-BE49-F238E27FC236}">
                <a16:creationId xmlns:a16="http://schemas.microsoft.com/office/drawing/2014/main" id="{1509E375-C29A-E405-4EFD-55D4395236DE}"/>
              </a:ext>
            </a:extLst>
          </p:cNvPr>
          <p:cNvCxnSpPr>
            <a:cxnSpLocks/>
          </p:cNvCxnSpPr>
          <p:nvPr/>
        </p:nvCxnSpPr>
        <p:spPr>
          <a:xfrm>
            <a:off x="1003737" y="5669792"/>
            <a:ext cx="3511464" cy="0"/>
          </a:xfrm>
          <a:prstGeom prst="straightConnector1">
            <a:avLst/>
          </a:prstGeom>
          <a:ln w="38100">
            <a:solidFill>
              <a:schemeClr val="tx1"/>
            </a:solidFill>
            <a:tailEnd type="triangle"/>
          </a:ln>
        </p:spPr>
        <p:style>
          <a:lnRef idx="1">
            <a:schemeClr val="accent1"/>
          </a:lnRef>
          <a:fillRef idx="0">
            <a:schemeClr val="accent1"/>
          </a:fillRef>
          <a:effectRef idx="0">
            <a:schemeClr val="accent1"/>
          </a:effectRef>
          <a:fontRef idx="minor">
            <a:schemeClr val="tx1"/>
          </a:fontRef>
        </p:style>
      </p:cxnSp>
      <p:sp>
        <p:nvSpPr>
          <p:cNvPr id="23" name="Star: 5 Points 22">
            <a:extLst>
              <a:ext uri="{FF2B5EF4-FFF2-40B4-BE49-F238E27FC236}">
                <a16:creationId xmlns:a16="http://schemas.microsoft.com/office/drawing/2014/main" id="{5852F6F3-837B-1CF7-1B47-5ABA4B1DDACD}"/>
              </a:ext>
            </a:extLst>
          </p:cNvPr>
          <p:cNvSpPr/>
          <p:nvPr/>
        </p:nvSpPr>
        <p:spPr>
          <a:xfrm>
            <a:off x="1790433" y="4333016"/>
            <a:ext cx="288095" cy="328800"/>
          </a:xfrm>
          <a:prstGeom prst="star5">
            <a:avLst/>
          </a:prstGeom>
          <a:solidFill>
            <a:schemeClr val="accent1"/>
          </a:solidFill>
          <a:ln>
            <a:solidFill>
              <a:schemeClr val="accent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4" name="Star: 5 Points 23">
            <a:extLst>
              <a:ext uri="{FF2B5EF4-FFF2-40B4-BE49-F238E27FC236}">
                <a16:creationId xmlns:a16="http://schemas.microsoft.com/office/drawing/2014/main" id="{B3CB1430-7DDF-926C-4189-B685541DD042}"/>
              </a:ext>
            </a:extLst>
          </p:cNvPr>
          <p:cNvSpPr/>
          <p:nvPr/>
        </p:nvSpPr>
        <p:spPr>
          <a:xfrm>
            <a:off x="1498499" y="4527036"/>
            <a:ext cx="288095" cy="328800"/>
          </a:xfrm>
          <a:prstGeom prst="star5">
            <a:avLst/>
          </a:prstGeom>
          <a:solidFill>
            <a:schemeClr val="accent1"/>
          </a:solidFill>
          <a:ln>
            <a:solidFill>
              <a:schemeClr val="accent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5" name="Star: 5 Points 24">
            <a:extLst>
              <a:ext uri="{FF2B5EF4-FFF2-40B4-BE49-F238E27FC236}">
                <a16:creationId xmlns:a16="http://schemas.microsoft.com/office/drawing/2014/main" id="{2C91B033-4D88-7426-D231-DB5B0BA66162}"/>
              </a:ext>
            </a:extLst>
          </p:cNvPr>
          <p:cNvSpPr/>
          <p:nvPr/>
        </p:nvSpPr>
        <p:spPr>
          <a:xfrm>
            <a:off x="2068571" y="4175106"/>
            <a:ext cx="288095" cy="328800"/>
          </a:xfrm>
          <a:prstGeom prst="star5">
            <a:avLst/>
          </a:prstGeom>
          <a:solidFill>
            <a:schemeClr val="accent1"/>
          </a:solidFill>
          <a:ln>
            <a:solidFill>
              <a:schemeClr val="accent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6" name="Star: 5 Points 25">
            <a:extLst>
              <a:ext uri="{FF2B5EF4-FFF2-40B4-BE49-F238E27FC236}">
                <a16:creationId xmlns:a16="http://schemas.microsoft.com/office/drawing/2014/main" id="{216655ED-A30C-8060-5736-6849B777742A}"/>
              </a:ext>
            </a:extLst>
          </p:cNvPr>
          <p:cNvSpPr/>
          <p:nvPr/>
        </p:nvSpPr>
        <p:spPr>
          <a:xfrm>
            <a:off x="2794280" y="3922773"/>
            <a:ext cx="288095" cy="328800"/>
          </a:xfrm>
          <a:prstGeom prst="star5">
            <a:avLst/>
          </a:prstGeom>
          <a:solidFill>
            <a:schemeClr val="accent1"/>
          </a:solidFill>
          <a:ln>
            <a:solidFill>
              <a:schemeClr val="accent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7" name="Star: 5 Points 26">
            <a:extLst>
              <a:ext uri="{FF2B5EF4-FFF2-40B4-BE49-F238E27FC236}">
                <a16:creationId xmlns:a16="http://schemas.microsoft.com/office/drawing/2014/main" id="{0A3EC9D2-1D46-0F53-0F57-3556987BB9E3}"/>
              </a:ext>
            </a:extLst>
          </p:cNvPr>
          <p:cNvSpPr/>
          <p:nvPr/>
        </p:nvSpPr>
        <p:spPr>
          <a:xfrm>
            <a:off x="2429776" y="4087173"/>
            <a:ext cx="288095" cy="328800"/>
          </a:xfrm>
          <a:prstGeom prst="star5">
            <a:avLst/>
          </a:prstGeom>
          <a:solidFill>
            <a:schemeClr val="accent1"/>
          </a:solidFill>
          <a:ln>
            <a:solidFill>
              <a:schemeClr val="accent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8" name="Star: 5 Points 27">
            <a:extLst>
              <a:ext uri="{FF2B5EF4-FFF2-40B4-BE49-F238E27FC236}">
                <a16:creationId xmlns:a16="http://schemas.microsoft.com/office/drawing/2014/main" id="{1057454A-001A-D1F5-64E0-CC5EF3238CA0}"/>
              </a:ext>
            </a:extLst>
          </p:cNvPr>
          <p:cNvSpPr/>
          <p:nvPr/>
        </p:nvSpPr>
        <p:spPr>
          <a:xfrm>
            <a:off x="2667977" y="4441550"/>
            <a:ext cx="288095" cy="328800"/>
          </a:xfrm>
          <a:prstGeom prst="star5">
            <a:avLst/>
          </a:prstGeom>
          <a:solidFill>
            <a:schemeClr val="accent1"/>
          </a:solidFill>
          <a:ln>
            <a:solidFill>
              <a:schemeClr val="accent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9" name="Star: 5 Points 28">
            <a:extLst>
              <a:ext uri="{FF2B5EF4-FFF2-40B4-BE49-F238E27FC236}">
                <a16:creationId xmlns:a16="http://schemas.microsoft.com/office/drawing/2014/main" id="{29C63508-BB8D-BCDB-4038-6C208A9AB367}"/>
              </a:ext>
            </a:extLst>
          </p:cNvPr>
          <p:cNvSpPr/>
          <p:nvPr/>
        </p:nvSpPr>
        <p:spPr>
          <a:xfrm>
            <a:off x="2387897" y="4530246"/>
            <a:ext cx="288095" cy="328800"/>
          </a:xfrm>
          <a:prstGeom prst="star5">
            <a:avLst/>
          </a:prstGeom>
          <a:solidFill>
            <a:schemeClr val="accent1"/>
          </a:solidFill>
          <a:ln>
            <a:solidFill>
              <a:schemeClr val="accent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0" name="Star: 5 Points 29">
            <a:extLst>
              <a:ext uri="{FF2B5EF4-FFF2-40B4-BE49-F238E27FC236}">
                <a16:creationId xmlns:a16="http://schemas.microsoft.com/office/drawing/2014/main" id="{3BAF104C-5FD2-FF79-90FD-9BD89194C8F6}"/>
              </a:ext>
            </a:extLst>
          </p:cNvPr>
          <p:cNvSpPr/>
          <p:nvPr/>
        </p:nvSpPr>
        <p:spPr>
          <a:xfrm>
            <a:off x="2107817" y="4644519"/>
            <a:ext cx="288095" cy="328800"/>
          </a:xfrm>
          <a:prstGeom prst="star5">
            <a:avLst/>
          </a:prstGeom>
          <a:solidFill>
            <a:schemeClr val="accent1"/>
          </a:solidFill>
          <a:ln>
            <a:solidFill>
              <a:schemeClr val="accent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cxnSp>
        <p:nvCxnSpPr>
          <p:cNvPr id="32" name="Straight Connector 31">
            <a:extLst>
              <a:ext uri="{FF2B5EF4-FFF2-40B4-BE49-F238E27FC236}">
                <a16:creationId xmlns:a16="http://schemas.microsoft.com/office/drawing/2014/main" id="{09E1301C-A748-335C-3541-313B6ECC72FF}"/>
              </a:ext>
            </a:extLst>
          </p:cNvPr>
          <p:cNvCxnSpPr/>
          <p:nvPr/>
        </p:nvCxnSpPr>
        <p:spPr>
          <a:xfrm flipV="1">
            <a:off x="1262272" y="4087173"/>
            <a:ext cx="2182494" cy="1044503"/>
          </a:xfrm>
          <a:prstGeom prst="line">
            <a:avLst/>
          </a:prstGeom>
          <a:ln w="38100">
            <a:solidFill>
              <a:srgbClr val="FF0000"/>
            </a:solidFill>
          </a:ln>
        </p:spPr>
        <p:style>
          <a:lnRef idx="1">
            <a:schemeClr val="accent1"/>
          </a:lnRef>
          <a:fillRef idx="0">
            <a:schemeClr val="accent1"/>
          </a:fillRef>
          <a:effectRef idx="0">
            <a:schemeClr val="accent1"/>
          </a:effectRef>
          <a:fontRef idx="minor">
            <a:schemeClr val="tx1"/>
          </a:fontRef>
        </p:style>
      </p:cxnSp>
      <p:sp>
        <p:nvSpPr>
          <p:cNvPr id="33" name="TextBox 32">
            <a:extLst>
              <a:ext uri="{FF2B5EF4-FFF2-40B4-BE49-F238E27FC236}">
                <a16:creationId xmlns:a16="http://schemas.microsoft.com/office/drawing/2014/main" id="{CB140FFF-B1D3-27CB-0A7B-B9DDD648B89F}"/>
              </a:ext>
            </a:extLst>
          </p:cNvPr>
          <p:cNvSpPr txBox="1"/>
          <p:nvPr/>
        </p:nvSpPr>
        <p:spPr>
          <a:xfrm>
            <a:off x="2613635" y="5714636"/>
            <a:ext cx="295274" cy="400110"/>
          </a:xfrm>
          <a:prstGeom prst="rect">
            <a:avLst/>
          </a:prstGeom>
          <a:noFill/>
        </p:spPr>
        <p:txBody>
          <a:bodyPr wrap="none" rtlCol="0">
            <a:spAutoFit/>
          </a:bodyPr>
          <a:lstStyle/>
          <a:p>
            <a:r>
              <a:rPr lang="tr-TR" sz="2000" dirty="0"/>
              <a:t>x</a:t>
            </a:r>
            <a:endParaRPr lang="en-US" sz="2000" dirty="0"/>
          </a:p>
        </p:txBody>
      </p:sp>
      <p:sp>
        <p:nvSpPr>
          <p:cNvPr id="34" name="TextBox 33">
            <a:extLst>
              <a:ext uri="{FF2B5EF4-FFF2-40B4-BE49-F238E27FC236}">
                <a16:creationId xmlns:a16="http://schemas.microsoft.com/office/drawing/2014/main" id="{6C2F37B0-90F4-BFF9-32C2-0DBB7C119896}"/>
              </a:ext>
            </a:extLst>
          </p:cNvPr>
          <p:cNvSpPr txBox="1"/>
          <p:nvPr/>
        </p:nvSpPr>
        <p:spPr>
          <a:xfrm>
            <a:off x="846200" y="4256884"/>
            <a:ext cx="300082" cy="400110"/>
          </a:xfrm>
          <a:prstGeom prst="rect">
            <a:avLst/>
          </a:prstGeom>
          <a:noFill/>
        </p:spPr>
        <p:txBody>
          <a:bodyPr wrap="none" rtlCol="0">
            <a:spAutoFit/>
          </a:bodyPr>
          <a:lstStyle/>
          <a:p>
            <a:r>
              <a:rPr lang="tr-TR" sz="2000" dirty="0"/>
              <a:t>y</a:t>
            </a:r>
            <a:endParaRPr lang="en-US" sz="2000" dirty="0"/>
          </a:p>
        </p:txBody>
      </p:sp>
      <mc:AlternateContent xmlns:mc="http://schemas.openxmlformats.org/markup-compatibility/2006" xmlns:a14="http://schemas.microsoft.com/office/drawing/2010/main">
        <mc:Choice Requires="a14">
          <p:sp>
            <p:nvSpPr>
              <p:cNvPr id="36" name="TextBox 35">
                <a:extLst>
                  <a:ext uri="{FF2B5EF4-FFF2-40B4-BE49-F238E27FC236}">
                    <a16:creationId xmlns:a16="http://schemas.microsoft.com/office/drawing/2014/main" id="{F650368D-8EFD-2B35-4CD6-617C8FD48B21}"/>
                  </a:ext>
                </a:extLst>
              </p:cNvPr>
              <p:cNvSpPr txBox="1"/>
              <p:nvPr/>
            </p:nvSpPr>
            <p:spPr>
              <a:xfrm>
                <a:off x="1146282" y="3891094"/>
                <a:ext cx="6542688" cy="381515"/>
              </a:xfrm>
              <a:prstGeom prst="rect">
                <a:avLst/>
              </a:prstGeom>
              <a:noFill/>
            </p:spPr>
            <p:txBody>
              <a:bodyPr wrap="square">
                <a:spAutoFit/>
              </a:bodyPr>
              <a:lstStyle/>
              <a:p>
                <a:pPr/>
                <a14:m>
                  <m:oMathPara xmlns:m="http://schemas.openxmlformats.org/officeDocument/2006/math">
                    <m:oMath>
                      <m:sSub>
                        <m:sSubPr>
                          <m:ctrlPr>
                            <a:rPr lang="tr-TR" b="0" i="1" smtClean="0">
                              <a:latin typeface="Cambria Math" panose="02040503050406030204" pitchFamily="18" charset="0"/>
                            </a:rPr>
                          </m:ctrlPr>
                        </m:sSubPr>
                        <m:e>
                          <m:r>
                            <a:rPr lang="tr-TR" b="0" i="1" smtClean="0">
                              <a:latin typeface="Cambria Math" panose="02040503050406030204" pitchFamily="18" charset="0"/>
                            </a:rPr>
                            <m:t>𝑓</m:t>
                          </m:r>
                        </m:e>
                        <m:sub>
                          <m:bar>
                            <m:barPr>
                              <m:pos m:val="top"/>
                              <m:ctrlPr>
                                <a:rPr lang="tr-TR" b="0" i="1" smtClean="0">
                                  <a:latin typeface="Cambria Math" panose="02040503050406030204" pitchFamily="18" charset="0"/>
                                </a:rPr>
                              </m:ctrlPr>
                            </m:barPr>
                            <m:e>
                              <m:r>
                                <a:rPr lang="tr-TR" b="0" i="1" smtClean="0">
                                  <a:latin typeface="Cambria Math" panose="02040503050406030204" pitchFamily="18" charset="0"/>
                                </a:rPr>
                                <m:t>𝑤</m:t>
                              </m:r>
                            </m:e>
                          </m:bar>
                          <m:r>
                            <a:rPr lang="tr-TR" b="0" i="1" smtClean="0">
                              <a:latin typeface="Cambria Math" panose="02040503050406030204" pitchFamily="18" charset="0"/>
                            </a:rPr>
                            <m:t>,</m:t>
                          </m:r>
                          <m:r>
                            <a:rPr lang="tr-TR" b="0" i="1" smtClean="0">
                              <a:latin typeface="Cambria Math" panose="02040503050406030204" pitchFamily="18" charset="0"/>
                            </a:rPr>
                            <m:t>𝑏</m:t>
                          </m:r>
                        </m:sub>
                      </m:sSub>
                      <m:d>
                        <m:dPr>
                          <m:ctrlPr>
                            <a:rPr lang="tr-TR" i="1">
                              <a:latin typeface="Cambria Math" panose="02040503050406030204" pitchFamily="18" charset="0"/>
                            </a:rPr>
                          </m:ctrlPr>
                        </m:dPr>
                        <m:e>
                          <m:bar>
                            <m:barPr>
                              <m:pos m:val="top"/>
                              <m:ctrlPr>
                                <a:rPr lang="tr-TR" i="1">
                                  <a:latin typeface="Cambria Math" panose="02040503050406030204" pitchFamily="18" charset="0"/>
                                </a:rPr>
                              </m:ctrlPr>
                            </m:barPr>
                            <m:e>
                              <m:r>
                                <a:rPr lang="tr-TR" i="1">
                                  <a:latin typeface="Cambria Math" panose="02040503050406030204" pitchFamily="18" charset="0"/>
                                </a:rPr>
                                <m:t>𝑥</m:t>
                              </m:r>
                            </m:e>
                          </m:bar>
                        </m:e>
                      </m:d>
                      <m:r>
                        <a:rPr lang="tr-TR" b="0" i="1" smtClean="0">
                          <a:latin typeface="Cambria Math" panose="02040503050406030204" pitchFamily="18" charset="0"/>
                        </a:rPr>
                        <m:t>=</m:t>
                      </m:r>
                      <m:r>
                        <a:rPr lang="tr-TR" b="0" i="1" smtClean="0">
                          <a:latin typeface="Cambria Math" panose="02040503050406030204" pitchFamily="18" charset="0"/>
                        </a:rPr>
                        <m:t>𝑤𝑥</m:t>
                      </m:r>
                      <m:r>
                        <a:rPr lang="tr-TR" b="0" i="1" smtClean="0">
                          <a:latin typeface="Cambria Math" panose="02040503050406030204" pitchFamily="18" charset="0"/>
                        </a:rPr>
                        <m:t>+</m:t>
                      </m:r>
                      <m:r>
                        <a:rPr lang="tr-TR" b="0" i="1" smtClean="0">
                          <a:latin typeface="Cambria Math" panose="02040503050406030204" pitchFamily="18" charset="0"/>
                        </a:rPr>
                        <m:t>𝑏</m:t>
                      </m:r>
                    </m:oMath>
                  </m:oMathPara>
                </a14:m>
                <a:endParaRPr lang="en-US" dirty="0"/>
              </a:p>
            </p:txBody>
          </p:sp>
        </mc:Choice>
        <mc:Fallback xmlns="">
          <p:sp>
            <p:nvSpPr>
              <p:cNvPr id="36" name="TextBox 35">
                <a:extLst>
                  <a:ext uri="{FF2B5EF4-FFF2-40B4-BE49-F238E27FC236}">
                    <a16:creationId xmlns:a16="http://schemas.microsoft.com/office/drawing/2014/main" id="{F650368D-8EFD-2B35-4CD6-617C8FD48B21}"/>
                  </a:ext>
                </a:extLst>
              </p:cNvPr>
              <p:cNvSpPr txBox="1">
                <a:spLocks noRot="1" noChangeAspect="1" noMove="1" noResize="1" noEditPoints="1" noAdjustHandles="1" noChangeArrowheads="1" noChangeShapeType="1" noTextEdit="1"/>
              </p:cNvSpPr>
              <p:nvPr/>
            </p:nvSpPr>
            <p:spPr>
              <a:xfrm>
                <a:off x="1146282" y="3891094"/>
                <a:ext cx="6542688" cy="381515"/>
              </a:xfrm>
              <a:prstGeom prst="rect">
                <a:avLst/>
              </a:prstGeom>
              <a:blipFill>
                <a:blip r:embed="rId4"/>
                <a:stretch>
                  <a:fillRect b="-11111"/>
                </a:stretch>
              </a:blipFill>
            </p:spPr>
            <p:txBody>
              <a:bodyPr/>
              <a:lstStyle/>
              <a:p>
                <a:r>
                  <a:rPr lang="en-US">
                    <a:noFill/>
                  </a:rPr>
                  <a:t> </a:t>
                </a:r>
              </a:p>
            </p:txBody>
          </p:sp>
        </mc:Fallback>
      </mc:AlternateContent>
      <p:sp>
        <p:nvSpPr>
          <p:cNvPr id="37" name="TextBox 36">
            <a:extLst>
              <a:ext uri="{FF2B5EF4-FFF2-40B4-BE49-F238E27FC236}">
                <a16:creationId xmlns:a16="http://schemas.microsoft.com/office/drawing/2014/main" id="{D3C3E84E-D67A-37CE-D132-EF9BF7C95916}"/>
              </a:ext>
            </a:extLst>
          </p:cNvPr>
          <p:cNvSpPr txBox="1"/>
          <p:nvPr/>
        </p:nvSpPr>
        <p:spPr>
          <a:xfrm>
            <a:off x="4912430" y="4266583"/>
            <a:ext cx="4551502" cy="461665"/>
          </a:xfrm>
          <a:prstGeom prst="rect">
            <a:avLst/>
          </a:prstGeom>
          <a:noFill/>
        </p:spPr>
        <p:txBody>
          <a:bodyPr wrap="none" rtlCol="0">
            <a:spAutoFit/>
          </a:bodyPr>
          <a:lstStyle/>
          <a:p>
            <a:r>
              <a:rPr lang="tr-TR" sz="2400" dirty="0" err="1"/>
              <a:t>Linear</a:t>
            </a:r>
            <a:r>
              <a:rPr lang="tr-TR" sz="2400" dirty="0"/>
              <a:t> </a:t>
            </a:r>
            <a:r>
              <a:rPr lang="tr-TR" sz="2400" dirty="0" err="1"/>
              <a:t>regression</a:t>
            </a:r>
            <a:r>
              <a:rPr lang="tr-TR" sz="2400" dirty="0"/>
              <a:t> </a:t>
            </a:r>
            <a:r>
              <a:rPr lang="tr-TR" sz="2400" dirty="0" err="1"/>
              <a:t>with</a:t>
            </a:r>
            <a:r>
              <a:rPr lang="tr-TR" sz="2400" dirty="0"/>
              <a:t> </a:t>
            </a:r>
            <a:r>
              <a:rPr lang="tr-TR" sz="2400" dirty="0" err="1"/>
              <a:t>one</a:t>
            </a:r>
            <a:r>
              <a:rPr lang="tr-TR" sz="2400" dirty="0"/>
              <a:t> </a:t>
            </a:r>
            <a:r>
              <a:rPr lang="tr-TR" sz="2400" dirty="0" err="1"/>
              <a:t>variable</a:t>
            </a:r>
            <a:endParaRPr lang="en-US" sz="2400" dirty="0"/>
          </a:p>
        </p:txBody>
      </p:sp>
      <p:sp>
        <p:nvSpPr>
          <p:cNvPr id="38" name="TextBox 37">
            <a:extLst>
              <a:ext uri="{FF2B5EF4-FFF2-40B4-BE49-F238E27FC236}">
                <a16:creationId xmlns:a16="http://schemas.microsoft.com/office/drawing/2014/main" id="{72A7654F-882A-11C2-89D1-633560292504}"/>
              </a:ext>
            </a:extLst>
          </p:cNvPr>
          <p:cNvSpPr txBox="1"/>
          <p:nvPr/>
        </p:nvSpPr>
        <p:spPr>
          <a:xfrm>
            <a:off x="4880567" y="4855179"/>
            <a:ext cx="3615542" cy="461665"/>
          </a:xfrm>
          <a:prstGeom prst="rect">
            <a:avLst/>
          </a:prstGeom>
          <a:noFill/>
        </p:spPr>
        <p:txBody>
          <a:bodyPr wrap="none" rtlCol="0">
            <a:spAutoFit/>
          </a:bodyPr>
          <a:lstStyle/>
          <a:p>
            <a:r>
              <a:rPr lang="tr-TR" sz="2400" dirty="0" err="1"/>
              <a:t>Univariate</a:t>
            </a:r>
            <a:r>
              <a:rPr lang="tr-TR" sz="2400" dirty="0"/>
              <a:t> </a:t>
            </a:r>
            <a:r>
              <a:rPr lang="tr-TR" sz="2400" dirty="0" err="1"/>
              <a:t>linear</a:t>
            </a:r>
            <a:r>
              <a:rPr lang="tr-TR" sz="2400" dirty="0"/>
              <a:t> </a:t>
            </a:r>
            <a:r>
              <a:rPr lang="tr-TR" sz="2400" dirty="0" err="1"/>
              <a:t>regression</a:t>
            </a:r>
            <a:endParaRPr lang="en-US" sz="2400" dirty="0"/>
          </a:p>
        </p:txBody>
      </p:sp>
      <p:sp>
        <p:nvSpPr>
          <p:cNvPr id="3" name="Rectangle">
            <a:extLst>
              <a:ext uri="{FF2B5EF4-FFF2-40B4-BE49-F238E27FC236}">
                <a16:creationId xmlns:a16="http://schemas.microsoft.com/office/drawing/2014/main" id="{7820BD3D-6E7D-6BFE-2710-B2044EFEB69D}"/>
              </a:ext>
            </a:extLst>
          </p:cNvPr>
          <p:cNvSpPr/>
          <p:nvPr/>
        </p:nvSpPr>
        <p:spPr>
          <a:xfrm>
            <a:off x="-11767" y="6545179"/>
            <a:ext cx="12203767" cy="315200"/>
          </a:xfrm>
          <a:prstGeom prst="rect">
            <a:avLst/>
          </a:prstGeom>
          <a:solidFill>
            <a:schemeClr val="tx1"/>
          </a:solidFill>
          <a:ln w="12700">
            <a:noFill/>
            <a:miter lim="400000"/>
          </a:ln>
        </p:spPr>
        <p:txBody>
          <a:bodyPr lIns="45719" rIns="45719" anchor="ctr"/>
          <a:lstStyle/>
          <a:p>
            <a:endParaRPr/>
          </a:p>
        </p:txBody>
      </p:sp>
      <p:pic>
        <p:nvPicPr>
          <p:cNvPr id="4" name="Picture 3" descr="Frontier Tech Leaders (@FTLeadersProg) / X">
            <a:extLst>
              <a:ext uri="{FF2B5EF4-FFF2-40B4-BE49-F238E27FC236}">
                <a16:creationId xmlns:a16="http://schemas.microsoft.com/office/drawing/2014/main" id="{359F01DF-476C-ABE5-6615-9903A04D1E16}"/>
              </a:ext>
            </a:extLst>
          </p:cNvPr>
          <p:cNvPicPr>
            <a:picLocks noChangeAspect="1"/>
          </p:cNvPicPr>
          <p:nvPr/>
        </p:nvPicPr>
        <p:blipFill>
          <a:blip r:embed="rId5"/>
          <a:stretch>
            <a:fillRect/>
          </a:stretch>
        </p:blipFill>
        <p:spPr>
          <a:xfrm>
            <a:off x="10668000" y="94470"/>
            <a:ext cx="1027893" cy="1027893"/>
          </a:xfrm>
          <a:prstGeom prst="rect">
            <a:avLst/>
          </a:prstGeom>
        </p:spPr>
      </p:pic>
    </p:spTree>
    <p:extLst>
      <p:ext uri="{BB962C8B-B14F-4D97-AF65-F5344CB8AC3E}">
        <p14:creationId xmlns:p14="http://schemas.microsoft.com/office/powerpoint/2010/main" val="90132169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9"/>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13"/>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10"/>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14"/>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grpId="0" nodeType="clickEffect">
                                  <p:stCondLst>
                                    <p:cond delay="0"/>
                                  </p:stCondLst>
                                  <p:childTnLst>
                                    <p:set>
                                      <p:cBhvr>
                                        <p:cTn id="22" dur="1" fill="hold">
                                          <p:stCondLst>
                                            <p:cond delay="0"/>
                                          </p:stCondLst>
                                        </p:cTn>
                                        <p:tgtEl>
                                          <p:spTgt spid="11"/>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nodeType="clickEffect">
                                  <p:stCondLst>
                                    <p:cond delay="0"/>
                                  </p:stCondLst>
                                  <p:childTnLst>
                                    <p:set>
                                      <p:cBhvr>
                                        <p:cTn id="26" dur="1" fill="hold">
                                          <p:stCondLst>
                                            <p:cond delay="0"/>
                                          </p:stCondLst>
                                        </p:cTn>
                                        <p:tgtEl>
                                          <p:spTgt spid="16"/>
                                        </p:tgtEl>
                                        <p:attrNameLst>
                                          <p:attrName>style.visibility</p:attrName>
                                        </p:attrNameLst>
                                      </p:cBhvr>
                                      <p:to>
                                        <p:strVal val="visible"/>
                                      </p:to>
                                    </p:set>
                                  </p:childTnLst>
                                </p:cTn>
                              </p:par>
                            </p:childTnLst>
                          </p:cTn>
                        </p:par>
                      </p:childTnLst>
                    </p:cTn>
                  </p:par>
                  <p:par>
                    <p:cTn id="27" fill="hold">
                      <p:stCondLst>
                        <p:cond delay="indefinite"/>
                      </p:stCondLst>
                      <p:childTnLst>
                        <p:par>
                          <p:cTn id="28" fill="hold">
                            <p:stCondLst>
                              <p:cond delay="0"/>
                            </p:stCondLst>
                            <p:childTnLst>
                              <p:par>
                                <p:cTn id="29" presetID="1" presetClass="entr" presetSubtype="0" fill="hold" grpId="0" nodeType="clickEffect">
                                  <p:stCondLst>
                                    <p:cond delay="0"/>
                                  </p:stCondLst>
                                  <p:childTnLst>
                                    <p:set>
                                      <p:cBhvr>
                                        <p:cTn id="30" dur="1" fill="hold">
                                          <p:stCondLst>
                                            <p:cond delay="0"/>
                                          </p:stCondLst>
                                        </p:cTn>
                                        <p:tgtEl>
                                          <p:spTgt spid="19"/>
                                        </p:tgtEl>
                                        <p:attrNameLst>
                                          <p:attrName>style.visibility</p:attrName>
                                        </p:attrNameLst>
                                      </p:cBhvr>
                                      <p:to>
                                        <p:strVal val="visible"/>
                                      </p:to>
                                    </p:set>
                                  </p:childTnLst>
                                </p:cTn>
                              </p:par>
                            </p:childTnLst>
                          </p:cTn>
                        </p:par>
                      </p:childTnLst>
                    </p:cTn>
                  </p:par>
                  <p:par>
                    <p:cTn id="31" fill="hold">
                      <p:stCondLst>
                        <p:cond delay="indefinite"/>
                      </p:stCondLst>
                      <p:childTnLst>
                        <p:par>
                          <p:cTn id="32" fill="hold">
                            <p:stCondLst>
                              <p:cond delay="0"/>
                            </p:stCondLst>
                            <p:childTnLst>
                              <p:par>
                                <p:cTn id="33" presetID="1" presetClass="entr" presetSubtype="0" fill="hold" nodeType="clickEffect">
                                  <p:stCondLst>
                                    <p:cond delay="0"/>
                                  </p:stCondLst>
                                  <p:childTnLst>
                                    <p:set>
                                      <p:cBhvr>
                                        <p:cTn id="34" dur="1" fill="hold">
                                          <p:stCondLst>
                                            <p:cond delay="0"/>
                                          </p:stCondLst>
                                        </p:cTn>
                                        <p:tgtEl>
                                          <p:spTgt spid="15"/>
                                        </p:tgtEl>
                                        <p:attrNameLst>
                                          <p:attrName>style.visibility</p:attrName>
                                        </p:attrNameLst>
                                      </p:cBhvr>
                                      <p:to>
                                        <p:strVal val="visible"/>
                                      </p:to>
                                    </p:set>
                                  </p:childTnLst>
                                </p:cTn>
                              </p:par>
                            </p:childTnLst>
                          </p:cTn>
                        </p:par>
                      </p:childTnLst>
                    </p:cTn>
                  </p:par>
                  <p:par>
                    <p:cTn id="35" fill="hold">
                      <p:stCondLst>
                        <p:cond delay="indefinite"/>
                      </p:stCondLst>
                      <p:childTnLst>
                        <p:par>
                          <p:cTn id="36" fill="hold">
                            <p:stCondLst>
                              <p:cond delay="0"/>
                            </p:stCondLst>
                            <p:childTnLst>
                              <p:par>
                                <p:cTn id="37" presetID="1" presetClass="entr" presetSubtype="0" fill="hold" grpId="0" nodeType="clickEffect">
                                  <p:stCondLst>
                                    <p:cond delay="0"/>
                                  </p:stCondLst>
                                  <p:childTnLst>
                                    <p:set>
                                      <p:cBhvr>
                                        <p:cTn id="38" dur="1" fill="hold">
                                          <p:stCondLst>
                                            <p:cond delay="0"/>
                                          </p:stCondLst>
                                        </p:cTn>
                                        <p:tgtEl>
                                          <p:spTgt spid="18"/>
                                        </p:tgtEl>
                                        <p:attrNameLst>
                                          <p:attrName>style.visibility</p:attrName>
                                        </p:attrNameLst>
                                      </p:cBhvr>
                                      <p:to>
                                        <p:strVal val="visible"/>
                                      </p:to>
                                    </p:set>
                                  </p:childTnLst>
                                </p:cTn>
                              </p:par>
                            </p:childTnLst>
                          </p:cTn>
                        </p:par>
                      </p:childTnLst>
                    </p:cTn>
                  </p:par>
                  <p:par>
                    <p:cTn id="39" fill="hold">
                      <p:stCondLst>
                        <p:cond delay="indefinite"/>
                      </p:stCondLst>
                      <p:childTnLst>
                        <p:par>
                          <p:cTn id="40" fill="hold">
                            <p:stCondLst>
                              <p:cond delay="0"/>
                            </p:stCondLst>
                            <p:childTnLst>
                              <p:par>
                                <p:cTn id="41" presetID="1" presetClass="entr" presetSubtype="0" fill="hold" grpId="0" nodeType="clickEffect">
                                  <p:stCondLst>
                                    <p:cond delay="0"/>
                                  </p:stCondLst>
                                  <p:childTnLst>
                                    <p:set>
                                      <p:cBhvr>
                                        <p:cTn id="42" dur="1" fill="hold">
                                          <p:stCondLst>
                                            <p:cond delay="0"/>
                                          </p:stCondLst>
                                        </p:cTn>
                                        <p:tgtEl>
                                          <p:spTgt spid="2"/>
                                        </p:tgtEl>
                                        <p:attrNameLst>
                                          <p:attrName>style.visibility</p:attrName>
                                        </p:attrNameLst>
                                      </p:cBhvr>
                                      <p:to>
                                        <p:strVal val="visible"/>
                                      </p:to>
                                    </p:set>
                                  </p:childTnLst>
                                </p:cTn>
                              </p:par>
                            </p:childTnLst>
                          </p:cTn>
                        </p:par>
                      </p:childTnLst>
                    </p:cTn>
                  </p:par>
                  <p:par>
                    <p:cTn id="43" fill="hold">
                      <p:stCondLst>
                        <p:cond delay="indefinite"/>
                      </p:stCondLst>
                      <p:childTnLst>
                        <p:par>
                          <p:cTn id="44" fill="hold">
                            <p:stCondLst>
                              <p:cond delay="0"/>
                            </p:stCondLst>
                            <p:childTnLst>
                              <p:par>
                                <p:cTn id="45" presetID="1" presetClass="entr" presetSubtype="0" fill="hold" grpId="0" nodeType="clickEffect">
                                  <p:stCondLst>
                                    <p:cond delay="0"/>
                                  </p:stCondLst>
                                  <p:childTnLst>
                                    <p:set>
                                      <p:cBhvr>
                                        <p:cTn id="46" dur="1" fill="hold">
                                          <p:stCondLst>
                                            <p:cond delay="0"/>
                                          </p:stCondLst>
                                        </p:cTn>
                                        <p:tgtEl>
                                          <p:spTgt spid="20"/>
                                        </p:tgtEl>
                                        <p:attrNameLst>
                                          <p:attrName>style.visibility</p:attrName>
                                        </p:attrNameLst>
                                      </p:cBhvr>
                                      <p:to>
                                        <p:strVal val="visible"/>
                                      </p:to>
                                    </p:set>
                                  </p:childTnLst>
                                </p:cTn>
                              </p:par>
                            </p:childTnLst>
                          </p:cTn>
                        </p:par>
                      </p:childTnLst>
                    </p:cTn>
                  </p:par>
                  <p:par>
                    <p:cTn id="47" fill="hold">
                      <p:stCondLst>
                        <p:cond delay="indefinite"/>
                      </p:stCondLst>
                      <p:childTnLst>
                        <p:par>
                          <p:cTn id="48" fill="hold">
                            <p:stCondLst>
                              <p:cond delay="0"/>
                            </p:stCondLst>
                            <p:childTnLst>
                              <p:par>
                                <p:cTn id="49" presetID="1" presetClass="entr" presetSubtype="0" fill="hold" nodeType="clickEffect">
                                  <p:stCondLst>
                                    <p:cond delay="0"/>
                                  </p:stCondLst>
                                  <p:childTnLst>
                                    <p:set>
                                      <p:cBhvr>
                                        <p:cTn id="50" dur="1" fill="hold">
                                          <p:stCondLst>
                                            <p:cond delay="0"/>
                                          </p:stCondLst>
                                        </p:cTn>
                                        <p:tgtEl>
                                          <p:spTgt spid="21"/>
                                        </p:tgtEl>
                                        <p:attrNameLst>
                                          <p:attrName>style.visibility</p:attrName>
                                        </p:attrNameLst>
                                      </p:cBhvr>
                                      <p:to>
                                        <p:strVal val="visible"/>
                                      </p:to>
                                    </p:set>
                                  </p:childTnLst>
                                </p:cTn>
                              </p:par>
                              <p:par>
                                <p:cTn id="51" presetID="1" presetClass="entr" presetSubtype="0" fill="hold" nodeType="withEffect">
                                  <p:stCondLst>
                                    <p:cond delay="0"/>
                                  </p:stCondLst>
                                  <p:childTnLst>
                                    <p:set>
                                      <p:cBhvr>
                                        <p:cTn id="52" dur="1" fill="hold">
                                          <p:stCondLst>
                                            <p:cond delay="0"/>
                                          </p:stCondLst>
                                        </p:cTn>
                                        <p:tgtEl>
                                          <p:spTgt spid="22"/>
                                        </p:tgtEl>
                                        <p:attrNameLst>
                                          <p:attrName>style.visibility</p:attrName>
                                        </p:attrNameLst>
                                      </p:cBhvr>
                                      <p:to>
                                        <p:strVal val="visible"/>
                                      </p:to>
                                    </p:set>
                                  </p:childTnLst>
                                </p:cTn>
                              </p:par>
                              <p:par>
                                <p:cTn id="53" presetID="1" presetClass="entr" presetSubtype="0" fill="hold" grpId="0" nodeType="withEffect">
                                  <p:stCondLst>
                                    <p:cond delay="0"/>
                                  </p:stCondLst>
                                  <p:childTnLst>
                                    <p:set>
                                      <p:cBhvr>
                                        <p:cTn id="54" dur="1" fill="hold">
                                          <p:stCondLst>
                                            <p:cond delay="0"/>
                                          </p:stCondLst>
                                        </p:cTn>
                                        <p:tgtEl>
                                          <p:spTgt spid="23"/>
                                        </p:tgtEl>
                                        <p:attrNameLst>
                                          <p:attrName>style.visibility</p:attrName>
                                        </p:attrNameLst>
                                      </p:cBhvr>
                                      <p:to>
                                        <p:strVal val="visible"/>
                                      </p:to>
                                    </p:set>
                                  </p:childTnLst>
                                </p:cTn>
                              </p:par>
                              <p:par>
                                <p:cTn id="55" presetID="1" presetClass="entr" presetSubtype="0" fill="hold" grpId="0" nodeType="withEffect">
                                  <p:stCondLst>
                                    <p:cond delay="0"/>
                                  </p:stCondLst>
                                  <p:childTnLst>
                                    <p:set>
                                      <p:cBhvr>
                                        <p:cTn id="56" dur="1" fill="hold">
                                          <p:stCondLst>
                                            <p:cond delay="0"/>
                                          </p:stCondLst>
                                        </p:cTn>
                                        <p:tgtEl>
                                          <p:spTgt spid="24"/>
                                        </p:tgtEl>
                                        <p:attrNameLst>
                                          <p:attrName>style.visibility</p:attrName>
                                        </p:attrNameLst>
                                      </p:cBhvr>
                                      <p:to>
                                        <p:strVal val="visible"/>
                                      </p:to>
                                    </p:set>
                                  </p:childTnLst>
                                </p:cTn>
                              </p:par>
                              <p:par>
                                <p:cTn id="57" presetID="1" presetClass="entr" presetSubtype="0" fill="hold" grpId="0" nodeType="withEffect">
                                  <p:stCondLst>
                                    <p:cond delay="0"/>
                                  </p:stCondLst>
                                  <p:childTnLst>
                                    <p:set>
                                      <p:cBhvr>
                                        <p:cTn id="58" dur="1" fill="hold">
                                          <p:stCondLst>
                                            <p:cond delay="0"/>
                                          </p:stCondLst>
                                        </p:cTn>
                                        <p:tgtEl>
                                          <p:spTgt spid="25"/>
                                        </p:tgtEl>
                                        <p:attrNameLst>
                                          <p:attrName>style.visibility</p:attrName>
                                        </p:attrNameLst>
                                      </p:cBhvr>
                                      <p:to>
                                        <p:strVal val="visible"/>
                                      </p:to>
                                    </p:set>
                                  </p:childTnLst>
                                </p:cTn>
                              </p:par>
                              <p:par>
                                <p:cTn id="59" presetID="1" presetClass="entr" presetSubtype="0" fill="hold" grpId="0" nodeType="withEffect">
                                  <p:stCondLst>
                                    <p:cond delay="0"/>
                                  </p:stCondLst>
                                  <p:childTnLst>
                                    <p:set>
                                      <p:cBhvr>
                                        <p:cTn id="60" dur="1" fill="hold">
                                          <p:stCondLst>
                                            <p:cond delay="0"/>
                                          </p:stCondLst>
                                        </p:cTn>
                                        <p:tgtEl>
                                          <p:spTgt spid="26"/>
                                        </p:tgtEl>
                                        <p:attrNameLst>
                                          <p:attrName>style.visibility</p:attrName>
                                        </p:attrNameLst>
                                      </p:cBhvr>
                                      <p:to>
                                        <p:strVal val="visible"/>
                                      </p:to>
                                    </p:set>
                                  </p:childTnLst>
                                </p:cTn>
                              </p:par>
                              <p:par>
                                <p:cTn id="61" presetID="1" presetClass="entr" presetSubtype="0" fill="hold" grpId="0" nodeType="withEffect">
                                  <p:stCondLst>
                                    <p:cond delay="0"/>
                                  </p:stCondLst>
                                  <p:childTnLst>
                                    <p:set>
                                      <p:cBhvr>
                                        <p:cTn id="62" dur="1" fill="hold">
                                          <p:stCondLst>
                                            <p:cond delay="0"/>
                                          </p:stCondLst>
                                        </p:cTn>
                                        <p:tgtEl>
                                          <p:spTgt spid="27"/>
                                        </p:tgtEl>
                                        <p:attrNameLst>
                                          <p:attrName>style.visibility</p:attrName>
                                        </p:attrNameLst>
                                      </p:cBhvr>
                                      <p:to>
                                        <p:strVal val="visible"/>
                                      </p:to>
                                    </p:set>
                                  </p:childTnLst>
                                </p:cTn>
                              </p:par>
                              <p:par>
                                <p:cTn id="63" presetID="1" presetClass="entr" presetSubtype="0" fill="hold" grpId="0" nodeType="withEffect">
                                  <p:stCondLst>
                                    <p:cond delay="0"/>
                                  </p:stCondLst>
                                  <p:childTnLst>
                                    <p:set>
                                      <p:cBhvr>
                                        <p:cTn id="64" dur="1" fill="hold">
                                          <p:stCondLst>
                                            <p:cond delay="0"/>
                                          </p:stCondLst>
                                        </p:cTn>
                                        <p:tgtEl>
                                          <p:spTgt spid="28"/>
                                        </p:tgtEl>
                                        <p:attrNameLst>
                                          <p:attrName>style.visibility</p:attrName>
                                        </p:attrNameLst>
                                      </p:cBhvr>
                                      <p:to>
                                        <p:strVal val="visible"/>
                                      </p:to>
                                    </p:set>
                                  </p:childTnLst>
                                </p:cTn>
                              </p:par>
                              <p:par>
                                <p:cTn id="65" presetID="1" presetClass="entr" presetSubtype="0" fill="hold" grpId="0" nodeType="withEffect">
                                  <p:stCondLst>
                                    <p:cond delay="0"/>
                                  </p:stCondLst>
                                  <p:childTnLst>
                                    <p:set>
                                      <p:cBhvr>
                                        <p:cTn id="66" dur="1" fill="hold">
                                          <p:stCondLst>
                                            <p:cond delay="0"/>
                                          </p:stCondLst>
                                        </p:cTn>
                                        <p:tgtEl>
                                          <p:spTgt spid="29"/>
                                        </p:tgtEl>
                                        <p:attrNameLst>
                                          <p:attrName>style.visibility</p:attrName>
                                        </p:attrNameLst>
                                      </p:cBhvr>
                                      <p:to>
                                        <p:strVal val="visible"/>
                                      </p:to>
                                    </p:set>
                                  </p:childTnLst>
                                </p:cTn>
                              </p:par>
                              <p:par>
                                <p:cTn id="67" presetID="1" presetClass="entr" presetSubtype="0" fill="hold" grpId="0" nodeType="withEffect">
                                  <p:stCondLst>
                                    <p:cond delay="0"/>
                                  </p:stCondLst>
                                  <p:childTnLst>
                                    <p:set>
                                      <p:cBhvr>
                                        <p:cTn id="68" dur="1" fill="hold">
                                          <p:stCondLst>
                                            <p:cond delay="0"/>
                                          </p:stCondLst>
                                        </p:cTn>
                                        <p:tgtEl>
                                          <p:spTgt spid="30"/>
                                        </p:tgtEl>
                                        <p:attrNameLst>
                                          <p:attrName>style.visibility</p:attrName>
                                        </p:attrNameLst>
                                      </p:cBhvr>
                                      <p:to>
                                        <p:strVal val="visible"/>
                                      </p:to>
                                    </p:set>
                                  </p:childTnLst>
                                </p:cTn>
                              </p:par>
                              <p:par>
                                <p:cTn id="69" presetID="1" presetClass="entr" presetSubtype="0" fill="hold" nodeType="withEffect">
                                  <p:stCondLst>
                                    <p:cond delay="0"/>
                                  </p:stCondLst>
                                  <p:childTnLst>
                                    <p:set>
                                      <p:cBhvr>
                                        <p:cTn id="70" dur="1" fill="hold">
                                          <p:stCondLst>
                                            <p:cond delay="0"/>
                                          </p:stCondLst>
                                        </p:cTn>
                                        <p:tgtEl>
                                          <p:spTgt spid="32"/>
                                        </p:tgtEl>
                                        <p:attrNameLst>
                                          <p:attrName>style.visibility</p:attrName>
                                        </p:attrNameLst>
                                      </p:cBhvr>
                                      <p:to>
                                        <p:strVal val="visible"/>
                                      </p:to>
                                    </p:set>
                                  </p:childTnLst>
                                </p:cTn>
                              </p:par>
                              <p:par>
                                <p:cTn id="71" presetID="1" presetClass="entr" presetSubtype="0" fill="hold" grpId="0" nodeType="withEffect">
                                  <p:stCondLst>
                                    <p:cond delay="0"/>
                                  </p:stCondLst>
                                  <p:childTnLst>
                                    <p:set>
                                      <p:cBhvr>
                                        <p:cTn id="72" dur="1" fill="hold">
                                          <p:stCondLst>
                                            <p:cond delay="0"/>
                                          </p:stCondLst>
                                        </p:cTn>
                                        <p:tgtEl>
                                          <p:spTgt spid="33"/>
                                        </p:tgtEl>
                                        <p:attrNameLst>
                                          <p:attrName>style.visibility</p:attrName>
                                        </p:attrNameLst>
                                      </p:cBhvr>
                                      <p:to>
                                        <p:strVal val="visible"/>
                                      </p:to>
                                    </p:set>
                                  </p:childTnLst>
                                </p:cTn>
                              </p:par>
                              <p:par>
                                <p:cTn id="73" presetID="1" presetClass="entr" presetSubtype="0" fill="hold" grpId="0" nodeType="withEffect">
                                  <p:stCondLst>
                                    <p:cond delay="0"/>
                                  </p:stCondLst>
                                  <p:childTnLst>
                                    <p:set>
                                      <p:cBhvr>
                                        <p:cTn id="74" dur="1" fill="hold">
                                          <p:stCondLst>
                                            <p:cond delay="0"/>
                                          </p:stCondLst>
                                        </p:cTn>
                                        <p:tgtEl>
                                          <p:spTgt spid="34"/>
                                        </p:tgtEl>
                                        <p:attrNameLst>
                                          <p:attrName>style.visibility</p:attrName>
                                        </p:attrNameLst>
                                      </p:cBhvr>
                                      <p:to>
                                        <p:strVal val="visible"/>
                                      </p:to>
                                    </p:set>
                                  </p:childTnLst>
                                </p:cTn>
                              </p:par>
                              <p:par>
                                <p:cTn id="75" presetID="1" presetClass="entr" presetSubtype="0" fill="hold" grpId="0" nodeType="withEffect">
                                  <p:stCondLst>
                                    <p:cond delay="0"/>
                                  </p:stCondLst>
                                  <p:childTnLst>
                                    <p:set>
                                      <p:cBhvr>
                                        <p:cTn id="76" dur="1" fill="hold">
                                          <p:stCondLst>
                                            <p:cond delay="0"/>
                                          </p:stCondLst>
                                        </p:cTn>
                                        <p:tgtEl>
                                          <p:spTgt spid="36"/>
                                        </p:tgtEl>
                                        <p:attrNameLst>
                                          <p:attrName>style.visibility</p:attrName>
                                        </p:attrNameLst>
                                      </p:cBhvr>
                                      <p:to>
                                        <p:strVal val="visible"/>
                                      </p:to>
                                    </p:set>
                                  </p:childTnLst>
                                </p:cTn>
                              </p:par>
                              <p:par>
                                <p:cTn id="77" presetID="1" presetClass="entr" presetSubtype="0" fill="hold" grpId="0" nodeType="withEffect">
                                  <p:stCondLst>
                                    <p:cond delay="0"/>
                                  </p:stCondLst>
                                  <p:childTnLst>
                                    <p:set>
                                      <p:cBhvr>
                                        <p:cTn id="78" dur="1" fill="hold">
                                          <p:stCondLst>
                                            <p:cond delay="0"/>
                                          </p:stCondLst>
                                        </p:cTn>
                                        <p:tgtEl>
                                          <p:spTgt spid="37"/>
                                        </p:tgtEl>
                                        <p:attrNameLst>
                                          <p:attrName>style.visibility</p:attrName>
                                        </p:attrNameLst>
                                      </p:cBhvr>
                                      <p:to>
                                        <p:strVal val="visible"/>
                                      </p:to>
                                    </p:set>
                                  </p:childTnLst>
                                </p:cTn>
                              </p:par>
                              <p:par>
                                <p:cTn id="79" presetID="1" presetClass="entr" presetSubtype="0" fill="hold" grpId="0" nodeType="withEffect">
                                  <p:stCondLst>
                                    <p:cond delay="0"/>
                                  </p:stCondLst>
                                  <p:childTnLst>
                                    <p:set>
                                      <p:cBhvr>
                                        <p:cTn id="80" dur="1" fill="hold">
                                          <p:stCondLst>
                                            <p:cond delay="0"/>
                                          </p:stCondLst>
                                        </p:cTn>
                                        <p:tgtEl>
                                          <p:spTgt spid="38"/>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animBg="1"/>
      <p:bldP spid="9" grpId="0" animBg="1"/>
      <p:bldP spid="10" grpId="0" animBg="1"/>
      <p:bldP spid="11" grpId="0" animBg="1"/>
      <p:bldP spid="18" grpId="0"/>
      <p:bldP spid="19" grpId="0"/>
      <p:bldP spid="20" grpId="0"/>
      <p:bldP spid="23" grpId="0" animBg="1"/>
      <p:bldP spid="24" grpId="0" animBg="1"/>
      <p:bldP spid="25" grpId="0" animBg="1"/>
      <p:bldP spid="26" grpId="0" animBg="1"/>
      <p:bldP spid="27" grpId="0" animBg="1"/>
      <p:bldP spid="28" grpId="0" animBg="1"/>
      <p:bldP spid="29" grpId="0" animBg="1"/>
      <p:bldP spid="30" grpId="0" animBg="1"/>
      <p:bldP spid="33" grpId="0"/>
      <p:bldP spid="34" grpId="0"/>
      <p:bldP spid="36" grpId="0"/>
      <p:bldP spid="37" grpId="0"/>
      <p:bldP spid="38" grpId="0"/>
    </p:bldLst>
  </p:timing>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0" name="Double Wave 89">
            <a:extLst>
              <a:ext uri="{FF2B5EF4-FFF2-40B4-BE49-F238E27FC236}">
                <a16:creationId xmlns:a16="http://schemas.microsoft.com/office/drawing/2014/main" id="{7ECC193A-0A2B-9A10-E948-EB464EAADAC8}"/>
              </a:ext>
            </a:extLst>
          </p:cNvPr>
          <p:cNvSpPr/>
          <p:nvPr/>
        </p:nvSpPr>
        <p:spPr>
          <a:xfrm>
            <a:off x="8160113" y="419386"/>
            <a:ext cx="3912717" cy="2794053"/>
          </a:xfrm>
          <a:prstGeom prst="doubleWave">
            <a:avLst/>
          </a:prstGeom>
        </p:spPr>
        <p:style>
          <a:lnRef idx="1">
            <a:schemeClr val="accent3"/>
          </a:lnRef>
          <a:fillRef idx="2">
            <a:schemeClr val="accent3"/>
          </a:fillRef>
          <a:effectRef idx="1">
            <a:schemeClr val="accent3"/>
          </a:effectRef>
          <a:fontRef idx="minor">
            <a:schemeClr val="dk1"/>
          </a:fontRef>
        </p:style>
        <p:txBody>
          <a:bodyPr rtlCol="0" anchor="ctr"/>
          <a:lstStyle/>
          <a:p>
            <a:pPr algn="ctr"/>
            <a:endParaRPr lang="en-US"/>
          </a:p>
        </p:txBody>
      </p:sp>
      <p:sp>
        <p:nvSpPr>
          <p:cNvPr id="2" name="Title 1">
            <a:extLst>
              <a:ext uri="{FF2B5EF4-FFF2-40B4-BE49-F238E27FC236}">
                <a16:creationId xmlns:a16="http://schemas.microsoft.com/office/drawing/2014/main" id="{E9CB6779-B942-8558-8D54-FC2790F29BF8}"/>
              </a:ext>
            </a:extLst>
          </p:cNvPr>
          <p:cNvSpPr>
            <a:spLocks noGrp="1"/>
          </p:cNvSpPr>
          <p:nvPr>
            <p:ph type="title"/>
          </p:nvPr>
        </p:nvSpPr>
        <p:spPr/>
        <p:txBody>
          <a:bodyPr/>
          <a:lstStyle/>
          <a:p>
            <a:pPr algn="ctr"/>
            <a:r>
              <a:rPr lang="tr-TR" dirty="0" err="1"/>
              <a:t>Cost</a:t>
            </a:r>
            <a:r>
              <a:rPr lang="tr-TR" dirty="0"/>
              <a:t> </a:t>
            </a:r>
            <a:r>
              <a:rPr lang="tr-TR" dirty="0" err="1"/>
              <a:t>Function</a:t>
            </a:r>
            <a:endParaRPr lang="en-US" dirty="0"/>
          </a:p>
        </p:txBody>
      </p:sp>
      <p:cxnSp>
        <p:nvCxnSpPr>
          <p:cNvPr id="6" name="Straight Arrow Connector 5">
            <a:extLst>
              <a:ext uri="{FF2B5EF4-FFF2-40B4-BE49-F238E27FC236}">
                <a16:creationId xmlns:a16="http://schemas.microsoft.com/office/drawing/2014/main" id="{840F7603-CD56-0AD3-782C-DCFEB05D38B0}"/>
              </a:ext>
            </a:extLst>
          </p:cNvPr>
          <p:cNvCxnSpPr>
            <a:cxnSpLocks/>
          </p:cNvCxnSpPr>
          <p:nvPr/>
        </p:nvCxnSpPr>
        <p:spPr>
          <a:xfrm flipV="1">
            <a:off x="1379594" y="3580512"/>
            <a:ext cx="0" cy="2035504"/>
          </a:xfrm>
          <a:prstGeom prst="straightConnector1">
            <a:avLst/>
          </a:prstGeom>
          <a:ln w="38100">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7" name="Straight Arrow Connector 6">
            <a:extLst>
              <a:ext uri="{FF2B5EF4-FFF2-40B4-BE49-F238E27FC236}">
                <a16:creationId xmlns:a16="http://schemas.microsoft.com/office/drawing/2014/main" id="{F8A15126-068E-AD07-53D9-3B8663C84306}"/>
              </a:ext>
            </a:extLst>
          </p:cNvPr>
          <p:cNvCxnSpPr>
            <a:cxnSpLocks/>
          </p:cNvCxnSpPr>
          <p:nvPr/>
        </p:nvCxnSpPr>
        <p:spPr>
          <a:xfrm>
            <a:off x="1253787" y="5498111"/>
            <a:ext cx="2603803" cy="0"/>
          </a:xfrm>
          <a:prstGeom prst="straightConnector1">
            <a:avLst/>
          </a:prstGeom>
          <a:ln w="38100">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14" name="Straight Connector 13">
            <a:extLst>
              <a:ext uri="{FF2B5EF4-FFF2-40B4-BE49-F238E27FC236}">
                <a16:creationId xmlns:a16="http://schemas.microsoft.com/office/drawing/2014/main" id="{0CE2E333-04F3-1F44-AE08-FA1E88E9994F}"/>
              </a:ext>
            </a:extLst>
          </p:cNvPr>
          <p:cNvCxnSpPr/>
          <p:nvPr/>
        </p:nvCxnSpPr>
        <p:spPr>
          <a:xfrm>
            <a:off x="1886900" y="5403518"/>
            <a:ext cx="0" cy="189186"/>
          </a:xfrm>
          <a:prstGeom prst="line">
            <a:avLst/>
          </a:prstGeom>
          <a:ln w="381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5" name="Straight Connector 14">
            <a:extLst>
              <a:ext uri="{FF2B5EF4-FFF2-40B4-BE49-F238E27FC236}">
                <a16:creationId xmlns:a16="http://schemas.microsoft.com/office/drawing/2014/main" id="{376E1F87-9D21-CBD3-861C-9A34A936B032}"/>
              </a:ext>
            </a:extLst>
          </p:cNvPr>
          <p:cNvCxnSpPr/>
          <p:nvPr/>
        </p:nvCxnSpPr>
        <p:spPr>
          <a:xfrm>
            <a:off x="2725735" y="5426830"/>
            <a:ext cx="0" cy="189186"/>
          </a:xfrm>
          <a:prstGeom prst="line">
            <a:avLst/>
          </a:prstGeom>
          <a:ln w="381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6" name="Straight Connector 15">
            <a:extLst>
              <a:ext uri="{FF2B5EF4-FFF2-40B4-BE49-F238E27FC236}">
                <a16:creationId xmlns:a16="http://schemas.microsoft.com/office/drawing/2014/main" id="{E3F99F08-0504-6637-A76C-028F4719B5C9}"/>
              </a:ext>
            </a:extLst>
          </p:cNvPr>
          <p:cNvCxnSpPr/>
          <p:nvPr/>
        </p:nvCxnSpPr>
        <p:spPr>
          <a:xfrm>
            <a:off x="3532404" y="5412546"/>
            <a:ext cx="0" cy="189186"/>
          </a:xfrm>
          <a:prstGeom prst="line">
            <a:avLst/>
          </a:prstGeom>
          <a:ln w="381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7" name="Straight Connector 16">
            <a:extLst>
              <a:ext uri="{FF2B5EF4-FFF2-40B4-BE49-F238E27FC236}">
                <a16:creationId xmlns:a16="http://schemas.microsoft.com/office/drawing/2014/main" id="{886B806E-1354-FE63-D080-45A9C0FD3994}"/>
              </a:ext>
            </a:extLst>
          </p:cNvPr>
          <p:cNvCxnSpPr>
            <a:cxnSpLocks/>
          </p:cNvCxnSpPr>
          <p:nvPr/>
        </p:nvCxnSpPr>
        <p:spPr>
          <a:xfrm flipH="1">
            <a:off x="1253787" y="5061546"/>
            <a:ext cx="251613" cy="0"/>
          </a:xfrm>
          <a:prstGeom prst="line">
            <a:avLst/>
          </a:prstGeom>
          <a:ln w="381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8" name="Straight Connector 17">
            <a:extLst>
              <a:ext uri="{FF2B5EF4-FFF2-40B4-BE49-F238E27FC236}">
                <a16:creationId xmlns:a16="http://schemas.microsoft.com/office/drawing/2014/main" id="{AE5EC051-F08B-4813-54C3-28DF95543329}"/>
              </a:ext>
            </a:extLst>
          </p:cNvPr>
          <p:cNvCxnSpPr>
            <a:cxnSpLocks/>
          </p:cNvCxnSpPr>
          <p:nvPr/>
        </p:nvCxnSpPr>
        <p:spPr>
          <a:xfrm flipH="1">
            <a:off x="1253787" y="4497001"/>
            <a:ext cx="251613" cy="0"/>
          </a:xfrm>
          <a:prstGeom prst="line">
            <a:avLst/>
          </a:prstGeom>
          <a:ln w="381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9" name="Straight Connector 18">
            <a:extLst>
              <a:ext uri="{FF2B5EF4-FFF2-40B4-BE49-F238E27FC236}">
                <a16:creationId xmlns:a16="http://schemas.microsoft.com/office/drawing/2014/main" id="{77F8E730-7879-765A-580D-19D053CEF671}"/>
              </a:ext>
            </a:extLst>
          </p:cNvPr>
          <p:cNvCxnSpPr>
            <a:cxnSpLocks/>
          </p:cNvCxnSpPr>
          <p:nvPr/>
        </p:nvCxnSpPr>
        <p:spPr>
          <a:xfrm flipH="1">
            <a:off x="1245722" y="4018780"/>
            <a:ext cx="251613" cy="0"/>
          </a:xfrm>
          <a:prstGeom prst="line">
            <a:avLst/>
          </a:prstGeom>
          <a:ln w="38100">
            <a:solidFill>
              <a:schemeClr val="tx1"/>
            </a:solidFill>
          </a:ln>
        </p:spPr>
        <p:style>
          <a:lnRef idx="1">
            <a:schemeClr val="accent1"/>
          </a:lnRef>
          <a:fillRef idx="0">
            <a:schemeClr val="accent1"/>
          </a:fillRef>
          <a:effectRef idx="0">
            <a:schemeClr val="accent1"/>
          </a:effectRef>
          <a:fontRef idx="minor">
            <a:schemeClr val="tx1"/>
          </a:fontRef>
        </p:style>
      </p:cxnSp>
      <p:sp>
        <p:nvSpPr>
          <p:cNvPr id="20" name="TextBox 19">
            <a:extLst>
              <a:ext uri="{FF2B5EF4-FFF2-40B4-BE49-F238E27FC236}">
                <a16:creationId xmlns:a16="http://schemas.microsoft.com/office/drawing/2014/main" id="{E2FE785E-3BFE-51C4-6378-6EB15600D201}"/>
              </a:ext>
            </a:extLst>
          </p:cNvPr>
          <p:cNvSpPr txBox="1"/>
          <p:nvPr/>
        </p:nvSpPr>
        <p:spPr>
          <a:xfrm>
            <a:off x="1209503" y="5521423"/>
            <a:ext cx="313730" cy="461665"/>
          </a:xfrm>
          <a:prstGeom prst="rect">
            <a:avLst/>
          </a:prstGeom>
          <a:noFill/>
        </p:spPr>
        <p:txBody>
          <a:bodyPr wrap="square" rtlCol="0">
            <a:spAutoFit/>
          </a:bodyPr>
          <a:lstStyle/>
          <a:p>
            <a:r>
              <a:rPr lang="tr-TR" sz="2400" dirty="0"/>
              <a:t>0</a:t>
            </a:r>
            <a:endParaRPr lang="en-US" sz="2400" dirty="0"/>
          </a:p>
        </p:txBody>
      </p:sp>
      <p:sp>
        <p:nvSpPr>
          <p:cNvPr id="21" name="TextBox 20">
            <a:extLst>
              <a:ext uri="{FF2B5EF4-FFF2-40B4-BE49-F238E27FC236}">
                <a16:creationId xmlns:a16="http://schemas.microsoft.com/office/drawing/2014/main" id="{6E9DBCC0-D1FF-C066-6D9F-0598A1881CA6}"/>
              </a:ext>
            </a:extLst>
          </p:cNvPr>
          <p:cNvSpPr txBox="1"/>
          <p:nvPr/>
        </p:nvSpPr>
        <p:spPr>
          <a:xfrm>
            <a:off x="1707341" y="5521423"/>
            <a:ext cx="313730" cy="461665"/>
          </a:xfrm>
          <a:prstGeom prst="rect">
            <a:avLst/>
          </a:prstGeom>
          <a:noFill/>
        </p:spPr>
        <p:txBody>
          <a:bodyPr wrap="square" rtlCol="0">
            <a:spAutoFit/>
          </a:bodyPr>
          <a:lstStyle/>
          <a:p>
            <a:r>
              <a:rPr lang="tr-TR" sz="2400" dirty="0"/>
              <a:t>1</a:t>
            </a:r>
            <a:endParaRPr lang="en-US" sz="2400" dirty="0"/>
          </a:p>
        </p:txBody>
      </p:sp>
      <p:sp>
        <p:nvSpPr>
          <p:cNvPr id="22" name="TextBox 21">
            <a:extLst>
              <a:ext uri="{FF2B5EF4-FFF2-40B4-BE49-F238E27FC236}">
                <a16:creationId xmlns:a16="http://schemas.microsoft.com/office/drawing/2014/main" id="{921C1528-9C0B-0D87-F152-BA9604BBD142}"/>
              </a:ext>
            </a:extLst>
          </p:cNvPr>
          <p:cNvSpPr txBox="1"/>
          <p:nvPr/>
        </p:nvSpPr>
        <p:spPr>
          <a:xfrm>
            <a:off x="2536704" y="5521423"/>
            <a:ext cx="313730" cy="461665"/>
          </a:xfrm>
          <a:prstGeom prst="rect">
            <a:avLst/>
          </a:prstGeom>
          <a:noFill/>
        </p:spPr>
        <p:txBody>
          <a:bodyPr wrap="square" rtlCol="0">
            <a:spAutoFit/>
          </a:bodyPr>
          <a:lstStyle/>
          <a:p>
            <a:r>
              <a:rPr lang="tr-TR" sz="2400" dirty="0"/>
              <a:t>2</a:t>
            </a:r>
            <a:endParaRPr lang="en-US" sz="2400" dirty="0"/>
          </a:p>
        </p:txBody>
      </p:sp>
      <p:sp>
        <p:nvSpPr>
          <p:cNvPr id="23" name="TextBox 22">
            <a:extLst>
              <a:ext uri="{FF2B5EF4-FFF2-40B4-BE49-F238E27FC236}">
                <a16:creationId xmlns:a16="http://schemas.microsoft.com/office/drawing/2014/main" id="{206FDC18-338B-A9BE-854D-3A8DD27F05C9}"/>
              </a:ext>
            </a:extLst>
          </p:cNvPr>
          <p:cNvSpPr txBox="1"/>
          <p:nvPr/>
        </p:nvSpPr>
        <p:spPr>
          <a:xfrm>
            <a:off x="3398233" y="5521423"/>
            <a:ext cx="313730" cy="461665"/>
          </a:xfrm>
          <a:prstGeom prst="rect">
            <a:avLst/>
          </a:prstGeom>
          <a:noFill/>
        </p:spPr>
        <p:txBody>
          <a:bodyPr wrap="square" rtlCol="0">
            <a:spAutoFit/>
          </a:bodyPr>
          <a:lstStyle/>
          <a:p>
            <a:r>
              <a:rPr lang="tr-TR" sz="2400" dirty="0"/>
              <a:t>3</a:t>
            </a:r>
            <a:endParaRPr lang="en-US" sz="2400" dirty="0"/>
          </a:p>
        </p:txBody>
      </p:sp>
      <p:sp>
        <p:nvSpPr>
          <p:cNvPr id="26" name="TextBox 25">
            <a:extLst>
              <a:ext uri="{FF2B5EF4-FFF2-40B4-BE49-F238E27FC236}">
                <a16:creationId xmlns:a16="http://schemas.microsoft.com/office/drawing/2014/main" id="{5CB2B689-F320-039B-A62C-461105AA0F33}"/>
              </a:ext>
            </a:extLst>
          </p:cNvPr>
          <p:cNvSpPr txBox="1"/>
          <p:nvPr/>
        </p:nvSpPr>
        <p:spPr>
          <a:xfrm>
            <a:off x="924680" y="5267278"/>
            <a:ext cx="313730" cy="461665"/>
          </a:xfrm>
          <a:prstGeom prst="rect">
            <a:avLst/>
          </a:prstGeom>
          <a:noFill/>
        </p:spPr>
        <p:txBody>
          <a:bodyPr wrap="square" rtlCol="0">
            <a:spAutoFit/>
          </a:bodyPr>
          <a:lstStyle/>
          <a:p>
            <a:r>
              <a:rPr lang="tr-TR" sz="2400" dirty="0"/>
              <a:t>0</a:t>
            </a:r>
            <a:endParaRPr lang="en-US" sz="2400" dirty="0"/>
          </a:p>
        </p:txBody>
      </p:sp>
      <p:sp>
        <p:nvSpPr>
          <p:cNvPr id="27" name="TextBox 26">
            <a:extLst>
              <a:ext uri="{FF2B5EF4-FFF2-40B4-BE49-F238E27FC236}">
                <a16:creationId xmlns:a16="http://schemas.microsoft.com/office/drawing/2014/main" id="{26F93351-E81B-87D6-5317-0541CF98E9C9}"/>
              </a:ext>
            </a:extLst>
          </p:cNvPr>
          <p:cNvSpPr txBox="1"/>
          <p:nvPr/>
        </p:nvSpPr>
        <p:spPr>
          <a:xfrm>
            <a:off x="924680" y="4817270"/>
            <a:ext cx="313730" cy="461665"/>
          </a:xfrm>
          <a:prstGeom prst="rect">
            <a:avLst/>
          </a:prstGeom>
          <a:noFill/>
        </p:spPr>
        <p:txBody>
          <a:bodyPr wrap="square" rtlCol="0">
            <a:spAutoFit/>
          </a:bodyPr>
          <a:lstStyle/>
          <a:p>
            <a:r>
              <a:rPr lang="tr-TR" sz="2400" dirty="0"/>
              <a:t>1</a:t>
            </a:r>
            <a:endParaRPr lang="en-US" sz="2400" dirty="0"/>
          </a:p>
        </p:txBody>
      </p:sp>
      <p:sp>
        <p:nvSpPr>
          <p:cNvPr id="28" name="TextBox 27">
            <a:extLst>
              <a:ext uri="{FF2B5EF4-FFF2-40B4-BE49-F238E27FC236}">
                <a16:creationId xmlns:a16="http://schemas.microsoft.com/office/drawing/2014/main" id="{ACAF5F21-9EBB-1055-2866-010FB37612DB}"/>
              </a:ext>
            </a:extLst>
          </p:cNvPr>
          <p:cNvSpPr txBox="1"/>
          <p:nvPr/>
        </p:nvSpPr>
        <p:spPr>
          <a:xfrm>
            <a:off x="924680" y="4266168"/>
            <a:ext cx="313730" cy="461665"/>
          </a:xfrm>
          <a:prstGeom prst="rect">
            <a:avLst/>
          </a:prstGeom>
          <a:noFill/>
        </p:spPr>
        <p:txBody>
          <a:bodyPr wrap="square" rtlCol="0">
            <a:spAutoFit/>
          </a:bodyPr>
          <a:lstStyle/>
          <a:p>
            <a:r>
              <a:rPr lang="tr-TR" sz="2400" dirty="0"/>
              <a:t>2</a:t>
            </a:r>
            <a:endParaRPr lang="en-US" sz="2400" dirty="0"/>
          </a:p>
        </p:txBody>
      </p:sp>
      <p:sp>
        <p:nvSpPr>
          <p:cNvPr id="29" name="TextBox 28">
            <a:extLst>
              <a:ext uri="{FF2B5EF4-FFF2-40B4-BE49-F238E27FC236}">
                <a16:creationId xmlns:a16="http://schemas.microsoft.com/office/drawing/2014/main" id="{BBB2B555-C2CB-745B-B56E-94EF4608CC9E}"/>
              </a:ext>
            </a:extLst>
          </p:cNvPr>
          <p:cNvSpPr txBox="1"/>
          <p:nvPr/>
        </p:nvSpPr>
        <p:spPr>
          <a:xfrm>
            <a:off x="924680" y="3731356"/>
            <a:ext cx="313730" cy="461665"/>
          </a:xfrm>
          <a:prstGeom prst="rect">
            <a:avLst/>
          </a:prstGeom>
          <a:noFill/>
        </p:spPr>
        <p:txBody>
          <a:bodyPr wrap="square" rtlCol="0">
            <a:spAutoFit/>
          </a:bodyPr>
          <a:lstStyle/>
          <a:p>
            <a:r>
              <a:rPr lang="tr-TR" sz="2400" dirty="0"/>
              <a:t>3</a:t>
            </a:r>
            <a:endParaRPr lang="en-US" sz="2400" dirty="0"/>
          </a:p>
        </p:txBody>
      </p:sp>
      <p:cxnSp>
        <p:nvCxnSpPr>
          <p:cNvPr id="30" name="Straight Arrow Connector 29">
            <a:extLst>
              <a:ext uri="{FF2B5EF4-FFF2-40B4-BE49-F238E27FC236}">
                <a16:creationId xmlns:a16="http://schemas.microsoft.com/office/drawing/2014/main" id="{116CC4E6-DFEB-F787-9C2C-FBBE8FD4B700}"/>
              </a:ext>
            </a:extLst>
          </p:cNvPr>
          <p:cNvCxnSpPr>
            <a:cxnSpLocks/>
          </p:cNvCxnSpPr>
          <p:nvPr/>
        </p:nvCxnSpPr>
        <p:spPr>
          <a:xfrm flipV="1">
            <a:off x="4835595" y="3580512"/>
            <a:ext cx="0" cy="2035504"/>
          </a:xfrm>
          <a:prstGeom prst="straightConnector1">
            <a:avLst/>
          </a:prstGeom>
          <a:ln w="38100">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31" name="Straight Arrow Connector 30">
            <a:extLst>
              <a:ext uri="{FF2B5EF4-FFF2-40B4-BE49-F238E27FC236}">
                <a16:creationId xmlns:a16="http://schemas.microsoft.com/office/drawing/2014/main" id="{F3517FDD-93D2-5901-9CAE-17665E4B528A}"/>
              </a:ext>
            </a:extLst>
          </p:cNvPr>
          <p:cNvCxnSpPr>
            <a:cxnSpLocks/>
          </p:cNvCxnSpPr>
          <p:nvPr/>
        </p:nvCxnSpPr>
        <p:spPr>
          <a:xfrm>
            <a:off x="4709788" y="5498111"/>
            <a:ext cx="2603803" cy="0"/>
          </a:xfrm>
          <a:prstGeom prst="straightConnector1">
            <a:avLst/>
          </a:prstGeom>
          <a:ln w="38100">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32" name="Straight Connector 31">
            <a:extLst>
              <a:ext uri="{FF2B5EF4-FFF2-40B4-BE49-F238E27FC236}">
                <a16:creationId xmlns:a16="http://schemas.microsoft.com/office/drawing/2014/main" id="{1B1FCC60-6F23-ABE8-B316-FF2BFFE1D64C}"/>
              </a:ext>
            </a:extLst>
          </p:cNvPr>
          <p:cNvCxnSpPr/>
          <p:nvPr/>
        </p:nvCxnSpPr>
        <p:spPr>
          <a:xfrm>
            <a:off x="5342901" y="5403518"/>
            <a:ext cx="0" cy="189186"/>
          </a:xfrm>
          <a:prstGeom prst="line">
            <a:avLst/>
          </a:prstGeom>
          <a:ln w="381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33" name="Straight Connector 32">
            <a:extLst>
              <a:ext uri="{FF2B5EF4-FFF2-40B4-BE49-F238E27FC236}">
                <a16:creationId xmlns:a16="http://schemas.microsoft.com/office/drawing/2014/main" id="{6A8B8F82-77F2-7237-8658-3E9EF829DB85}"/>
              </a:ext>
            </a:extLst>
          </p:cNvPr>
          <p:cNvCxnSpPr/>
          <p:nvPr/>
        </p:nvCxnSpPr>
        <p:spPr>
          <a:xfrm>
            <a:off x="6181736" y="5426830"/>
            <a:ext cx="0" cy="189186"/>
          </a:xfrm>
          <a:prstGeom prst="line">
            <a:avLst/>
          </a:prstGeom>
          <a:ln w="381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34" name="Straight Connector 33">
            <a:extLst>
              <a:ext uri="{FF2B5EF4-FFF2-40B4-BE49-F238E27FC236}">
                <a16:creationId xmlns:a16="http://schemas.microsoft.com/office/drawing/2014/main" id="{6EA53FAA-F187-23AE-C593-D81A35A14794}"/>
              </a:ext>
            </a:extLst>
          </p:cNvPr>
          <p:cNvCxnSpPr/>
          <p:nvPr/>
        </p:nvCxnSpPr>
        <p:spPr>
          <a:xfrm>
            <a:off x="6988405" y="5412546"/>
            <a:ext cx="0" cy="189186"/>
          </a:xfrm>
          <a:prstGeom prst="line">
            <a:avLst/>
          </a:prstGeom>
          <a:ln w="381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35" name="Straight Connector 34">
            <a:extLst>
              <a:ext uri="{FF2B5EF4-FFF2-40B4-BE49-F238E27FC236}">
                <a16:creationId xmlns:a16="http://schemas.microsoft.com/office/drawing/2014/main" id="{A5070B0E-E77A-76A7-E2C5-40DF1AFE5349}"/>
              </a:ext>
            </a:extLst>
          </p:cNvPr>
          <p:cNvCxnSpPr>
            <a:cxnSpLocks/>
          </p:cNvCxnSpPr>
          <p:nvPr/>
        </p:nvCxnSpPr>
        <p:spPr>
          <a:xfrm flipH="1">
            <a:off x="4709788" y="5061546"/>
            <a:ext cx="251613" cy="0"/>
          </a:xfrm>
          <a:prstGeom prst="line">
            <a:avLst/>
          </a:prstGeom>
          <a:ln w="381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36" name="Straight Connector 35">
            <a:extLst>
              <a:ext uri="{FF2B5EF4-FFF2-40B4-BE49-F238E27FC236}">
                <a16:creationId xmlns:a16="http://schemas.microsoft.com/office/drawing/2014/main" id="{D7833669-F7D7-A284-DCA2-104D716667A1}"/>
              </a:ext>
            </a:extLst>
          </p:cNvPr>
          <p:cNvCxnSpPr>
            <a:cxnSpLocks/>
          </p:cNvCxnSpPr>
          <p:nvPr/>
        </p:nvCxnSpPr>
        <p:spPr>
          <a:xfrm flipH="1">
            <a:off x="4709788" y="4497001"/>
            <a:ext cx="251613" cy="0"/>
          </a:xfrm>
          <a:prstGeom prst="line">
            <a:avLst/>
          </a:prstGeom>
          <a:ln w="381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37" name="Straight Connector 36">
            <a:extLst>
              <a:ext uri="{FF2B5EF4-FFF2-40B4-BE49-F238E27FC236}">
                <a16:creationId xmlns:a16="http://schemas.microsoft.com/office/drawing/2014/main" id="{A5D64D0E-5306-50DD-3783-659D28BA98BE}"/>
              </a:ext>
            </a:extLst>
          </p:cNvPr>
          <p:cNvCxnSpPr>
            <a:cxnSpLocks/>
          </p:cNvCxnSpPr>
          <p:nvPr/>
        </p:nvCxnSpPr>
        <p:spPr>
          <a:xfrm flipH="1">
            <a:off x="4701723" y="4018780"/>
            <a:ext cx="251613" cy="0"/>
          </a:xfrm>
          <a:prstGeom prst="line">
            <a:avLst/>
          </a:prstGeom>
          <a:ln w="38100">
            <a:solidFill>
              <a:schemeClr val="tx1"/>
            </a:solidFill>
          </a:ln>
        </p:spPr>
        <p:style>
          <a:lnRef idx="1">
            <a:schemeClr val="accent1"/>
          </a:lnRef>
          <a:fillRef idx="0">
            <a:schemeClr val="accent1"/>
          </a:fillRef>
          <a:effectRef idx="0">
            <a:schemeClr val="accent1"/>
          </a:effectRef>
          <a:fontRef idx="minor">
            <a:schemeClr val="tx1"/>
          </a:fontRef>
        </p:style>
      </p:cxnSp>
      <p:sp>
        <p:nvSpPr>
          <p:cNvPr id="38" name="TextBox 37">
            <a:extLst>
              <a:ext uri="{FF2B5EF4-FFF2-40B4-BE49-F238E27FC236}">
                <a16:creationId xmlns:a16="http://schemas.microsoft.com/office/drawing/2014/main" id="{D17AE4D0-68D8-021C-1180-D24408E62772}"/>
              </a:ext>
            </a:extLst>
          </p:cNvPr>
          <p:cNvSpPr txBox="1"/>
          <p:nvPr/>
        </p:nvSpPr>
        <p:spPr>
          <a:xfrm>
            <a:off x="4665504" y="5521423"/>
            <a:ext cx="313730" cy="461665"/>
          </a:xfrm>
          <a:prstGeom prst="rect">
            <a:avLst/>
          </a:prstGeom>
          <a:noFill/>
        </p:spPr>
        <p:txBody>
          <a:bodyPr wrap="square" rtlCol="0">
            <a:spAutoFit/>
          </a:bodyPr>
          <a:lstStyle/>
          <a:p>
            <a:r>
              <a:rPr lang="tr-TR" sz="2400" dirty="0"/>
              <a:t>0</a:t>
            </a:r>
            <a:endParaRPr lang="en-US" sz="2400" dirty="0"/>
          </a:p>
        </p:txBody>
      </p:sp>
      <p:sp>
        <p:nvSpPr>
          <p:cNvPr id="39" name="TextBox 38">
            <a:extLst>
              <a:ext uri="{FF2B5EF4-FFF2-40B4-BE49-F238E27FC236}">
                <a16:creationId xmlns:a16="http://schemas.microsoft.com/office/drawing/2014/main" id="{32036736-163D-3B20-6558-9AF653DE65DF}"/>
              </a:ext>
            </a:extLst>
          </p:cNvPr>
          <p:cNvSpPr txBox="1"/>
          <p:nvPr/>
        </p:nvSpPr>
        <p:spPr>
          <a:xfrm>
            <a:off x="5163342" y="5521423"/>
            <a:ext cx="313730" cy="461665"/>
          </a:xfrm>
          <a:prstGeom prst="rect">
            <a:avLst/>
          </a:prstGeom>
          <a:noFill/>
        </p:spPr>
        <p:txBody>
          <a:bodyPr wrap="square" rtlCol="0">
            <a:spAutoFit/>
          </a:bodyPr>
          <a:lstStyle/>
          <a:p>
            <a:r>
              <a:rPr lang="tr-TR" sz="2400" dirty="0"/>
              <a:t>1</a:t>
            </a:r>
            <a:endParaRPr lang="en-US" sz="2400" dirty="0"/>
          </a:p>
        </p:txBody>
      </p:sp>
      <p:sp>
        <p:nvSpPr>
          <p:cNvPr id="40" name="TextBox 39">
            <a:extLst>
              <a:ext uri="{FF2B5EF4-FFF2-40B4-BE49-F238E27FC236}">
                <a16:creationId xmlns:a16="http://schemas.microsoft.com/office/drawing/2014/main" id="{E1EE69FE-68C1-A1A6-1D30-0163A16F03A4}"/>
              </a:ext>
            </a:extLst>
          </p:cNvPr>
          <p:cNvSpPr txBox="1"/>
          <p:nvPr/>
        </p:nvSpPr>
        <p:spPr>
          <a:xfrm>
            <a:off x="5992705" y="5521423"/>
            <a:ext cx="313730" cy="461665"/>
          </a:xfrm>
          <a:prstGeom prst="rect">
            <a:avLst/>
          </a:prstGeom>
          <a:noFill/>
        </p:spPr>
        <p:txBody>
          <a:bodyPr wrap="square" rtlCol="0">
            <a:spAutoFit/>
          </a:bodyPr>
          <a:lstStyle/>
          <a:p>
            <a:r>
              <a:rPr lang="tr-TR" sz="2400" dirty="0"/>
              <a:t>2</a:t>
            </a:r>
            <a:endParaRPr lang="en-US" sz="2400" dirty="0"/>
          </a:p>
        </p:txBody>
      </p:sp>
      <p:sp>
        <p:nvSpPr>
          <p:cNvPr id="41" name="TextBox 40">
            <a:extLst>
              <a:ext uri="{FF2B5EF4-FFF2-40B4-BE49-F238E27FC236}">
                <a16:creationId xmlns:a16="http://schemas.microsoft.com/office/drawing/2014/main" id="{C0216E62-696C-1525-110A-0FB524F75F10}"/>
              </a:ext>
            </a:extLst>
          </p:cNvPr>
          <p:cNvSpPr txBox="1"/>
          <p:nvPr/>
        </p:nvSpPr>
        <p:spPr>
          <a:xfrm>
            <a:off x="6854234" y="5521423"/>
            <a:ext cx="313730" cy="461665"/>
          </a:xfrm>
          <a:prstGeom prst="rect">
            <a:avLst/>
          </a:prstGeom>
          <a:noFill/>
        </p:spPr>
        <p:txBody>
          <a:bodyPr wrap="square" rtlCol="0">
            <a:spAutoFit/>
          </a:bodyPr>
          <a:lstStyle/>
          <a:p>
            <a:r>
              <a:rPr lang="tr-TR" sz="2400" dirty="0"/>
              <a:t>3</a:t>
            </a:r>
            <a:endParaRPr lang="en-US" sz="2400" dirty="0"/>
          </a:p>
        </p:txBody>
      </p:sp>
      <p:sp>
        <p:nvSpPr>
          <p:cNvPr id="42" name="TextBox 41">
            <a:extLst>
              <a:ext uri="{FF2B5EF4-FFF2-40B4-BE49-F238E27FC236}">
                <a16:creationId xmlns:a16="http://schemas.microsoft.com/office/drawing/2014/main" id="{0BBB5C41-6537-6EC8-F3F9-EC616C2047F0}"/>
              </a:ext>
            </a:extLst>
          </p:cNvPr>
          <p:cNvSpPr txBox="1"/>
          <p:nvPr/>
        </p:nvSpPr>
        <p:spPr>
          <a:xfrm>
            <a:off x="4380681" y="5267278"/>
            <a:ext cx="313730" cy="461665"/>
          </a:xfrm>
          <a:prstGeom prst="rect">
            <a:avLst/>
          </a:prstGeom>
          <a:noFill/>
        </p:spPr>
        <p:txBody>
          <a:bodyPr wrap="square" rtlCol="0">
            <a:spAutoFit/>
          </a:bodyPr>
          <a:lstStyle/>
          <a:p>
            <a:r>
              <a:rPr lang="tr-TR" sz="2400" dirty="0"/>
              <a:t>0</a:t>
            </a:r>
            <a:endParaRPr lang="en-US" sz="2400" dirty="0"/>
          </a:p>
        </p:txBody>
      </p:sp>
      <p:sp>
        <p:nvSpPr>
          <p:cNvPr id="43" name="TextBox 42">
            <a:extLst>
              <a:ext uri="{FF2B5EF4-FFF2-40B4-BE49-F238E27FC236}">
                <a16:creationId xmlns:a16="http://schemas.microsoft.com/office/drawing/2014/main" id="{1F215429-EE03-AAFD-B7D8-46E1D637ECCE}"/>
              </a:ext>
            </a:extLst>
          </p:cNvPr>
          <p:cNvSpPr txBox="1"/>
          <p:nvPr/>
        </p:nvSpPr>
        <p:spPr>
          <a:xfrm>
            <a:off x="4380681" y="4817270"/>
            <a:ext cx="313730" cy="461665"/>
          </a:xfrm>
          <a:prstGeom prst="rect">
            <a:avLst/>
          </a:prstGeom>
          <a:noFill/>
        </p:spPr>
        <p:txBody>
          <a:bodyPr wrap="square" rtlCol="0">
            <a:spAutoFit/>
          </a:bodyPr>
          <a:lstStyle/>
          <a:p>
            <a:r>
              <a:rPr lang="tr-TR" sz="2400" dirty="0"/>
              <a:t>1</a:t>
            </a:r>
            <a:endParaRPr lang="en-US" sz="2400" dirty="0"/>
          </a:p>
        </p:txBody>
      </p:sp>
      <p:sp>
        <p:nvSpPr>
          <p:cNvPr id="44" name="TextBox 43">
            <a:extLst>
              <a:ext uri="{FF2B5EF4-FFF2-40B4-BE49-F238E27FC236}">
                <a16:creationId xmlns:a16="http://schemas.microsoft.com/office/drawing/2014/main" id="{21602DA4-8B35-C391-AFB0-BDA847783AEB}"/>
              </a:ext>
            </a:extLst>
          </p:cNvPr>
          <p:cNvSpPr txBox="1"/>
          <p:nvPr/>
        </p:nvSpPr>
        <p:spPr>
          <a:xfrm>
            <a:off x="4380681" y="4266168"/>
            <a:ext cx="313730" cy="461665"/>
          </a:xfrm>
          <a:prstGeom prst="rect">
            <a:avLst/>
          </a:prstGeom>
          <a:noFill/>
        </p:spPr>
        <p:txBody>
          <a:bodyPr wrap="square" rtlCol="0">
            <a:spAutoFit/>
          </a:bodyPr>
          <a:lstStyle/>
          <a:p>
            <a:r>
              <a:rPr lang="tr-TR" sz="2400" dirty="0"/>
              <a:t>2</a:t>
            </a:r>
            <a:endParaRPr lang="en-US" sz="2400" dirty="0"/>
          </a:p>
        </p:txBody>
      </p:sp>
      <p:sp>
        <p:nvSpPr>
          <p:cNvPr id="45" name="TextBox 44">
            <a:extLst>
              <a:ext uri="{FF2B5EF4-FFF2-40B4-BE49-F238E27FC236}">
                <a16:creationId xmlns:a16="http://schemas.microsoft.com/office/drawing/2014/main" id="{42F7B295-747A-B604-C5B4-8A3DDDF31051}"/>
              </a:ext>
            </a:extLst>
          </p:cNvPr>
          <p:cNvSpPr txBox="1"/>
          <p:nvPr/>
        </p:nvSpPr>
        <p:spPr>
          <a:xfrm>
            <a:off x="4380681" y="3731356"/>
            <a:ext cx="313730" cy="461665"/>
          </a:xfrm>
          <a:prstGeom prst="rect">
            <a:avLst/>
          </a:prstGeom>
          <a:noFill/>
        </p:spPr>
        <p:txBody>
          <a:bodyPr wrap="square" rtlCol="0">
            <a:spAutoFit/>
          </a:bodyPr>
          <a:lstStyle/>
          <a:p>
            <a:r>
              <a:rPr lang="tr-TR" sz="2400" dirty="0"/>
              <a:t>3</a:t>
            </a:r>
            <a:endParaRPr lang="en-US" sz="2400" dirty="0"/>
          </a:p>
        </p:txBody>
      </p:sp>
      <p:cxnSp>
        <p:nvCxnSpPr>
          <p:cNvPr id="46" name="Straight Arrow Connector 45">
            <a:extLst>
              <a:ext uri="{FF2B5EF4-FFF2-40B4-BE49-F238E27FC236}">
                <a16:creationId xmlns:a16="http://schemas.microsoft.com/office/drawing/2014/main" id="{C1AE9736-FEDA-A3AD-039C-1042D61EBA60}"/>
              </a:ext>
            </a:extLst>
          </p:cNvPr>
          <p:cNvCxnSpPr>
            <a:cxnSpLocks/>
          </p:cNvCxnSpPr>
          <p:nvPr/>
        </p:nvCxnSpPr>
        <p:spPr>
          <a:xfrm flipV="1">
            <a:off x="8173339" y="3580512"/>
            <a:ext cx="0" cy="2035504"/>
          </a:xfrm>
          <a:prstGeom prst="straightConnector1">
            <a:avLst/>
          </a:prstGeom>
          <a:ln w="38100">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47" name="Straight Arrow Connector 46">
            <a:extLst>
              <a:ext uri="{FF2B5EF4-FFF2-40B4-BE49-F238E27FC236}">
                <a16:creationId xmlns:a16="http://schemas.microsoft.com/office/drawing/2014/main" id="{646CD0DD-D77F-19F6-6A27-082DB92FEF89}"/>
              </a:ext>
            </a:extLst>
          </p:cNvPr>
          <p:cNvCxnSpPr>
            <a:cxnSpLocks/>
          </p:cNvCxnSpPr>
          <p:nvPr/>
        </p:nvCxnSpPr>
        <p:spPr>
          <a:xfrm>
            <a:off x="8047532" y="5498111"/>
            <a:ext cx="2603803" cy="0"/>
          </a:xfrm>
          <a:prstGeom prst="straightConnector1">
            <a:avLst/>
          </a:prstGeom>
          <a:ln w="38100">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48" name="Straight Connector 47">
            <a:extLst>
              <a:ext uri="{FF2B5EF4-FFF2-40B4-BE49-F238E27FC236}">
                <a16:creationId xmlns:a16="http://schemas.microsoft.com/office/drawing/2014/main" id="{4B1400B4-15E9-56D3-B3CB-DB7194B10C08}"/>
              </a:ext>
            </a:extLst>
          </p:cNvPr>
          <p:cNvCxnSpPr/>
          <p:nvPr/>
        </p:nvCxnSpPr>
        <p:spPr>
          <a:xfrm>
            <a:off x="8680645" y="5403518"/>
            <a:ext cx="0" cy="189186"/>
          </a:xfrm>
          <a:prstGeom prst="line">
            <a:avLst/>
          </a:prstGeom>
          <a:ln w="381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49" name="Straight Connector 48">
            <a:extLst>
              <a:ext uri="{FF2B5EF4-FFF2-40B4-BE49-F238E27FC236}">
                <a16:creationId xmlns:a16="http://schemas.microsoft.com/office/drawing/2014/main" id="{DC3D56C1-479E-7B6A-A826-F9C90B2250AE}"/>
              </a:ext>
            </a:extLst>
          </p:cNvPr>
          <p:cNvCxnSpPr/>
          <p:nvPr/>
        </p:nvCxnSpPr>
        <p:spPr>
          <a:xfrm>
            <a:off x="9519480" y="5426830"/>
            <a:ext cx="0" cy="189186"/>
          </a:xfrm>
          <a:prstGeom prst="line">
            <a:avLst/>
          </a:prstGeom>
          <a:ln w="381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50" name="Straight Connector 49">
            <a:extLst>
              <a:ext uri="{FF2B5EF4-FFF2-40B4-BE49-F238E27FC236}">
                <a16:creationId xmlns:a16="http://schemas.microsoft.com/office/drawing/2014/main" id="{4D611382-D8D2-BA00-6A05-84A07667FF32}"/>
              </a:ext>
            </a:extLst>
          </p:cNvPr>
          <p:cNvCxnSpPr/>
          <p:nvPr/>
        </p:nvCxnSpPr>
        <p:spPr>
          <a:xfrm>
            <a:off x="10326149" y="5412546"/>
            <a:ext cx="0" cy="189186"/>
          </a:xfrm>
          <a:prstGeom prst="line">
            <a:avLst/>
          </a:prstGeom>
          <a:ln w="381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51" name="Straight Connector 50">
            <a:extLst>
              <a:ext uri="{FF2B5EF4-FFF2-40B4-BE49-F238E27FC236}">
                <a16:creationId xmlns:a16="http://schemas.microsoft.com/office/drawing/2014/main" id="{CEA8C581-B4EF-4091-E55B-B9AD358F0DDF}"/>
              </a:ext>
            </a:extLst>
          </p:cNvPr>
          <p:cNvCxnSpPr>
            <a:cxnSpLocks/>
          </p:cNvCxnSpPr>
          <p:nvPr/>
        </p:nvCxnSpPr>
        <p:spPr>
          <a:xfrm flipH="1">
            <a:off x="8047532" y="5061546"/>
            <a:ext cx="251613" cy="0"/>
          </a:xfrm>
          <a:prstGeom prst="line">
            <a:avLst/>
          </a:prstGeom>
          <a:ln w="381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52" name="Straight Connector 51">
            <a:extLst>
              <a:ext uri="{FF2B5EF4-FFF2-40B4-BE49-F238E27FC236}">
                <a16:creationId xmlns:a16="http://schemas.microsoft.com/office/drawing/2014/main" id="{29F6640D-E839-AC72-4D4D-107E8CBA98C6}"/>
              </a:ext>
            </a:extLst>
          </p:cNvPr>
          <p:cNvCxnSpPr>
            <a:cxnSpLocks/>
          </p:cNvCxnSpPr>
          <p:nvPr/>
        </p:nvCxnSpPr>
        <p:spPr>
          <a:xfrm flipH="1">
            <a:off x="8047532" y="4497001"/>
            <a:ext cx="251613" cy="0"/>
          </a:xfrm>
          <a:prstGeom prst="line">
            <a:avLst/>
          </a:prstGeom>
          <a:ln w="381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53" name="Straight Connector 52">
            <a:extLst>
              <a:ext uri="{FF2B5EF4-FFF2-40B4-BE49-F238E27FC236}">
                <a16:creationId xmlns:a16="http://schemas.microsoft.com/office/drawing/2014/main" id="{62238906-654F-FDC2-97C0-2A11AA6ED552}"/>
              </a:ext>
            </a:extLst>
          </p:cNvPr>
          <p:cNvCxnSpPr>
            <a:cxnSpLocks/>
          </p:cNvCxnSpPr>
          <p:nvPr/>
        </p:nvCxnSpPr>
        <p:spPr>
          <a:xfrm flipH="1">
            <a:off x="8039467" y="4018780"/>
            <a:ext cx="251613" cy="0"/>
          </a:xfrm>
          <a:prstGeom prst="line">
            <a:avLst/>
          </a:prstGeom>
          <a:ln w="38100">
            <a:solidFill>
              <a:schemeClr val="tx1"/>
            </a:solidFill>
          </a:ln>
        </p:spPr>
        <p:style>
          <a:lnRef idx="1">
            <a:schemeClr val="accent1"/>
          </a:lnRef>
          <a:fillRef idx="0">
            <a:schemeClr val="accent1"/>
          </a:fillRef>
          <a:effectRef idx="0">
            <a:schemeClr val="accent1"/>
          </a:effectRef>
          <a:fontRef idx="minor">
            <a:schemeClr val="tx1"/>
          </a:fontRef>
        </p:style>
      </p:cxnSp>
      <p:sp>
        <p:nvSpPr>
          <p:cNvPr id="54" name="TextBox 53">
            <a:extLst>
              <a:ext uri="{FF2B5EF4-FFF2-40B4-BE49-F238E27FC236}">
                <a16:creationId xmlns:a16="http://schemas.microsoft.com/office/drawing/2014/main" id="{70BAECC9-57D1-CABC-58F7-5B1A265BD76D}"/>
              </a:ext>
            </a:extLst>
          </p:cNvPr>
          <p:cNvSpPr txBox="1"/>
          <p:nvPr/>
        </p:nvSpPr>
        <p:spPr>
          <a:xfrm>
            <a:off x="8003248" y="5521423"/>
            <a:ext cx="313730" cy="461665"/>
          </a:xfrm>
          <a:prstGeom prst="rect">
            <a:avLst/>
          </a:prstGeom>
          <a:noFill/>
        </p:spPr>
        <p:txBody>
          <a:bodyPr wrap="square" rtlCol="0">
            <a:spAutoFit/>
          </a:bodyPr>
          <a:lstStyle/>
          <a:p>
            <a:r>
              <a:rPr lang="tr-TR" sz="2400" dirty="0"/>
              <a:t>0</a:t>
            </a:r>
            <a:endParaRPr lang="en-US" sz="2400" dirty="0"/>
          </a:p>
        </p:txBody>
      </p:sp>
      <p:sp>
        <p:nvSpPr>
          <p:cNvPr id="55" name="TextBox 54">
            <a:extLst>
              <a:ext uri="{FF2B5EF4-FFF2-40B4-BE49-F238E27FC236}">
                <a16:creationId xmlns:a16="http://schemas.microsoft.com/office/drawing/2014/main" id="{8C891D8F-B183-463B-D2D1-BF346D72D4EA}"/>
              </a:ext>
            </a:extLst>
          </p:cNvPr>
          <p:cNvSpPr txBox="1"/>
          <p:nvPr/>
        </p:nvSpPr>
        <p:spPr>
          <a:xfrm>
            <a:off x="8501086" y="5521423"/>
            <a:ext cx="313730" cy="461665"/>
          </a:xfrm>
          <a:prstGeom prst="rect">
            <a:avLst/>
          </a:prstGeom>
          <a:noFill/>
        </p:spPr>
        <p:txBody>
          <a:bodyPr wrap="square" rtlCol="0">
            <a:spAutoFit/>
          </a:bodyPr>
          <a:lstStyle/>
          <a:p>
            <a:r>
              <a:rPr lang="tr-TR" sz="2400" dirty="0"/>
              <a:t>1</a:t>
            </a:r>
            <a:endParaRPr lang="en-US" sz="2400" dirty="0"/>
          </a:p>
        </p:txBody>
      </p:sp>
      <p:sp>
        <p:nvSpPr>
          <p:cNvPr id="56" name="TextBox 55">
            <a:extLst>
              <a:ext uri="{FF2B5EF4-FFF2-40B4-BE49-F238E27FC236}">
                <a16:creationId xmlns:a16="http://schemas.microsoft.com/office/drawing/2014/main" id="{545B1699-0ECE-C88D-878D-5E4DE9BE01F2}"/>
              </a:ext>
            </a:extLst>
          </p:cNvPr>
          <p:cNvSpPr txBox="1"/>
          <p:nvPr/>
        </p:nvSpPr>
        <p:spPr>
          <a:xfrm>
            <a:off x="9330449" y="5521423"/>
            <a:ext cx="313730" cy="461665"/>
          </a:xfrm>
          <a:prstGeom prst="rect">
            <a:avLst/>
          </a:prstGeom>
          <a:noFill/>
        </p:spPr>
        <p:txBody>
          <a:bodyPr wrap="square" rtlCol="0">
            <a:spAutoFit/>
          </a:bodyPr>
          <a:lstStyle/>
          <a:p>
            <a:r>
              <a:rPr lang="tr-TR" sz="2400" dirty="0"/>
              <a:t>2</a:t>
            </a:r>
            <a:endParaRPr lang="en-US" sz="2400" dirty="0"/>
          </a:p>
        </p:txBody>
      </p:sp>
      <p:sp>
        <p:nvSpPr>
          <p:cNvPr id="57" name="TextBox 56">
            <a:extLst>
              <a:ext uri="{FF2B5EF4-FFF2-40B4-BE49-F238E27FC236}">
                <a16:creationId xmlns:a16="http://schemas.microsoft.com/office/drawing/2014/main" id="{D914C284-F30D-012E-D6E6-2D61713C0375}"/>
              </a:ext>
            </a:extLst>
          </p:cNvPr>
          <p:cNvSpPr txBox="1"/>
          <p:nvPr/>
        </p:nvSpPr>
        <p:spPr>
          <a:xfrm>
            <a:off x="10191978" y="5521423"/>
            <a:ext cx="313730" cy="461665"/>
          </a:xfrm>
          <a:prstGeom prst="rect">
            <a:avLst/>
          </a:prstGeom>
          <a:noFill/>
        </p:spPr>
        <p:txBody>
          <a:bodyPr wrap="square" rtlCol="0">
            <a:spAutoFit/>
          </a:bodyPr>
          <a:lstStyle/>
          <a:p>
            <a:r>
              <a:rPr lang="tr-TR" sz="2400" dirty="0"/>
              <a:t>3</a:t>
            </a:r>
            <a:endParaRPr lang="en-US" sz="2400" dirty="0"/>
          </a:p>
        </p:txBody>
      </p:sp>
      <p:sp>
        <p:nvSpPr>
          <p:cNvPr id="58" name="TextBox 57">
            <a:extLst>
              <a:ext uri="{FF2B5EF4-FFF2-40B4-BE49-F238E27FC236}">
                <a16:creationId xmlns:a16="http://schemas.microsoft.com/office/drawing/2014/main" id="{5EE17B28-BBA2-9046-C53F-BA14C56D717F}"/>
              </a:ext>
            </a:extLst>
          </p:cNvPr>
          <p:cNvSpPr txBox="1"/>
          <p:nvPr/>
        </p:nvSpPr>
        <p:spPr>
          <a:xfrm>
            <a:off x="7718425" y="5267278"/>
            <a:ext cx="313730" cy="461665"/>
          </a:xfrm>
          <a:prstGeom prst="rect">
            <a:avLst/>
          </a:prstGeom>
          <a:noFill/>
        </p:spPr>
        <p:txBody>
          <a:bodyPr wrap="square" rtlCol="0">
            <a:spAutoFit/>
          </a:bodyPr>
          <a:lstStyle/>
          <a:p>
            <a:r>
              <a:rPr lang="tr-TR" sz="2400" dirty="0"/>
              <a:t>0</a:t>
            </a:r>
            <a:endParaRPr lang="en-US" sz="2400" dirty="0"/>
          </a:p>
        </p:txBody>
      </p:sp>
      <p:sp>
        <p:nvSpPr>
          <p:cNvPr id="59" name="TextBox 58">
            <a:extLst>
              <a:ext uri="{FF2B5EF4-FFF2-40B4-BE49-F238E27FC236}">
                <a16:creationId xmlns:a16="http://schemas.microsoft.com/office/drawing/2014/main" id="{73D500DF-EE7F-C577-6D7E-DB05942F264B}"/>
              </a:ext>
            </a:extLst>
          </p:cNvPr>
          <p:cNvSpPr txBox="1"/>
          <p:nvPr/>
        </p:nvSpPr>
        <p:spPr>
          <a:xfrm>
            <a:off x="7718425" y="4817270"/>
            <a:ext cx="313730" cy="461665"/>
          </a:xfrm>
          <a:prstGeom prst="rect">
            <a:avLst/>
          </a:prstGeom>
          <a:noFill/>
        </p:spPr>
        <p:txBody>
          <a:bodyPr wrap="square" rtlCol="0">
            <a:spAutoFit/>
          </a:bodyPr>
          <a:lstStyle/>
          <a:p>
            <a:r>
              <a:rPr lang="tr-TR" sz="2400" dirty="0"/>
              <a:t>1</a:t>
            </a:r>
            <a:endParaRPr lang="en-US" sz="2400" dirty="0"/>
          </a:p>
        </p:txBody>
      </p:sp>
      <p:sp>
        <p:nvSpPr>
          <p:cNvPr id="60" name="TextBox 59">
            <a:extLst>
              <a:ext uri="{FF2B5EF4-FFF2-40B4-BE49-F238E27FC236}">
                <a16:creationId xmlns:a16="http://schemas.microsoft.com/office/drawing/2014/main" id="{468192D2-A7AF-6769-BC78-4845C1FF0124}"/>
              </a:ext>
            </a:extLst>
          </p:cNvPr>
          <p:cNvSpPr txBox="1"/>
          <p:nvPr/>
        </p:nvSpPr>
        <p:spPr>
          <a:xfrm>
            <a:off x="7718425" y="4266168"/>
            <a:ext cx="313730" cy="461665"/>
          </a:xfrm>
          <a:prstGeom prst="rect">
            <a:avLst/>
          </a:prstGeom>
          <a:noFill/>
        </p:spPr>
        <p:txBody>
          <a:bodyPr wrap="square" rtlCol="0">
            <a:spAutoFit/>
          </a:bodyPr>
          <a:lstStyle/>
          <a:p>
            <a:r>
              <a:rPr lang="tr-TR" sz="2400" dirty="0"/>
              <a:t>2</a:t>
            </a:r>
            <a:endParaRPr lang="en-US" sz="2400" dirty="0"/>
          </a:p>
        </p:txBody>
      </p:sp>
      <p:sp>
        <p:nvSpPr>
          <p:cNvPr id="61" name="TextBox 60">
            <a:extLst>
              <a:ext uri="{FF2B5EF4-FFF2-40B4-BE49-F238E27FC236}">
                <a16:creationId xmlns:a16="http://schemas.microsoft.com/office/drawing/2014/main" id="{D2C088F4-1A7E-5060-6B78-2BFD962DDC1E}"/>
              </a:ext>
            </a:extLst>
          </p:cNvPr>
          <p:cNvSpPr txBox="1"/>
          <p:nvPr/>
        </p:nvSpPr>
        <p:spPr>
          <a:xfrm>
            <a:off x="7718425" y="3731356"/>
            <a:ext cx="313730" cy="461665"/>
          </a:xfrm>
          <a:prstGeom prst="rect">
            <a:avLst/>
          </a:prstGeom>
          <a:noFill/>
        </p:spPr>
        <p:txBody>
          <a:bodyPr wrap="square" rtlCol="0">
            <a:spAutoFit/>
          </a:bodyPr>
          <a:lstStyle/>
          <a:p>
            <a:r>
              <a:rPr lang="tr-TR" sz="2400" dirty="0"/>
              <a:t>3</a:t>
            </a:r>
            <a:endParaRPr lang="en-US" sz="2400" dirty="0"/>
          </a:p>
        </p:txBody>
      </p:sp>
      <mc:AlternateContent xmlns:mc="http://schemas.openxmlformats.org/markup-compatibility/2006" xmlns:a14="http://schemas.microsoft.com/office/drawing/2010/main">
        <mc:Choice Requires="a14">
          <p:sp>
            <p:nvSpPr>
              <p:cNvPr id="63" name="TextBox 62">
                <a:extLst>
                  <a:ext uri="{FF2B5EF4-FFF2-40B4-BE49-F238E27FC236}">
                    <a16:creationId xmlns:a16="http://schemas.microsoft.com/office/drawing/2014/main" id="{5D13298A-297A-072A-BF7F-4168EDC40D2F}"/>
                  </a:ext>
                </a:extLst>
              </p:cNvPr>
              <p:cNvSpPr txBox="1"/>
              <p:nvPr/>
            </p:nvSpPr>
            <p:spPr>
              <a:xfrm>
                <a:off x="2492703" y="2005431"/>
                <a:ext cx="6097314" cy="381515"/>
              </a:xfrm>
              <a:prstGeom prst="rect">
                <a:avLst/>
              </a:prstGeom>
              <a:noFill/>
            </p:spPr>
            <p:txBody>
              <a:bodyPr wrap="square">
                <a:spAutoFit/>
              </a:bodyPr>
              <a:lstStyle/>
              <a:p>
                <a:pPr/>
                <a14:m>
                  <m:oMathPara xmlns:m="http://schemas.openxmlformats.org/officeDocument/2006/math">
                    <m:oMath>
                      <m:sSub>
                        <m:sSubPr>
                          <m:ctrlPr>
                            <a:rPr lang="tr-TR" b="0" i="1" smtClean="0">
                              <a:latin typeface="Cambria Math" panose="02040503050406030204" pitchFamily="18" charset="0"/>
                            </a:rPr>
                          </m:ctrlPr>
                        </m:sSubPr>
                        <m:e>
                          <m:r>
                            <a:rPr lang="tr-TR" b="0" i="1" smtClean="0">
                              <a:latin typeface="Cambria Math" panose="02040503050406030204" pitchFamily="18" charset="0"/>
                            </a:rPr>
                            <m:t>𝑓</m:t>
                          </m:r>
                        </m:e>
                        <m:sub>
                          <m:bar>
                            <m:barPr>
                              <m:pos m:val="top"/>
                              <m:ctrlPr>
                                <a:rPr lang="tr-TR" b="0" i="1" smtClean="0">
                                  <a:latin typeface="Cambria Math" panose="02040503050406030204" pitchFamily="18" charset="0"/>
                                </a:rPr>
                              </m:ctrlPr>
                            </m:barPr>
                            <m:e>
                              <m:r>
                                <a:rPr lang="tr-TR" b="0" i="1" smtClean="0">
                                  <a:latin typeface="Cambria Math" panose="02040503050406030204" pitchFamily="18" charset="0"/>
                                </a:rPr>
                                <m:t>𝑤</m:t>
                              </m:r>
                            </m:e>
                          </m:bar>
                          <m:r>
                            <a:rPr lang="tr-TR" b="0" i="1" smtClean="0">
                              <a:latin typeface="Cambria Math" panose="02040503050406030204" pitchFamily="18" charset="0"/>
                            </a:rPr>
                            <m:t>,</m:t>
                          </m:r>
                          <m:r>
                            <a:rPr lang="tr-TR" b="0" i="1" smtClean="0">
                              <a:latin typeface="Cambria Math" panose="02040503050406030204" pitchFamily="18" charset="0"/>
                            </a:rPr>
                            <m:t>𝑏</m:t>
                          </m:r>
                        </m:sub>
                      </m:sSub>
                      <m:d>
                        <m:dPr>
                          <m:ctrlPr>
                            <a:rPr lang="tr-TR" i="1">
                              <a:latin typeface="Cambria Math" panose="02040503050406030204" pitchFamily="18" charset="0"/>
                            </a:rPr>
                          </m:ctrlPr>
                        </m:dPr>
                        <m:e>
                          <m:bar>
                            <m:barPr>
                              <m:pos m:val="top"/>
                              <m:ctrlPr>
                                <a:rPr lang="tr-TR" i="1">
                                  <a:latin typeface="Cambria Math" panose="02040503050406030204" pitchFamily="18" charset="0"/>
                                </a:rPr>
                              </m:ctrlPr>
                            </m:barPr>
                            <m:e>
                              <m:r>
                                <a:rPr lang="tr-TR" i="1">
                                  <a:latin typeface="Cambria Math" panose="02040503050406030204" pitchFamily="18" charset="0"/>
                                </a:rPr>
                                <m:t>𝑥</m:t>
                              </m:r>
                            </m:e>
                          </m:bar>
                        </m:e>
                      </m:d>
                      <m:r>
                        <a:rPr lang="tr-TR" b="0" i="1" smtClean="0">
                          <a:latin typeface="Cambria Math" panose="02040503050406030204" pitchFamily="18" charset="0"/>
                        </a:rPr>
                        <m:t>=</m:t>
                      </m:r>
                      <m:r>
                        <a:rPr lang="tr-TR" b="0" i="1" smtClean="0">
                          <a:latin typeface="Cambria Math" panose="02040503050406030204" pitchFamily="18" charset="0"/>
                        </a:rPr>
                        <m:t>𝑤𝑥</m:t>
                      </m:r>
                      <m:r>
                        <a:rPr lang="tr-TR" b="0" i="1" smtClean="0">
                          <a:latin typeface="Cambria Math" panose="02040503050406030204" pitchFamily="18" charset="0"/>
                        </a:rPr>
                        <m:t>+</m:t>
                      </m:r>
                      <m:r>
                        <a:rPr lang="tr-TR" b="0" i="1" smtClean="0">
                          <a:latin typeface="Cambria Math" panose="02040503050406030204" pitchFamily="18" charset="0"/>
                        </a:rPr>
                        <m:t>𝑏</m:t>
                      </m:r>
                    </m:oMath>
                  </m:oMathPara>
                </a14:m>
                <a:endParaRPr lang="en-US" dirty="0"/>
              </a:p>
            </p:txBody>
          </p:sp>
        </mc:Choice>
        <mc:Fallback xmlns="">
          <p:sp>
            <p:nvSpPr>
              <p:cNvPr id="63" name="TextBox 62">
                <a:extLst>
                  <a:ext uri="{FF2B5EF4-FFF2-40B4-BE49-F238E27FC236}">
                    <a16:creationId xmlns:a16="http://schemas.microsoft.com/office/drawing/2014/main" id="{5D13298A-297A-072A-BF7F-4168EDC40D2F}"/>
                  </a:ext>
                </a:extLst>
              </p:cNvPr>
              <p:cNvSpPr txBox="1">
                <a:spLocks noRot="1" noChangeAspect="1" noMove="1" noResize="1" noEditPoints="1" noAdjustHandles="1" noChangeArrowheads="1" noChangeShapeType="1" noTextEdit="1"/>
              </p:cNvSpPr>
              <p:nvPr/>
            </p:nvSpPr>
            <p:spPr>
              <a:xfrm>
                <a:off x="2492703" y="2005431"/>
                <a:ext cx="6097314" cy="381515"/>
              </a:xfrm>
              <a:prstGeom prst="rect">
                <a:avLst/>
              </a:prstGeom>
              <a:blipFill>
                <a:blip r:embed="rId3"/>
                <a:stretch>
                  <a:fillRect b="-9524"/>
                </a:stretch>
              </a:blipFill>
            </p:spPr>
            <p:txBody>
              <a:bodyPr/>
              <a:lstStyle/>
              <a:p>
                <a:r>
                  <a:rPr lang="en-US">
                    <a:noFill/>
                  </a:rPr>
                  <a:t> </a:t>
                </a:r>
              </a:p>
            </p:txBody>
          </p:sp>
        </mc:Fallback>
      </mc:AlternateContent>
      <p:cxnSp>
        <p:nvCxnSpPr>
          <p:cNvPr id="65" name="Straight Connector 64">
            <a:extLst>
              <a:ext uri="{FF2B5EF4-FFF2-40B4-BE49-F238E27FC236}">
                <a16:creationId xmlns:a16="http://schemas.microsoft.com/office/drawing/2014/main" id="{CBA3B356-D218-91C0-062D-68EEB4A10970}"/>
              </a:ext>
            </a:extLst>
          </p:cNvPr>
          <p:cNvCxnSpPr/>
          <p:nvPr/>
        </p:nvCxnSpPr>
        <p:spPr>
          <a:xfrm>
            <a:off x="1379594" y="4817270"/>
            <a:ext cx="2209982" cy="0"/>
          </a:xfrm>
          <a:prstGeom prst="line">
            <a:avLst/>
          </a:prstGeom>
          <a:ln w="38100">
            <a:solidFill>
              <a:schemeClr val="accent1"/>
            </a:solidFill>
          </a:ln>
        </p:spPr>
        <p:style>
          <a:lnRef idx="1">
            <a:schemeClr val="accent1"/>
          </a:lnRef>
          <a:fillRef idx="0">
            <a:schemeClr val="accent1"/>
          </a:fillRef>
          <a:effectRef idx="0">
            <a:schemeClr val="accent1"/>
          </a:effectRef>
          <a:fontRef idx="minor">
            <a:schemeClr val="tx1"/>
          </a:fontRef>
        </p:style>
      </p:cxnSp>
      <p:cxnSp>
        <p:nvCxnSpPr>
          <p:cNvPr id="66" name="Straight Connector 65">
            <a:extLst>
              <a:ext uri="{FF2B5EF4-FFF2-40B4-BE49-F238E27FC236}">
                <a16:creationId xmlns:a16="http://schemas.microsoft.com/office/drawing/2014/main" id="{3A7B14A2-CD80-5B00-24E7-9617F064A2CB}"/>
              </a:ext>
            </a:extLst>
          </p:cNvPr>
          <p:cNvCxnSpPr>
            <a:cxnSpLocks/>
          </p:cNvCxnSpPr>
          <p:nvPr/>
        </p:nvCxnSpPr>
        <p:spPr>
          <a:xfrm flipV="1">
            <a:off x="4835595" y="4727833"/>
            <a:ext cx="2085312" cy="770278"/>
          </a:xfrm>
          <a:prstGeom prst="line">
            <a:avLst/>
          </a:prstGeom>
          <a:ln w="38100">
            <a:solidFill>
              <a:schemeClr val="accent1"/>
            </a:solidFill>
          </a:ln>
        </p:spPr>
        <p:style>
          <a:lnRef idx="1">
            <a:schemeClr val="accent1"/>
          </a:lnRef>
          <a:fillRef idx="0">
            <a:schemeClr val="accent1"/>
          </a:fillRef>
          <a:effectRef idx="0">
            <a:schemeClr val="accent1"/>
          </a:effectRef>
          <a:fontRef idx="minor">
            <a:schemeClr val="tx1"/>
          </a:fontRef>
        </p:style>
      </p:cxnSp>
      <p:cxnSp>
        <p:nvCxnSpPr>
          <p:cNvPr id="68" name="Straight Connector 67">
            <a:extLst>
              <a:ext uri="{FF2B5EF4-FFF2-40B4-BE49-F238E27FC236}">
                <a16:creationId xmlns:a16="http://schemas.microsoft.com/office/drawing/2014/main" id="{6D7AA1DF-90FA-5D18-7D01-32A4F015797E}"/>
              </a:ext>
            </a:extLst>
          </p:cNvPr>
          <p:cNvCxnSpPr>
            <a:cxnSpLocks/>
          </p:cNvCxnSpPr>
          <p:nvPr/>
        </p:nvCxnSpPr>
        <p:spPr>
          <a:xfrm flipV="1">
            <a:off x="8160113" y="4299912"/>
            <a:ext cx="2085312" cy="770278"/>
          </a:xfrm>
          <a:prstGeom prst="line">
            <a:avLst/>
          </a:prstGeom>
          <a:ln w="38100">
            <a:solidFill>
              <a:schemeClr val="accent1"/>
            </a:solidFill>
          </a:ln>
        </p:spPr>
        <p:style>
          <a:lnRef idx="1">
            <a:schemeClr val="accent1"/>
          </a:lnRef>
          <a:fillRef idx="0">
            <a:schemeClr val="accent1"/>
          </a:fillRef>
          <a:effectRef idx="0">
            <a:schemeClr val="accent1"/>
          </a:effectRef>
          <a:fontRef idx="minor">
            <a:schemeClr val="tx1"/>
          </a:fontRef>
        </p:style>
      </p:cxnSp>
      <p:sp>
        <p:nvSpPr>
          <p:cNvPr id="69" name="TextBox 68">
            <a:extLst>
              <a:ext uri="{FF2B5EF4-FFF2-40B4-BE49-F238E27FC236}">
                <a16:creationId xmlns:a16="http://schemas.microsoft.com/office/drawing/2014/main" id="{AA4F5462-16D5-8BF6-D2FA-FEE5E67E75C1}"/>
              </a:ext>
            </a:extLst>
          </p:cNvPr>
          <p:cNvSpPr txBox="1"/>
          <p:nvPr/>
        </p:nvSpPr>
        <p:spPr>
          <a:xfrm>
            <a:off x="1882139" y="4089132"/>
            <a:ext cx="2155936" cy="461665"/>
          </a:xfrm>
          <a:prstGeom prst="rect">
            <a:avLst/>
          </a:prstGeom>
          <a:noFill/>
        </p:spPr>
        <p:txBody>
          <a:bodyPr wrap="square" rtlCol="0">
            <a:spAutoFit/>
          </a:bodyPr>
          <a:lstStyle/>
          <a:p>
            <a:r>
              <a:rPr lang="tr-TR" sz="2400" dirty="0">
                <a:solidFill>
                  <a:schemeClr val="accent1"/>
                </a:solidFill>
              </a:rPr>
              <a:t>f(x) = 0*x + 1.5</a:t>
            </a:r>
            <a:endParaRPr lang="en-US" sz="2400" dirty="0">
              <a:solidFill>
                <a:schemeClr val="accent1"/>
              </a:solidFill>
            </a:endParaRPr>
          </a:p>
        </p:txBody>
      </p:sp>
      <p:sp>
        <p:nvSpPr>
          <p:cNvPr id="70" name="TextBox 69">
            <a:extLst>
              <a:ext uri="{FF2B5EF4-FFF2-40B4-BE49-F238E27FC236}">
                <a16:creationId xmlns:a16="http://schemas.microsoft.com/office/drawing/2014/main" id="{AF890CBB-C65D-E688-355E-309D8CDA0882}"/>
              </a:ext>
            </a:extLst>
          </p:cNvPr>
          <p:cNvSpPr txBox="1"/>
          <p:nvPr/>
        </p:nvSpPr>
        <p:spPr>
          <a:xfrm>
            <a:off x="5110857" y="4051899"/>
            <a:ext cx="2155936" cy="461665"/>
          </a:xfrm>
          <a:prstGeom prst="rect">
            <a:avLst/>
          </a:prstGeom>
          <a:noFill/>
        </p:spPr>
        <p:txBody>
          <a:bodyPr wrap="square" rtlCol="0">
            <a:spAutoFit/>
          </a:bodyPr>
          <a:lstStyle/>
          <a:p>
            <a:r>
              <a:rPr lang="tr-TR" sz="2400" dirty="0">
                <a:solidFill>
                  <a:schemeClr val="accent1"/>
                </a:solidFill>
              </a:rPr>
              <a:t>f(x) = 0.5*x </a:t>
            </a:r>
            <a:endParaRPr lang="en-US" sz="2400" dirty="0">
              <a:solidFill>
                <a:schemeClr val="accent1"/>
              </a:solidFill>
            </a:endParaRPr>
          </a:p>
        </p:txBody>
      </p:sp>
      <p:sp>
        <p:nvSpPr>
          <p:cNvPr id="71" name="TextBox 70">
            <a:extLst>
              <a:ext uri="{FF2B5EF4-FFF2-40B4-BE49-F238E27FC236}">
                <a16:creationId xmlns:a16="http://schemas.microsoft.com/office/drawing/2014/main" id="{63B4A9A4-07B9-F8CD-5B2E-C6B6F49B230A}"/>
              </a:ext>
            </a:extLst>
          </p:cNvPr>
          <p:cNvSpPr txBox="1"/>
          <p:nvPr/>
        </p:nvSpPr>
        <p:spPr>
          <a:xfrm>
            <a:off x="8396249" y="3985169"/>
            <a:ext cx="2155936" cy="461665"/>
          </a:xfrm>
          <a:prstGeom prst="rect">
            <a:avLst/>
          </a:prstGeom>
          <a:noFill/>
        </p:spPr>
        <p:txBody>
          <a:bodyPr wrap="square" rtlCol="0">
            <a:spAutoFit/>
          </a:bodyPr>
          <a:lstStyle/>
          <a:p>
            <a:r>
              <a:rPr lang="tr-TR" sz="2400" dirty="0">
                <a:solidFill>
                  <a:schemeClr val="accent1"/>
                </a:solidFill>
              </a:rPr>
              <a:t>f(x) = 0.5*x + 1 </a:t>
            </a:r>
            <a:endParaRPr lang="en-US" sz="2400" dirty="0">
              <a:solidFill>
                <a:schemeClr val="accent1"/>
              </a:solidFill>
            </a:endParaRPr>
          </a:p>
        </p:txBody>
      </p:sp>
      <p:sp>
        <p:nvSpPr>
          <p:cNvPr id="72" name="TextBox 71">
            <a:extLst>
              <a:ext uri="{FF2B5EF4-FFF2-40B4-BE49-F238E27FC236}">
                <a16:creationId xmlns:a16="http://schemas.microsoft.com/office/drawing/2014/main" id="{3F2CFB69-9498-F243-DBE2-6B35A33C6C5B}"/>
              </a:ext>
            </a:extLst>
          </p:cNvPr>
          <p:cNvSpPr txBox="1"/>
          <p:nvPr/>
        </p:nvSpPr>
        <p:spPr>
          <a:xfrm>
            <a:off x="1672512" y="5864187"/>
            <a:ext cx="1053222" cy="830997"/>
          </a:xfrm>
          <a:prstGeom prst="rect">
            <a:avLst/>
          </a:prstGeom>
          <a:noFill/>
        </p:spPr>
        <p:txBody>
          <a:bodyPr wrap="square" rtlCol="0">
            <a:spAutoFit/>
          </a:bodyPr>
          <a:lstStyle/>
          <a:p>
            <a:r>
              <a:rPr lang="tr-TR" sz="2400" dirty="0"/>
              <a:t>w = 0</a:t>
            </a:r>
          </a:p>
          <a:p>
            <a:r>
              <a:rPr lang="tr-TR" sz="2400" dirty="0"/>
              <a:t>b = 1.5</a:t>
            </a:r>
          </a:p>
        </p:txBody>
      </p:sp>
      <p:sp>
        <p:nvSpPr>
          <p:cNvPr id="73" name="TextBox 72">
            <a:extLst>
              <a:ext uri="{FF2B5EF4-FFF2-40B4-BE49-F238E27FC236}">
                <a16:creationId xmlns:a16="http://schemas.microsoft.com/office/drawing/2014/main" id="{A7BE879A-F99B-3097-3182-23804A076CFE}"/>
              </a:ext>
            </a:extLst>
          </p:cNvPr>
          <p:cNvSpPr txBox="1"/>
          <p:nvPr/>
        </p:nvSpPr>
        <p:spPr>
          <a:xfrm>
            <a:off x="5135602" y="5855624"/>
            <a:ext cx="1102577" cy="830997"/>
          </a:xfrm>
          <a:prstGeom prst="rect">
            <a:avLst/>
          </a:prstGeom>
          <a:noFill/>
        </p:spPr>
        <p:txBody>
          <a:bodyPr wrap="square" rtlCol="0">
            <a:spAutoFit/>
          </a:bodyPr>
          <a:lstStyle/>
          <a:p>
            <a:r>
              <a:rPr lang="tr-TR" sz="2400" dirty="0"/>
              <a:t>w = 0.5</a:t>
            </a:r>
          </a:p>
          <a:p>
            <a:r>
              <a:rPr lang="tr-TR" sz="2400" dirty="0"/>
              <a:t>b = 0</a:t>
            </a:r>
          </a:p>
        </p:txBody>
      </p:sp>
      <p:sp>
        <p:nvSpPr>
          <p:cNvPr id="74" name="TextBox 73">
            <a:extLst>
              <a:ext uri="{FF2B5EF4-FFF2-40B4-BE49-F238E27FC236}">
                <a16:creationId xmlns:a16="http://schemas.microsoft.com/office/drawing/2014/main" id="{5F2D0EEC-DC9F-4CEA-DD3B-9555228210C4}"/>
              </a:ext>
            </a:extLst>
          </p:cNvPr>
          <p:cNvSpPr txBox="1"/>
          <p:nvPr/>
        </p:nvSpPr>
        <p:spPr>
          <a:xfrm>
            <a:off x="8680644" y="5860086"/>
            <a:ext cx="1216973" cy="830997"/>
          </a:xfrm>
          <a:prstGeom prst="rect">
            <a:avLst/>
          </a:prstGeom>
          <a:noFill/>
        </p:spPr>
        <p:txBody>
          <a:bodyPr wrap="square" rtlCol="0">
            <a:spAutoFit/>
          </a:bodyPr>
          <a:lstStyle/>
          <a:p>
            <a:r>
              <a:rPr lang="tr-TR" sz="2400" dirty="0"/>
              <a:t>w = 0.5</a:t>
            </a:r>
          </a:p>
          <a:p>
            <a:r>
              <a:rPr lang="tr-TR" sz="2400" dirty="0"/>
              <a:t>b = 1</a:t>
            </a:r>
          </a:p>
        </p:txBody>
      </p:sp>
      <p:sp>
        <p:nvSpPr>
          <p:cNvPr id="5" name="Star: 5 Points 4">
            <a:extLst>
              <a:ext uri="{FF2B5EF4-FFF2-40B4-BE49-F238E27FC236}">
                <a16:creationId xmlns:a16="http://schemas.microsoft.com/office/drawing/2014/main" id="{D1B6266F-2263-7105-1402-A6F68E0411D9}"/>
              </a:ext>
            </a:extLst>
          </p:cNvPr>
          <p:cNvSpPr/>
          <p:nvPr/>
        </p:nvSpPr>
        <p:spPr>
          <a:xfrm>
            <a:off x="9940486" y="1496809"/>
            <a:ext cx="288095" cy="328800"/>
          </a:xfrm>
          <a:prstGeom prst="star5">
            <a:avLst/>
          </a:prstGeom>
          <a:solidFill>
            <a:schemeClr val="accent1"/>
          </a:solidFill>
          <a:ln>
            <a:solidFill>
              <a:schemeClr val="accent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8" name="Star: 5 Points 7">
            <a:extLst>
              <a:ext uri="{FF2B5EF4-FFF2-40B4-BE49-F238E27FC236}">
                <a16:creationId xmlns:a16="http://schemas.microsoft.com/office/drawing/2014/main" id="{8D50E84A-7C02-51C7-0857-7194D97460B3}"/>
              </a:ext>
            </a:extLst>
          </p:cNvPr>
          <p:cNvSpPr/>
          <p:nvPr/>
        </p:nvSpPr>
        <p:spPr>
          <a:xfrm>
            <a:off x="9648552" y="1690829"/>
            <a:ext cx="288095" cy="328800"/>
          </a:xfrm>
          <a:prstGeom prst="star5">
            <a:avLst/>
          </a:prstGeom>
          <a:solidFill>
            <a:schemeClr val="accent1"/>
          </a:solidFill>
          <a:ln>
            <a:solidFill>
              <a:schemeClr val="accent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9" name="Star: 5 Points 8">
            <a:extLst>
              <a:ext uri="{FF2B5EF4-FFF2-40B4-BE49-F238E27FC236}">
                <a16:creationId xmlns:a16="http://schemas.microsoft.com/office/drawing/2014/main" id="{B068819C-5094-8152-6CBC-1387439E9754}"/>
              </a:ext>
            </a:extLst>
          </p:cNvPr>
          <p:cNvSpPr/>
          <p:nvPr/>
        </p:nvSpPr>
        <p:spPr>
          <a:xfrm>
            <a:off x="10218624" y="1338899"/>
            <a:ext cx="288095" cy="328800"/>
          </a:xfrm>
          <a:prstGeom prst="star5">
            <a:avLst/>
          </a:prstGeom>
          <a:solidFill>
            <a:schemeClr val="accent1"/>
          </a:solidFill>
          <a:ln>
            <a:solidFill>
              <a:schemeClr val="accent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 name="Star: 5 Points 9">
            <a:extLst>
              <a:ext uri="{FF2B5EF4-FFF2-40B4-BE49-F238E27FC236}">
                <a16:creationId xmlns:a16="http://schemas.microsoft.com/office/drawing/2014/main" id="{7D49B3E8-6374-63C7-FBE9-816B10ADF492}"/>
              </a:ext>
            </a:extLst>
          </p:cNvPr>
          <p:cNvSpPr/>
          <p:nvPr/>
        </p:nvSpPr>
        <p:spPr>
          <a:xfrm>
            <a:off x="10579829" y="1250966"/>
            <a:ext cx="288095" cy="328800"/>
          </a:xfrm>
          <a:prstGeom prst="star5">
            <a:avLst/>
          </a:prstGeom>
          <a:solidFill>
            <a:schemeClr val="accent1"/>
          </a:solidFill>
          <a:ln>
            <a:solidFill>
              <a:schemeClr val="accent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1" name="Star: 5 Points 10">
            <a:extLst>
              <a:ext uri="{FF2B5EF4-FFF2-40B4-BE49-F238E27FC236}">
                <a16:creationId xmlns:a16="http://schemas.microsoft.com/office/drawing/2014/main" id="{49F88976-6FC3-18AD-7E99-266AF6A803DB}"/>
              </a:ext>
            </a:extLst>
          </p:cNvPr>
          <p:cNvSpPr/>
          <p:nvPr/>
        </p:nvSpPr>
        <p:spPr>
          <a:xfrm>
            <a:off x="10818030" y="1605343"/>
            <a:ext cx="288095" cy="328800"/>
          </a:xfrm>
          <a:prstGeom prst="star5">
            <a:avLst/>
          </a:prstGeom>
          <a:solidFill>
            <a:schemeClr val="accent1"/>
          </a:solidFill>
          <a:ln>
            <a:solidFill>
              <a:schemeClr val="accent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2" name="Star: 5 Points 11">
            <a:extLst>
              <a:ext uri="{FF2B5EF4-FFF2-40B4-BE49-F238E27FC236}">
                <a16:creationId xmlns:a16="http://schemas.microsoft.com/office/drawing/2014/main" id="{4A24D2BC-B71A-145A-E271-3376ED8D834E}"/>
              </a:ext>
            </a:extLst>
          </p:cNvPr>
          <p:cNvSpPr/>
          <p:nvPr/>
        </p:nvSpPr>
        <p:spPr>
          <a:xfrm>
            <a:off x="10257870" y="1808312"/>
            <a:ext cx="288095" cy="328800"/>
          </a:xfrm>
          <a:prstGeom prst="star5">
            <a:avLst/>
          </a:prstGeom>
          <a:solidFill>
            <a:schemeClr val="accent1"/>
          </a:solidFill>
          <a:ln>
            <a:solidFill>
              <a:schemeClr val="accent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4" name="TextBox 23">
            <a:extLst>
              <a:ext uri="{FF2B5EF4-FFF2-40B4-BE49-F238E27FC236}">
                <a16:creationId xmlns:a16="http://schemas.microsoft.com/office/drawing/2014/main" id="{7C98794E-DCE6-76A9-03B7-E3059BA9980A}"/>
              </a:ext>
            </a:extLst>
          </p:cNvPr>
          <p:cNvSpPr txBox="1"/>
          <p:nvPr/>
        </p:nvSpPr>
        <p:spPr>
          <a:xfrm>
            <a:off x="10284555" y="2773100"/>
            <a:ext cx="295274" cy="400110"/>
          </a:xfrm>
          <a:prstGeom prst="rect">
            <a:avLst/>
          </a:prstGeom>
          <a:noFill/>
        </p:spPr>
        <p:txBody>
          <a:bodyPr wrap="none" rtlCol="0">
            <a:spAutoFit/>
          </a:bodyPr>
          <a:lstStyle/>
          <a:p>
            <a:r>
              <a:rPr lang="tr-TR" sz="2000" dirty="0"/>
              <a:t>x</a:t>
            </a:r>
            <a:endParaRPr lang="en-US" sz="2000" dirty="0"/>
          </a:p>
        </p:txBody>
      </p:sp>
      <p:sp>
        <p:nvSpPr>
          <p:cNvPr id="25" name="TextBox 24">
            <a:extLst>
              <a:ext uri="{FF2B5EF4-FFF2-40B4-BE49-F238E27FC236}">
                <a16:creationId xmlns:a16="http://schemas.microsoft.com/office/drawing/2014/main" id="{45BCCD27-13D6-9ED8-E53C-B145351ADF3D}"/>
              </a:ext>
            </a:extLst>
          </p:cNvPr>
          <p:cNvSpPr txBox="1"/>
          <p:nvPr/>
        </p:nvSpPr>
        <p:spPr>
          <a:xfrm>
            <a:off x="8708216" y="1481097"/>
            <a:ext cx="300082" cy="400110"/>
          </a:xfrm>
          <a:prstGeom prst="rect">
            <a:avLst/>
          </a:prstGeom>
          <a:noFill/>
        </p:spPr>
        <p:txBody>
          <a:bodyPr wrap="none" rtlCol="0">
            <a:spAutoFit/>
          </a:bodyPr>
          <a:lstStyle/>
          <a:p>
            <a:r>
              <a:rPr lang="tr-TR" sz="2000" dirty="0"/>
              <a:t>y</a:t>
            </a:r>
            <a:endParaRPr lang="en-US" sz="2000" dirty="0"/>
          </a:p>
        </p:txBody>
      </p:sp>
      <p:sp>
        <p:nvSpPr>
          <p:cNvPr id="62" name="Star: 5 Points 61">
            <a:extLst>
              <a:ext uri="{FF2B5EF4-FFF2-40B4-BE49-F238E27FC236}">
                <a16:creationId xmlns:a16="http://schemas.microsoft.com/office/drawing/2014/main" id="{1F79C4BF-9BD7-D3E2-3B41-D7427FBA298B}"/>
              </a:ext>
            </a:extLst>
          </p:cNvPr>
          <p:cNvSpPr/>
          <p:nvPr/>
        </p:nvSpPr>
        <p:spPr>
          <a:xfrm>
            <a:off x="10588699" y="1734377"/>
            <a:ext cx="288095" cy="328800"/>
          </a:xfrm>
          <a:prstGeom prst="star5">
            <a:avLst/>
          </a:prstGeom>
          <a:solidFill>
            <a:schemeClr val="accent1"/>
          </a:solidFill>
          <a:ln>
            <a:solidFill>
              <a:schemeClr val="accent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4" name="Star: 5 Points 63">
            <a:extLst>
              <a:ext uri="{FF2B5EF4-FFF2-40B4-BE49-F238E27FC236}">
                <a16:creationId xmlns:a16="http://schemas.microsoft.com/office/drawing/2014/main" id="{E15A7903-D210-1B07-E2C2-C701E1B201A3}"/>
              </a:ext>
            </a:extLst>
          </p:cNvPr>
          <p:cNvSpPr/>
          <p:nvPr/>
        </p:nvSpPr>
        <p:spPr>
          <a:xfrm>
            <a:off x="10906721" y="1127954"/>
            <a:ext cx="288095" cy="328800"/>
          </a:xfrm>
          <a:prstGeom prst="star5">
            <a:avLst/>
          </a:prstGeom>
          <a:solidFill>
            <a:schemeClr val="accent1"/>
          </a:solidFill>
          <a:ln>
            <a:solidFill>
              <a:schemeClr val="accent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cxnSp>
        <p:nvCxnSpPr>
          <p:cNvPr id="67" name="Straight Arrow Connector 66">
            <a:extLst>
              <a:ext uri="{FF2B5EF4-FFF2-40B4-BE49-F238E27FC236}">
                <a16:creationId xmlns:a16="http://schemas.microsoft.com/office/drawing/2014/main" id="{A82C04F4-9FDF-F017-D450-80F1D0997EE8}"/>
              </a:ext>
            </a:extLst>
          </p:cNvPr>
          <p:cNvCxnSpPr>
            <a:cxnSpLocks/>
          </p:cNvCxnSpPr>
          <p:nvPr/>
        </p:nvCxnSpPr>
        <p:spPr>
          <a:xfrm flipV="1">
            <a:off x="9419221" y="752952"/>
            <a:ext cx="0" cy="2035504"/>
          </a:xfrm>
          <a:prstGeom prst="straightConnector1">
            <a:avLst/>
          </a:prstGeom>
          <a:ln w="38100">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75" name="Straight Connector 74">
            <a:extLst>
              <a:ext uri="{FF2B5EF4-FFF2-40B4-BE49-F238E27FC236}">
                <a16:creationId xmlns:a16="http://schemas.microsoft.com/office/drawing/2014/main" id="{A8484633-BA73-C4AB-BD3F-C696E0DE20CD}"/>
              </a:ext>
            </a:extLst>
          </p:cNvPr>
          <p:cNvCxnSpPr>
            <a:cxnSpLocks/>
          </p:cNvCxnSpPr>
          <p:nvPr/>
        </p:nvCxnSpPr>
        <p:spPr>
          <a:xfrm flipH="1">
            <a:off x="9293414" y="2233986"/>
            <a:ext cx="251613" cy="0"/>
          </a:xfrm>
          <a:prstGeom prst="line">
            <a:avLst/>
          </a:prstGeom>
          <a:ln w="381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76" name="Straight Connector 75">
            <a:extLst>
              <a:ext uri="{FF2B5EF4-FFF2-40B4-BE49-F238E27FC236}">
                <a16:creationId xmlns:a16="http://schemas.microsoft.com/office/drawing/2014/main" id="{F499DB07-A432-0A1B-CBF9-0AA797456487}"/>
              </a:ext>
            </a:extLst>
          </p:cNvPr>
          <p:cNvCxnSpPr>
            <a:cxnSpLocks/>
          </p:cNvCxnSpPr>
          <p:nvPr/>
        </p:nvCxnSpPr>
        <p:spPr>
          <a:xfrm flipH="1">
            <a:off x="9293414" y="1669441"/>
            <a:ext cx="251613" cy="0"/>
          </a:xfrm>
          <a:prstGeom prst="line">
            <a:avLst/>
          </a:prstGeom>
          <a:ln w="381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77" name="Straight Connector 76">
            <a:extLst>
              <a:ext uri="{FF2B5EF4-FFF2-40B4-BE49-F238E27FC236}">
                <a16:creationId xmlns:a16="http://schemas.microsoft.com/office/drawing/2014/main" id="{E980658F-92D1-7874-A244-0379F78FB255}"/>
              </a:ext>
            </a:extLst>
          </p:cNvPr>
          <p:cNvCxnSpPr>
            <a:cxnSpLocks/>
          </p:cNvCxnSpPr>
          <p:nvPr/>
        </p:nvCxnSpPr>
        <p:spPr>
          <a:xfrm flipH="1">
            <a:off x="9285349" y="1191220"/>
            <a:ext cx="251613" cy="0"/>
          </a:xfrm>
          <a:prstGeom prst="line">
            <a:avLst/>
          </a:prstGeom>
          <a:ln w="38100">
            <a:solidFill>
              <a:schemeClr val="tx1"/>
            </a:solidFill>
          </a:ln>
        </p:spPr>
        <p:style>
          <a:lnRef idx="1">
            <a:schemeClr val="accent1"/>
          </a:lnRef>
          <a:fillRef idx="0">
            <a:schemeClr val="accent1"/>
          </a:fillRef>
          <a:effectRef idx="0">
            <a:schemeClr val="accent1"/>
          </a:effectRef>
          <a:fontRef idx="minor">
            <a:schemeClr val="tx1"/>
          </a:fontRef>
        </p:style>
      </p:cxnSp>
      <p:sp>
        <p:nvSpPr>
          <p:cNvPr id="78" name="TextBox 77">
            <a:extLst>
              <a:ext uri="{FF2B5EF4-FFF2-40B4-BE49-F238E27FC236}">
                <a16:creationId xmlns:a16="http://schemas.microsoft.com/office/drawing/2014/main" id="{718C854A-8A35-10C9-68BB-0513EBC064E9}"/>
              </a:ext>
            </a:extLst>
          </p:cNvPr>
          <p:cNvSpPr txBox="1"/>
          <p:nvPr/>
        </p:nvSpPr>
        <p:spPr>
          <a:xfrm>
            <a:off x="9249130" y="2693863"/>
            <a:ext cx="313730" cy="461665"/>
          </a:xfrm>
          <a:prstGeom prst="rect">
            <a:avLst/>
          </a:prstGeom>
          <a:noFill/>
        </p:spPr>
        <p:txBody>
          <a:bodyPr wrap="square" rtlCol="0">
            <a:spAutoFit/>
          </a:bodyPr>
          <a:lstStyle/>
          <a:p>
            <a:r>
              <a:rPr lang="tr-TR" sz="2400" dirty="0"/>
              <a:t>0</a:t>
            </a:r>
            <a:endParaRPr lang="en-US" sz="2400" dirty="0"/>
          </a:p>
        </p:txBody>
      </p:sp>
      <p:sp>
        <p:nvSpPr>
          <p:cNvPr id="79" name="TextBox 78">
            <a:extLst>
              <a:ext uri="{FF2B5EF4-FFF2-40B4-BE49-F238E27FC236}">
                <a16:creationId xmlns:a16="http://schemas.microsoft.com/office/drawing/2014/main" id="{3585CAF4-F377-CADF-D089-91D1544FDB37}"/>
              </a:ext>
            </a:extLst>
          </p:cNvPr>
          <p:cNvSpPr txBox="1"/>
          <p:nvPr/>
        </p:nvSpPr>
        <p:spPr>
          <a:xfrm>
            <a:off x="8964307" y="2439718"/>
            <a:ext cx="313730" cy="461665"/>
          </a:xfrm>
          <a:prstGeom prst="rect">
            <a:avLst/>
          </a:prstGeom>
          <a:noFill/>
        </p:spPr>
        <p:txBody>
          <a:bodyPr wrap="square" rtlCol="0">
            <a:spAutoFit/>
          </a:bodyPr>
          <a:lstStyle/>
          <a:p>
            <a:r>
              <a:rPr lang="tr-TR" sz="2400" dirty="0"/>
              <a:t>0</a:t>
            </a:r>
            <a:endParaRPr lang="en-US" sz="2400" dirty="0"/>
          </a:p>
        </p:txBody>
      </p:sp>
      <p:sp>
        <p:nvSpPr>
          <p:cNvPr id="80" name="TextBox 79">
            <a:extLst>
              <a:ext uri="{FF2B5EF4-FFF2-40B4-BE49-F238E27FC236}">
                <a16:creationId xmlns:a16="http://schemas.microsoft.com/office/drawing/2014/main" id="{EAA9D4D5-4B05-AB59-2DA7-B08C50325CF6}"/>
              </a:ext>
            </a:extLst>
          </p:cNvPr>
          <p:cNvSpPr txBox="1"/>
          <p:nvPr/>
        </p:nvSpPr>
        <p:spPr>
          <a:xfrm>
            <a:off x="8964307" y="1989710"/>
            <a:ext cx="313730" cy="461665"/>
          </a:xfrm>
          <a:prstGeom prst="rect">
            <a:avLst/>
          </a:prstGeom>
          <a:noFill/>
        </p:spPr>
        <p:txBody>
          <a:bodyPr wrap="square" rtlCol="0">
            <a:spAutoFit/>
          </a:bodyPr>
          <a:lstStyle/>
          <a:p>
            <a:r>
              <a:rPr lang="tr-TR" sz="2400" dirty="0"/>
              <a:t>1</a:t>
            </a:r>
            <a:endParaRPr lang="en-US" sz="2400" dirty="0"/>
          </a:p>
        </p:txBody>
      </p:sp>
      <p:sp>
        <p:nvSpPr>
          <p:cNvPr id="81" name="TextBox 80">
            <a:extLst>
              <a:ext uri="{FF2B5EF4-FFF2-40B4-BE49-F238E27FC236}">
                <a16:creationId xmlns:a16="http://schemas.microsoft.com/office/drawing/2014/main" id="{C45AACE7-B804-729D-48A4-F5AC912A5A4B}"/>
              </a:ext>
            </a:extLst>
          </p:cNvPr>
          <p:cNvSpPr txBox="1"/>
          <p:nvPr/>
        </p:nvSpPr>
        <p:spPr>
          <a:xfrm>
            <a:off x="8957633" y="1457611"/>
            <a:ext cx="313730" cy="461665"/>
          </a:xfrm>
          <a:prstGeom prst="rect">
            <a:avLst/>
          </a:prstGeom>
          <a:noFill/>
        </p:spPr>
        <p:txBody>
          <a:bodyPr wrap="square" rtlCol="0">
            <a:spAutoFit/>
          </a:bodyPr>
          <a:lstStyle/>
          <a:p>
            <a:r>
              <a:rPr lang="tr-TR" sz="2400" dirty="0"/>
              <a:t>2</a:t>
            </a:r>
            <a:endParaRPr lang="en-US" sz="2400" dirty="0"/>
          </a:p>
        </p:txBody>
      </p:sp>
      <p:sp>
        <p:nvSpPr>
          <p:cNvPr id="82" name="TextBox 81">
            <a:extLst>
              <a:ext uri="{FF2B5EF4-FFF2-40B4-BE49-F238E27FC236}">
                <a16:creationId xmlns:a16="http://schemas.microsoft.com/office/drawing/2014/main" id="{DA3A961D-D44E-F23A-9F52-0B21A14F7580}"/>
              </a:ext>
            </a:extLst>
          </p:cNvPr>
          <p:cNvSpPr txBox="1"/>
          <p:nvPr/>
        </p:nvSpPr>
        <p:spPr>
          <a:xfrm>
            <a:off x="8964307" y="903796"/>
            <a:ext cx="313730" cy="461665"/>
          </a:xfrm>
          <a:prstGeom prst="rect">
            <a:avLst/>
          </a:prstGeom>
          <a:noFill/>
        </p:spPr>
        <p:txBody>
          <a:bodyPr wrap="square" rtlCol="0">
            <a:spAutoFit/>
          </a:bodyPr>
          <a:lstStyle/>
          <a:p>
            <a:r>
              <a:rPr lang="tr-TR" sz="2400" dirty="0"/>
              <a:t>3</a:t>
            </a:r>
            <a:endParaRPr lang="en-US" sz="2400" dirty="0"/>
          </a:p>
        </p:txBody>
      </p:sp>
      <p:cxnSp>
        <p:nvCxnSpPr>
          <p:cNvPr id="83" name="Straight Arrow Connector 82">
            <a:extLst>
              <a:ext uri="{FF2B5EF4-FFF2-40B4-BE49-F238E27FC236}">
                <a16:creationId xmlns:a16="http://schemas.microsoft.com/office/drawing/2014/main" id="{24D692AA-8B92-700E-72BE-6767DA886D87}"/>
              </a:ext>
            </a:extLst>
          </p:cNvPr>
          <p:cNvCxnSpPr>
            <a:cxnSpLocks/>
          </p:cNvCxnSpPr>
          <p:nvPr/>
        </p:nvCxnSpPr>
        <p:spPr>
          <a:xfrm>
            <a:off x="9140725" y="2520867"/>
            <a:ext cx="2603803" cy="0"/>
          </a:xfrm>
          <a:prstGeom prst="straightConnector1">
            <a:avLst/>
          </a:prstGeom>
          <a:ln w="38100">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84" name="Straight Connector 83">
            <a:extLst>
              <a:ext uri="{FF2B5EF4-FFF2-40B4-BE49-F238E27FC236}">
                <a16:creationId xmlns:a16="http://schemas.microsoft.com/office/drawing/2014/main" id="{1205B32B-C644-C6B9-D00A-40F266DD8C90}"/>
              </a:ext>
            </a:extLst>
          </p:cNvPr>
          <p:cNvCxnSpPr/>
          <p:nvPr/>
        </p:nvCxnSpPr>
        <p:spPr>
          <a:xfrm>
            <a:off x="9773838" y="2426274"/>
            <a:ext cx="0" cy="189186"/>
          </a:xfrm>
          <a:prstGeom prst="line">
            <a:avLst/>
          </a:prstGeom>
          <a:ln w="381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85" name="Straight Connector 84">
            <a:extLst>
              <a:ext uri="{FF2B5EF4-FFF2-40B4-BE49-F238E27FC236}">
                <a16:creationId xmlns:a16="http://schemas.microsoft.com/office/drawing/2014/main" id="{7D961AD3-5690-51D1-C208-A2B99A6C0206}"/>
              </a:ext>
            </a:extLst>
          </p:cNvPr>
          <p:cNvCxnSpPr/>
          <p:nvPr/>
        </p:nvCxnSpPr>
        <p:spPr>
          <a:xfrm>
            <a:off x="10612673" y="2449586"/>
            <a:ext cx="0" cy="189186"/>
          </a:xfrm>
          <a:prstGeom prst="line">
            <a:avLst/>
          </a:prstGeom>
          <a:ln w="381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86" name="Straight Connector 85">
            <a:extLst>
              <a:ext uri="{FF2B5EF4-FFF2-40B4-BE49-F238E27FC236}">
                <a16:creationId xmlns:a16="http://schemas.microsoft.com/office/drawing/2014/main" id="{6B8C9675-E964-3A22-DC8D-0D818898D8F6}"/>
              </a:ext>
            </a:extLst>
          </p:cNvPr>
          <p:cNvCxnSpPr/>
          <p:nvPr/>
        </p:nvCxnSpPr>
        <p:spPr>
          <a:xfrm>
            <a:off x="11419342" y="2435302"/>
            <a:ext cx="0" cy="189186"/>
          </a:xfrm>
          <a:prstGeom prst="line">
            <a:avLst/>
          </a:prstGeom>
          <a:ln w="38100">
            <a:solidFill>
              <a:schemeClr val="tx1"/>
            </a:solidFill>
          </a:ln>
        </p:spPr>
        <p:style>
          <a:lnRef idx="1">
            <a:schemeClr val="accent1"/>
          </a:lnRef>
          <a:fillRef idx="0">
            <a:schemeClr val="accent1"/>
          </a:fillRef>
          <a:effectRef idx="0">
            <a:schemeClr val="accent1"/>
          </a:effectRef>
          <a:fontRef idx="minor">
            <a:schemeClr val="tx1"/>
          </a:fontRef>
        </p:style>
      </p:cxnSp>
      <p:sp>
        <p:nvSpPr>
          <p:cNvPr id="87" name="TextBox 86">
            <a:extLst>
              <a:ext uri="{FF2B5EF4-FFF2-40B4-BE49-F238E27FC236}">
                <a16:creationId xmlns:a16="http://schemas.microsoft.com/office/drawing/2014/main" id="{7DAE6CED-2794-8E0F-3F01-82C9ED83643D}"/>
              </a:ext>
            </a:extLst>
          </p:cNvPr>
          <p:cNvSpPr txBox="1"/>
          <p:nvPr/>
        </p:nvSpPr>
        <p:spPr>
          <a:xfrm>
            <a:off x="9573855" y="2520867"/>
            <a:ext cx="313730" cy="461665"/>
          </a:xfrm>
          <a:prstGeom prst="rect">
            <a:avLst/>
          </a:prstGeom>
          <a:noFill/>
        </p:spPr>
        <p:txBody>
          <a:bodyPr wrap="square" rtlCol="0">
            <a:spAutoFit/>
          </a:bodyPr>
          <a:lstStyle/>
          <a:p>
            <a:r>
              <a:rPr lang="tr-TR" sz="2400" dirty="0"/>
              <a:t>1</a:t>
            </a:r>
            <a:endParaRPr lang="en-US" sz="2400" dirty="0"/>
          </a:p>
        </p:txBody>
      </p:sp>
      <p:sp>
        <p:nvSpPr>
          <p:cNvPr id="88" name="TextBox 87">
            <a:extLst>
              <a:ext uri="{FF2B5EF4-FFF2-40B4-BE49-F238E27FC236}">
                <a16:creationId xmlns:a16="http://schemas.microsoft.com/office/drawing/2014/main" id="{1F36CFDC-3631-CA9B-D7F7-18965CC152F4}"/>
              </a:ext>
            </a:extLst>
          </p:cNvPr>
          <p:cNvSpPr txBox="1"/>
          <p:nvPr/>
        </p:nvSpPr>
        <p:spPr>
          <a:xfrm>
            <a:off x="10403218" y="2520867"/>
            <a:ext cx="313730" cy="461665"/>
          </a:xfrm>
          <a:prstGeom prst="rect">
            <a:avLst/>
          </a:prstGeom>
          <a:noFill/>
        </p:spPr>
        <p:txBody>
          <a:bodyPr wrap="square" rtlCol="0">
            <a:spAutoFit/>
          </a:bodyPr>
          <a:lstStyle/>
          <a:p>
            <a:r>
              <a:rPr lang="tr-TR" sz="2400" dirty="0"/>
              <a:t>2</a:t>
            </a:r>
            <a:endParaRPr lang="en-US" sz="2400" dirty="0"/>
          </a:p>
        </p:txBody>
      </p:sp>
      <p:sp>
        <p:nvSpPr>
          <p:cNvPr id="89" name="TextBox 88">
            <a:extLst>
              <a:ext uri="{FF2B5EF4-FFF2-40B4-BE49-F238E27FC236}">
                <a16:creationId xmlns:a16="http://schemas.microsoft.com/office/drawing/2014/main" id="{F2695788-3B58-E960-D155-AC7A1C6C81C5}"/>
              </a:ext>
            </a:extLst>
          </p:cNvPr>
          <p:cNvSpPr txBox="1"/>
          <p:nvPr/>
        </p:nvSpPr>
        <p:spPr>
          <a:xfrm>
            <a:off x="11264747" y="2520867"/>
            <a:ext cx="313730" cy="461665"/>
          </a:xfrm>
          <a:prstGeom prst="rect">
            <a:avLst/>
          </a:prstGeom>
          <a:noFill/>
        </p:spPr>
        <p:txBody>
          <a:bodyPr wrap="square" rtlCol="0">
            <a:spAutoFit/>
          </a:bodyPr>
          <a:lstStyle/>
          <a:p>
            <a:r>
              <a:rPr lang="tr-TR" sz="2400" dirty="0"/>
              <a:t>3</a:t>
            </a:r>
            <a:endParaRPr lang="en-US" sz="2400" dirty="0"/>
          </a:p>
        </p:txBody>
      </p:sp>
    </p:spTree>
    <p:extLst>
      <p:ext uri="{BB962C8B-B14F-4D97-AF65-F5344CB8AC3E}">
        <p14:creationId xmlns:p14="http://schemas.microsoft.com/office/powerpoint/2010/main" val="39538592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2"/>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63"/>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6"/>
                                        </p:tgtEl>
                                        <p:attrNameLst>
                                          <p:attrName>style.visibility</p:attrName>
                                        </p:attrNameLst>
                                      </p:cBhvr>
                                      <p:to>
                                        <p:strVal val="visible"/>
                                      </p:to>
                                    </p:set>
                                  </p:childTnLst>
                                </p:cTn>
                              </p:par>
                              <p:par>
                                <p:cTn id="15" presetID="1" presetClass="entr" presetSubtype="0" fill="hold" nodeType="withEffect">
                                  <p:stCondLst>
                                    <p:cond delay="0"/>
                                  </p:stCondLst>
                                  <p:childTnLst>
                                    <p:set>
                                      <p:cBhvr>
                                        <p:cTn id="16" dur="1" fill="hold">
                                          <p:stCondLst>
                                            <p:cond delay="0"/>
                                          </p:stCondLst>
                                        </p:cTn>
                                        <p:tgtEl>
                                          <p:spTgt spid="7"/>
                                        </p:tgtEl>
                                        <p:attrNameLst>
                                          <p:attrName>style.visibility</p:attrName>
                                        </p:attrNameLst>
                                      </p:cBhvr>
                                      <p:to>
                                        <p:strVal val="visible"/>
                                      </p:to>
                                    </p:set>
                                  </p:childTnLst>
                                </p:cTn>
                              </p:par>
                              <p:par>
                                <p:cTn id="17" presetID="1" presetClass="entr" presetSubtype="0" fill="hold" nodeType="withEffect">
                                  <p:stCondLst>
                                    <p:cond delay="0"/>
                                  </p:stCondLst>
                                  <p:childTnLst>
                                    <p:set>
                                      <p:cBhvr>
                                        <p:cTn id="18" dur="1" fill="hold">
                                          <p:stCondLst>
                                            <p:cond delay="0"/>
                                          </p:stCondLst>
                                        </p:cTn>
                                        <p:tgtEl>
                                          <p:spTgt spid="14"/>
                                        </p:tgtEl>
                                        <p:attrNameLst>
                                          <p:attrName>style.visibility</p:attrName>
                                        </p:attrNameLst>
                                      </p:cBhvr>
                                      <p:to>
                                        <p:strVal val="visible"/>
                                      </p:to>
                                    </p:set>
                                  </p:childTnLst>
                                </p:cTn>
                              </p:par>
                              <p:par>
                                <p:cTn id="19" presetID="1" presetClass="entr" presetSubtype="0" fill="hold" nodeType="withEffect">
                                  <p:stCondLst>
                                    <p:cond delay="0"/>
                                  </p:stCondLst>
                                  <p:childTnLst>
                                    <p:set>
                                      <p:cBhvr>
                                        <p:cTn id="20" dur="1" fill="hold">
                                          <p:stCondLst>
                                            <p:cond delay="0"/>
                                          </p:stCondLst>
                                        </p:cTn>
                                        <p:tgtEl>
                                          <p:spTgt spid="15"/>
                                        </p:tgtEl>
                                        <p:attrNameLst>
                                          <p:attrName>style.visibility</p:attrName>
                                        </p:attrNameLst>
                                      </p:cBhvr>
                                      <p:to>
                                        <p:strVal val="visible"/>
                                      </p:to>
                                    </p:set>
                                  </p:childTnLst>
                                </p:cTn>
                              </p:par>
                              <p:par>
                                <p:cTn id="21" presetID="1" presetClass="entr" presetSubtype="0" fill="hold" nodeType="withEffect">
                                  <p:stCondLst>
                                    <p:cond delay="0"/>
                                  </p:stCondLst>
                                  <p:childTnLst>
                                    <p:set>
                                      <p:cBhvr>
                                        <p:cTn id="22" dur="1" fill="hold">
                                          <p:stCondLst>
                                            <p:cond delay="0"/>
                                          </p:stCondLst>
                                        </p:cTn>
                                        <p:tgtEl>
                                          <p:spTgt spid="16"/>
                                        </p:tgtEl>
                                        <p:attrNameLst>
                                          <p:attrName>style.visibility</p:attrName>
                                        </p:attrNameLst>
                                      </p:cBhvr>
                                      <p:to>
                                        <p:strVal val="visible"/>
                                      </p:to>
                                    </p:set>
                                  </p:childTnLst>
                                </p:cTn>
                              </p:par>
                              <p:par>
                                <p:cTn id="23" presetID="1" presetClass="entr" presetSubtype="0" fill="hold" nodeType="withEffect">
                                  <p:stCondLst>
                                    <p:cond delay="0"/>
                                  </p:stCondLst>
                                  <p:childTnLst>
                                    <p:set>
                                      <p:cBhvr>
                                        <p:cTn id="24" dur="1" fill="hold">
                                          <p:stCondLst>
                                            <p:cond delay="0"/>
                                          </p:stCondLst>
                                        </p:cTn>
                                        <p:tgtEl>
                                          <p:spTgt spid="17"/>
                                        </p:tgtEl>
                                        <p:attrNameLst>
                                          <p:attrName>style.visibility</p:attrName>
                                        </p:attrNameLst>
                                      </p:cBhvr>
                                      <p:to>
                                        <p:strVal val="visible"/>
                                      </p:to>
                                    </p:set>
                                  </p:childTnLst>
                                </p:cTn>
                              </p:par>
                              <p:par>
                                <p:cTn id="25" presetID="1" presetClass="entr" presetSubtype="0" fill="hold" nodeType="withEffect">
                                  <p:stCondLst>
                                    <p:cond delay="0"/>
                                  </p:stCondLst>
                                  <p:childTnLst>
                                    <p:set>
                                      <p:cBhvr>
                                        <p:cTn id="26" dur="1" fill="hold">
                                          <p:stCondLst>
                                            <p:cond delay="0"/>
                                          </p:stCondLst>
                                        </p:cTn>
                                        <p:tgtEl>
                                          <p:spTgt spid="18"/>
                                        </p:tgtEl>
                                        <p:attrNameLst>
                                          <p:attrName>style.visibility</p:attrName>
                                        </p:attrNameLst>
                                      </p:cBhvr>
                                      <p:to>
                                        <p:strVal val="visible"/>
                                      </p:to>
                                    </p:set>
                                  </p:childTnLst>
                                </p:cTn>
                              </p:par>
                              <p:par>
                                <p:cTn id="27" presetID="1" presetClass="entr" presetSubtype="0" fill="hold" nodeType="withEffect">
                                  <p:stCondLst>
                                    <p:cond delay="0"/>
                                  </p:stCondLst>
                                  <p:childTnLst>
                                    <p:set>
                                      <p:cBhvr>
                                        <p:cTn id="28" dur="1" fill="hold">
                                          <p:stCondLst>
                                            <p:cond delay="0"/>
                                          </p:stCondLst>
                                        </p:cTn>
                                        <p:tgtEl>
                                          <p:spTgt spid="19"/>
                                        </p:tgtEl>
                                        <p:attrNameLst>
                                          <p:attrName>style.visibility</p:attrName>
                                        </p:attrNameLst>
                                      </p:cBhvr>
                                      <p:to>
                                        <p:strVal val="visible"/>
                                      </p:to>
                                    </p:set>
                                  </p:childTnLst>
                                </p:cTn>
                              </p:par>
                              <p:par>
                                <p:cTn id="29" presetID="1" presetClass="entr" presetSubtype="0" fill="hold" grpId="0" nodeType="withEffect">
                                  <p:stCondLst>
                                    <p:cond delay="0"/>
                                  </p:stCondLst>
                                  <p:childTnLst>
                                    <p:set>
                                      <p:cBhvr>
                                        <p:cTn id="30" dur="1" fill="hold">
                                          <p:stCondLst>
                                            <p:cond delay="0"/>
                                          </p:stCondLst>
                                        </p:cTn>
                                        <p:tgtEl>
                                          <p:spTgt spid="20"/>
                                        </p:tgtEl>
                                        <p:attrNameLst>
                                          <p:attrName>style.visibility</p:attrName>
                                        </p:attrNameLst>
                                      </p:cBhvr>
                                      <p:to>
                                        <p:strVal val="visible"/>
                                      </p:to>
                                    </p:set>
                                  </p:childTnLst>
                                </p:cTn>
                              </p:par>
                              <p:par>
                                <p:cTn id="31" presetID="1" presetClass="entr" presetSubtype="0" fill="hold" grpId="0" nodeType="withEffect">
                                  <p:stCondLst>
                                    <p:cond delay="0"/>
                                  </p:stCondLst>
                                  <p:childTnLst>
                                    <p:set>
                                      <p:cBhvr>
                                        <p:cTn id="32" dur="1" fill="hold">
                                          <p:stCondLst>
                                            <p:cond delay="0"/>
                                          </p:stCondLst>
                                        </p:cTn>
                                        <p:tgtEl>
                                          <p:spTgt spid="21"/>
                                        </p:tgtEl>
                                        <p:attrNameLst>
                                          <p:attrName>style.visibility</p:attrName>
                                        </p:attrNameLst>
                                      </p:cBhvr>
                                      <p:to>
                                        <p:strVal val="visible"/>
                                      </p:to>
                                    </p:set>
                                  </p:childTnLst>
                                </p:cTn>
                              </p:par>
                              <p:par>
                                <p:cTn id="33" presetID="1" presetClass="entr" presetSubtype="0" fill="hold" grpId="0" nodeType="withEffect">
                                  <p:stCondLst>
                                    <p:cond delay="0"/>
                                  </p:stCondLst>
                                  <p:childTnLst>
                                    <p:set>
                                      <p:cBhvr>
                                        <p:cTn id="34" dur="1" fill="hold">
                                          <p:stCondLst>
                                            <p:cond delay="0"/>
                                          </p:stCondLst>
                                        </p:cTn>
                                        <p:tgtEl>
                                          <p:spTgt spid="22"/>
                                        </p:tgtEl>
                                        <p:attrNameLst>
                                          <p:attrName>style.visibility</p:attrName>
                                        </p:attrNameLst>
                                      </p:cBhvr>
                                      <p:to>
                                        <p:strVal val="visible"/>
                                      </p:to>
                                    </p:set>
                                  </p:childTnLst>
                                </p:cTn>
                              </p:par>
                              <p:par>
                                <p:cTn id="35" presetID="1" presetClass="entr" presetSubtype="0" fill="hold" grpId="0" nodeType="withEffect">
                                  <p:stCondLst>
                                    <p:cond delay="0"/>
                                  </p:stCondLst>
                                  <p:childTnLst>
                                    <p:set>
                                      <p:cBhvr>
                                        <p:cTn id="36" dur="1" fill="hold">
                                          <p:stCondLst>
                                            <p:cond delay="0"/>
                                          </p:stCondLst>
                                        </p:cTn>
                                        <p:tgtEl>
                                          <p:spTgt spid="23"/>
                                        </p:tgtEl>
                                        <p:attrNameLst>
                                          <p:attrName>style.visibility</p:attrName>
                                        </p:attrNameLst>
                                      </p:cBhvr>
                                      <p:to>
                                        <p:strVal val="visible"/>
                                      </p:to>
                                    </p:set>
                                  </p:childTnLst>
                                </p:cTn>
                              </p:par>
                              <p:par>
                                <p:cTn id="37" presetID="1" presetClass="entr" presetSubtype="0" fill="hold" grpId="0" nodeType="withEffect">
                                  <p:stCondLst>
                                    <p:cond delay="0"/>
                                  </p:stCondLst>
                                  <p:childTnLst>
                                    <p:set>
                                      <p:cBhvr>
                                        <p:cTn id="38" dur="1" fill="hold">
                                          <p:stCondLst>
                                            <p:cond delay="0"/>
                                          </p:stCondLst>
                                        </p:cTn>
                                        <p:tgtEl>
                                          <p:spTgt spid="26"/>
                                        </p:tgtEl>
                                        <p:attrNameLst>
                                          <p:attrName>style.visibility</p:attrName>
                                        </p:attrNameLst>
                                      </p:cBhvr>
                                      <p:to>
                                        <p:strVal val="visible"/>
                                      </p:to>
                                    </p:set>
                                  </p:childTnLst>
                                </p:cTn>
                              </p:par>
                              <p:par>
                                <p:cTn id="39" presetID="1" presetClass="entr" presetSubtype="0" fill="hold" grpId="0" nodeType="withEffect">
                                  <p:stCondLst>
                                    <p:cond delay="0"/>
                                  </p:stCondLst>
                                  <p:childTnLst>
                                    <p:set>
                                      <p:cBhvr>
                                        <p:cTn id="40" dur="1" fill="hold">
                                          <p:stCondLst>
                                            <p:cond delay="0"/>
                                          </p:stCondLst>
                                        </p:cTn>
                                        <p:tgtEl>
                                          <p:spTgt spid="27"/>
                                        </p:tgtEl>
                                        <p:attrNameLst>
                                          <p:attrName>style.visibility</p:attrName>
                                        </p:attrNameLst>
                                      </p:cBhvr>
                                      <p:to>
                                        <p:strVal val="visible"/>
                                      </p:to>
                                    </p:set>
                                  </p:childTnLst>
                                </p:cTn>
                              </p:par>
                              <p:par>
                                <p:cTn id="41" presetID="1" presetClass="entr" presetSubtype="0" fill="hold" grpId="0" nodeType="withEffect">
                                  <p:stCondLst>
                                    <p:cond delay="0"/>
                                  </p:stCondLst>
                                  <p:childTnLst>
                                    <p:set>
                                      <p:cBhvr>
                                        <p:cTn id="42" dur="1" fill="hold">
                                          <p:stCondLst>
                                            <p:cond delay="0"/>
                                          </p:stCondLst>
                                        </p:cTn>
                                        <p:tgtEl>
                                          <p:spTgt spid="28"/>
                                        </p:tgtEl>
                                        <p:attrNameLst>
                                          <p:attrName>style.visibility</p:attrName>
                                        </p:attrNameLst>
                                      </p:cBhvr>
                                      <p:to>
                                        <p:strVal val="visible"/>
                                      </p:to>
                                    </p:set>
                                  </p:childTnLst>
                                </p:cTn>
                              </p:par>
                              <p:par>
                                <p:cTn id="43" presetID="1" presetClass="entr" presetSubtype="0" fill="hold" grpId="0" nodeType="withEffect">
                                  <p:stCondLst>
                                    <p:cond delay="0"/>
                                  </p:stCondLst>
                                  <p:childTnLst>
                                    <p:set>
                                      <p:cBhvr>
                                        <p:cTn id="44" dur="1" fill="hold">
                                          <p:stCondLst>
                                            <p:cond delay="0"/>
                                          </p:stCondLst>
                                        </p:cTn>
                                        <p:tgtEl>
                                          <p:spTgt spid="29"/>
                                        </p:tgtEl>
                                        <p:attrNameLst>
                                          <p:attrName>style.visibility</p:attrName>
                                        </p:attrNameLst>
                                      </p:cBhvr>
                                      <p:to>
                                        <p:strVal val="visible"/>
                                      </p:to>
                                    </p:set>
                                  </p:childTnLst>
                                </p:cTn>
                              </p:par>
                              <p:par>
                                <p:cTn id="45" presetID="1" presetClass="entr" presetSubtype="0" fill="hold" nodeType="withEffect">
                                  <p:stCondLst>
                                    <p:cond delay="0"/>
                                  </p:stCondLst>
                                  <p:childTnLst>
                                    <p:set>
                                      <p:cBhvr>
                                        <p:cTn id="46" dur="1" fill="hold">
                                          <p:stCondLst>
                                            <p:cond delay="0"/>
                                          </p:stCondLst>
                                        </p:cTn>
                                        <p:tgtEl>
                                          <p:spTgt spid="65"/>
                                        </p:tgtEl>
                                        <p:attrNameLst>
                                          <p:attrName>style.visibility</p:attrName>
                                        </p:attrNameLst>
                                      </p:cBhvr>
                                      <p:to>
                                        <p:strVal val="visible"/>
                                      </p:to>
                                    </p:set>
                                  </p:childTnLst>
                                </p:cTn>
                              </p:par>
                              <p:par>
                                <p:cTn id="47" presetID="1" presetClass="entr" presetSubtype="0" fill="hold" grpId="0" nodeType="withEffect">
                                  <p:stCondLst>
                                    <p:cond delay="0"/>
                                  </p:stCondLst>
                                  <p:childTnLst>
                                    <p:set>
                                      <p:cBhvr>
                                        <p:cTn id="48" dur="1" fill="hold">
                                          <p:stCondLst>
                                            <p:cond delay="0"/>
                                          </p:stCondLst>
                                        </p:cTn>
                                        <p:tgtEl>
                                          <p:spTgt spid="69"/>
                                        </p:tgtEl>
                                        <p:attrNameLst>
                                          <p:attrName>style.visibility</p:attrName>
                                        </p:attrNameLst>
                                      </p:cBhvr>
                                      <p:to>
                                        <p:strVal val="visible"/>
                                      </p:to>
                                    </p:set>
                                  </p:childTnLst>
                                </p:cTn>
                              </p:par>
                              <p:par>
                                <p:cTn id="49" presetID="1" presetClass="entr" presetSubtype="0" fill="hold" grpId="0" nodeType="withEffect">
                                  <p:stCondLst>
                                    <p:cond delay="0"/>
                                  </p:stCondLst>
                                  <p:childTnLst>
                                    <p:set>
                                      <p:cBhvr>
                                        <p:cTn id="50" dur="1" fill="hold">
                                          <p:stCondLst>
                                            <p:cond delay="0"/>
                                          </p:stCondLst>
                                        </p:cTn>
                                        <p:tgtEl>
                                          <p:spTgt spid="72"/>
                                        </p:tgtEl>
                                        <p:attrNameLst>
                                          <p:attrName>style.visibility</p:attrName>
                                        </p:attrNameLst>
                                      </p:cBhvr>
                                      <p:to>
                                        <p:strVal val="visible"/>
                                      </p:to>
                                    </p:set>
                                  </p:childTnLst>
                                </p:cTn>
                              </p:par>
                            </p:childTnLst>
                          </p:cTn>
                        </p:par>
                      </p:childTnLst>
                    </p:cTn>
                  </p:par>
                  <p:par>
                    <p:cTn id="51" fill="hold">
                      <p:stCondLst>
                        <p:cond delay="indefinite"/>
                      </p:stCondLst>
                      <p:childTnLst>
                        <p:par>
                          <p:cTn id="52" fill="hold">
                            <p:stCondLst>
                              <p:cond delay="0"/>
                            </p:stCondLst>
                            <p:childTnLst>
                              <p:par>
                                <p:cTn id="53" presetID="1" presetClass="entr" presetSubtype="0" fill="hold" nodeType="clickEffect">
                                  <p:stCondLst>
                                    <p:cond delay="0"/>
                                  </p:stCondLst>
                                  <p:childTnLst>
                                    <p:set>
                                      <p:cBhvr>
                                        <p:cTn id="54" dur="1" fill="hold">
                                          <p:stCondLst>
                                            <p:cond delay="0"/>
                                          </p:stCondLst>
                                        </p:cTn>
                                        <p:tgtEl>
                                          <p:spTgt spid="30"/>
                                        </p:tgtEl>
                                        <p:attrNameLst>
                                          <p:attrName>style.visibility</p:attrName>
                                        </p:attrNameLst>
                                      </p:cBhvr>
                                      <p:to>
                                        <p:strVal val="visible"/>
                                      </p:to>
                                    </p:set>
                                  </p:childTnLst>
                                </p:cTn>
                              </p:par>
                              <p:par>
                                <p:cTn id="55" presetID="1" presetClass="entr" presetSubtype="0" fill="hold" nodeType="withEffect">
                                  <p:stCondLst>
                                    <p:cond delay="0"/>
                                  </p:stCondLst>
                                  <p:childTnLst>
                                    <p:set>
                                      <p:cBhvr>
                                        <p:cTn id="56" dur="1" fill="hold">
                                          <p:stCondLst>
                                            <p:cond delay="0"/>
                                          </p:stCondLst>
                                        </p:cTn>
                                        <p:tgtEl>
                                          <p:spTgt spid="31"/>
                                        </p:tgtEl>
                                        <p:attrNameLst>
                                          <p:attrName>style.visibility</p:attrName>
                                        </p:attrNameLst>
                                      </p:cBhvr>
                                      <p:to>
                                        <p:strVal val="visible"/>
                                      </p:to>
                                    </p:set>
                                  </p:childTnLst>
                                </p:cTn>
                              </p:par>
                              <p:par>
                                <p:cTn id="57" presetID="1" presetClass="entr" presetSubtype="0" fill="hold" nodeType="withEffect">
                                  <p:stCondLst>
                                    <p:cond delay="0"/>
                                  </p:stCondLst>
                                  <p:childTnLst>
                                    <p:set>
                                      <p:cBhvr>
                                        <p:cTn id="58" dur="1" fill="hold">
                                          <p:stCondLst>
                                            <p:cond delay="0"/>
                                          </p:stCondLst>
                                        </p:cTn>
                                        <p:tgtEl>
                                          <p:spTgt spid="32"/>
                                        </p:tgtEl>
                                        <p:attrNameLst>
                                          <p:attrName>style.visibility</p:attrName>
                                        </p:attrNameLst>
                                      </p:cBhvr>
                                      <p:to>
                                        <p:strVal val="visible"/>
                                      </p:to>
                                    </p:set>
                                  </p:childTnLst>
                                </p:cTn>
                              </p:par>
                              <p:par>
                                <p:cTn id="59" presetID="1" presetClass="entr" presetSubtype="0" fill="hold" nodeType="withEffect">
                                  <p:stCondLst>
                                    <p:cond delay="0"/>
                                  </p:stCondLst>
                                  <p:childTnLst>
                                    <p:set>
                                      <p:cBhvr>
                                        <p:cTn id="60" dur="1" fill="hold">
                                          <p:stCondLst>
                                            <p:cond delay="0"/>
                                          </p:stCondLst>
                                        </p:cTn>
                                        <p:tgtEl>
                                          <p:spTgt spid="33"/>
                                        </p:tgtEl>
                                        <p:attrNameLst>
                                          <p:attrName>style.visibility</p:attrName>
                                        </p:attrNameLst>
                                      </p:cBhvr>
                                      <p:to>
                                        <p:strVal val="visible"/>
                                      </p:to>
                                    </p:set>
                                  </p:childTnLst>
                                </p:cTn>
                              </p:par>
                              <p:par>
                                <p:cTn id="61" presetID="1" presetClass="entr" presetSubtype="0" fill="hold" nodeType="withEffect">
                                  <p:stCondLst>
                                    <p:cond delay="0"/>
                                  </p:stCondLst>
                                  <p:childTnLst>
                                    <p:set>
                                      <p:cBhvr>
                                        <p:cTn id="62" dur="1" fill="hold">
                                          <p:stCondLst>
                                            <p:cond delay="0"/>
                                          </p:stCondLst>
                                        </p:cTn>
                                        <p:tgtEl>
                                          <p:spTgt spid="34"/>
                                        </p:tgtEl>
                                        <p:attrNameLst>
                                          <p:attrName>style.visibility</p:attrName>
                                        </p:attrNameLst>
                                      </p:cBhvr>
                                      <p:to>
                                        <p:strVal val="visible"/>
                                      </p:to>
                                    </p:set>
                                  </p:childTnLst>
                                </p:cTn>
                              </p:par>
                              <p:par>
                                <p:cTn id="63" presetID="1" presetClass="entr" presetSubtype="0" fill="hold" nodeType="withEffect">
                                  <p:stCondLst>
                                    <p:cond delay="0"/>
                                  </p:stCondLst>
                                  <p:childTnLst>
                                    <p:set>
                                      <p:cBhvr>
                                        <p:cTn id="64" dur="1" fill="hold">
                                          <p:stCondLst>
                                            <p:cond delay="0"/>
                                          </p:stCondLst>
                                        </p:cTn>
                                        <p:tgtEl>
                                          <p:spTgt spid="35"/>
                                        </p:tgtEl>
                                        <p:attrNameLst>
                                          <p:attrName>style.visibility</p:attrName>
                                        </p:attrNameLst>
                                      </p:cBhvr>
                                      <p:to>
                                        <p:strVal val="visible"/>
                                      </p:to>
                                    </p:set>
                                  </p:childTnLst>
                                </p:cTn>
                              </p:par>
                              <p:par>
                                <p:cTn id="65" presetID="1" presetClass="entr" presetSubtype="0" fill="hold" nodeType="withEffect">
                                  <p:stCondLst>
                                    <p:cond delay="0"/>
                                  </p:stCondLst>
                                  <p:childTnLst>
                                    <p:set>
                                      <p:cBhvr>
                                        <p:cTn id="66" dur="1" fill="hold">
                                          <p:stCondLst>
                                            <p:cond delay="0"/>
                                          </p:stCondLst>
                                        </p:cTn>
                                        <p:tgtEl>
                                          <p:spTgt spid="36"/>
                                        </p:tgtEl>
                                        <p:attrNameLst>
                                          <p:attrName>style.visibility</p:attrName>
                                        </p:attrNameLst>
                                      </p:cBhvr>
                                      <p:to>
                                        <p:strVal val="visible"/>
                                      </p:to>
                                    </p:set>
                                  </p:childTnLst>
                                </p:cTn>
                              </p:par>
                              <p:par>
                                <p:cTn id="67" presetID="1" presetClass="entr" presetSubtype="0" fill="hold" nodeType="withEffect">
                                  <p:stCondLst>
                                    <p:cond delay="0"/>
                                  </p:stCondLst>
                                  <p:childTnLst>
                                    <p:set>
                                      <p:cBhvr>
                                        <p:cTn id="68" dur="1" fill="hold">
                                          <p:stCondLst>
                                            <p:cond delay="0"/>
                                          </p:stCondLst>
                                        </p:cTn>
                                        <p:tgtEl>
                                          <p:spTgt spid="37"/>
                                        </p:tgtEl>
                                        <p:attrNameLst>
                                          <p:attrName>style.visibility</p:attrName>
                                        </p:attrNameLst>
                                      </p:cBhvr>
                                      <p:to>
                                        <p:strVal val="visible"/>
                                      </p:to>
                                    </p:set>
                                  </p:childTnLst>
                                </p:cTn>
                              </p:par>
                              <p:par>
                                <p:cTn id="69" presetID="1" presetClass="entr" presetSubtype="0" fill="hold" grpId="0" nodeType="withEffect">
                                  <p:stCondLst>
                                    <p:cond delay="0"/>
                                  </p:stCondLst>
                                  <p:childTnLst>
                                    <p:set>
                                      <p:cBhvr>
                                        <p:cTn id="70" dur="1" fill="hold">
                                          <p:stCondLst>
                                            <p:cond delay="0"/>
                                          </p:stCondLst>
                                        </p:cTn>
                                        <p:tgtEl>
                                          <p:spTgt spid="38"/>
                                        </p:tgtEl>
                                        <p:attrNameLst>
                                          <p:attrName>style.visibility</p:attrName>
                                        </p:attrNameLst>
                                      </p:cBhvr>
                                      <p:to>
                                        <p:strVal val="visible"/>
                                      </p:to>
                                    </p:set>
                                  </p:childTnLst>
                                </p:cTn>
                              </p:par>
                              <p:par>
                                <p:cTn id="71" presetID="1" presetClass="entr" presetSubtype="0" fill="hold" grpId="0" nodeType="withEffect">
                                  <p:stCondLst>
                                    <p:cond delay="0"/>
                                  </p:stCondLst>
                                  <p:childTnLst>
                                    <p:set>
                                      <p:cBhvr>
                                        <p:cTn id="72" dur="1" fill="hold">
                                          <p:stCondLst>
                                            <p:cond delay="0"/>
                                          </p:stCondLst>
                                        </p:cTn>
                                        <p:tgtEl>
                                          <p:spTgt spid="39"/>
                                        </p:tgtEl>
                                        <p:attrNameLst>
                                          <p:attrName>style.visibility</p:attrName>
                                        </p:attrNameLst>
                                      </p:cBhvr>
                                      <p:to>
                                        <p:strVal val="visible"/>
                                      </p:to>
                                    </p:set>
                                  </p:childTnLst>
                                </p:cTn>
                              </p:par>
                              <p:par>
                                <p:cTn id="73" presetID="1" presetClass="entr" presetSubtype="0" fill="hold" grpId="0" nodeType="withEffect">
                                  <p:stCondLst>
                                    <p:cond delay="0"/>
                                  </p:stCondLst>
                                  <p:childTnLst>
                                    <p:set>
                                      <p:cBhvr>
                                        <p:cTn id="74" dur="1" fill="hold">
                                          <p:stCondLst>
                                            <p:cond delay="0"/>
                                          </p:stCondLst>
                                        </p:cTn>
                                        <p:tgtEl>
                                          <p:spTgt spid="40"/>
                                        </p:tgtEl>
                                        <p:attrNameLst>
                                          <p:attrName>style.visibility</p:attrName>
                                        </p:attrNameLst>
                                      </p:cBhvr>
                                      <p:to>
                                        <p:strVal val="visible"/>
                                      </p:to>
                                    </p:set>
                                  </p:childTnLst>
                                </p:cTn>
                              </p:par>
                              <p:par>
                                <p:cTn id="75" presetID="1" presetClass="entr" presetSubtype="0" fill="hold" grpId="0" nodeType="withEffect">
                                  <p:stCondLst>
                                    <p:cond delay="0"/>
                                  </p:stCondLst>
                                  <p:childTnLst>
                                    <p:set>
                                      <p:cBhvr>
                                        <p:cTn id="76" dur="1" fill="hold">
                                          <p:stCondLst>
                                            <p:cond delay="0"/>
                                          </p:stCondLst>
                                        </p:cTn>
                                        <p:tgtEl>
                                          <p:spTgt spid="41"/>
                                        </p:tgtEl>
                                        <p:attrNameLst>
                                          <p:attrName>style.visibility</p:attrName>
                                        </p:attrNameLst>
                                      </p:cBhvr>
                                      <p:to>
                                        <p:strVal val="visible"/>
                                      </p:to>
                                    </p:set>
                                  </p:childTnLst>
                                </p:cTn>
                              </p:par>
                              <p:par>
                                <p:cTn id="77" presetID="1" presetClass="entr" presetSubtype="0" fill="hold" grpId="0" nodeType="withEffect">
                                  <p:stCondLst>
                                    <p:cond delay="0"/>
                                  </p:stCondLst>
                                  <p:childTnLst>
                                    <p:set>
                                      <p:cBhvr>
                                        <p:cTn id="78" dur="1" fill="hold">
                                          <p:stCondLst>
                                            <p:cond delay="0"/>
                                          </p:stCondLst>
                                        </p:cTn>
                                        <p:tgtEl>
                                          <p:spTgt spid="42"/>
                                        </p:tgtEl>
                                        <p:attrNameLst>
                                          <p:attrName>style.visibility</p:attrName>
                                        </p:attrNameLst>
                                      </p:cBhvr>
                                      <p:to>
                                        <p:strVal val="visible"/>
                                      </p:to>
                                    </p:set>
                                  </p:childTnLst>
                                </p:cTn>
                              </p:par>
                              <p:par>
                                <p:cTn id="79" presetID="1" presetClass="entr" presetSubtype="0" fill="hold" grpId="0" nodeType="withEffect">
                                  <p:stCondLst>
                                    <p:cond delay="0"/>
                                  </p:stCondLst>
                                  <p:childTnLst>
                                    <p:set>
                                      <p:cBhvr>
                                        <p:cTn id="80" dur="1" fill="hold">
                                          <p:stCondLst>
                                            <p:cond delay="0"/>
                                          </p:stCondLst>
                                        </p:cTn>
                                        <p:tgtEl>
                                          <p:spTgt spid="43"/>
                                        </p:tgtEl>
                                        <p:attrNameLst>
                                          <p:attrName>style.visibility</p:attrName>
                                        </p:attrNameLst>
                                      </p:cBhvr>
                                      <p:to>
                                        <p:strVal val="visible"/>
                                      </p:to>
                                    </p:set>
                                  </p:childTnLst>
                                </p:cTn>
                              </p:par>
                              <p:par>
                                <p:cTn id="81" presetID="1" presetClass="entr" presetSubtype="0" fill="hold" grpId="0" nodeType="withEffect">
                                  <p:stCondLst>
                                    <p:cond delay="0"/>
                                  </p:stCondLst>
                                  <p:childTnLst>
                                    <p:set>
                                      <p:cBhvr>
                                        <p:cTn id="82" dur="1" fill="hold">
                                          <p:stCondLst>
                                            <p:cond delay="0"/>
                                          </p:stCondLst>
                                        </p:cTn>
                                        <p:tgtEl>
                                          <p:spTgt spid="44"/>
                                        </p:tgtEl>
                                        <p:attrNameLst>
                                          <p:attrName>style.visibility</p:attrName>
                                        </p:attrNameLst>
                                      </p:cBhvr>
                                      <p:to>
                                        <p:strVal val="visible"/>
                                      </p:to>
                                    </p:set>
                                  </p:childTnLst>
                                </p:cTn>
                              </p:par>
                              <p:par>
                                <p:cTn id="83" presetID="1" presetClass="entr" presetSubtype="0" fill="hold" grpId="0" nodeType="withEffect">
                                  <p:stCondLst>
                                    <p:cond delay="0"/>
                                  </p:stCondLst>
                                  <p:childTnLst>
                                    <p:set>
                                      <p:cBhvr>
                                        <p:cTn id="84" dur="1" fill="hold">
                                          <p:stCondLst>
                                            <p:cond delay="0"/>
                                          </p:stCondLst>
                                        </p:cTn>
                                        <p:tgtEl>
                                          <p:spTgt spid="45"/>
                                        </p:tgtEl>
                                        <p:attrNameLst>
                                          <p:attrName>style.visibility</p:attrName>
                                        </p:attrNameLst>
                                      </p:cBhvr>
                                      <p:to>
                                        <p:strVal val="visible"/>
                                      </p:to>
                                    </p:set>
                                  </p:childTnLst>
                                </p:cTn>
                              </p:par>
                              <p:par>
                                <p:cTn id="85" presetID="1" presetClass="entr" presetSubtype="0" fill="hold" nodeType="withEffect">
                                  <p:stCondLst>
                                    <p:cond delay="0"/>
                                  </p:stCondLst>
                                  <p:childTnLst>
                                    <p:set>
                                      <p:cBhvr>
                                        <p:cTn id="86" dur="1" fill="hold">
                                          <p:stCondLst>
                                            <p:cond delay="0"/>
                                          </p:stCondLst>
                                        </p:cTn>
                                        <p:tgtEl>
                                          <p:spTgt spid="66"/>
                                        </p:tgtEl>
                                        <p:attrNameLst>
                                          <p:attrName>style.visibility</p:attrName>
                                        </p:attrNameLst>
                                      </p:cBhvr>
                                      <p:to>
                                        <p:strVal val="visible"/>
                                      </p:to>
                                    </p:set>
                                  </p:childTnLst>
                                </p:cTn>
                              </p:par>
                              <p:par>
                                <p:cTn id="87" presetID="1" presetClass="entr" presetSubtype="0" fill="hold" grpId="0" nodeType="withEffect">
                                  <p:stCondLst>
                                    <p:cond delay="0"/>
                                  </p:stCondLst>
                                  <p:childTnLst>
                                    <p:set>
                                      <p:cBhvr>
                                        <p:cTn id="88" dur="1" fill="hold">
                                          <p:stCondLst>
                                            <p:cond delay="0"/>
                                          </p:stCondLst>
                                        </p:cTn>
                                        <p:tgtEl>
                                          <p:spTgt spid="70"/>
                                        </p:tgtEl>
                                        <p:attrNameLst>
                                          <p:attrName>style.visibility</p:attrName>
                                        </p:attrNameLst>
                                      </p:cBhvr>
                                      <p:to>
                                        <p:strVal val="visible"/>
                                      </p:to>
                                    </p:set>
                                  </p:childTnLst>
                                </p:cTn>
                              </p:par>
                              <p:par>
                                <p:cTn id="89" presetID="1" presetClass="entr" presetSubtype="0" fill="hold" grpId="0" nodeType="withEffect">
                                  <p:stCondLst>
                                    <p:cond delay="0"/>
                                  </p:stCondLst>
                                  <p:childTnLst>
                                    <p:set>
                                      <p:cBhvr>
                                        <p:cTn id="90" dur="1" fill="hold">
                                          <p:stCondLst>
                                            <p:cond delay="0"/>
                                          </p:stCondLst>
                                        </p:cTn>
                                        <p:tgtEl>
                                          <p:spTgt spid="73"/>
                                        </p:tgtEl>
                                        <p:attrNameLst>
                                          <p:attrName>style.visibility</p:attrName>
                                        </p:attrNameLst>
                                      </p:cBhvr>
                                      <p:to>
                                        <p:strVal val="visible"/>
                                      </p:to>
                                    </p:set>
                                  </p:childTnLst>
                                </p:cTn>
                              </p:par>
                            </p:childTnLst>
                          </p:cTn>
                        </p:par>
                      </p:childTnLst>
                    </p:cTn>
                  </p:par>
                  <p:par>
                    <p:cTn id="91" fill="hold">
                      <p:stCondLst>
                        <p:cond delay="indefinite"/>
                      </p:stCondLst>
                      <p:childTnLst>
                        <p:par>
                          <p:cTn id="92" fill="hold">
                            <p:stCondLst>
                              <p:cond delay="0"/>
                            </p:stCondLst>
                            <p:childTnLst>
                              <p:par>
                                <p:cTn id="93" presetID="1" presetClass="entr" presetSubtype="0" fill="hold" nodeType="clickEffect">
                                  <p:stCondLst>
                                    <p:cond delay="0"/>
                                  </p:stCondLst>
                                  <p:childTnLst>
                                    <p:set>
                                      <p:cBhvr>
                                        <p:cTn id="94" dur="1" fill="hold">
                                          <p:stCondLst>
                                            <p:cond delay="0"/>
                                          </p:stCondLst>
                                        </p:cTn>
                                        <p:tgtEl>
                                          <p:spTgt spid="46"/>
                                        </p:tgtEl>
                                        <p:attrNameLst>
                                          <p:attrName>style.visibility</p:attrName>
                                        </p:attrNameLst>
                                      </p:cBhvr>
                                      <p:to>
                                        <p:strVal val="visible"/>
                                      </p:to>
                                    </p:set>
                                  </p:childTnLst>
                                </p:cTn>
                              </p:par>
                              <p:par>
                                <p:cTn id="95" presetID="1" presetClass="entr" presetSubtype="0" fill="hold" nodeType="withEffect">
                                  <p:stCondLst>
                                    <p:cond delay="0"/>
                                  </p:stCondLst>
                                  <p:childTnLst>
                                    <p:set>
                                      <p:cBhvr>
                                        <p:cTn id="96" dur="1" fill="hold">
                                          <p:stCondLst>
                                            <p:cond delay="0"/>
                                          </p:stCondLst>
                                        </p:cTn>
                                        <p:tgtEl>
                                          <p:spTgt spid="47"/>
                                        </p:tgtEl>
                                        <p:attrNameLst>
                                          <p:attrName>style.visibility</p:attrName>
                                        </p:attrNameLst>
                                      </p:cBhvr>
                                      <p:to>
                                        <p:strVal val="visible"/>
                                      </p:to>
                                    </p:set>
                                  </p:childTnLst>
                                </p:cTn>
                              </p:par>
                              <p:par>
                                <p:cTn id="97" presetID="1" presetClass="entr" presetSubtype="0" fill="hold" nodeType="withEffect">
                                  <p:stCondLst>
                                    <p:cond delay="0"/>
                                  </p:stCondLst>
                                  <p:childTnLst>
                                    <p:set>
                                      <p:cBhvr>
                                        <p:cTn id="98" dur="1" fill="hold">
                                          <p:stCondLst>
                                            <p:cond delay="0"/>
                                          </p:stCondLst>
                                        </p:cTn>
                                        <p:tgtEl>
                                          <p:spTgt spid="48"/>
                                        </p:tgtEl>
                                        <p:attrNameLst>
                                          <p:attrName>style.visibility</p:attrName>
                                        </p:attrNameLst>
                                      </p:cBhvr>
                                      <p:to>
                                        <p:strVal val="visible"/>
                                      </p:to>
                                    </p:set>
                                  </p:childTnLst>
                                </p:cTn>
                              </p:par>
                              <p:par>
                                <p:cTn id="99" presetID="1" presetClass="entr" presetSubtype="0" fill="hold" nodeType="withEffect">
                                  <p:stCondLst>
                                    <p:cond delay="0"/>
                                  </p:stCondLst>
                                  <p:childTnLst>
                                    <p:set>
                                      <p:cBhvr>
                                        <p:cTn id="100" dur="1" fill="hold">
                                          <p:stCondLst>
                                            <p:cond delay="0"/>
                                          </p:stCondLst>
                                        </p:cTn>
                                        <p:tgtEl>
                                          <p:spTgt spid="49"/>
                                        </p:tgtEl>
                                        <p:attrNameLst>
                                          <p:attrName>style.visibility</p:attrName>
                                        </p:attrNameLst>
                                      </p:cBhvr>
                                      <p:to>
                                        <p:strVal val="visible"/>
                                      </p:to>
                                    </p:set>
                                  </p:childTnLst>
                                </p:cTn>
                              </p:par>
                              <p:par>
                                <p:cTn id="101" presetID="1" presetClass="entr" presetSubtype="0" fill="hold" nodeType="withEffect">
                                  <p:stCondLst>
                                    <p:cond delay="0"/>
                                  </p:stCondLst>
                                  <p:childTnLst>
                                    <p:set>
                                      <p:cBhvr>
                                        <p:cTn id="102" dur="1" fill="hold">
                                          <p:stCondLst>
                                            <p:cond delay="0"/>
                                          </p:stCondLst>
                                        </p:cTn>
                                        <p:tgtEl>
                                          <p:spTgt spid="50"/>
                                        </p:tgtEl>
                                        <p:attrNameLst>
                                          <p:attrName>style.visibility</p:attrName>
                                        </p:attrNameLst>
                                      </p:cBhvr>
                                      <p:to>
                                        <p:strVal val="visible"/>
                                      </p:to>
                                    </p:set>
                                  </p:childTnLst>
                                </p:cTn>
                              </p:par>
                              <p:par>
                                <p:cTn id="103" presetID="1" presetClass="entr" presetSubtype="0" fill="hold" nodeType="withEffect">
                                  <p:stCondLst>
                                    <p:cond delay="0"/>
                                  </p:stCondLst>
                                  <p:childTnLst>
                                    <p:set>
                                      <p:cBhvr>
                                        <p:cTn id="104" dur="1" fill="hold">
                                          <p:stCondLst>
                                            <p:cond delay="0"/>
                                          </p:stCondLst>
                                        </p:cTn>
                                        <p:tgtEl>
                                          <p:spTgt spid="51"/>
                                        </p:tgtEl>
                                        <p:attrNameLst>
                                          <p:attrName>style.visibility</p:attrName>
                                        </p:attrNameLst>
                                      </p:cBhvr>
                                      <p:to>
                                        <p:strVal val="visible"/>
                                      </p:to>
                                    </p:set>
                                  </p:childTnLst>
                                </p:cTn>
                              </p:par>
                              <p:par>
                                <p:cTn id="105" presetID="1" presetClass="entr" presetSubtype="0" fill="hold" nodeType="withEffect">
                                  <p:stCondLst>
                                    <p:cond delay="0"/>
                                  </p:stCondLst>
                                  <p:childTnLst>
                                    <p:set>
                                      <p:cBhvr>
                                        <p:cTn id="106" dur="1" fill="hold">
                                          <p:stCondLst>
                                            <p:cond delay="0"/>
                                          </p:stCondLst>
                                        </p:cTn>
                                        <p:tgtEl>
                                          <p:spTgt spid="52"/>
                                        </p:tgtEl>
                                        <p:attrNameLst>
                                          <p:attrName>style.visibility</p:attrName>
                                        </p:attrNameLst>
                                      </p:cBhvr>
                                      <p:to>
                                        <p:strVal val="visible"/>
                                      </p:to>
                                    </p:set>
                                  </p:childTnLst>
                                </p:cTn>
                              </p:par>
                              <p:par>
                                <p:cTn id="107" presetID="1" presetClass="entr" presetSubtype="0" fill="hold" nodeType="withEffect">
                                  <p:stCondLst>
                                    <p:cond delay="0"/>
                                  </p:stCondLst>
                                  <p:childTnLst>
                                    <p:set>
                                      <p:cBhvr>
                                        <p:cTn id="108" dur="1" fill="hold">
                                          <p:stCondLst>
                                            <p:cond delay="0"/>
                                          </p:stCondLst>
                                        </p:cTn>
                                        <p:tgtEl>
                                          <p:spTgt spid="53"/>
                                        </p:tgtEl>
                                        <p:attrNameLst>
                                          <p:attrName>style.visibility</p:attrName>
                                        </p:attrNameLst>
                                      </p:cBhvr>
                                      <p:to>
                                        <p:strVal val="visible"/>
                                      </p:to>
                                    </p:set>
                                  </p:childTnLst>
                                </p:cTn>
                              </p:par>
                              <p:par>
                                <p:cTn id="109" presetID="1" presetClass="entr" presetSubtype="0" fill="hold" grpId="0" nodeType="withEffect">
                                  <p:stCondLst>
                                    <p:cond delay="0"/>
                                  </p:stCondLst>
                                  <p:childTnLst>
                                    <p:set>
                                      <p:cBhvr>
                                        <p:cTn id="110" dur="1" fill="hold">
                                          <p:stCondLst>
                                            <p:cond delay="0"/>
                                          </p:stCondLst>
                                        </p:cTn>
                                        <p:tgtEl>
                                          <p:spTgt spid="54"/>
                                        </p:tgtEl>
                                        <p:attrNameLst>
                                          <p:attrName>style.visibility</p:attrName>
                                        </p:attrNameLst>
                                      </p:cBhvr>
                                      <p:to>
                                        <p:strVal val="visible"/>
                                      </p:to>
                                    </p:set>
                                  </p:childTnLst>
                                </p:cTn>
                              </p:par>
                              <p:par>
                                <p:cTn id="111" presetID="1" presetClass="entr" presetSubtype="0" fill="hold" grpId="0" nodeType="withEffect">
                                  <p:stCondLst>
                                    <p:cond delay="0"/>
                                  </p:stCondLst>
                                  <p:childTnLst>
                                    <p:set>
                                      <p:cBhvr>
                                        <p:cTn id="112" dur="1" fill="hold">
                                          <p:stCondLst>
                                            <p:cond delay="0"/>
                                          </p:stCondLst>
                                        </p:cTn>
                                        <p:tgtEl>
                                          <p:spTgt spid="55"/>
                                        </p:tgtEl>
                                        <p:attrNameLst>
                                          <p:attrName>style.visibility</p:attrName>
                                        </p:attrNameLst>
                                      </p:cBhvr>
                                      <p:to>
                                        <p:strVal val="visible"/>
                                      </p:to>
                                    </p:set>
                                  </p:childTnLst>
                                </p:cTn>
                              </p:par>
                              <p:par>
                                <p:cTn id="113" presetID="1" presetClass="entr" presetSubtype="0" fill="hold" grpId="0" nodeType="withEffect">
                                  <p:stCondLst>
                                    <p:cond delay="0"/>
                                  </p:stCondLst>
                                  <p:childTnLst>
                                    <p:set>
                                      <p:cBhvr>
                                        <p:cTn id="114" dur="1" fill="hold">
                                          <p:stCondLst>
                                            <p:cond delay="0"/>
                                          </p:stCondLst>
                                        </p:cTn>
                                        <p:tgtEl>
                                          <p:spTgt spid="56"/>
                                        </p:tgtEl>
                                        <p:attrNameLst>
                                          <p:attrName>style.visibility</p:attrName>
                                        </p:attrNameLst>
                                      </p:cBhvr>
                                      <p:to>
                                        <p:strVal val="visible"/>
                                      </p:to>
                                    </p:set>
                                  </p:childTnLst>
                                </p:cTn>
                              </p:par>
                              <p:par>
                                <p:cTn id="115" presetID="1" presetClass="entr" presetSubtype="0" fill="hold" grpId="0" nodeType="withEffect">
                                  <p:stCondLst>
                                    <p:cond delay="0"/>
                                  </p:stCondLst>
                                  <p:childTnLst>
                                    <p:set>
                                      <p:cBhvr>
                                        <p:cTn id="116" dur="1" fill="hold">
                                          <p:stCondLst>
                                            <p:cond delay="0"/>
                                          </p:stCondLst>
                                        </p:cTn>
                                        <p:tgtEl>
                                          <p:spTgt spid="57"/>
                                        </p:tgtEl>
                                        <p:attrNameLst>
                                          <p:attrName>style.visibility</p:attrName>
                                        </p:attrNameLst>
                                      </p:cBhvr>
                                      <p:to>
                                        <p:strVal val="visible"/>
                                      </p:to>
                                    </p:set>
                                  </p:childTnLst>
                                </p:cTn>
                              </p:par>
                              <p:par>
                                <p:cTn id="117" presetID="1" presetClass="entr" presetSubtype="0" fill="hold" grpId="0" nodeType="withEffect">
                                  <p:stCondLst>
                                    <p:cond delay="0"/>
                                  </p:stCondLst>
                                  <p:childTnLst>
                                    <p:set>
                                      <p:cBhvr>
                                        <p:cTn id="118" dur="1" fill="hold">
                                          <p:stCondLst>
                                            <p:cond delay="0"/>
                                          </p:stCondLst>
                                        </p:cTn>
                                        <p:tgtEl>
                                          <p:spTgt spid="58"/>
                                        </p:tgtEl>
                                        <p:attrNameLst>
                                          <p:attrName>style.visibility</p:attrName>
                                        </p:attrNameLst>
                                      </p:cBhvr>
                                      <p:to>
                                        <p:strVal val="visible"/>
                                      </p:to>
                                    </p:set>
                                  </p:childTnLst>
                                </p:cTn>
                              </p:par>
                              <p:par>
                                <p:cTn id="119" presetID="1" presetClass="entr" presetSubtype="0" fill="hold" grpId="0" nodeType="withEffect">
                                  <p:stCondLst>
                                    <p:cond delay="0"/>
                                  </p:stCondLst>
                                  <p:childTnLst>
                                    <p:set>
                                      <p:cBhvr>
                                        <p:cTn id="120" dur="1" fill="hold">
                                          <p:stCondLst>
                                            <p:cond delay="0"/>
                                          </p:stCondLst>
                                        </p:cTn>
                                        <p:tgtEl>
                                          <p:spTgt spid="59"/>
                                        </p:tgtEl>
                                        <p:attrNameLst>
                                          <p:attrName>style.visibility</p:attrName>
                                        </p:attrNameLst>
                                      </p:cBhvr>
                                      <p:to>
                                        <p:strVal val="visible"/>
                                      </p:to>
                                    </p:set>
                                  </p:childTnLst>
                                </p:cTn>
                              </p:par>
                              <p:par>
                                <p:cTn id="121" presetID="1" presetClass="entr" presetSubtype="0" fill="hold" grpId="0" nodeType="withEffect">
                                  <p:stCondLst>
                                    <p:cond delay="0"/>
                                  </p:stCondLst>
                                  <p:childTnLst>
                                    <p:set>
                                      <p:cBhvr>
                                        <p:cTn id="122" dur="1" fill="hold">
                                          <p:stCondLst>
                                            <p:cond delay="0"/>
                                          </p:stCondLst>
                                        </p:cTn>
                                        <p:tgtEl>
                                          <p:spTgt spid="60"/>
                                        </p:tgtEl>
                                        <p:attrNameLst>
                                          <p:attrName>style.visibility</p:attrName>
                                        </p:attrNameLst>
                                      </p:cBhvr>
                                      <p:to>
                                        <p:strVal val="visible"/>
                                      </p:to>
                                    </p:set>
                                  </p:childTnLst>
                                </p:cTn>
                              </p:par>
                              <p:par>
                                <p:cTn id="123" presetID="1" presetClass="entr" presetSubtype="0" fill="hold" grpId="0" nodeType="withEffect">
                                  <p:stCondLst>
                                    <p:cond delay="0"/>
                                  </p:stCondLst>
                                  <p:childTnLst>
                                    <p:set>
                                      <p:cBhvr>
                                        <p:cTn id="124" dur="1" fill="hold">
                                          <p:stCondLst>
                                            <p:cond delay="0"/>
                                          </p:stCondLst>
                                        </p:cTn>
                                        <p:tgtEl>
                                          <p:spTgt spid="61"/>
                                        </p:tgtEl>
                                        <p:attrNameLst>
                                          <p:attrName>style.visibility</p:attrName>
                                        </p:attrNameLst>
                                      </p:cBhvr>
                                      <p:to>
                                        <p:strVal val="visible"/>
                                      </p:to>
                                    </p:set>
                                  </p:childTnLst>
                                </p:cTn>
                              </p:par>
                              <p:par>
                                <p:cTn id="125" presetID="1" presetClass="entr" presetSubtype="0" fill="hold" nodeType="withEffect">
                                  <p:stCondLst>
                                    <p:cond delay="0"/>
                                  </p:stCondLst>
                                  <p:childTnLst>
                                    <p:set>
                                      <p:cBhvr>
                                        <p:cTn id="126" dur="1" fill="hold">
                                          <p:stCondLst>
                                            <p:cond delay="0"/>
                                          </p:stCondLst>
                                        </p:cTn>
                                        <p:tgtEl>
                                          <p:spTgt spid="68"/>
                                        </p:tgtEl>
                                        <p:attrNameLst>
                                          <p:attrName>style.visibility</p:attrName>
                                        </p:attrNameLst>
                                      </p:cBhvr>
                                      <p:to>
                                        <p:strVal val="visible"/>
                                      </p:to>
                                    </p:set>
                                  </p:childTnLst>
                                </p:cTn>
                              </p:par>
                              <p:par>
                                <p:cTn id="127" presetID="1" presetClass="entr" presetSubtype="0" fill="hold" grpId="0" nodeType="withEffect">
                                  <p:stCondLst>
                                    <p:cond delay="0"/>
                                  </p:stCondLst>
                                  <p:childTnLst>
                                    <p:set>
                                      <p:cBhvr>
                                        <p:cTn id="128" dur="1" fill="hold">
                                          <p:stCondLst>
                                            <p:cond delay="0"/>
                                          </p:stCondLst>
                                        </p:cTn>
                                        <p:tgtEl>
                                          <p:spTgt spid="71"/>
                                        </p:tgtEl>
                                        <p:attrNameLst>
                                          <p:attrName>style.visibility</p:attrName>
                                        </p:attrNameLst>
                                      </p:cBhvr>
                                      <p:to>
                                        <p:strVal val="visible"/>
                                      </p:to>
                                    </p:set>
                                  </p:childTnLst>
                                </p:cTn>
                              </p:par>
                              <p:par>
                                <p:cTn id="129" presetID="1" presetClass="entr" presetSubtype="0" fill="hold" grpId="0" nodeType="withEffect">
                                  <p:stCondLst>
                                    <p:cond delay="0"/>
                                  </p:stCondLst>
                                  <p:childTnLst>
                                    <p:set>
                                      <p:cBhvr>
                                        <p:cTn id="130" dur="1" fill="hold">
                                          <p:stCondLst>
                                            <p:cond delay="0"/>
                                          </p:stCondLst>
                                        </p:cTn>
                                        <p:tgtEl>
                                          <p:spTgt spid="74"/>
                                        </p:tgtEl>
                                        <p:attrNameLst>
                                          <p:attrName>style.visibility</p:attrName>
                                        </p:attrNameLst>
                                      </p:cBhvr>
                                      <p:to>
                                        <p:strVal val="visible"/>
                                      </p:to>
                                    </p:set>
                                  </p:childTnLst>
                                </p:cTn>
                              </p:par>
                              <p:par>
                                <p:cTn id="131" presetID="1" presetClass="entr" presetSubtype="0" fill="hold" grpId="0" nodeType="withEffect">
                                  <p:stCondLst>
                                    <p:cond delay="0"/>
                                  </p:stCondLst>
                                  <p:childTnLst>
                                    <p:set>
                                      <p:cBhvr>
                                        <p:cTn id="132" dur="1" fill="hold">
                                          <p:stCondLst>
                                            <p:cond delay="0"/>
                                          </p:stCondLst>
                                        </p:cTn>
                                        <p:tgtEl>
                                          <p:spTgt spid="5"/>
                                        </p:tgtEl>
                                        <p:attrNameLst>
                                          <p:attrName>style.visibility</p:attrName>
                                        </p:attrNameLst>
                                      </p:cBhvr>
                                      <p:to>
                                        <p:strVal val="visible"/>
                                      </p:to>
                                    </p:set>
                                  </p:childTnLst>
                                </p:cTn>
                              </p:par>
                              <p:par>
                                <p:cTn id="133" presetID="1" presetClass="entr" presetSubtype="0" fill="hold" grpId="0" nodeType="withEffect">
                                  <p:stCondLst>
                                    <p:cond delay="0"/>
                                  </p:stCondLst>
                                  <p:childTnLst>
                                    <p:set>
                                      <p:cBhvr>
                                        <p:cTn id="134" dur="1" fill="hold">
                                          <p:stCondLst>
                                            <p:cond delay="0"/>
                                          </p:stCondLst>
                                        </p:cTn>
                                        <p:tgtEl>
                                          <p:spTgt spid="8"/>
                                        </p:tgtEl>
                                        <p:attrNameLst>
                                          <p:attrName>style.visibility</p:attrName>
                                        </p:attrNameLst>
                                      </p:cBhvr>
                                      <p:to>
                                        <p:strVal val="visible"/>
                                      </p:to>
                                    </p:set>
                                  </p:childTnLst>
                                </p:cTn>
                              </p:par>
                              <p:par>
                                <p:cTn id="135" presetID="1" presetClass="entr" presetSubtype="0" fill="hold" grpId="0" nodeType="withEffect">
                                  <p:stCondLst>
                                    <p:cond delay="0"/>
                                  </p:stCondLst>
                                  <p:childTnLst>
                                    <p:set>
                                      <p:cBhvr>
                                        <p:cTn id="136" dur="1" fill="hold">
                                          <p:stCondLst>
                                            <p:cond delay="0"/>
                                          </p:stCondLst>
                                        </p:cTn>
                                        <p:tgtEl>
                                          <p:spTgt spid="9"/>
                                        </p:tgtEl>
                                        <p:attrNameLst>
                                          <p:attrName>style.visibility</p:attrName>
                                        </p:attrNameLst>
                                      </p:cBhvr>
                                      <p:to>
                                        <p:strVal val="visible"/>
                                      </p:to>
                                    </p:set>
                                  </p:childTnLst>
                                </p:cTn>
                              </p:par>
                              <p:par>
                                <p:cTn id="137" presetID="1" presetClass="entr" presetSubtype="0" fill="hold" grpId="0" nodeType="withEffect">
                                  <p:stCondLst>
                                    <p:cond delay="0"/>
                                  </p:stCondLst>
                                  <p:childTnLst>
                                    <p:set>
                                      <p:cBhvr>
                                        <p:cTn id="138" dur="1" fill="hold">
                                          <p:stCondLst>
                                            <p:cond delay="0"/>
                                          </p:stCondLst>
                                        </p:cTn>
                                        <p:tgtEl>
                                          <p:spTgt spid="10"/>
                                        </p:tgtEl>
                                        <p:attrNameLst>
                                          <p:attrName>style.visibility</p:attrName>
                                        </p:attrNameLst>
                                      </p:cBhvr>
                                      <p:to>
                                        <p:strVal val="visible"/>
                                      </p:to>
                                    </p:set>
                                  </p:childTnLst>
                                </p:cTn>
                              </p:par>
                              <p:par>
                                <p:cTn id="139" presetID="1" presetClass="entr" presetSubtype="0" fill="hold" grpId="0" nodeType="withEffect">
                                  <p:stCondLst>
                                    <p:cond delay="0"/>
                                  </p:stCondLst>
                                  <p:childTnLst>
                                    <p:set>
                                      <p:cBhvr>
                                        <p:cTn id="140" dur="1" fill="hold">
                                          <p:stCondLst>
                                            <p:cond delay="0"/>
                                          </p:stCondLst>
                                        </p:cTn>
                                        <p:tgtEl>
                                          <p:spTgt spid="11"/>
                                        </p:tgtEl>
                                        <p:attrNameLst>
                                          <p:attrName>style.visibility</p:attrName>
                                        </p:attrNameLst>
                                      </p:cBhvr>
                                      <p:to>
                                        <p:strVal val="visible"/>
                                      </p:to>
                                    </p:set>
                                  </p:childTnLst>
                                </p:cTn>
                              </p:par>
                              <p:par>
                                <p:cTn id="141" presetID="1" presetClass="entr" presetSubtype="0" fill="hold" grpId="0" nodeType="withEffect">
                                  <p:stCondLst>
                                    <p:cond delay="0"/>
                                  </p:stCondLst>
                                  <p:childTnLst>
                                    <p:set>
                                      <p:cBhvr>
                                        <p:cTn id="142" dur="1" fill="hold">
                                          <p:stCondLst>
                                            <p:cond delay="0"/>
                                          </p:stCondLst>
                                        </p:cTn>
                                        <p:tgtEl>
                                          <p:spTgt spid="12"/>
                                        </p:tgtEl>
                                        <p:attrNameLst>
                                          <p:attrName>style.visibility</p:attrName>
                                        </p:attrNameLst>
                                      </p:cBhvr>
                                      <p:to>
                                        <p:strVal val="visible"/>
                                      </p:to>
                                    </p:set>
                                  </p:childTnLst>
                                </p:cTn>
                              </p:par>
                              <p:par>
                                <p:cTn id="143" presetID="1" presetClass="entr" presetSubtype="0" fill="hold" grpId="0" nodeType="withEffect">
                                  <p:stCondLst>
                                    <p:cond delay="0"/>
                                  </p:stCondLst>
                                  <p:childTnLst>
                                    <p:set>
                                      <p:cBhvr>
                                        <p:cTn id="144" dur="1" fill="hold">
                                          <p:stCondLst>
                                            <p:cond delay="0"/>
                                          </p:stCondLst>
                                        </p:cTn>
                                        <p:tgtEl>
                                          <p:spTgt spid="24"/>
                                        </p:tgtEl>
                                        <p:attrNameLst>
                                          <p:attrName>style.visibility</p:attrName>
                                        </p:attrNameLst>
                                      </p:cBhvr>
                                      <p:to>
                                        <p:strVal val="visible"/>
                                      </p:to>
                                    </p:set>
                                  </p:childTnLst>
                                </p:cTn>
                              </p:par>
                              <p:par>
                                <p:cTn id="145" presetID="1" presetClass="entr" presetSubtype="0" fill="hold" grpId="0" nodeType="withEffect">
                                  <p:stCondLst>
                                    <p:cond delay="0"/>
                                  </p:stCondLst>
                                  <p:childTnLst>
                                    <p:set>
                                      <p:cBhvr>
                                        <p:cTn id="146" dur="1" fill="hold">
                                          <p:stCondLst>
                                            <p:cond delay="0"/>
                                          </p:stCondLst>
                                        </p:cTn>
                                        <p:tgtEl>
                                          <p:spTgt spid="25"/>
                                        </p:tgtEl>
                                        <p:attrNameLst>
                                          <p:attrName>style.visibility</p:attrName>
                                        </p:attrNameLst>
                                      </p:cBhvr>
                                      <p:to>
                                        <p:strVal val="visible"/>
                                      </p:to>
                                    </p:set>
                                  </p:childTnLst>
                                </p:cTn>
                              </p:par>
                              <p:par>
                                <p:cTn id="147" presetID="1" presetClass="entr" presetSubtype="0" fill="hold" grpId="0" nodeType="withEffect">
                                  <p:stCondLst>
                                    <p:cond delay="0"/>
                                  </p:stCondLst>
                                  <p:childTnLst>
                                    <p:set>
                                      <p:cBhvr>
                                        <p:cTn id="148" dur="1" fill="hold">
                                          <p:stCondLst>
                                            <p:cond delay="0"/>
                                          </p:stCondLst>
                                        </p:cTn>
                                        <p:tgtEl>
                                          <p:spTgt spid="62"/>
                                        </p:tgtEl>
                                        <p:attrNameLst>
                                          <p:attrName>style.visibility</p:attrName>
                                        </p:attrNameLst>
                                      </p:cBhvr>
                                      <p:to>
                                        <p:strVal val="visible"/>
                                      </p:to>
                                    </p:set>
                                  </p:childTnLst>
                                </p:cTn>
                              </p:par>
                              <p:par>
                                <p:cTn id="149" presetID="1" presetClass="entr" presetSubtype="0" fill="hold" grpId="0" nodeType="withEffect">
                                  <p:stCondLst>
                                    <p:cond delay="0"/>
                                  </p:stCondLst>
                                  <p:childTnLst>
                                    <p:set>
                                      <p:cBhvr>
                                        <p:cTn id="150" dur="1" fill="hold">
                                          <p:stCondLst>
                                            <p:cond delay="0"/>
                                          </p:stCondLst>
                                        </p:cTn>
                                        <p:tgtEl>
                                          <p:spTgt spid="64"/>
                                        </p:tgtEl>
                                        <p:attrNameLst>
                                          <p:attrName>style.visibility</p:attrName>
                                        </p:attrNameLst>
                                      </p:cBhvr>
                                      <p:to>
                                        <p:strVal val="visible"/>
                                      </p:to>
                                    </p:set>
                                  </p:childTnLst>
                                </p:cTn>
                              </p:par>
                            </p:childTnLst>
                          </p:cTn>
                        </p:par>
                      </p:childTnLst>
                    </p:cTn>
                  </p:par>
                  <p:par>
                    <p:cTn id="151" fill="hold">
                      <p:stCondLst>
                        <p:cond delay="indefinite"/>
                      </p:stCondLst>
                      <p:childTnLst>
                        <p:par>
                          <p:cTn id="152" fill="hold">
                            <p:stCondLst>
                              <p:cond delay="0"/>
                            </p:stCondLst>
                            <p:childTnLst>
                              <p:par>
                                <p:cTn id="153" presetID="1" presetClass="entr" presetSubtype="0" fill="hold" nodeType="clickEffect">
                                  <p:stCondLst>
                                    <p:cond delay="0"/>
                                  </p:stCondLst>
                                  <p:childTnLst>
                                    <p:set>
                                      <p:cBhvr>
                                        <p:cTn id="154" dur="1" fill="hold">
                                          <p:stCondLst>
                                            <p:cond delay="0"/>
                                          </p:stCondLst>
                                        </p:cTn>
                                        <p:tgtEl>
                                          <p:spTgt spid="67"/>
                                        </p:tgtEl>
                                        <p:attrNameLst>
                                          <p:attrName>style.visibility</p:attrName>
                                        </p:attrNameLst>
                                      </p:cBhvr>
                                      <p:to>
                                        <p:strVal val="visible"/>
                                      </p:to>
                                    </p:set>
                                  </p:childTnLst>
                                </p:cTn>
                              </p:par>
                              <p:par>
                                <p:cTn id="155" presetID="1" presetClass="entr" presetSubtype="0" fill="hold" nodeType="withEffect">
                                  <p:stCondLst>
                                    <p:cond delay="0"/>
                                  </p:stCondLst>
                                  <p:childTnLst>
                                    <p:set>
                                      <p:cBhvr>
                                        <p:cTn id="156" dur="1" fill="hold">
                                          <p:stCondLst>
                                            <p:cond delay="0"/>
                                          </p:stCondLst>
                                        </p:cTn>
                                        <p:tgtEl>
                                          <p:spTgt spid="75"/>
                                        </p:tgtEl>
                                        <p:attrNameLst>
                                          <p:attrName>style.visibility</p:attrName>
                                        </p:attrNameLst>
                                      </p:cBhvr>
                                      <p:to>
                                        <p:strVal val="visible"/>
                                      </p:to>
                                    </p:set>
                                  </p:childTnLst>
                                </p:cTn>
                              </p:par>
                              <p:par>
                                <p:cTn id="157" presetID="1" presetClass="entr" presetSubtype="0" fill="hold" nodeType="withEffect">
                                  <p:stCondLst>
                                    <p:cond delay="0"/>
                                  </p:stCondLst>
                                  <p:childTnLst>
                                    <p:set>
                                      <p:cBhvr>
                                        <p:cTn id="158" dur="1" fill="hold">
                                          <p:stCondLst>
                                            <p:cond delay="0"/>
                                          </p:stCondLst>
                                        </p:cTn>
                                        <p:tgtEl>
                                          <p:spTgt spid="76"/>
                                        </p:tgtEl>
                                        <p:attrNameLst>
                                          <p:attrName>style.visibility</p:attrName>
                                        </p:attrNameLst>
                                      </p:cBhvr>
                                      <p:to>
                                        <p:strVal val="visible"/>
                                      </p:to>
                                    </p:set>
                                  </p:childTnLst>
                                </p:cTn>
                              </p:par>
                              <p:par>
                                <p:cTn id="159" presetID="1" presetClass="entr" presetSubtype="0" fill="hold" nodeType="withEffect">
                                  <p:stCondLst>
                                    <p:cond delay="0"/>
                                  </p:stCondLst>
                                  <p:childTnLst>
                                    <p:set>
                                      <p:cBhvr>
                                        <p:cTn id="160" dur="1" fill="hold">
                                          <p:stCondLst>
                                            <p:cond delay="0"/>
                                          </p:stCondLst>
                                        </p:cTn>
                                        <p:tgtEl>
                                          <p:spTgt spid="77"/>
                                        </p:tgtEl>
                                        <p:attrNameLst>
                                          <p:attrName>style.visibility</p:attrName>
                                        </p:attrNameLst>
                                      </p:cBhvr>
                                      <p:to>
                                        <p:strVal val="visible"/>
                                      </p:to>
                                    </p:set>
                                  </p:childTnLst>
                                </p:cTn>
                              </p:par>
                              <p:par>
                                <p:cTn id="161" presetID="1" presetClass="entr" presetSubtype="0" fill="hold" grpId="0" nodeType="withEffect">
                                  <p:stCondLst>
                                    <p:cond delay="0"/>
                                  </p:stCondLst>
                                  <p:childTnLst>
                                    <p:set>
                                      <p:cBhvr>
                                        <p:cTn id="162" dur="1" fill="hold">
                                          <p:stCondLst>
                                            <p:cond delay="0"/>
                                          </p:stCondLst>
                                        </p:cTn>
                                        <p:tgtEl>
                                          <p:spTgt spid="78"/>
                                        </p:tgtEl>
                                        <p:attrNameLst>
                                          <p:attrName>style.visibility</p:attrName>
                                        </p:attrNameLst>
                                      </p:cBhvr>
                                      <p:to>
                                        <p:strVal val="visible"/>
                                      </p:to>
                                    </p:set>
                                  </p:childTnLst>
                                </p:cTn>
                              </p:par>
                              <p:par>
                                <p:cTn id="163" presetID="1" presetClass="entr" presetSubtype="0" fill="hold" grpId="0" nodeType="withEffect">
                                  <p:stCondLst>
                                    <p:cond delay="0"/>
                                  </p:stCondLst>
                                  <p:childTnLst>
                                    <p:set>
                                      <p:cBhvr>
                                        <p:cTn id="164" dur="1" fill="hold">
                                          <p:stCondLst>
                                            <p:cond delay="0"/>
                                          </p:stCondLst>
                                        </p:cTn>
                                        <p:tgtEl>
                                          <p:spTgt spid="79"/>
                                        </p:tgtEl>
                                        <p:attrNameLst>
                                          <p:attrName>style.visibility</p:attrName>
                                        </p:attrNameLst>
                                      </p:cBhvr>
                                      <p:to>
                                        <p:strVal val="visible"/>
                                      </p:to>
                                    </p:set>
                                  </p:childTnLst>
                                </p:cTn>
                              </p:par>
                              <p:par>
                                <p:cTn id="165" presetID="1" presetClass="entr" presetSubtype="0" fill="hold" grpId="0" nodeType="withEffect">
                                  <p:stCondLst>
                                    <p:cond delay="0"/>
                                  </p:stCondLst>
                                  <p:childTnLst>
                                    <p:set>
                                      <p:cBhvr>
                                        <p:cTn id="166" dur="1" fill="hold">
                                          <p:stCondLst>
                                            <p:cond delay="0"/>
                                          </p:stCondLst>
                                        </p:cTn>
                                        <p:tgtEl>
                                          <p:spTgt spid="80"/>
                                        </p:tgtEl>
                                        <p:attrNameLst>
                                          <p:attrName>style.visibility</p:attrName>
                                        </p:attrNameLst>
                                      </p:cBhvr>
                                      <p:to>
                                        <p:strVal val="visible"/>
                                      </p:to>
                                    </p:set>
                                  </p:childTnLst>
                                </p:cTn>
                              </p:par>
                              <p:par>
                                <p:cTn id="167" presetID="1" presetClass="entr" presetSubtype="0" fill="hold" grpId="0" nodeType="withEffect">
                                  <p:stCondLst>
                                    <p:cond delay="0"/>
                                  </p:stCondLst>
                                  <p:childTnLst>
                                    <p:set>
                                      <p:cBhvr>
                                        <p:cTn id="168" dur="1" fill="hold">
                                          <p:stCondLst>
                                            <p:cond delay="0"/>
                                          </p:stCondLst>
                                        </p:cTn>
                                        <p:tgtEl>
                                          <p:spTgt spid="81"/>
                                        </p:tgtEl>
                                        <p:attrNameLst>
                                          <p:attrName>style.visibility</p:attrName>
                                        </p:attrNameLst>
                                      </p:cBhvr>
                                      <p:to>
                                        <p:strVal val="visible"/>
                                      </p:to>
                                    </p:set>
                                  </p:childTnLst>
                                </p:cTn>
                              </p:par>
                              <p:par>
                                <p:cTn id="169" presetID="1" presetClass="entr" presetSubtype="0" fill="hold" grpId="0" nodeType="withEffect">
                                  <p:stCondLst>
                                    <p:cond delay="0"/>
                                  </p:stCondLst>
                                  <p:childTnLst>
                                    <p:set>
                                      <p:cBhvr>
                                        <p:cTn id="170" dur="1" fill="hold">
                                          <p:stCondLst>
                                            <p:cond delay="0"/>
                                          </p:stCondLst>
                                        </p:cTn>
                                        <p:tgtEl>
                                          <p:spTgt spid="82"/>
                                        </p:tgtEl>
                                        <p:attrNameLst>
                                          <p:attrName>style.visibility</p:attrName>
                                        </p:attrNameLst>
                                      </p:cBhvr>
                                      <p:to>
                                        <p:strVal val="visible"/>
                                      </p:to>
                                    </p:set>
                                  </p:childTnLst>
                                </p:cTn>
                              </p:par>
                              <p:par>
                                <p:cTn id="171" presetID="1" presetClass="entr" presetSubtype="0" fill="hold" nodeType="withEffect">
                                  <p:stCondLst>
                                    <p:cond delay="0"/>
                                  </p:stCondLst>
                                  <p:childTnLst>
                                    <p:set>
                                      <p:cBhvr>
                                        <p:cTn id="172" dur="1" fill="hold">
                                          <p:stCondLst>
                                            <p:cond delay="0"/>
                                          </p:stCondLst>
                                        </p:cTn>
                                        <p:tgtEl>
                                          <p:spTgt spid="83"/>
                                        </p:tgtEl>
                                        <p:attrNameLst>
                                          <p:attrName>style.visibility</p:attrName>
                                        </p:attrNameLst>
                                      </p:cBhvr>
                                      <p:to>
                                        <p:strVal val="visible"/>
                                      </p:to>
                                    </p:set>
                                  </p:childTnLst>
                                </p:cTn>
                              </p:par>
                              <p:par>
                                <p:cTn id="173" presetID="1" presetClass="entr" presetSubtype="0" fill="hold" nodeType="withEffect">
                                  <p:stCondLst>
                                    <p:cond delay="0"/>
                                  </p:stCondLst>
                                  <p:childTnLst>
                                    <p:set>
                                      <p:cBhvr>
                                        <p:cTn id="174" dur="1" fill="hold">
                                          <p:stCondLst>
                                            <p:cond delay="0"/>
                                          </p:stCondLst>
                                        </p:cTn>
                                        <p:tgtEl>
                                          <p:spTgt spid="84"/>
                                        </p:tgtEl>
                                        <p:attrNameLst>
                                          <p:attrName>style.visibility</p:attrName>
                                        </p:attrNameLst>
                                      </p:cBhvr>
                                      <p:to>
                                        <p:strVal val="visible"/>
                                      </p:to>
                                    </p:set>
                                  </p:childTnLst>
                                </p:cTn>
                              </p:par>
                              <p:par>
                                <p:cTn id="175" presetID="1" presetClass="entr" presetSubtype="0" fill="hold" nodeType="withEffect">
                                  <p:stCondLst>
                                    <p:cond delay="0"/>
                                  </p:stCondLst>
                                  <p:childTnLst>
                                    <p:set>
                                      <p:cBhvr>
                                        <p:cTn id="176" dur="1" fill="hold">
                                          <p:stCondLst>
                                            <p:cond delay="0"/>
                                          </p:stCondLst>
                                        </p:cTn>
                                        <p:tgtEl>
                                          <p:spTgt spid="85"/>
                                        </p:tgtEl>
                                        <p:attrNameLst>
                                          <p:attrName>style.visibility</p:attrName>
                                        </p:attrNameLst>
                                      </p:cBhvr>
                                      <p:to>
                                        <p:strVal val="visible"/>
                                      </p:to>
                                    </p:set>
                                  </p:childTnLst>
                                </p:cTn>
                              </p:par>
                              <p:par>
                                <p:cTn id="177" presetID="1" presetClass="entr" presetSubtype="0" fill="hold" nodeType="withEffect">
                                  <p:stCondLst>
                                    <p:cond delay="0"/>
                                  </p:stCondLst>
                                  <p:childTnLst>
                                    <p:set>
                                      <p:cBhvr>
                                        <p:cTn id="178" dur="1" fill="hold">
                                          <p:stCondLst>
                                            <p:cond delay="0"/>
                                          </p:stCondLst>
                                        </p:cTn>
                                        <p:tgtEl>
                                          <p:spTgt spid="86"/>
                                        </p:tgtEl>
                                        <p:attrNameLst>
                                          <p:attrName>style.visibility</p:attrName>
                                        </p:attrNameLst>
                                      </p:cBhvr>
                                      <p:to>
                                        <p:strVal val="visible"/>
                                      </p:to>
                                    </p:set>
                                  </p:childTnLst>
                                </p:cTn>
                              </p:par>
                              <p:par>
                                <p:cTn id="179" presetID="1" presetClass="entr" presetSubtype="0" fill="hold" grpId="0" nodeType="withEffect">
                                  <p:stCondLst>
                                    <p:cond delay="0"/>
                                  </p:stCondLst>
                                  <p:childTnLst>
                                    <p:set>
                                      <p:cBhvr>
                                        <p:cTn id="180" dur="1" fill="hold">
                                          <p:stCondLst>
                                            <p:cond delay="0"/>
                                          </p:stCondLst>
                                        </p:cTn>
                                        <p:tgtEl>
                                          <p:spTgt spid="87"/>
                                        </p:tgtEl>
                                        <p:attrNameLst>
                                          <p:attrName>style.visibility</p:attrName>
                                        </p:attrNameLst>
                                      </p:cBhvr>
                                      <p:to>
                                        <p:strVal val="visible"/>
                                      </p:to>
                                    </p:set>
                                  </p:childTnLst>
                                </p:cTn>
                              </p:par>
                              <p:par>
                                <p:cTn id="181" presetID="1" presetClass="entr" presetSubtype="0" fill="hold" grpId="0" nodeType="withEffect">
                                  <p:stCondLst>
                                    <p:cond delay="0"/>
                                  </p:stCondLst>
                                  <p:childTnLst>
                                    <p:set>
                                      <p:cBhvr>
                                        <p:cTn id="182" dur="1" fill="hold">
                                          <p:stCondLst>
                                            <p:cond delay="0"/>
                                          </p:stCondLst>
                                        </p:cTn>
                                        <p:tgtEl>
                                          <p:spTgt spid="88"/>
                                        </p:tgtEl>
                                        <p:attrNameLst>
                                          <p:attrName>style.visibility</p:attrName>
                                        </p:attrNameLst>
                                      </p:cBhvr>
                                      <p:to>
                                        <p:strVal val="visible"/>
                                      </p:to>
                                    </p:set>
                                  </p:childTnLst>
                                </p:cTn>
                              </p:par>
                              <p:par>
                                <p:cTn id="183" presetID="1" presetClass="entr" presetSubtype="0" fill="hold" grpId="0" nodeType="withEffect">
                                  <p:stCondLst>
                                    <p:cond delay="0"/>
                                  </p:stCondLst>
                                  <p:childTnLst>
                                    <p:set>
                                      <p:cBhvr>
                                        <p:cTn id="184" dur="1" fill="hold">
                                          <p:stCondLst>
                                            <p:cond delay="0"/>
                                          </p:stCondLst>
                                        </p:cTn>
                                        <p:tgtEl>
                                          <p:spTgt spid="89"/>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P spid="20" grpId="0"/>
      <p:bldP spid="21" grpId="0"/>
      <p:bldP spid="22" grpId="0"/>
      <p:bldP spid="23" grpId="0"/>
      <p:bldP spid="26" grpId="0"/>
      <p:bldP spid="27" grpId="0"/>
      <p:bldP spid="28" grpId="0"/>
      <p:bldP spid="29" grpId="0"/>
      <p:bldP spid="38" grpId="0"/>
      <p:bldP spid="39" grpId="0"/>
      <p:bldP spid="40" grpId="0"/>
      <p:bldP spid="41" grpId="0"/>
      <p:bldP spid="42" grpId="0"/>
      <p:bldP spid="43" grpId="0"/>
      <p:bldP spid="44" grpId="0"/>
      <p:bldP spid="45" grpId="0"/>
      <p:bldP spid="54" grpId="0"/>
      <p:bldP spid="55" grpId="0"/>
      <p:bldP spid="56" grpId="0"/>
      <p:bldP spid="57" grpId="0"/>
      <p:bldP spid="58" grpId="0"/>
      <p:bldP spid="59" grpId="0"/>
      <p:bldP spid="60" grpId="0"/>
      <p:bldP spid="61" grpId="0"/>
      <p:bldP spid="63" grpId="0"/>
      <p:bldP spid="69" grpId="0"/>
      <p:bldP spid="70" grpId="0"/>
      <p:bldP spid="71" grpId="0"/>
      <p:bldP spid="72" grpId="0"/>
      <p:bldP spid="73" grpId="0"/>
      <p:bldP spid="74" grpId="0"/>
      <p:bldP spid="5" grpId="0" animBg="1"/>
      <p:bldP spid="8" grpId="0" animBg="1"/>
      <p:bldP spid="9" grpId="0" animBg="1"/>
      <p:bldP spid="10" grpId="0" animBg="1"/>
      <p:bldP spid="11" grpId="0" animBg="1"/>
      <p:bldP spid="12" grpId="0" animBg="1"/>
      <p:bldP spid="24" grpId="0"/>
      <p:bldP spid="25" grpId="0"/>
      <p:bldP spid="62" grpId="0" animBg="1"/>
      <p:bldP spid="64" grpId="0" animBg="1"/>
      <p:bldP spid="78" grpId="0"/>
      <p:bldP spid="79" grpId="0"/>
      <p:bldP spid="80" grpId="0"/>
      <p:bldP spid="81" grpId="0"/>
      <p:bldP spid="82" grpId="0"/>
      <p:bldP spid="87" grpId="0"/>
      <p:bldP spid="88" grpId="0"/>
      <p:bldP spid="89" grpId="0"/>
    </p:bldLst>
  </p:timing>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cxnSp>
        <p:nvCxnSpPr>
          <p:cNvPr id="12" name="Straight Arrow Connector 11">
            <a:extLst>
              <a:ext uri="{FF2B5EF4-FFF2-40B4-BE49-F238E27FC236}">
                <a16:creationId xmlns:a16="http://schemas.microsoft.com/office/drawing/2014/main" id="{B631004C-6F4C-B8C5-AAA0-29E61CD03183}"/>
              </a:ext>
            </a:extLst>
          </p:cNvPr>
          <p:cNvCxnSpPr>
            <a:cxnSpLocks/>
          </p:cNvCxnSpPr>
          <p:nvPr/>
        </p:nvCxnSpPr>
        <p:spPr>
          <a:xfrm flipV="1">
            <a:off x="1243554" y="1101903"/>
            <a:ext cx="0" cy="2774516"/>
          </a:xfrm>
          <a:prstGeom prst="straightConnector1">
            <a:avLst/>
          </a:prstGeom>
          <a:ln w="38100">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13" name="Straight Arrow Connector 12">
            <a:extLst>
              <a:ext uri="{FF2B5EF4-FFF2-40B4-BE49-F238E27FC236}">
                <a16:creationId xmlns:a16="http://schemas.microsoft.com/office/drawing/2014/main" id="{0DF7D358-68BD-0C1D-AB5A-BF8FF7FF3B97}"/>
              </a:ext>
            </a:extLst>
          </p:cNvPr>
          <p:cNvCxnSpPr>
            <a:cxnSpLocks/>
          </p:cNvCxnSpPr>
          <p:nvPr/>
        </p:nvCxnSpPr>
        <p:spPr>
          <a:xfrm>
            <a:off x="988859" y="3496463"/>
            <a:ext cx="3511464" cy="0"/>
          </a:xfrm>
          <a:prstGeom prst="straightConnector1">
            <a:avLst/>
          </a:prstGeom>
          <a:ln w="38100">
            <a:solidFill>
              <a:schemeClr val="tx1"/>
            </a:solidFill>
            <a:tailEnd type="triangle"/>
          </a:ln>
        </p:spPr>
        <p:style>
          <a:lnRef idx="1">
            <a:schemeClr val="accent1"/>
          </a:lnRef>
          <a:fillRef idx="0">
            <a:schemeClr val="accent1"/>
          </a:fillRef>
          <a:effectRef idx="0">
            <a:schemeClr val="accent1"/>
          </a:effectRef>
          <a:fontRef idx="minor">
            <a:schemeClr val="tx1"/>
          </a:fontRef>
        </p:style>
      </p:cxnSp>
      <p:sp>
        <p:nvSpPr>
          <p:cNvPr id="14" name="Star: 5 Points 13">
            <a:extLst>
              <a:ext uri="{FF2B5EF4-FFF2-40B4-BE49-F238E27FC236}">
                <a16:creationId xmlns:a16="http://schemas.microsoft.com/office/drawing/2014/main" id="{9A7FC53F-D572-9EC7-DE99-5340CDB526FB}"/>
              </a:ext>
            </a:extLst>
          </p:cNvPr>
          <p:cNvSpPr/>
          <p:nvPr/>
        </p:nvSpPr>
        <p:spPr>
          <a:xfrm>
            <a:off x="1775555" y="2159687"/>
            <a:ext cx="288095" cy="328800"/>
          </a:xfrm>
          <a:prstGeom prst="star5">
            <a:avLst/>
          </a:prstGeom>
          <a:solidFill>
            <a:schemeClr val="accent1"/>
          </a:solidFill>
          <a:ln>
            <a:solidFill>
              <a:schemeClr val="accent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5" name="Star: 5 Points 14">
            <a:extLst>
              <a:ext uri="{FF2B5EF4-FFF2-40B4-BE49-F238E27FC236}">
                <a16:creationId xmlns:a16="http://schemas.microsoft.com/office/drawing/2014/main" id="{4D7A46B1-CF2F-A3F2-FBFD-834444525AD5}"/>
              </a:ext>
            </a:extLst>
          </p:cNvPr>
          <p:cNvSpPr/>
          <p:nvPr/>
        </p:nvSpPr>
        <p:spPr>
          <a:xfrm>
            <a:off x="1483621" y="2353707"/>
            <a:ext cx="288095" cy="328800"/>
          </a:xfrm>
          <a:prstGeom prst="star5">
            <a:avLst/>
          </a:prstGeom>
          <a:solidFill>
            <a:schemeClr val="accent1"/>
          </a:solidFill>
          <a:ln>
            <a:solidFill>
              <a:schemeClr val="accent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6" name="Star: 5 Points 15">
            <a:extLst>
              <a:ext uri="{FF2B5EF4-FFF2-40B4-BE49-F238E27FC236}">
                <a16:creationId xmlns:a16="http://schemas.microsoft.com/office/drawing/2014/main" id="{E7744D93-FC37-6E4D-5D39-F5E7436EDA53}"/>
              </a:ext>
            </a:extLst>
          </p:cNvPr>
          <p:cNvSpPr/>
          <p:nvPr/>
        </p:nvSpPr>
        <p:spPr>
          <a:xfrm>
            <a:off x="2053693" y="2001777"/>
            <a:ext cx="288095" cy="328800"/>
          </a:xfrm>
          <a:prstGeom prst="star5">
            <a:avLst/>
          </a:prstGeom>
          <a:solidFill>
            <a:schemeClr val="accent1"/>
          </a:solidFill>
          <a:ln>
            <a:solidFill>
              <a:schemeClr val="accent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7" name="Star: 5 Points 16">
            <a:extLst>
              <a:ext uri="{FF2B5EF4-FFF2-40B4-BE49-F238E27FC236}">
                <a16:creationId xmlns:a16="http://schemas.microsoft.com/office/drawing/2014/main" id="{17F80F3D-342E-A5D0-5FAC-FE81E3138481}"/>
              </a:ext>
            </a:extLst>
          </p:cNvPr>
          <p:cNvSpPr/>
          <p:nvPr/>
        </p:nvSpPr>
        <p:spPr>
          <a:xfrm>
            <a:off x="2779402" y="1749444"/>
            <a:ext cx="288095" cy="328800"/>
          </a:xfrm>
          <a:prstGeom prst="star5">
            <a:avLst/>
          </a:prstGeom>
          <a:solidFill>
            <a:schemeClr val="accent1"/>
          </a:solidFill>
          <a:ln>
            <a:solidFill>
              <a:schemeClr val="accent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8" name="Star: 5 Points 17">
            <a:extLst>
              <a:ext uri="{FF2B5EF4-FFF2-40B4-BE49-F238E27FC236}">
                <a16:creationId xmlns:a16="http://schemas.microsoft.com/office/drawing/2014/main" id="{8C638836-A81D-D071-7BDB-5E8C456C4238}"/>
              </a:ext>
            </a:extLst>
          </p:cNvPr>
          <p:cNvSpPr/>
          <p:nvPr/>
        </p:nvSpPr>
        <p:spPr>
          <a:xfrm>
            <a:off x="2414898" y="1913844"/>
            <a:ext cx="288095" cy="328800"/>
          </a:xfrm>
          <a:prstGeom prst="star5">
            <a:avLst/>
          </a:prstGeom>
          <a:solidFill>
            <a:schemeClr val="accent1"/>
          </a:solidFill>
          <a:ln>
            <a:solidFill>
              <a:schemeClr val="accent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9" name="Star: 5 Points 18">
            <a:extLst>
              <a:ext uri="{FF2B5EF4-FFF2-40B4-BE49-F238E27FC236}">
                <a16:creationId xmlns:a16="http://schemas.microsoft.com/office/drawing/2014/main" id="{436C78D5-F4BC-D6FB-9790-5E7291E610E8}"/>
              </a:ext>
            </a:extLst>
          </p:cNvPr>
          <p:cNvSpPr/>
          <p:nvPr/>
        </p:nvSpPr>
        <p:spPr>
          <a:xfrm>
            <a:off x="2653099" y="2268221"/>
            <a:ext cx="288095" cy="328800"/>
          </a:xfrm>
          <a:prstGeom prst="star5">
            <a:avLst/>
          </a:prstGeom>
          <a:solidFill>
            <a:schemeClr val="accent1"/>
          </a:solidFill>
          <a:ln>
            <a:solidFill>
              <a:schemeClr val="accent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0" name="Star: 5 Points 19">
            <a:extLst>
              <a:ext uri="{FF2B5EF4-FFF2-40B4-BE49-F238E27FC236}">
                <a16:creationId xmlns:a16="http://schemas.microsoft.com/office/drawing/2014/main" id="{F470E700-F59C-8C5D-35B8-CEF39F1C3357}"/>
              </a:ext>
            </a:extLst>
          </p:cNvPr>
          <p:cNvSpPr/>
          <p:nvPr/>
        </p:nvSpPr>
        <p:spPr>
          <a:xfrm>
            <a:off x="2373019" y="2356917"/>
            <a:ext cx="288095" cy="328800"/>
          </a:xfrm>
          <a:prstGeom prst="star5">
            <a:avLst/>
          </a:prstGeom>
          <a:solidFill>
            <a:schemeClr val="accent1"/>
          </a:solidFill>
          <a:ln>
            <a:solidFill>
              <a:schemeClr val="accent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1" name="Star: 5 Points 20">
            <a:extLst>
              <a:ext uri="{FF2B5EF4-FFF2-40B4-BE49-F238E27FC236}">
                <a16:creationId xmlns:a16="http://schemas.microsoft.com/office/drawing/2014/main" id="{19D58426-9A15-062C-6928-B1A69CE2231F}"/>
              </a:ext>
            </a:extLst>
          </p:cNvPr>
          <p:cNvSpPr/>
          <p:nvPr/>
        </p:nvSpPr>
        <p:spPr>
          <a:xfrm>
            <a:off x="2092939" y="2471190"/>
            <a:ext cx="288095" cy="328800"/>
          </a:xfrm>
          <a:prstGeom prst="star5">
            <a:avLst/>
          </a:prstGeom>
          <a:solidFill>
            <a:schemeClr val="accent1"/>
          </a:solidFill>
          <a:ln>
            <a:solidFill>
              <a:schemeClr val="accent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cxnSp>
        <p:nvCxnSpPr>
          <p:cNvPr id="22" name="Straight Connector 21">
            <a:extLst>
              <a:ext uri="{FF2B5EF4-FFF2-40B4-BE49-F238E27FC236}">
                <a16:creationId xmlns:a16="http://schemas.microsoft.com/office/drawing/2014/main" id="{A510A87B-DE04-447E-B38E-6DD31725026C}"/>
              </a:ext>
            </a:extLst>
          </p:cNvPr>
          <p:cNvCxnSpPr/>
          <p:nvPr/>
        </p:nvCxnSpPr>
        <p:spPr>
          <a:xfrm flipV="1">
            <a:off x="1247394" y="1913844"/>
            <a:ext cx="2182494" cy="1044503"/>
          </a:xfrm>
          <a:prstGeom prst="line">
            <a:avLst/>
          </a:prstGeom>
          <a:ln w="38100">
            <a:solidFill>
              <a:srgbClr val="FF0000"/>
            </a:solidFill>
          </a:ln>
        </p:spPr>
        <p:style>
          <a:lnRef idx="1">
            <a:schemeClr val="accent1"/>
          </a:lnRef>
          <a:fillRef idx="0">
            <a:schemeClr val="accent1"/>
          </a:fillRef>
          <a:effectRef idx="0">
            <a:schemeClr val="accent1"/>
          </a:effectRef>
          <a:fontRef idx="minor">
            <a:schemeClr val="tx1"/>
          </a:fontRef>
        </p:style>
      </p:cxnSp>
      <p:sp>
        <p:nvSpPr>
          <p:cNvPr id="23" name="TextBox 22">
            <a:extLst>
              <a:ext uri="{FF2B5EF4-FFF2-40B4-BE49-F238E27FC236}">
                <a16:creationId xmlns:a16="http://schemas.microsoft.com/office/drawing/2014/main" id="{0E27977B-24CF-C8F9-5973-1DC9A4C4E86F}"/>
              </a:ext>
            </a:extLst>
          </p:cNvPr>
          <p:cNvSpPr txBox="1"/>
          <p:nvPr/>
        </p:nvSpPr>
        <p:spPr>
          <a:xfrm>
            <a:off x="2598757" y="3541307"/>
            <a:ext cx="295274" cy="400110"/>
          </a:xfrm>
          <a:prstGeom prst="rect">
            <a:avLst/>
          </a:prstGeom>
          <a:noFill/>
        </p:spPr>
        <p:txBody>
          <a:bodyPr wrap="none" rtlCol="0">
            <a:spAutoFit/>
          </a:bodyPr>
          <a:lstStyle/>
          <a:p>
            <a:r>
              <a:rPr lang="tr-TR" sz="2000" dirty="0"/>
              <a:t>x</a:t>
            </a:r>
            <a:endParaRPr lang="en-US" sz="2000" dirty="0"/>
          </a:p>
        </p:txBody>
      </p:sp>
      <p:sp>
        <p:nvSpPr>
          <p:cNvPr id="24" name="TextBox 23">
            <a:extLst>
              <a:ext uri="{FF2B5EF4-FFF2-40B4-BE49-F238E27FC236}">
                <a16:creationId xmlns:a16="http://schemas.microsoft.com/office/drawing/2014/main" id="{5F25C06C-C3C0-5B59-3216-C9C317CB4F2E}"/>
              </a:ext>
            </a:extLst>
          </p:cNvPr>
          <p:cNvSpPr txBox="1"/>
          <p:nvPr/>
        </p:nvSpPr>
        <p:spPr>
          <a:xfrm>
            <a:off x="831322" y="2083555"/>
            <a:ext cx="300082" cy="400110"/>
          </a:xfrm>
          <a:prstGeom prst="rect">
            <a:avLst/>
          </a:prstGeom>
          <a:noFill/>
        </p:spPr>
        <p:txBody>
          <a:bodyPr wrap="none" rtlCol="0">
            <a:spAutoFit/>
          </a:bodyPr>
          <a:lstStyle/>
          <a:p>
            <a:r>
              <a:rPr lang="tr-TR" sz="2000" dirty="0"/>
              <a:t>y</a:t>
            </a:r>
            <a:endParaRPr lang="en-US" sz="2000" dirty="0"/>
          </a:p>
        </p:txBody>
      </p:sp>
      <mc:AlternateContent xmlns:mc="http://schemas.openxmlformats.org/markup-compatibility/2006" xmlns:a14="http://schemas.microsoft.com/office/drawing/2010/main">
        <mc:Choice Requires="a14">
          <p:sp>
            <p:nvSpPr>
              <p:cNvPr id="25" name="TextBox 24">
                <a:extLst>
                  <a:ext uri="{FF2B5EF4-FFF2-40B4-BE49-F238E27FC236}">
                    <a16:creationId xmlns:a16="http://schemas.microsoft.com/office/drawing/2014/main" id="{58AA771A-A469-ACBD-CCF8-099E8E4D9ABF}"/>
                  </a:ext>
                </a:extLst>
              </p:cNvPr>
              <p:cNvSpPr txBox="1"/>
              <p:nvPr/>
            </p:nvSpPr>
            <p:spPr>
              <a:xfrm>
                <a:off x="1228979" y="1569869"/>
                <a:ext cx="6542688" cy="381515"/>
              </a:xfrm>
              <a:prstGeom prst="rect">
                <a:avLst/>
              </a:prstGeom>
              <a:noFill/>
            </p:spPr>
            <p:txBody>
              <a:bodyPr wrap="square">
                <a:spAutoFit/>
              </a:bodyPr>
              <a:lstStyle/>
              <a:p>
                <a:pPr/>
                <a14:m>
                  <m:oMathPara xmlns:m="http://schemas.openxmlformats.org/officeDocument/2006/math">
                    <m:oMath>
                      <m:sSub>
                        <m:sSubPr>
                          <m:ctrlPr>
                            <a:rPr lang="tr-TR" b="0" i="1" smtClean="0">
                              <a:latin typeface="Cambria Math" panose="02040503050406030204" pitchFamily="18" charset="0"/>
                            </a:rPr>
                          </m:ctrlPr>
                        </m:sSubPr>
                        <m:e>
                          <m:r>
                            <a:rPr lang="tr-TR" b="0" i="1" smtClean="0">
                              <a:latin typeface="Cambria Math" panose="02040503050406030204" pitchFamily="18" charset="0"/>
                            </a:rPr>
                            <m:t>𝑓</m:t>
                          </m:r>
                        </m:e>
                        <m:sub>
                          <m:bar>
                            <m:barPr>
                              <m:pos m:val="top"/>
                              <m:ctrlPr>
                                <a:rPr lang="tr-TR" b="0" i="1" smtClean="0">
                                  <a:latin typeface="Cambria Math" panose="02040503050406030204" pitchFamily="18" charset="0"/>
                                </a:rPr>
                              </m:ctrlPr>
                            </m:barPr>
                            <m:e>
                              <m:r>
                                <a:rPr lang="tr-TR" b="0" i="1" smtClean="0">
                                  <a:latin typeface="Cambria Math" panose="02040503050406030204" pitchFamily="18" charset="0"/>
                                </a:rPr>
                                <m:t>𝑤</m:t>
                              </m:r>
                            </m:e>
                          </m:bar>
                          <m:r>
                            <a:rPr lang="tr-TR" b="0" i="1" smtClean="0">
                              <a:latin typeface="Cambria Math" panose="02040503050406030204" pitchFamily="18" charset="0"/>
                            </a:rPr>
                            <m:t>,</m:t>
                          </m:r>
                          <m:r>
                            <a:rPr lang="tr-TR" b="0" i="1" smtClean="0">
                              <a:latin typeface="Cambria Math" panose="02040503050406030204" pitchFamily="18" charset="0"/>
                            </a:rPr>
                            <m:t>𝑏</m:t>
                          </m:r>
                        </m:sub>
                      </m:sSub>
                      <m:d>
                        <m:dPr>
                          <m:ctrlPr>
                            <a:rPr lang="tr-TR" i="1">
                              <a:latin typeface="Cambria Math" panose="02040503050406030204" pitchFamily="18" charset="0"/>
                            </a:rPr>
                          </m:ctrlPr>
                        </m:dPr>
                        <m:e>
                          <m:bar>
                            <m:barPr>
                              <m:pos m:val="top"/>
                              <m:ctrlPr>
                                <a:rPr lang="tr-TR" i="1">
                                  <a:latin typeface="Cambria Math" panose="02040503050406030204" pitchFamily="18" charset="0"/>
                                </a:rPr>
                              </m:ctrlPr>
                            </m:barPr>
                            <m:e>
                              <m:r>
                                <a:rPr lang="tr-TR" i="1">
                                  <a:latin typeface="Cambria Math" panose="02040503050406030204" pitchFamily="18" charset="0"/>
                                </a:rPr>
                                <m:t>𝑥</m:t>
                              </m:r>
                            </m:e>
                          </m:bar>
                        </m:e>
                      </m:d>
                      <m:r>
                        <a:rPr lang="tr-TR" b="0" i="1" smtClean="0">
                          <a:latin typeface="Cambria Math" panose="02040503050406030204" pitchFamily="18" charset="0"/>
                        </a:rPr>
                        <m:t>=</m:t>
                      </m:r>
                      <m:r>
                        <a:rPr lang="tr-TR" b="0" i="1" smtClean="0">
                          <a:latin typeface="Cambria Math" panose="02040503050406030204" pitchFamily="18" charset="0"/>
                        </a:rPr>
                        <m:t>𝑤𝑥</m:t>
                      </m:r>
                      <m:r>
                        <a:rPr lang="tr-TR" b="0" i="1" smtClean="0">
                          <a:latin typeface="Cambria Math" panose="02040503050406030204" pitchFamily="18" charset="0"/>
                        </a:rPr>
                        <m:t>+</m:t>
                      </m:r>
                      <m:r>
                        <a:rPr lang="tr-TR" b="0" i="1" smtClean="0">
                          <a:latin typeface="Cambria Math" panose="02040503050406030204" pitchFamily="18" charset="0"/>
                        </a:rPr>
                        <m:t>𝑏</m:t>
                      </m:r>
                    </m:oMath>
                  </m:oMathPara>
                </a14:m>
                <a:endParaRPr lang="en-US" dirty="0"/>
              </a:p>
            </p:txBody>
          </p:sp>
        </mc:Choice>
        <mc:Fallback xmlns="">
          <p:sp>
            <p:nvSpPr>
              <p:cNvPr id="25" name="TextBox 24">
                <a:extLst>
                  <a:ext uri="{FF2B5EF4-FFF2-40B4-BE49-F238E27FC236}">
                    <a16:creationId xmlns:a16="http://schemas.microsoft.com/office/drawing/2014/main" id="{58AA771A-A469-ACBD-CCF8-099E8E4D9ABF}"/>
                  </a:ext>
                </a:extLst>
              </p:cNvPr>
              <p:cNvSpPr txBox="1">
                <a:spLocks noRot="1" noChangeAspect="1" noMove="1" noResize="1" noEditPoints="1" noAdjustHandles="1" noChangeArrowheads="1" noChangeShapeType="1" noTextEdit="1"/>
              </p:cNvSpPr>
              <p:nvPr/>
            </p:nvSpPr>
            <p:spPr>
              <a:xfrm>
                <a:off x="1228979" y="1569869"/>
                <a:ext cx="6542688" cy="381515"/>
              </a:xfrm>
              <a:prstGeom prst="rect">
                <a:avLst/>
              </a:prstGeom>
              <a:blipFill>
                <a:blip r:embed="rId3"/>
                <a:stretch>
                  <a:fillRect b="-11290"/>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27" name="TextBox 26">
                <a:extLst>
                  <a:ext uri="{FF2B5EF4-FFF2-40B4-BE49-F238E27FC236}">
                    <a16:creationId xmlns:a16="http://schemas.microsoft.com/office/drawing/2014/main" id="{28F70C51-6A59-E289-5397-645E850A6BFE}"/>
                  </a:ext>
                </a:extLst>
              </p:cNvPr>
              <p:cNvSpPr txBox="1"/>
              <p:nvPr/>
            </p:nvSpPr>
            <p:spPr>
              <a:xfrm>
                <a:off x="4977705" y="1951384"/>
                <a:ext cx="6097314" cy="848566"/>
              </a:xfrm>
              <a:prstGeom prst="rect">
                <a:avLst/>
              </a:prstGeom>
              <a:noFill/>
            </p:spPr>
            <p:txBody>
              <a:bodyPr wrap="square">
                <a:spAutoFit/>
              </a:bodyPr>
              <a:lstStyle/>
              <a:p>
                <a:pPr/>
                <a14:m>
                  <m:oMathPara xmlns:m="http://schemas.openxmlformats.org/officeDocument/2006/math">
                    <m:oMath>
                      <m:r>
                        <a:rPr lang="tr-TR" b="0" i="1" smtClean="0">
                          <a:latin typeface="Cambria Math" panose="02040503050406030204" pitchFamily="18" charset="0"/>
                        </a:rPr>
                        <m:t>𝐽</m:t>
                      </m:r>
                      <m:d>
                        <m:dPr>
                          <m:ctrlPr>
                            <a:rPr lang="tr-TR" b="0" i="1" smtClean="0">
                              <a:latin typeface="Cambria Math" panose="02040503050406030204" pitchFamily="18" charset="0"/>
                            </a:rPr>
                          </m:ctrlPr>
                        </m:dPr>
                        <m:e>
                          <m:r>
                            <a:rPr lang="tr-TR" b="0" i="1" smtClean="0">
                              <a:latin typeface="Cambria Math" panose="02040503050406030204" pitchFamily="18" charset="0"/>
                            </a:rPr>
                            <m:t>𝑤</m:t>
                          </m:r>
                          <m:r>
                            <a:rPr lang="tr-TR" b="0" i="1" smtClean="0">
                              <a:latin typeface="Cambria Math" panose="02040503050406030204" pitchFamily="18" charset="0"/>
                            </a:rPr>
                            <m:t>,</m:t>
                          </m:r>
                          <m:r>
                            <a:rPr lang="tr-TR" b="0" i="1" smtClean="0">
                              <a:latin typeface="Cambria Math" panose="02040503050406030204" pitchFamily="18" charset="0"/>
                            </a:rPr>
                            <m:t>𝑏</m:t>
                          </m:r>
                        </m:e>
                      </m:d>
                      <m:r>
                        <a:rPr lang="tr-TR" b="0" i="1" smtClean="0">
                          <a:latin typeface="Cambria Math" panose="02040503050406030204" pitchFamily="18" charset="0"/>
                        </a:rPr>
                        <m:t>=</m:t>
                      </m:r>
                      <m:f>
                        <m:fPr>
                          <m:ctrlPr>
                            <a:rPr lang="tr-TR" b="0" i="1" smtClean="0">
                              <a:latin typeface="Cambria Math" panose="02040503050406030204" pitchFamily="18" charset="0"/>
                            </a:rPr>
                          </m:ctrlPr>
                        </m:fPr>
                        <m:num>
                          <m:r>
                            <a:rPr lang="tr-TR" b="0" i="1" smtClean="0">
                              <a:latin typeface="Cambria Math" panose="02040503050406030204" pitchFamily="18" charset="0"/>
                            </a:rPr>
                            <m:t>1</m:t>
                          </m:r>
                        </m:num>
                        <m:den>
                          <m:r>
                            <a:rPr lang="tr-TR" b="0" i="1" smtClean="0">
                              <a:latin typeface="Cambria Math" panose="02040503050406030204" pitchFamily="18" charset="0"/>
                            </a:rPr>
                            <m:t>2</m:t>
                          </m:r>
                          <m:r>
                            <a:rPr lang="tr-TR" b="0" i="1" smtClean="0">
                              <a:latin typeface="Cambria Math" panose="02040503050406030204" pitchFamily="18" charset="0"/>
                            </a:rPr>
                            <m:t>𝑚</m:t>
                          </m:r>
                        </m:den>
                      </m:f>
                      <m:nary>
                        <m:naryPr>
                          <m:chr m:val="∑"/>
                          <m:ctrlPr>
                            <a:rPr lang="tr-TR" b="0" i="1" smtClean="0">
                              <a:latin typeface="Cambria Math" panose="02040503050406030204" pitchFamily="18" charset="0"/>
                            </a:rPr>
                          </m:ctrlPr>
                        </m:naryPr>
                        <m:sub>
                          <m:r>
                            <m:rPr>
                              <m:brk m:alnAt="23"/>
                            </m:rPr>
                            <a:rPr lang="tr-TR" b="0" i="1" smtClean="0">
                              <a:latin typeface="Cambria Math" panose="02040503050406030204" pitchFamily="18" charset="0"/>
                            </a:rPr>
                            <m:t>𝑖</m:t>
                          </m:r>
                          <m:r>
                            <a:rPr lang="tr-TR" b="0" i="1" smtClean="0">
                              <a:latin typeface="Cambria Math" panose="02040503050406030204" pitchFamily="18" charset="0"/>
                            </a:rPr>
                            <m:t>=1</m:t>
                          </m:r>
                        </m:sub>
                        <m:sup>
                          <m:r>
                            <a:rPr lang="tr-TR" b="0" i="1" smtClean="0">
                              <a:latin typeface="Cambria Math" panose="02040503050406030204" pitchFamily="18" charset="0"/>
                            </a:rPr>
                            <m:t>𝑚</m:t>
                          </m:r>
                        </m:sup>
                        <m:e>
                          <m:r>
                            <a:rPr lang="tr-TR" b="0" i="1" smtClean="0">
                              <a:latin typeface="Cambria Math" panose="02040503050406030204" pitchFamily="18" charset="0"/>
                            </a:rPr>
                            <m:t>(</m:t>
                          </m:r>
                          <m:sSup>
                            <m:sSupPr>
                              <m:ctrlPr>
                                <a:rPr lang="tr-TR" i="1">
                                  <a:latin typeface="Cambria Math" panose="02040503050406030204" pitchFamily="18" charset="0"/>
                                </a:rPr>
                              </m:ctrlPr>
                            </m:sSupPr>
                            <m:e>
                              <m:acc>
                                <m:accPr>
                                  <m:chr m:val="̂"/>
                                  <m:ctrlPr>
                                    <a:rPr lang="tr-TR" i="1">
                                      <a:latin typeface="Cambria Math" panose="02040503050406030204" pitchFamily="18" charset="0"/>
                                    </a:rPr>
                                  </m:ctrlPr>
                                </m:accPr>
                                <m:e>
                                  <m:r>
                                    <a:rPr lang="tr-TR" i="1">
                                      <a:latin typeface="Cambria Math" panose="02040503050406030204" pitchFamily="18" charset="0"/>
                                    </a:rPr>
                                    <m:t>𝑦</m:t>
                                  </m:r>
                                </m:e>
                              </m:acc>
                            </m:e>
                            <m:sup>
                              <m:r>
                                <a:rPr lang="tr-TR" i="1">
                                  <a:latin typeface="Cambria Math" panose="02040503050406030204" pitchFamily="18" charset="0"/>
                                </a:rPr>
                                <m:t>(</m:t>
                              </m:r>
                              <m:r>
                                <a:rPr lang="tr-TR" i="1">
                                  <a:latin typeface="Cambria Math" panose="02040503050406030204" pitchFamily="18" charset="0"/>
                                </a:rPr>
                                <m:t>𝑖</m:t>
                              </m:r>
                              <m:r>
                                <a:rPr lang="tr-TR" i="1">
                                  <a:latin typeface="Cambria Math" panose="02040503050406030204" pitchFamily="18" charset="0"/>
                                </a:rPr>
                                <m:t>)</m:t>
                              </m:r>
                            </m:sup>
                          </m:sSup>
                        </m:e>
                      </m:nary>
                      <m:sSup>
                        <m:sSupPr>
                          <m:ctrlPr>
                            <a:rPr lang="tr-TR">
                              <a:latin typeface="Cambria Math" panose="02040503050406030204" pitchFamily="18" charset="0"/>
                            </a:rPr>
                          </m:ctrlPr>
                        </m:sSupPr>
                        <m:e>
                          <m:r>
                            <a:rPr lang="tr-TR">
                              <a:latin typeface="Cambria Math" panose="02040503050406030204" pitchFamily="18" charset="0"/>
                            </a:rPr>
                            <m:t>−</m:t>
                          </m:r>
                          <m:sSup>
                            <m:sSupPr>
                              <m:ctrlPr>
                                <a:rPr lang="tr-TR" i="1">
                                  <a:latin typeface="Cambria Math" panose="02040503050406030204" pitchFamily="18" charset="0"/>
                                </a:rPr>
                              </m:ctrlPr>
                            </m:sSupPr>
                            <m:e>
                              <m:r>
                                <a:rPr lang="tr-TR" i="1">
                                  <a:latin typeface="Cambria Math" panose="02040503050406030204" pitchFamily="18" charset="0"/>
                                </a:rPr>
                                <m:t>𝑦</m:t>
                              </m:r>
                            </m:e>
                            <m:sup>
                              <m:d>
                                <m:dPr>
                                  <m:ctrlPr>
                                    <a:rPr lang="tr-TR" i="1">
                                      <a:latin typeface="Cambria Math" panose="02040503050406030204" pitchFamily="18" charset="0"/>
                                    </a:rPr>
                                  </m:ctrlPr>
                                </m:dPr>
                                <m:e>
                                  <m:r>
                                    <a:rPr lang="tr-TR" i="1">
                                      <a:latin typeface="Cambria Math" panose="02040503050406030204" pitchFamily="18" charset="0"/>
                                    </a:rPr>
                                    <m:t>𝑖</m:t>
                                  </m:r>
                                </m:e>
                              </m:d>
                            </m:sup>
                          </m:sSup>
                          <m:r>
                            <a:rPr lang="tr-TR" i="1">
                              <a:latin typeface="Cambria Math" panose="02040503050406030204" pitchFamily="18" charset="0"/>
                            </a:rPr>
                            <m:t>)</m:t>
                          </m:r>
                        </m:e>
                        <m:sup>
                          <m:r>
                            <a:rPr lang="tr-TR" b="0" i="1" smtClean="0">
                              <a:latin typeface="Cambria Math" panose="02040503050406030204" pitchFamily="18" charset="0"/>
                            </a:rPr>
                            <m:t>2</m:t>
                          </m:r>
                        </m:sup>
                      </m:sSup>
                    </m:oMath>
                  </m:oMathPara>
                </a14:m>
                <a:endParaRPr lang="tr-TR" b="0" dirty="0"/>
              </a:p>
            </p:txBody>
          </p:sp>
        </mc:Choice>
        <mc:Fallback xmlns="">
          <p:sp>
            <p:nvSpPr>
              <p:cNvPr id="27" name="TextBox 26">
                <a:extLst>
                  <a:ext uri="{FF2B5EF4-FFF2-40B4-BE49-F238E27FC236}">
                    <a16:creationId xmlns:a16="http://schemas.microsoft.com/office/drawing/2014/main" id="{28F70C51-6A59-E289-5397-645E850A6BFE}"/>
                  </a:ext>
                </a:extLst>
              </p:cNvPr>
              <p:cNvSpPr txBox="1">
                <a:spLocks noRot="1" noChangeAspect="1" noMove="1" noResize="1" noEditPoints="1" noAdjustHandles="1" noChangeArrowheads="1" noChangeShapeType="1" noTextEdit="1"/>
              </p:cNvSpPr>
              <p:nvPr/>
            </p:nvSpPr>
            <p:spPr>
              <a:xfrm>
                <a:off x="4977705" y="1951384"/>
                <a:ext cx="6097314" cy="848566"/>
              </a:xfrm>
              <a:prstGeom prst="rect">
                <a:avLst/>
              </a:prstGeom>
              <a:blipFill>
                <a:blip r:embed="rId4"/>
                <a:stretch>
                  <a:fillRect/>
                </a:stretch>
              </a:blipFill>
            </p:spPr>
            <p:txBody>
              <a:bodyPr/>
              <a:lstStyle/>
              <a:p>
                <a:r>
                  <a:rPr lang="en-US">
                    <a:noFill/>
                  </a:rPr>
                  <a:t> </a:t>
                </a:r>
              </a:p>
            </p:txBody>
          </p:sp>
        </mc:Fallback>
      </mc:AlternateContent>
      <p:cxnSp>
        <p:nvCxnSpPr>
          <p:cNvPr id="28" name="Straight Arrow Connector 27">
            <a:extLst>
              <a:ext uri="{FF2B5EF4-FFF2-40B4-BE49-F238E27FC236}">
                <a16:creationId xmlns:a16="http://schemas.microsoft.com/office/drawing/2014/main" id="{FB002141-804B-3EDF-B932-6FBDF1D21A2B}"/>
              </a:ext>
            </a:extLst>
          </p:cNvPr>
          <p:cNvCxnSpPr>
            <a:cxnSpLocks/>
          </p:cNvCxnSpPr>
          <p:nvPr/>
        </p:nvCxnSpPr>
        <p:spPr>
          <a:xfrm flipV="1">
            <a:off x="1278365" y="3979125"/>
            <a:ext cx="0" cy="2774516"/>
          </a:xfrm>
          <a:prstGeom prst="straightConnector1">
            <a:avLst/>
          </a:prstGeom>
          <a:ln w="38100">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29" name="Straight Arrow Connector 28">
            <a:extLst>
              <a:ext uri="{FF2B5EF4-FFF2-40B4-BE49-F238E27FC236}">
                <a16:creationId xmlns:a16="http://schemas.microsoft.com/office/drawing/2014/main" id="{02BB7D62-296B-0865-D7F7-7F2A1E2C90CE}"/>
              </a:ext>
            </a:extLst>
          </p:cNvPr>
          <p:cNvCxnSpPr>
            <a:cxnSpLocks/>
          </p:cNvCxnSpPr>
          <p:nvPr/>
        </p:nvCxnSpPr>
        <p:spPr>
          <a:xfrm>
            <a:off x="1023670" y="6373685"/>
            <a:ext cx="3511464" cy="0"/>
          </a:xfrm>
          <a:prstGeom prst="straightConnector1">
            <a:avLst/>
          </a:prstGeom>
          <a:ln w="38100">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30" name="Straight Connector 29">
            <a:extLst>
              <a:ext uri="{FF2B5EF4-FFF2-40B4-BE49-F238E27FC236}">
                <a16:creationId xmlns:a16="http://schemas.microsoft.com/office/drawing/2014/main" id="{CA24C2D5-C16A-E600-83E1-9E686576657D}"/>
              </a:ext>
            </a:extLst>
          </p:cNvPr>
          <p:cNvCxnSpPr/>
          <p:nvPr/>
        </p:nvCxnSpPr>
        <p:spPr>
          <a:xfrm flipV="1">
            <a:off x="1282205" y="4791066"/>
            <a:ext cx="2182494" cy="1044503"/>
          </a:xfrm>
          <a:prstGeom prst="line">
            <a:avLst/>
          </a:prstGeom>
          <a:ln w="38100">
            <a:solidFill>
              <a:srgbClr val="FF0000"/>
            </a:solidFill>
          </a:ln>
        </p:spPr>
        <p:style>
          <a:lnRef idx="1">
            <a:schemeClr val="accent1"/>
          </a:lnRef>
          <a:fillRef idx="0">
            <a:schemeClr val="accent1"/>
          </a:fillRef>
          <a:effectRef idx="0">
            <a:schemeClr val="accent1"/>
          </a:effectRef>
          <a:fontRef idx="minor">
            <a:schemeClr val="tx1"/>
          </a:fontRef>
        </p:style>
      </p:cxnSp>
      <p:sp>
        <p:nvSpPr>
          <p:cNvPr id="32" name="TextBox 31">
            <a:extLst>
              <a:ext uri="{FF2B5EF4-FFF2-40B4-BE49-F238E27FC236}">
                <a16:creationId xmlns:a16="http://schemas.microsoft.com/office/drawing/2014/main" id="{9F7D505F-9918-34DE-8094-7377C65E63B0}"/>
              </a:ext>
            </a:extLst>
          </p:cNvPr>
          <p:cNvSpPr txBox="1"/>
          <p:nvPr/>
        </p:nvSpPr>
        <p:spPr>
          <a:xfrm>
            <a:off x="888704" y="4807445"/>
            <a:ext cx="274710" cy="407887"/>
          </a:xfrm>
          <a:prstGeom prst="rect">
            <a:avLst/>
          </a:prstGeom>
          <a:noFill/>
        </p:spPr>
        <p:txBody>
          <a:bodyPr wrap="square" rtlCol="0">
            <a:spAutoFit/>
          </a:bodyPr>
          <a:lstStyle/>
          <a:p>
            <a:r>
              <a:rPr lang="tr-TR" sz="2000" dirty="0"/>
              <a:t>4</a:t>
            </a:r>
            <a:endParaRPr lang="en-US" sz="2000" dirty="0"/>
          </a:p>
        </p:txBody>
      </p:sp>
      <p:sp>
        <p:nvSpPr>
          <p:cNvPr id="33" name="Oval 32">
            <a:extLst>
              <a:ext uri="{FF2B5EF4-FFF2-40B4-BE49-F238E27FC236}">
                <a16:creationId xmlns:a16="http://schemas.microsoft.com/office/drawing/2014/main" id="{ED6161C9-2539-4662-6ED9-9BC2DCBFD1D7}"/>
              </a:ext>
            </a:extLst>
          </p:cNvPr>
          <p:cNvSpPr/>
          <p:nvPr/>
        </p:nvSpPr>
        <p:spPr>
          <a:xfrm>
            <a:off x="2431505" y="4960777"/>
            <a:ext cx="73110" cy="119500"/>
          </a:xfrm>
          <a:prstGeom prst="ellipse">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4" name="Oval 33">
            <a:extLst>
              <a:ext uri="{FF2B5EF4-FFF2-40B4-BE49-F238E27FC236}">
                <a16:creationId xmlns:a16="http://schemas.microsoft.com/office/drawing/2014/main" id="{AC18A1EE-9772-E88D-553D-84506F556674}"/>
              </a:ext>
            </a:extLst>
          </p:cNvPr>
          <p:cNvSpPr/>
          <p:nvPr/>
        </p:nvSpPr>
        <p:spPr>
          <a:xfrm>
            <a:off x="3067497" y="5519577"/>
            <a:ext cx="73110" cy="119500"/>
          </a:xfrm>
          <a:prstGeom prst="ellipse">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5" name="Oval 34">
            <a:extLst>
              <a:ext uri="{FF2B5EF4-FFF2-40B4-BE49-F238E27FC236}">
                <a16:creationId xmlns:a16="http://schemas.microsoft.com/office/drawing/2014/main" id="{89337A92-2B8B-E096-8D82-2186FFF5E008}"/>
              </a:ext>
            </a:extLst>
          </p:cNvPr>
          <p:cNvSpPr/>
          <p:nvPr/>
        </p:nvSpPr>
        <p:spPr>
          <a:xfrm>
            <a:off x="1904204" y="5857740"/>
            <a:ext cx="73110" cy="119500"/>
          </a:xfrm>
          <a:prstGeom prst="ellipse">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b="1" dirty="0"/>
          </a:p>
        </p:txBody>
      </p:sp>
      <p:cxnSp>
        <p:nvCxnSpPr>
          <p:cNvPr id="37" name="Straight Connector 36">
            <a:extLst>
              <a:ext uri="{FF2B5EF4-FFF2-40B4-BE49-F238E27FC236}">
                <a16:creationId xmlns:a16="http://schemas.microsoft.com/office/drawing/2014/main" id="{FB571DA8-052D-540A-B10A-11017C86767E}"/>
              </a:ext>
            </a:extLst>
          </p:cNvPr>
          <p:cNvCxnSpPr>
            <a:cxnSpLocks/>
          </p:cNvCxnSpPr>
          <p:nvPr/>
        </p:nvCxnSpPr>
        <p:spPr>
          <a:xfrm>
            <a:off x="2461943" y="5040745"/>
            <a:ext cx="0" cy="225980"/>
          </a:xfrm>
          <a:prstGeom prst="line">
            <a:avLst/>
          </a:prstGeom>
          <a:ln w="38100">
            <a:prstDash val="sysDot"/>
          </a:ln>
        </p:spPr>
        <p:style>
          <a:lnRef idx="1">
            <a:schemeClr val="accent1"/>
          </a:lnRef>
          <a:fillRef idx="0">
            <a:schemeClr val="accent1"/>
          </a:fillRef>
          <a:effectRef idx="0">
            <a:schemeClr val="accent1"/>
          </a:effectRef>
          <a:fontRef idx="minor">
            <a:schemeClr val="tx1"/>
          </a:fontRef>
        </p:style>
      </p:cxnSp>
      <p:cxnSp>
        <p:nvCxnSpPr>
          <p:cNvPr id="39" name="Straight Connector 38">
            <a:extLst>
              <a:ext uri="{FF2B5EF4-FFF2-40B4-BE49-F238E27FC236}">
                <a16:creationId xmlns:a16="http://schemas.microsoft.com/office/drawing/2014/main" id="{0848E1DA-6579-799E-17BA-1DDB1049756D}"/>
              </a:ext>
            </a:extLst>
          </p:cNvPr>
          <p:cNvCxnSpPr>
            <a:cxnSpLocks/>
          </p:cNvCxnSpPr>
          <p:nvPr/>
        </p:nvCxnSpPr>
        <p:spPr>
          <a:xfrm>
            <a:off x="1926747" y="5518206"/>
            <a:ext cx="6972" cy="434253"/>
          </a:xfrm>
          <a:prstGeom prst="line">
            <a:avLst/>
          </a:prstGeom>
          <a:ln w="38100">
            <a:prstDash val="sysDot"/>
          </a:ln>
        </p:spPr>
        <p:style>
          <a:lnRef idx="1">
            <a:schemeClr val="accent1"/>
          </a:lnRef>
          <a:fillRef idx="0">
            <a:schemeClr val="accent1"/>
          </a:fillRef>
          <a:effectRef idx="0">
            <a:schemeClr val="accent1"/>
          </a:effectRef>
          <a:fontRef idx="minor">
            <a:schemeClr val="tx1"/>
          </a:fontRef>
        </p:style>
      </p:cxnSp>
      <p:cxnSp>
        <p:nvCxnSpPr>
          <p:cNvPr id="41" name="Straight Connector 40">
            <a:extLst>
              <a:ext uri="{FF2B5EF4-FFF2-40B4-BE49-F238E27FC236}">
                <a16:creationId xmlns:a16="http://schemas.microsoft.com/office/drawing/2014/main" id="{ECAD5316-1B68-5AEE-4B46-22B249896E64}"/>
              </a:ext>
            </a:extLst>
          </p:cNvPr>
          <p:cNvCxnSpPr>
            <a:cxnSpLocks/>
          </p:cNvCxnSpPr>
          <p:nvPr/>
        </p:nvCxnSpPr>
        <p:spPr>
          <a:xfrm>
            <a:off x="3108059" y="4981461"/>
            <a:ext cx="0" cy="577335"/>
          </a:xfrm>
          <a:prstGeom prst="line">
            <a:avLst/>
          </a:prstGeom>
          <a:ln w="38100">
            <a:prstDash val="sysDot"/>
          </a:ln>
        </p:spPr>
        <p:style>
          <a:lnRef idx="1">
            <a:schemeClr val="accent1"/>
          </a:lnRef>
          <a:fillRef idx="0">
            <a:schemeClr val="accent1"/>
          </a:fillRef>
          <a:effectRef idx="0">
            <a:schemeClr val="accent1"/>
          </a:effectRef>
          <a:fontRef idx="minor">
            <a:schemeClr val="tx1"/>
          </a:fontRef>
        </p:style>
      </p:cxnSp>
      <mc:AlternateContent xmlns:mc="http://schemas.openxmlformats.org/markup-compatibility/2006" xmlns:a14="http://schemas.microsoft.com/office/drawing/2010/main">
        <mc:Choice Requires="a14">
          <p:sp>
            <p:nvSpPr>
              <p:cNvPr id="43" name="TextBox 42">
                <a:extLst>
                  <a:ext uri="{FF2B5EF4-FFF2-40B4-BE49-F238E27FC236}">
                    <a16:creationId xmlns:a16="http://schemas.microsoft.com/office/drawing/2014/main" id="{27EAB773-B6AB-E057-A4E7-DAD1708BFDD3}"/>
                  </a:ext>
                </a:extLst>
              </p:cNvPr>
              <p:cNvSpPr txBox="1"/>
              <p:nvPr/>
            </p:nvSpPr>
            <p:spPr>
              <a:xfrm>
                <a:off x="5196989" y="5834414"/>
                <a:ext cx="6097314" cy="889731"/>
              </a:xfrm>
              <a:prstGeom prst="rect">
                <a:avLst/>
              </a:prstGeom>
              <a:noFill/>
            </p:spPr>
            <p:txBody>
              <a:bodyPr wrap="square">
                <a:spAutoFit/>
              </a:bodyPr>
              <a:lstStyle/>
              <a:p>
                <a:pPr/>
                <a14:m>
                  <m:oMathPara xmlns:m="http://schemas.openxmlformats.org/officeDocument/2006/math">
                    <m:oMath>
                      <m:r>
                        <a:rPr lang="tr-TR" b="0" i="1" smtClean="0">
                          <a:latin typeface="Cambria Math" panose="02040503050406030204" pitchFamily="18" charset="0"/>
                        </a:rPr>
                        <m:t>𝐽</m:t>
                      </m:r>
                      <m:d>
                        <m:dPr>
                          <m:ctrlPr>
                            <a:rPr lang="tr-TR" b="0" i="1" smtClean="0">
                              <a:latin typeface="Cambria Math" panose="02040503050406030204" pitchFamily="18" charset="0"/>
                            </a:rPr>
                          </m:ctrlPr>
                        </m:dPr>
                        <m:e>
                          <m:r>
                            <a:rPr lang="tr-TR" b="0" i="1" smtClean="0">
                              <a:latin typeface="Cambria Math" panose="02040503050406030204" pitchFamily="18" charset="0"/>
                            </a:rPr>
                            <m:t>𝑤</m:t>
                          </m:r>
                          <m:r>
                            <a:rPr lang="tr-TR" b="0" i="1" smtClean="0">
                              <a:latin typeface="Cambria Math" panose="02040503050406030204" pitchFamily="18" charset="0"/>
                            </a:rPr>
                            <m:t>,</m:t>
                          </m:r>
                          <m:r>
                            <a:rPr lang="tr-TR" b="0" i="1" smtClean="0">
                              <a:latin typeface="Cambria Math" panose="02040503050406030204" pitchFamily="18" charset="0"/>
                            </a:rPr>
                            <m:t>𝑏</m:t>
                          </m:r>
                        </m:e>
                      </m:d>
                      <m:r>
                        <a:rPr lang="tr-TR" b="0" i="1" smtClean="0">
                          <a:latin typeface="Cambria Math" panose="02040503050406030204" pitchFamily="18" charset="0"/>
                        </a:rPr>
                        <m:t>=</m:t>
                      </m:r>
                      <m:f>
                        <m:fPr>
                          <m:ctrlPr>
                            <a:rPr lang="tr-TR" b="0" i="1" smtClean="0">
                              <a:latin typeface="Cambria Math" panose="02040503050406030204" pitchFamily="18" charset="0"/>
                            </a:rPr>
                          </m:ctrlPr>
                        </m:fPr>
                        <m:num>
                          <m:r>
                            <a:rPr lang="tr-TR" b="0" i="1" smtClean="0">
                              <a:latin typeface="Cambria Math" panose="02040503050406030204" pitchFamily="18" charset="0"/>
                            </a:rPr>
                            <m:t>1</m:t>
                          </m:r>
                        </m:num>
                        <m:den>
                          <m:r>
                            <a:rPr lang="tr-TR" b="0" i="1" smtClean="0">
                              <a:latin typeface="Cambria Math" panose="02040503050406030204" pitchFamily="18" charset="0"/>
                            </a:rPr>
                            <m:t>2∗3</m:t>
                          </m:r>
                        </m:den>
                      </m:f>
                      <m:r>
                        <a:rPr lang="tr-TR" b="0" i="1" smtClean="0">
                          <a:latin typeface="Cambria Math" panose="02040503050406030204" pitchFamily="18" charset="0"/>
                        </a:rPr>
                        <m:t>∗</m:t>
                      </m:r>
                      <m:d>
                        <m:dPr>
                          <m:ctrlPr>
                            <a:rPr lang="tr-TR" b="0" i="1" smtClean="0">
                              <a:latin typeface="Cambria Math" panose="02040503050406030204" pitchFamily="18" charset="0"/>
                            </a:rPr>
                          </m:ctrlPr>
                        </m:dPr>
                        <m:e>
                          <m:sSup>
                            <m:sSupPr>
                              <m:ctrlPr>
                                <a:rPr lang="tr-TR" b="0" i="1" smtClean="0">
                                  <a:latin typeface="Cambria Math" panose="02040503050406030204" pitchFamily="18" charset="0"/>
                                </a:rPr>
                              </m:ctrlPr>
                            </m:sSupPr>
                            <m:e>
                              <m:d>
                                <m:dPr>
                                  <m:ctrlPr>
                                    <a:rPr lang="tr-TR" b="0" i="1" smtClean="0">
                                      <a:latin typeface="Cambria Math" panose="02040503050406030204" pitchFamily="18" charset="0"/>
                                    </a:rPr>
                                  </m:ctrlPr>
                                </m:dPr>
                                <m:e>
                                  <m:r>
                                    <a:rPr lang="tr-TR" b="0" i="1" smtClean="0">
                                      <a:latin typeface="Cambria Math" panose="02040503050406030204" pitchFamily="18" charset="0"/>
                                    </a:rPr>
                                    <m:t>1.5−1</m:t>
                                  </m:r>
                                </m:e>
                              </m:d>
                            </m:e>
                            <m:sup>
                              <m:r>
                                <a:rPr lang="tr-TR" b="0" i="1" smtClean="0">
                                  <a:latin typeface="Cambria Math" panose="02040503050406030204" pitchFamily="18" charset="0"/>
                                </a:rPr>
                                <m:t>2</m:t>
                              </m:r>
                            </m:sup>
                          </m:sSup>
                          <m:r>
                            <a:rPr lang="tr-TR" b="0" i="1" smtClean="0">
                              <a:latin typeface="Cambria Math" panose="02040503050406030204" pitchFamily="18" charset="0"/>
                            </a:rPr>
                            <m:t>+</m:t>
                          </m:r>
                          <m:sSup>
                            <m:sSupPr>
                              <m:ctrlPr>
                                <a:rPr lang="tr-TR" b="0" i="1" smtClean="0">
                                  <a:latin typeface="Cambria Math" panose="02040503050406030204" pitchFamily="18" charset="0"/>
                                </a:rPr>
                              </m:ctrlPr>
                            </m:sSupPr>
                            <m:e>
                              <m:d>
                                <m:dPr>
                                  <m:ctrlPr>
                                    <a:rPr lang="tr-TR" b="0" i="1" smtClean="0">
                                      <a:latin typeface="Cambria Math" panose="02040503050406030204" pitchFamily="18" charset="0"/>
                                    </a:rPr>
                                  </m:ctrlPr>
                                </m:dPr>
                                <m:e>
                                  <m:r>
                                    <a:rPr lang="tr-TR" b="0" i="1" smtClean="0">
                                      <a:latin typeface="Cambria Math" panose="02040503050406030204" pitchFamily="18" charset="0"/>
                                    </a:rPr>
                                    <m:t>4−2</m:t>
                                  </m:r>
                                </m:e>
                              </m:d>
                            </m:e>
                            <m:sup>
                              <m:r>
                                <a:rPr lang="tr-TR" b="0" i="1" smtClean="0">
                                  <a:latin typeface="Cambria Math" panose="02040503050406030204" pitchFamily="18" charset="0"/>
                                </a:rPr>
                                <m:t>2</m:t>
                              </m:r>
                            </m:sup>
                          </m:sSup>
                          <m:r>
                            <a:rPr lang="tr-TR" b="0" i="1" smtClean="0">
                              <a:latin typeface="Cambria Math" panose="02040503050406030204" pitchFamily="18" charset="0"/>
                            </a:rPr>
                            <m:t>+</m:t>
                          </m:r>
                          <m:sSup>
                            <m:sSupPr>
                              <m:ctrlPr>
                                <a:rPr lang="tr-TR" b="0" i="1" smtClean="0">
                                  <a:latin typeface="Cambria Math" panose="02040503050406030204" pitchFamily="18" charset="0"/>
                                </a:rPr>
                              </m:ctrlPr>
                            </m:sSupPr>
                            <m:e>
                              <m:d>
                                <m:dPr>
                                  <m:ctrlPr>
                                    <a:rPr lang="tr-TR" b="0" i="1" smtClean="0">
                                      <a:latin typeface="Cambria Math" panose="02040503050406030204" pitchFamily="18" charset="0"/>
                                    </a:rPr>
                                  </m:ctrlPr>
                                </m:dPr>
                                <m:e>
                                  <m:r>
                                    <a:rPr lang="tr-TR" b="0" i="1" smtClean="0">
                                      <a:latin typeface="Cambria Math" panose="02040503050406030204" pitchFamily="18" charset="0"/>
                                    </a:rPr>
                                    <m:t>2. −2.5</m:t>
                                  </m:r>
                                </m:e>
                              </m:d>
                            </m:e>
                            <m:sup>
                              <m:r>
                                <a:rPr lang="tr-TR" b="0" i="1" smtClean="0">
                                  <a:latin typeface="Cambria Math" panose="02040503050406030204" pitchFamily="18" charset="0"/>
                                </a:rPr>
                                <m:t>2</m:t>
                              </m:r>
                            </m:sup>
                          </m:sSup>
                        </m:e>
                      </m:d>
                      <m:r>
                        <a:rPr lang="tr-TR" b="0" i="1" smtClean="0">
                          <a:latin typeface="Cambria Math" panose="02040503050406030204" pitchFamily="18" charset="0"/>
                        </a:rPr>
                        <m:t>=0.75</m:t>
                      </m:r>
                    </m:oMath>
                  </m:oMathPara>
                </a14:m>
                <a:endParaRPr lang="tr-TR" b="0" dirty="0"/>
              </a:p>
            </p:txBody>
          </p:sp>
        </mc:Choice>
        <mc:Fallback xmlns="">
          <p:sp>
            <p:nvSpPr>
              <p:cNvPr id="43" name="TextBox 42">
                <a:extLst>
                  <a:ext uri="{FF2B5EF4-FFF2-40B4-BE49-F238E27FC236}">
                    <a16:creationId xmlns:a16="http://schemas.microsoft.com/office/drawing/2014/main" id="{27EAB773-B6AB-E057-A4E7-DAD1708BFDD3}"/>
                  </a:ext>
                </a:extLst>
              </p:cNvPr>
              <p:cNvSpPr txBox="1">
                <a:spLocks noRot="1" noChangeAspect="1" noMove="1" noResize="1" noEditPoints="1" noAdjustHandles="1" noChangeArrowheads="1" noChangeShapeType="1" noTextEdit="1"/>
              </p:cNvSpPr>
              <p:nvPr/>
            </p:nvSpPr>
            <p:spPr>
              <a:xfrm>
                <a:off x="5196989" y="5834414"/>
                <a:ext cx="6097314" cy="889731"/>
              </a:xfrm>
              <a:prstGeom prst="rect">
                <a:avLst/>
              </a:prstGeom>
              <a:blipFill>
                <a:blip r:embed="rId5"/>
                <a:stretch>
                  <a:fillRect/>
                </a:stretch>
              </a:blipFill>
            </p:spPr>
            <p:txBody>
              <a:bodyPr/>
              <a:lstStyle/>
              <a:p>
                <a:r>
                  <a:rPr lang="en-US">
                    <a:noFill/>
                  </a:rPr>
                  <a:t> </a:t>
                </a:r>
              </a:p>
            </p:txBody>
          </p:sp>
        </mc:Fallback>
      </mc:AlternateContent>
      <p:cxnSp>
        <p:nvCxnSpPr>
          <p:cNvPr id="44" name="Straight Connector 43">
            <a:extLst>
              <a:ext uri="{FF2B5EF4-FFF2-40B4-BE49-F238E27FC236}">
                <a16:creationId xmlns:a16="http://schemas.microsoft.com/office/drawing/2014/main" id="{63B05032-D885-59C9-54A8-715B6EC3E7AE}"/>
              </a:ext>
            </a:extLst>
          </p:cNvPr>
          <p:cNvCxnSpPr>
            <a:cxnSpLocks/>
          </p:cNvCxnSpPr>
          <p:nvPr/>
        </p:nvCxnSpPr>
        <p:spPr>
          <a:xfrm>
            <a:off x="1295622" y="5923175"/>
            <a:ext cx="653862" cy="3861"/>
          </a:xfrm>
          <a:prstGeom prst="line">
            <a:avLst/>
          </a:prstGeom>
          <a:ln w="38100">
            <a:solidFill>
              <a:srgbClr val="FFC000"/>
            </a:solidFill>
            <a:prstDash val="sysDot"/>
          </a:ln>
        </p:spPr>
        <p:style>
          <a:lnRef idx="1">
            <a:schemeClr val="accent1"/>
          </a:lnRef>
          <a:fillRef idx="0">
            <a:schemeClr val="accent1"/>
          </a:fillRef>
          <a:effectRef idx="0">
            <a:schemeClr val="accent1"/>
          </a:effectRef>
          <a:fontRef idx="minor">
            <a:schemeClr val="tx1"/>
          </a:fontRef>
        </p:style>
      </p:cxnSp>
      <p:cxnSp>
        <p:nvCxnSpPr>
          <p:cNvPr id="46" name="Straight Connector 45">
            <a:extLst>
              <a:ext uri="{FF2B5EF4-FFF2-40B4-BE49-F238E27FC236}">
                <a16:creationId xmlns:a16="http://schemas.microsoft.com/office/drawing/2014/main" id="{67BB846B-6D30-A19A-5F99-9717C9C640C5}"/>
              </a:ext>
            </a:extLst>
          </p:cNvPr>
          <p:cNvCxnSpPr>
            <a:cxnSpLocks/>
            <a:endCxn id="33" idx="2"/>
          </p:cNvCxnSpPr>
          <p:nvPr/>
        </p:nvCxnSpPr>
        <p:spPr>
          <a:xfrm>
            <a:off x="1371108" y="5020527"/>
            <a:ext cx="1060397" cy="0"/>
          </a:xfrm>
          <a:prstGeom prst="line">
            <a:avLst/>
          </a:prstGeom>
          <a:ln w="38100">
            <a:solidFill>
              <a:srgbClr val="FFC000"/>
            </a:solidFill>
            <a:prstDash val="sysDot"/>
          </a:ln>
        </p:spPr>
        <p:style>
          <a:lnRef idx="1">
            <a:schemeClr val="accent1"/>
          </a:lnRef>
          <a:fillRef idx="0">
            <a:schemeClr val="accent1"/>
          </a:fillRef>
          <a:effectRef idx="0">
            <a:schemeClr val="accent1"/>
          </a:effectRef>
          <a:fontRef idx="minor">
            <a:schemeClr val="tx1"/>
          </a:fontRef>
        </p:style>
      </p:cxnSp>
      <p:cxnSp>
        <p:nvCxnSpPr>
          <p:cNvPr id="48" name="Straight Connector 47">
            <a:extLst>
              <a:ext uri="{FF2B5EF4-FFF2-40B4-BE49-F238E27FC236}">
                <a16:creationId xmlns:a16="http://schemas.microsoft.com/office/drawing/2014/main" id="{8298C1C4-3D5D-AAA5-7AC7-1D77144534A3}"/>
              </a:ext>
            </a:extLst>
          </p:cNvPr>
          <p:cNvCxnSpPr>
            <a:cxnSpLocks/>
            <a:endCxn id="34" idx="6"/>
          </p:cNvCxnSpPr>
          <p:nvPr/>
        </p:nvCxnSpPr>
        <p:spPr>
          <a:xfrm>
            <a:off x="1261109" y="5579327"/>
            <a:ext cx="1879498" cy="0"/>
          </a:xfrm>
          <a:prstGeom prst="line">
            <a:avLst/>
          </a:prstGeom>
          <a:ln w="38100">
            <a:solidFill>
              <a:srgbClr val="FFC000"/>
            </a:solidFill>
            <a:prstDash val="sysDot"/>
          </a:ln>
        </p:spPr>
        <p:style>
          <a:lnRef idx="1">
            <a:schemeClr val="accent1"/>
          </a:lnRef>
          <a:fillRef idx="0">
            <a:schemeClr val="accent1"/>
          </a:fillRef>
          <a:effectRef idx="0">
            <a:schemeClr val="accent1"/>
          </a:effectRef>
          <a:fontRef idx="minor">
            <a:schemeClr val="tx1"/>
          </a:fontRef>
        </p:style>
      </p:cxnSp>
      <p:sp>
        <p:nvSpPr>
          <p:cNvPr id="50" name="TextBox 49">
            <a:extLst>
              <a:ext uri="{FF2B5EF4-FFF2-40B4-BE49-F238E27FC236}">
                <a16:creationId xmlns:a16="http://schemas.microsoft.com/office/drawing/2014/main" id="{F2301F76-EE9B-A023-F1B9-C262D8FF681B}"/>
              </a:ext>
            </a:extLst>
          </p:cNvPr>
          <p:cNvSpPr txBox="1"/>
          <p:nvPr/>
        </p:nvSpPr>
        <p:spPr>
          <a:xfrm>
            <a:off x="888704" y="5315633"/>
            <a:ext cx="274710" cy="407887"/>
          </a:xfrm>
          <a:prstGeom prst="rect">
            <a:avLst/>
          </a:prstGeom>
          <a:noFill/>
        </p:spPr>
        <p:txBody>
          <a:bodyPr wrap="square" rtlCol="0">
            <a:spAutoFit/>
          </a:bodyPr>
          <a:lstStyle/>
          <a:p>
            <a:r>
              <a:rPr lang="tr-TR" sz="2000" dirty="0"/>
              <a:t>2</a:t>
            </a:r>
            <a:endParaRPr lang="en-US" sz="2000" dirty="0"/>
          </a:p>
        </p:txBody>
      </p:sp>
      <p:sp>
        <p:nvSpPr>
          <p:cNvPr id="51" name="TextBox 50">
            <a:extLst>
              <a:ext uri="{FF2B5EF4-FFF2-40B4-BE49-F238E27FC236}">
                <a16:creationId xmlns:a16="http://schemas.microsoft.com/office/drawing/2014/main" id="{3473F5ED-D913-9525-CC09-6FE8EEDE053A}"/>
              </a:ext>
            </a:extLst>
          </p:cNvPr>
          <p:cNvSpPr txBox="1"/>
          <p:nvPr/>
        </p:nvSpPr>
        <p:spPr>
          <a:xfrm>
            <a:off x="888704" y="5680954"/>
            <a:ext cx="274710" cy="407887"/>
          </a:xfrm>
          <a:prstGeom prst="rect">
            <a:avLst/>
          </a:prstGeom>
          <a:noFill/>
        </p:spPr>
        <p:txBody>
          <a:bodyPr wrap="square" rtlCol="0">
            <a:spAutoFit/>
          </a:bodyPr>
          <a:lstStyle/>
          <a:p>
            <a:r>
              <a:rPr lang="tr-TR" sz="2000" dirty="0"/>
              <a:t>1</a:t>
            </a:r>
            <a:endParaRPr lang="en-US" sz="2000" dirty="0"/>
          </a:p>
        </p:txBody>
      </p:sp>
      <p:sp>
        <p:nvSpPr>
          <p:cNvPr id="53" name="TextBox 52">
            <a:extLst>
              <a:ext uri="{FF2B5EF4-FFF2-40B4-BE49-F238E27FC236}">
                <a16:creationId xmlns:a16="http://schemas.microsoft.com/office/drawing/2014/main" id="{F76598ED-84BC-4890-ACA5-6DAC2E4B28D7}"/>
              </a:ext>
            </a:extLst>
          </p:cNvPr>
          <p:cNvSpPr txBox="1"/>
          <p:nvPr/>
        </p:nvSpPr>
        <p:spPr>
          <a:xfrm>
            <a:off x="3505261" y="4628213"/>
            <a:ext cx="6096000" cy="369332"/>
          </a:xfrm>
          <a:prstGeom prst="rect">
            <a:avLst/>
          </a:prstGeom>
          <a:noFill/>
        </p:spPr>
        <p:txBody>
          <a:bodyPr wrap="square">
            <a:spAutoFit/>
          </a:bodyPr>
          <a:lstStyle/>
          <a:p>
            <a:r>
              <a:rPr lang="tr-TR" sz="1800" dirty="0">
                <a:solidFill>
                  <a:schemeClr val="accent1"/>
                </a:solidFill>
              </a:rPr>
              <a:t>f(x) = 0.5*x + 1 </a:t>
            </a:r>
            <a:endParaRPr lang="en-US" sz="1800" dirty="0">
              <a:solidFill>
                <a:schemeClr val="accent1"/>
              </a:solidFill>
            </a:endParaRPr>
          </a:p>
        </p:txBody>
      </p:sp>
      <p:cxnSp>
        <p:nvCxnSpPr>
          <p:cNvPr id="54" name="Straight Connector 53">
            <a:extLst>
              <a:ext uri="{FF2B5EF4-FFF2-40B4-BE49-F238E27FC236}">
                <a16:creationId xmlns:a16="http://schemas.microsoft.com/office/drawing/2014/main" id="{943B67B1-89DA-CBBA-0AEE-DEEBC0AE834E}"/>
              </a:ext>
            </a:extLst>
          </p:cNvPr>
          <p:cNvCxnSpPr/>
          <p:nvPr/>
        </p:nvCxnSpPr>
        <p:spPr>
          <a:xfrm>
            <a:off x="1977314" y="6311305"/>
            <a:ext cx="0" cy="189186"/>
          </a:xfrm>
          <a:prstGeom prst="line">
            <a:avLst/>
          </a:prstGeom>
          <a:ln w="381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55" name="Straight Connector 54">
            <a:extLst>
              <a:ext uri="{FF2B5EF4-FFF2-40B4-BE49-F238E27FC236}">
                <a16:creationId xmlns:a16="http://schemas.microsoft.com/office/drawing/2014/main" id="{B8D9C0D5-D784-CAFD-2D2F-57764FE0532E}"/>
              </a:ext>
            </a:extLst>
          </p:cNvPr>
          <p:cNvCxnSpPr/>
          <p:nvPr/>
        </p:nvCxnSpPr>
        <p:spPr>
          <a:xfrm>
            <a:off x="2560263" y="6297541"/>
            <a:ext cx="0" cy="189186"/>
          </a:xfrm>
          <a:prstGeom prst="line">
            <a:avLst/>
          </a:prstGeom>
          <a:ln w="381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56" name="Straight Connector 55">
            <a:extLst>
              <a:ext uri="{FF2B5EF4-FFF2-40B4-BE49-F238E27FC236}">
                <a16:creationId xmlns:a16="http://schemas.microsoft.com/office/drawing/2014/main" id="{B017B71F-8BC7-F4F2-1D6C-72F93B305A93}"/>
              </a:ext>
            </a:extLst>
          </p:cNvPr>
          <p:cNvCxnSpPr/>
          <p:nvPr/>
        </p:nvCxnSpPr>
        <p:spPr>
          <a:xfrm>
            <a:off x="3150375" y="6298855"/>
            <a:ext cx="0" cy="189186"/>
          </a:xfrm>
          <a:prstGeom prst="line">
            <a:avLst/>
          </a:prstGeom>
          <a:ln w="38100">
            <a:solidFill>
              <a:schemeClr val="tx1"/>
            </a:solidFill>
          </a:ln>
        </p:spPr>
        <p:style>
          <a:lnRef idx="1">
            <a:schemeClr val="accent1"/>
          </a:lnRef>
          <a:fillRef idx="0">
            <a:schemeClr val="accent1"/>
          </a:fillRef>
          <a:effectRef idx="0">
            <a:schemeClr val="accent1"/>
          </a:effectRef>
          <a:fontRef idx="minor">
            <a:schemeClr val="tx1"/>
          </a:fontRef>
        </p:style>
      </p:cxnSp>
      <p:sp>
        <p:nvSpPr>
          <p:cNvPr id="57" name="TextBox 56">
            <a:extLst>
              <a:ext uri="{FF2B5EF4-FFF2-40B4-BE49-F238E27FC236}">
                <a16:creationId xmlns:a16="http://schemas.microsoft.com/office/drawing/2014/main" id="{532D40CE-C28A-A31F-C95B-C8B0484CA1B3}"/>
              </a:ext>
            </a:extLst>
          </p:cNvPr>
          <p:cNvSpPr txBox="1"/>
          <p:nvPr/>
        </p:nvSpPr>
        <p:spPr>
          <a:xfrm>
            <a:off x="1792619" y="6485734"/>
            <a:ext cx="313730" cy="461665"/>
          </a:xfrm>
          <a:prstGeom prst="rect">
            <a:avLst/>
          </a:prstGeom>
          <a:noFill/>
        </p:spPr>
        <p:txBody>
          <a:bodyPr wrap="square" rtlCol="0">
            <a:spAutoFit/>
          </a:bodyPr>
          <a:lstStyle/>
          <a:p>
            <a:r>
              <a:rPr lang="tr-TR" sz="2400" dirty="0"/>
              <a:t>1</a:t>
            </a:r>
            <a:endParaRPr lang="en-US" sz="2400" dirty="0"/>
          </a:p>
        </p:txBody>
      </p:sp>
      <p:sp>
        <p:nvSpPr>
          <p:cNvPr id="58" name="TextBox 57">
            <a:extLst>
              <a:ext uri="{FF2B5EF4-FFF2-40B4-BE49-F238E27FC236}">
                <a16:creationId xmlns:a16="http://schemas.microsoft.com/office/drawing/2014/main" id="{5474FEC6-E2BC-C9A2-F6C3-E60810EE89E2}"/>
              </a:ext>
            </a:extLst>
          </p:cNvPr>
          <p:cNvSpPr txBox="1"/>
          <p:nvPr/>
        </p:nvSpPr>
        <p:spPr>
          <a:xfrm>
            <a:off x="2402080" y="6506848"/>
            <a:ext cx="313730" cy="461665"/>
          </a:xfrm>
          <a:prstGeom prst="rect">
            <a:avLst/>
          </a:prstGeom>
          <a:noFill/>
        </p:spPr>
        <p:txBody>
          <a:bodyPr wrap="square" rtlCol="0">
            <a:spAutoFit/>
          </a:bodyPr>
          <a:lstStyle/>
          <a:p>
            <a:r>
              <a:rPr lang="tr-TR" sz="2400" dirty="0"/>
              <a:t>2</a:t>
            </a:r>
            <a:endParaRPr lang="en-US" sz="2400" dirty="0"/>
          </a:p>
        </p:txBody>
      </p:sp>
      <p:sp>
        <p:nvSpPr>
          <p:cNvPr id="59" name="TextBox 58">
            <a:extLst>
              <a:ext uri="{FF2B5EF4-FFF2-40B4-BE49-F238E27FC236}">
                <a16:creationId xmlns:a16="http://schemas.microsoft.com/office/drawing/2014/main" id="{BFEB9B46-6A21-F82E-BB97-DFF26331936D}"/>
              </a:ext>
            </a:extLst>
          </p:cNvPr>
          <p:cNvSpPr txBox="1"/>
          <p:nvPr/>
        </p:nvSpPr>
        <p:spPr>
          <a:xfrm>
            <a:off x="3011541" y="6466377"/>
            <a:ext cx="313730" cy="461665"/>
          </a:xfrm>
          <a:prstGeom prst="rect">
            <a:avLst/>
          </a:prstGeom>
          <a:noFill/>
        </p:spPr>
        <p:txBody>
          <a:bodyPr wrap="square" rtlCol="0">
            <a:spAutoFit/>
          </a:bodyPr>
          <a:lstStyle/>
          <a:p>
            <a:r>
              <a:rPr lang="tr-TR" sz="2400" dirty="0"/>
              <a:t>3</a:t>
            </a:r>
            <a:endParaRPr lang="en-US" sz="2400" dirty="0"/>
          </a:p>
        </p:txBody>
      </p:sp>
    </p:spTree>
    <p:extLst>
      <p:ext uri="{BB962C8B-B14F-4D97-AF65-F5344CB8AC3E}">
        <p14:creationId xmlns:p14="http://schemas.microsoft.com/office/powerpoint/2010/main" val="223914137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12"/>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13"/>
                                        </p:tgtEl>
                                        <p:attrNameLst>
                                          <p:attrName>style.visibility</p:attrName>
                                        </p:attrNameLst>
                                      </p:cBhvr>
                                      <p:to>
                                        <p:strVal val="visible"/>
                                      </p:to>
                                    </p:set>
                                  </p:childTnLst>
                                </p:cTn>
                              </p:par>
                              <p:par>
                                <p:cTn id="9" presetID="1" presetClass="entr" presetSubtype="0" fill="hold" grpId="0" nodeType="withEffect">
                                  <p:stCondLst>
                                    <p:cond delay="0"/>
                                  </p:stCondLst>
                                  <p:childTnLst>
                                    <p:set>
                                      <p:cBhvr>
                                        <p:cTn id="10" dur="1" fill="hold">
                                          <p:stCondLst>
                                            <p:cond delay="0"/>
                                          </p:stCondLst>
                                        </p:cTn>
                                        <p:tgtEl>
                                          <p:spTgt spid="14"/>
                                        </p:tgtEl>
                                        <p:attrNameLst>
                                          <p:attrName>style.visibility</p:attrName>
                                        </p:attrNameLst>
                                      </p:cBhvr>
                                      <p:to>
                                        <p:strVal val="visible"/>
                                      </p:to>
                                    </p:set>
                                  </p:childTnLst>
                                </p:cTn>
                              </p:par>
                              <p:par>
                                <p:cTn id="11" presetID="1" presetClass="entr" presetSubtype="0" fill="hold" grpId="0" nodeType="withEffect">
                                  <p:stCondLst>
                                    <p:cond delay="0"/>
                                  </p:stCondLst>
                                  <p:childTnLst>
                                    <p:set>
                                      <p:cBhvr>
                                        <p:cTn id="12" dur="1" fill="hold">
                                          <p:stCondLst>
                                            <p:cond delay="0"/>
                                          </p:stCondLst>
                                        </p:cTn>
                                        <p:tgtEl>
                                          <p:spTgt spid="15"/>
                                        </p:tgtEl>
                                        <p:attrNameLst>
                                          <p:attrName>style.visibility</p:attrName>
                                        </p:attrNameLst>
                                      </p:cBhvr>
                                      <p:to>
                                        <p:strVal val="visible"/>
                                      </p:to>
                                    </p:set>
                                  </p:childTnLst>
                                </p:cTn>
                              </p:par>
                              <p:par>
                                <p:cTn id="13" presetID="1" presetClass="entr" presetSubtype="0" fill="hold" grpId="0" nodeType="withEffect">
                                  <p:stCondLst>
                                    <p:cond delay="0"/>
                                  </p:stCondLst>
                                  <p:childTnLst>
                                    <p:set>
                                      <p:cBhvr>
                                        <p:cTn id="14" dur="1" fill="hold">
                                          <p:stCondLst>
                                            <p:cond delay="0"/>
                                          </p:stCondLst>
                                        </p:cTn>
                                        <p:tgtEl>
                                          <p:spTgt spid="16"/>
                                        </p:tgtEl>
                                        <p:attrNameLst>
                                          <p:attrName>style.visibility</p:attrName>
                                        </p:attrNameLst>
                                      </p:cBhvr>
                                      <p:to>
                                        <p:strVal val="visible"/>
                                      </p:to>
                                    </p:set>
                                  </p:childTnLst>
                                </p:cTn>
                              </p:par>
                              <p:par>
                                <p:cTn id="15" presetID="1" presetClass="entr" presetSubtype="0" fill="hold" grpId="0" nodeType="withEffect">
                                  <p:stCondLst>
                                    <p:cond delay="0"/>
                                  </p:stCondLst>
                                  <p:childTnLst>
                                    <p:set>
                                      <p:cBhvr>
                                        <p:cTn id="16" dur="1" fill="hold">
                                          <p:stCondLst>
                                            <p:cond delay="0"/>
                                          </p:stCondLst>
                                        </p:cTn>
                                        <p:tgtEl>
                                          <p:spTgt spid="17"/>
                                        </p:tgtEl>
                                        <p:attrNameLst>
                                          <p:attrName>style.visibility</p:attrName>
                                        </p:attrNameLst>
                                      </p:cBhvr>
                                      <p:to>
                                        <p:strVal val="visible"/>
                                      </p:to>
                                    </p:set>
                                  </p:childTnLst>
                                </p:cTn>
                              </p:par>
                              <p:par>
                                <p:cTn id="17" presetID="1" presetClass="entr" presetSubtype="0" fill="hold" grpId="0" nodeType="withEffect">
                                  <p:stCondLst>
                                    <p:cond delay="0"/>
                                  </p:stCondLst>
                                  <p:childTnLst>
                                    <p:set>
                                      <p:cBhvr>
                                        <p:cTn id="18" dur="1" fill="hold">
                                          <p:stCondLst>
                                            <p:cond delay="0"/>
                                          </p:stCondLst>
                                        </p:cTn>
                                        <p:tgtEl>
                                          <p:spTgt spid="18"/>
                                        </p:tgtEl>
                                        <p:attrNameLst>
                                          <p:attrName>style.visibility</p:attrName>
                                        </p:attrNameLst>
                                      </p:cBhvr>
                                      <p:to>
                                        <p:strVal val="visible"/>
                                      </p:to>
                                    </p:set>
                                  </p:childTnLst>
                                </p:cTn>
                              </p:par>
                              <p:par>
                                <p:cTn id="19" presetID="1" presetClass="entr" presetSubtype="0" fill="hold" grpId="0" nodeType="withEffect">
                                  <p:stCondLst>
                                    <p:cond delay="0"/>
                                  </p:stCondLst>
                                  <p:childTnLst>
                                    <p:set>
                                      <p:cBhvr>
                                        <p:cTn id="20" dur="1" fill="hold">
                                          <p:stCondLst>
                                            <p:cond delay="0"/>
                                          </p:stCondLst>
                                        </p:cTn>
                                        <p:tgtEl>
                                          <p:spTgt spid="19"/>
                                        </p:tgtEl>
                                        <p:attrNameLst>
                                          <p:attrName>style.visibility</p:attrName>
                                        </p:attrNameLst>
                                      </p:cBhvr>
                                      <p:to>
                                        <p:strVal val="visible"/>
                                      </p:to>
                                    </p:set>
                                  </p:childTnLst>
                                </p:cTn>
                              </p:par>
                              <p:par>
                                <p:cTn id="21" presetID="1" presetClass="entr" presetSubtype="0" fill="hold" grpId="0" nodeType="withEffect">
                                  <p:stCondLst>
                                    <p:cond delay="0"/>
                                  </p:stCondLst>
                                  <p:childTnLst>
                                    <p:set>
                                      <p:cBhvr>
                                        <p:cTn id="22" dur="1" fill="hold">
                                          <p:stCondLst>
                                            <p:cond delay="0"/>
                                          </p:stCondLst>
                                        </p:cTn>
                                        <p:tgtEl>
                                          <p:spTgt spid="20"/>
                                        </p:tgtEl>
                                        <p:attrNameLst>
                                          <p:attrName>style.visibility</p:attrName>
                                        </p:attrNameLst>
                                      </p:cBhvr>
                                      <p:to>
                                        <p:strVal val="visible"/>
                                      </p:to>
                                    </p:set>
                                  </p:childTnLst>
                                </p:cTn>
                              </p:par>
                              <p:par>
                                <p:cTn id="23" presetID="1" presetClass="entr" presetSubtype="0" fill="hold" grpId="0" nodeType="withEffect">
                                  <p:stCondLst>
                                    <p:cond delay="0"/>
                                  </p:stCondLst>
                                  <p:childTnLst>
                                    <p:set>
                                      <p:cBhvr>
                                        <p:cTn id="24" dur="1" fill="hold">
                                          <p:stCondLst>
                                            <p:cond delay="0"/>
                                          </p:stCondLst>
                                        </p:cTn>
                                        <p:tgtEl>
                                          <p:spTgt spid="21"/>
                                        </p:tgtEl>
                                        <p:attrNameLst>
                                          <p:attrName>style.visibility</p:attrName>
                                        </p:attrNameLst>
                                      </p:cBhvr>
                                      <p:to>
                                        <p:strVal val="visible"/>
                                      </p:to>
                                    </p:set>
                                  </p:childTnLst>
                                </p:cTn>
                              </p:par>
                              <p:par>
                                <p:cTn id="25" presetID="1" presetClass="entr" presetSubtype="0" fill="hold" nodeType="withEffect">
                                  <p:stCondLst>
                                    <p:cond delay="0"/>
                                  </p:stCondLst>
                                  <p:childTnLst>
                                    <p:set>
                                      <p:cBhvr>
                                        <p:cTn id="26" dur="1" fill="hold">
                                          <p:stCondLst>
                                            <p:cond delay="0"/>
                                          </p:stCondLst>
                                        </p:cTn>
                                        <p:tgtEl>
                                          <p:spTgt spid="22"/>
                                        </p:tgtEl>
                                        <p:attrNameLst>
                                          <p:attrName>style.visibility</p:attrName>
                                        </p:attrNameLst>
                                      </p:cBhvr>
                                      <p:to>
                                        <p:strVal val="visible"/>
                                      </p:to>
                                    </p:set>
                                  </p:childTnLst>
                                </p:cTn>
                              </p:par>
                              <p:par>
                                <p:cTn id="27" presetID="1" presetClass="entr" presetSubtype="0" fill="hold" grpId="0" nodeType="withEffect">
                                  <p:stCondLst>
                                    <p:cond delay="0"/>
                                  </p:stCondLst>
                                  <p:childTnLst>
                                    <p:set>
                                      <p:cBhvr>
                                        <p:cTn id="28" dur="1" fill="hold">
                                          <p:stCondLst>
                                            <p:cond delay="0"/>
                                          </p:stCondLst>
                                        </p:cTn>
                                        <p:tgtEl>
                                          <p:spTgt spid="23"/>
                                        </p:tgtEl>
                                        <p:attrNameLst>
                                          <p:attrName>style.visibility</p:attrName>
                                        </p:attrNameLst>
                                      </p:cBhvr>
                                      <p:to>
                                        <p:strVal val="visible"/>
                                      </p:to>
                                    </p:set>
                                  </p:childTnLst>
                                </p:cTn>
                              </p:par>
                              <p:par>
                                <p:cTn id="29" presetID="1" presetClass="entr" presetSubtype="0" fill="hold" grpId="0" nodeType="withEffect">
                                  <p:stCondLst>
                                    <p:cond delay="0"/>
                                  </p:stCondLst>
                                  <p:childTnLst>
                                    <p:set>
                                      <p:cBhvr>
                                        <p:cTn id="30" dur="1" fill="hold">
                                          <p:stCondLst>
                                            <p:cond delay="0"/>
                                          </p:stCondLst>
                                        </p:cTn>
                                        <p:tgtEl>
                                          <p:spTgt spid="24"/>
                                        </p:tgtEl>
                                        <p:attrNameLst>
                                          <p:attrName>style.visibility</p:attrName>
                                        </p:attrNameLst>
                                      </p:cBhvr>
                                      <p:to>
                                        <p:strVal val="visible"/>
                                      </p:to>
                                    </p:set>
                                  </p:childTnLst>
                                </p:cTn>
                              </p:par>
                              <p:par>
                                <p:cTn id="31" presetID="1" presetClass="entr" presetSubtype="0" fill="hold" grpId="0" nodeType="withEffect">
                                  <p:stCondLst>
                                    <p:cond delay="0"/>
                                  </p:stCondLst>
                                  <p:childTnLst>
                                    <p:set>
                                      <p:cBhvr>
                                        <p:cTn id="32" dur="1" fill="hold">
                                          <p:stCondLst>
                                            <p:cond delay="0"/>
                                          </p:stCondLst>
                                        </p:cTn>
                                        <p:tgtEl>
                                          <p:spTgt spid="25"/>
                                        </p:tgtEl>
                                        <p:attrNameLst>
                                          <p:attrName>style.visibility</p:attrName>
                                        </p:attrNameLst>
                                      </p:cBhvr>
                                      <p:to>
                                        <p:strVal val="visible"/>
                                      </p:to>
                                    </p:set>
                                  </p:childTnLst>
                                </p:cTn>
                              </p:par>
                            </p:childTnLst>
                          </p:cTn>
                        </p:par>
                      </p:childTnLst>
                    </p:cTn>
                  </p:par>
                  <p:par>
                    <p:cTn id="33" fill="hold">
                      <p:stCondLst>
                        <p:cond delay="indefinite"/>
                      </p:stCondLst>
                      <p:childTnLst>
                        <p:par>
                          <p:cTn id="34" fill="hold">
                            <p:stCondLst>
                              <p:cond delay="0"/>
                            </p:stCondLst>
                            <p:childTnLst>
                              <p:par>
                                <p:cTn id="35" presetID="1" presetClass="entr" presetSubtype="0" fill="hold" grpId="0" nodeType="clickEffect">
                                  <p:stCondLst>
                                    <p:cond delay="0"/>
                                  </p:stCondLst>
                                  <p:childTnLst>
                                    <p:set>
                                      <p:cBhvr>
                                        <p:cTn id="36" dur="1" fill="hold">
                                          <p:stCondLst>
                                            <p:cond delay="0"/>
                                          </p:stCondLst>
                                        </p:cTn>
                                        <p:tgtEl>
                                          <p:spTgt spid="27"/>
                                        </p:tgtEl>
                                        <p:attrNameLst>
                                          <p:attrName>style.visibility</p:attrName>
                                        </p:attrNameLst>
                                      </p:cBhvr>
                                      <p:to>
                                        <p:strVal val="visible"/>
                                      </p:to>
                                    </p:set>
                                  </p:childTnLst>
                                </p:cTn>
                              </p:par>
                            </p:childTnLst>
                          </p:cTn>
                        </p:par>
                      </p:childTnLst>
                    </p:cTn>
                  </p:par>
                  <p:par>
                    <p:cTn id="37" fill="hold">
                      <p:stCondLst>
                        <p:cond delay="indefinite"/>
                      </p:stCondLst>
                      <p:childTnLst>
                        <p:par>
                          <p:cTn id="38" fill="hold">
                            <p:stCondLst>
                              <p:cond delay="0"/>
                            </p:stCondLst>
                            <p:childTnLst>
                              <p:par>
                                <p:cTn id="39" presetID="1" presetClass="entr" presetSubtype="0" fill="hold" nodeType="clickEffect">
                                  <p:stCondLst>
                                    <p:cond delay="0"/>
                                  </p:stCondLst>
                                  <p:childTnLst>
                                    <p:set>
                                      <p:cBhvr>
                                        <p:cTn id="40" dur="1" fill="hold">
                                          <p:stCondLst>
                                            <p:cond delay="0"/>
                                          </p:stCondLst>
                                        </p:cTn>
                                        <p:tgtEl>
                                          <p:spTgt spid="28"/>
                                        </p:tgtEl>
                                        <p:attrNameLst>
                                          <p:attrName>style.visibility</p:attrName>
                                        </p:attrNameLst>
                                      </p:cBhvr>
                                      <p:to>
                                        <p:strVal val="visible"/>
                                      </p:to>
                                    </p:set>
                                  </p:childTnLst>
                                </p:cTn>
                              </p:par>
                              <p:par>
                                <p:cTn id="41" presetID="1" presetClass="entr" presetSubtype="0" fill="hold" nodeType="withEffect">
                                  <p:stCondLst>
                                    <p:cond delay="0"/>
                                  </p:stCondLst>
                                  <p:childTnLst>
                                    <p:set>
                                      <p:cBhvr>
                                        <p:cTn id="42" dur="1" fill="hold">
                                          <p:stCondLst>
                                            <p:cond delay="0"/>
                                          </p:stCondLst>
                                        </p:cTn>
                                        <p:tgtEl>
                                          <p:spTgt spid="29"/>
                                        </p:tgtEl>
                                        <p:attrNameLst>
                                          <p:attrName>style.visibility</p:attrName>
                                        </p:attrNameLst>
                                      </p:cBhvr>
                                      <p:to>
                                        <p:strVal val="visible"/>
                                      </p:to>
                                    </p:set>
                                  </p:childTnLst>
                                </p:cTn>
                              </p:par>
                              <p:par>
                                <p:cTn id="43" presetID="1" presetClass="entr" presetSubtype="0" fill="hold" nodeType="withEffect">
                                  <p:stCondLst>
                                    <p:cond delay="0"/>
                                  </p:stCondLst>
                                  <p:childTnLst>
                                    <p:set>
                                      <p:cBhvr>
                                        <p:cTn id="44" dur="1" fill="hold">
                                          <p:stCondLst>
                                            <p:cond delay="0"/>
                                          </p:stCondLst>
                                        </p:cTn>
                                        <p:tgtEl>
                                          <p:spTgt spid="30"/>
                                        </p:tgtEl>
                                        <p:attrNameLst>
                                          <p:attrName>style.visibility</p:attrName>
                                        </p:attrNameLst>
                                      </p:cBhvr>
                                      <p:to>
                                        <p:strVal val="visible"/>
                                      </p:to>
                                    </p:set>
                                  </p:childTnLst>
                                </p:cTn>
                              </p:par>
                              <p:par>
                                <p:cTn id="45" presetID="1" presetClass="entr" presetSubtype="0" fill="hold" grpId="0" nodeType="withEffect">
                                  <p:stCondLst>
                                    <p:cond delay="0"/>
                                  </p:stCondLst>
                                  <p:childTnLst>
                                    <p:set>
                                      <p:cBhvr>
                                        <p:cTn id="46" dur="1" fill="hold">
                                          <p:stCondLst>
                                            <p:cond delay="0"/>
                                          </p:stCondLst>
                                        </p:cTn>
                                        <p:tgtEl>
                                          <p:spTgt spid="32"/>
                                        </p:tgtEl>
                                        <p:attrNameLst>
                                          <p:attrName>style.visibility</p:attrName>
                                        </p:attrNameLst>
                                      </p:cBhvr>
                                      <p:to>
                                        <p:strVal val="visible"/>
                                      </p:to>
                                    </p:set>
                                  </p:childTnLst>
                                </p:cTn>
                              </p:par>
                              <p:par>
                                <p:cTn id="47" presetID="1" presetClass="entr" presetSubtype="0" fill="hold" grpId="0" nodeType="withEffect">
                                  <p:stCondLst>
                                    <p:cond delay="0"/>
                                  </p:stCondLst>
                                  <p:childTnLst>
                                    <p:set>
                                      <p:cBhvr>
                                        <p:cTn id="48" dur="1" fill="hold">
                                          <p:stCondLst>
                                            <p:cond delay="0"/>
                                          </p:stCondLst>
                                        </p:cTn>
                                        <p:tgtEl>
                                          <p:spTgt spid="33"/>
                                        </p:tgtEl>
                                        <p:attrNameLst>
                                          <p:attrName>style.visibility</p:attrName>
                                        </p:attrNameLst>
                                      </p:cBhvr>
                                      <p:to>
                                        <p:strVal val="visible"/>
                                      </p:to>
                                    </p:set>
                                  </p:childTnLst>
                                </p:cTn>
                              </p:par>
                              <p:par>
                                <p:cTn id="49" presetID="1" presetClass="entr" presetSubtype="0" fill="hold" grpId="0" nodeType="withEffect">
                                  <p:stCondLst>
                                    <p:cond delay="0"/>
                                  </p:stCondLst>
                                  <p:childTnLst>
                                    <p:set>
                                      <p:cBhvr>
                                        <p:cTn id="50" dur="1" fill="hold">
                                          <p:stCondLst>
                                            <p:cond delay="0"/>
                                          </p:stCondLst>
                                        </p:cTn>
                                        <p:tgtEl>
                                          <p:spTgt spid="34"/>
                                        </p:tgtEl>
                                        <p:attrNameLst>
                                          <p:attrName>style.visibility</p:attrName>
                                        </p:attrNameLst>
                                      </p:cBhvr>
                                      <p:to>
                                        <p:strVal val="visible"/>
                                      </p:to>
                                    </p:set>
                                  </p:childTnLst>
                                </p:cTn>
                              </p:par>
                              <p:par>
                                <p:cTn id="51" presetID="1" presetClass="entr" presetSubtype="0" fill="hold" grpId="0" nodeType="withEffect">
                                  <p:stCondLst>
                                    <p:cond delay="0"/>
                                  </p:stCondLst>
                                  <p:childTnLst>
                                    <p:set>
                                      <p:cBhvr>
                                        <p:cTn id="52" dur="1" fill="hold">
                                          <p:stCondLst>
                                            <p:cond delay="0"/>
                                          </p:stCondLst>
                                        </p:cTn>
                                        <p:tgtEl>
                                          <p:spTgt spid="35"/>
                                        </p:tgtEl>
                                        <p:attrNameLst>
                                          <p:attrName>style.visibility</p:attrName>
                                        </p:attrNameLst>
                                      </p:cBhvr>
                                      <p:to>
                                        <p:strVal val="visible"/>
                                      </p:to>
                                    </p:set>
                                  </p:childTnLst>
                                </p:cTn>
                              </p:par>
                              <p:par>
                                <p:cTn id="53" presetID="1" presetClass="entr" presetSubtype="0" fill="hold" nodeType="withEffect">
                                  <p:stCondLst>
                                    <p:cond delay="0"/>
                                  </p:stCondLst>
                                  <p:childTnLst>
                                    <p:set>
                                      <p:cBhvr>
                                        <p:cTn id="54" dur="1" fill="hold">
                                          <p:stCondLst>
                                            <p:cond delay="0"/>
                                          </p:stCondLst>
                                        </p:cTn>
                                        <p:tgtEl>
                                          <p:spTgt spid="37"/>
                                        </p:tgtEl>
                                        <p:attrNameLst>
                                          <p:attrName>style.visibility</p:attrName>
                                        </p:attrNameLst>
                                      </p:cBhvr>
                                      <p:to>
                                        <p:strVal val="visible"/>
                                      </p:to>
                                    </p:set>
                                  </p:childTnLst>
                                </p:cTn>
                              </p:par>
                              <p:par>
                                <p:cTn id="55" presetID="1" presetClass="entr" presetSubtype="0" fill="hold" nodeType="withEffect">
                                  <p:stCondLst>
                                    <p:cond delay="0"/>
                                  </p:stCondLst>
                                  <p:childTnLst>
                                    <p:set>
                                      <p:cBhvr>
                                        <p:cTn id="56" dur="1" fill="hold">
                                          <p:stCondLst>
                                            <p:cond delay="0"/>
                                          </p:stCondLst>
                                        </p:cTn>
                                        <p:tgtEl>
                                          <p:spTgt spid="39"/>
                                        </p:tgtEl>
                                        <p:attrNameLst>
                                          <p:attrName>style.visibility</p:attrName>
                                        </p:attrNameLst>
                                      </p:cBhvr>
                                      <p:to>
                                        <p:strVal val="visible"/>
                                      </p:to>
                                    </p:set>
                                  </p:childTnLst>
                                </p:cTn>
                              </p:par>
                              <p:par>
                                <p:cTn id="57" presetID="1" presetClass="entr" presetSubtype="0" fill="hold" nodeType="withEffect">
                                  <p:stCondLst>
                                    <p:cond delay="0"/>
                                  </p:stCondLst>
                                  <p:childTnLst>
                                    <p:set>
                                      <p:cBhvr>
                                        <p:cTn id="58" dur="1" fill="hold">
                                          <p:stCondLst>
                                            <p:cond delay="0"/>
                                          </p:stCondLst>
                                        </p:cTn>
                                        <p:tgtEl>
                                          <p:spTgt spid="41"/>
                                        </p:tgtEl>
                                        <p:attrNameLst>
                                          <p:attrName>style.visibility</p:attrName>
                                        </p:attrNameLst>
                                      </p:cBhvr>
                                      <p:to>
                                        <p:strVal val="visible"/>
                                      </p:to>
                                    </p:set>
                                  </p:childTnLst>
                                </p:cTn>
                              </p:par>
                              <p:par>
                                <p:cTn id="59" presetID="1" presetClass="entr" presetSubtype="0" fill="hold" grpId="0" nodeType="withEffect">
                                  <p:stCondLst>
                                    <p:cond delay="0"/>
                                  </p:stCondLst>
                                  <p:childTnLst>
                                    <p:set>
                                      <p:cBhvr>
                                        <p:cTn id="60" dur="1" fill="hold">
                                          <p:stCondLst>
                                            <p:cond delay="0"/>
                                          </p:stCondLst>
                                        </p:cTn>
                                        <p:tgtEl>
                                          <p:spTgt spid="50"/>
                                        </p:tgtEl>
                                        <p:attrNameLst>
                                          <p:attrName>style.visibility</p:attrName>
                                        </p:attrNameLst>
                                      </p:cBhvr>
                                      <p:to>
                                        <p:strVal val="visible"/>
                                      </p:to>
                                    </p:set>
                                  </p:childTnLst>
                                </p:cTn>
                              </p:par>
                              <p:par>
                                <p:cTn id="61" presetID="1" presetClass="entr" presetSubtype="0" fill="hold" grpId="0" nodeType="withEffect">
                                  <p:stCondLst>
                                    <p:cond delay="0"/>
                                  </p:stCondLst>
                                  <p:childTnLst>
                                    <p:set>
                                      <p:cBhvr>
                                        <p:cTn id="62" dur="1" fill="hold">
                                          <p:stCondLst>
                                            <p:cond delay="0"/>
                                          </p:stCondLst>
                                        </p:cTn>
                                        <p:tgtEl>
                                          <p:spTgt spid="51"/>
                                        </p:tgtEl>
                                        <p:attrNameLst>
                                          <p:attrName>style.visibility</p:attrName>
                                        </p:attrNameLst>
                                      </p:cBhvr>
                                      <p:to>
                                        <p:strVal val="visible"/>
                                      </p:to>
                                    </p:set>
                                  </p:childTnLst>
                                </p:cTn>
                              </p:par>
                              <p:par>
                                <p:cTn id="63" presetID="1" presetClass="entr" presetSubtype="0" fill="hold" nodeType="withEffect">
                                  <p:stCondLst>
                                    <p:cond delay="0"/>
                                  </p:stCondLst>
                                  <p:childTnLst>
                                    <p:set>
                                      <p:cBhvr>
                                        <p:cTn id="64" dur="1" fill="hold">
                                          <p:stCondLst>
                                            <p:cond delay="0"/>
                                          </p:stCondLst>
                                        </p:cTn>
                                        <p:tgtEl>
                                          <p:spTgt spid="54"/>
                                        </p:tgtEl>
                                        <p:attrNameLst>
                                          <p:attrName>style.visibility</p:attrName>
                                        </p:attrNameLst>
                                      </p:cBhvr>
                                      <p:to>
                                        <p:strVal val="visible"/>
                                      </p:to>
                                    </p:set>
                                  </p:childTnLst>
                                </p:cTn>
                              </p:par>
                              <p:par>
                                <p:cTn id="65" presetID="1" presetClass="entr" presetSubtype="0" fill="hold" nodeType="withEffect">
                                  <p:stCondLst>
                                    <p:cond delay="0"/>
                                  </p:stCondLst>
                                  <p:childTnLst>
                                    <p:set>
                                      <p:cBhvr>
                                        <p:cTn id="66" dur="1" fill="hold">
                                          <p:stCondLst>
                                            <p:cond delay="0"/>
                                          </p:stCondLst>
                                        </p:cTn>
                                        <p:tgtEl>
                                          <p:spTgt spid="55"/>
                                        </p:tgtEl>
                                        <p:attrNameLst>
                                          <p:attrName>style.visibility</p:attrName>
                                        </p:attrNameLst>
                                      </p:cBhvr>
                                      <p:to>
                                        <p:strVal val="visible"/>
                                      </p:to>
                                    </p:set>
                                  </p:childTnLst>
                                </p:cTn>
                              </p:par>
                              <p:par>
                                <p:cTn id="67" presetID="1" presetClass="entr" presetSubtype="0" fill="hold" nodeType="withEffect">
                                  <p:stCondLst>
                                    <p:cond delay="0"/>
                                  </p:stCondLst>
                                  <p:childTnLst>
                                    <p:set>
                                      <p:cBhvr>
                                        <p:cTn id="68" dur="1" fill="hold">
                                          <p:stCondLst>
                                            <p:cond delay="0"/>
                                          </p:stCondLst>
                                        </p:cTn>
                                        <p:tgtEl>
                                          <p:spTgt spid="56"/>
                                        </p:tgtEl>
                                        <p:attrNameLst>
                                          <p:attrName>style.visibility</p:attrName>
                                        </p:attrNameLst>
                                      </p:cBhvr>
                                      <p:to>
                                        <p:strVal val="visible"/>
                                      </p:to>
                                    </p:set>
                                  </p:childTnLst>
                                </p:cTn>
                              </p:par>
                              <p:par>
                                <p:cTn id="69" presetID="1" presetClass="entr" presetSubtype="0" fill="hold" grpId="0" nodeType="withEffect">
                                  <p:stCondLst>
                                    <p:cond delay="0"/>
                                  </p:stCondLst>
                                  <p:childTnLst>
                                    <p:set>
                                      <p:cBhvr>
                                        <p:cTn id="70" dur="1" fill="hold">
                                          <p:stCondLst>
                                            <p:cond delay="0"/>
                                          </p:stCondLst>
                                        </p:cTn>
                                        <p:tgtEl>
                                          <p:spTgt spid="57"/>
                                        </p:tgtEl>
                                        <p:attrNameLst>
                                          <p:attrName>style.visibility</p:attrName>
                                        </p:attrNameLst>
                                      </p:cBhvr>
                                      <p:to>
                                        <p:strVal val="visible"/>
                                      </p:to>
                                    </p:set>
                                  </p:childTnLst>
                                </p:cTn>
                              </p:par>
                              <p:par>
                                <p:cTn id="71" presetID="1" presetClass="entr" presetSubtype="0" fill="hold" grpId="0" nodeType="withEffect">
                                  <p:stCondLst>
                                    <p:cond delay="0"/>
                                  </p:stCondLst>
                                  <p:childTnLst>
                                    <p:set>
                                      <p:cBhvr>
                                        <p:cTn id="72" dur="1" fill="hold">
                                          <p:stCondLst>
                                            <p:cond delay="0"/>
                                          </p:stCondLst>
                                        </p:cTn>
                                        <p:tgtEl>
                                          <p:spTgt spid="58"/>
                                        </p:tgtEl>
                                        <p:attrNameLst>
                                          <p:attrName>style.visibility</p:attrName>
                                        </p:attrNameLst>
                                      </p:cBhvr>
                                      <p:to>
                                        <p:strVal val="visible"/>
                                      </p:to>
                                    </p:set>
                                  </p:childTnLst>
                                </p:cTn>
                              </p:par>
                              <p:par>
                                <p:cTn id="73" presetID="1" presetClass="entr" presetSubtype="0" fill="hold" grpId="0" nodeType="withEffect">
                                  <p:stCondLst>
                                    <p:cond delay="0"/>
                                  </p:stCondLst>
                                  <p:childTnLst>
                                    <p:set>
                                      <p:cBhvr>
                                        <p:cTn id="74" dur="1" fill="hold">
                                          <p:stCondLst>
                                            <p:cond delay="0"/>
                                          </p:stCondLst>
                                        </p:cTn>
                                        <p:tgtEl>
                                          <p:spTgt spid="59"/>
                                        </p:tgtEl>
                                        <p:attrNameLst>
                                          <p:attrName>style.visibility</p:attrName>
                                        </p:attrNameLst>
                                      </p:cBhvr>
                                      <p:to>
                                        <p:strVal val="visible"/>
                                      </p:to>
                                    </p:set>
                                  </p:childTnLst>
                                </p:cTn>
                              </p:par>
                            </p:childTnLst>
                          </p:cTn>
                        </p:par>
                      </p:childTnLst>
                    </p:cTn>
                  </p:par>
                  <p:par>
                    <p:cTn id="75" fill="hold">
                      <p:stCondLst>
                        <p:cond delay="indefinite"/>
                      </p:stCondLst>
                      <p:childTnLst>
                        <p:par>
                          <p:cTn id="76" fill="hold">
                            <p:stCondLst>
                              <p:cond delay="0"/>
                            </p:stCondLst>
                            <p:childTnLst>
                              <p:par>
                                <p:cTn id="77" presetID="1" presetClass="entr" presetSubtype="0" fill="hold" nodeType="clickEffect">
                                  <p:stCondLst>
                                    <p:cond delay="0"/>
                                  </p:stCondLst>
                                  <p:childTnLst>
                                    <p:set>
                                      <p:cBhvr>
                                        <p:cTn id="78" dur="1" fill="hold">
                                          <p:stCondLst>
                                            <p:cond delay="0"/>
                                          </p:stCondLst>
                                        </p:cTn>
                                        <p:tgtEl>
                                          <p:spTgt spid="46"/>
                                        </p:tgtEl>
                                        <p:attrNameLst>
                                          <p:attrName>style.visibility</p:attrName>
                                        </p:attrNameLst>
                                      </p:cBhvr>
                                      <p:to>
                                        <p:strVal val="visible"/>
                                      </p:to>
                                    </p:set>
                                  </p:childTnLst>
                                </p:cTn>
                              </p:par>
                              <p:par>
                                <p:cTn id="79" presetID="1" presetClass="entr" presetSubtype="0" fill="hold" nodeType="withEffect">
                                  <p:stCondLst>
                                    <p:cond delay="0"/>
                                  </p:stCondLst>
                                  <p:childTnLst>
                                    <p:set>
                                      <p:cBhvr>
                                        <p:cTn id="80" dur="1" fill="hold">
                                          <p:stCondLst>
                                            <p:cond delay="0"/>
                                          </p:stCondLst>
                                        </p:cTn>
                                        <p:tgtEl>
                                          <p:spTgt spid="48"/>
                                        </p:tgtEl>
                                        <p:attrNameLst>
                                          <p:attrName>style.visibility</p:attrName>
                                        </p:attrNameLst>
                                      </p:cBhvr>
                                      <p:to>
                                        <p:strVal val="visible"/>
                                      </p:to>
                                    </p:set>
                                  </p:childTnLst>
                                </p:cTn>
                              </p:par>
                              <p:par>
                                <p:cTn id="81" presetID="1" presetClass="entr" presetSubtype="0" fill="hold" nodeType="withEffect">
                                  <p:stCondLst>
                                    <p:cond delay="0"/>
                                  </p:stCondLst>
                                  <p:childTnLst>
                                    <p:set>
                                      <p:cBhvr>
                                        <p:cTn id="82" dur="1" fill="hold">
                                          <p:stCondLst>
                                            <p:cond delay="0"/>
                                          </p:stCondLst>
                                        </p:cTn>
                                        <p:tgtEl>
                                          <p:spTgt spid="44"/>
                                        </p:tgtEl>
                                        <p:attrNameLst>
                                          <p:attrName>style.visibility</p:attrName>
                                        </p:attrNameLst>
                                      </p:cBhvr>
                                      <p:to>
                                        <p:strVal val="visible"/>
                                      </p:to>
                                    </p:set>
                                  </p:childTnLst>
                                </p:cTn>
                              </p:par>
                            </p:childTnLst>
                          </p:cTn>
                        </p:par>
                      </p:childTnLst>
                    </p:cTn>
                  </p:par>
                  <p:par>
                    <p:cTn id="83" fill="hold">
                      <p:stCondLst>
                        <p:cond delay="indefinite"/>
                      </p:stCondLst>
                      <p:childTnLst>
                        <p:par>
                          <p:cTn id="84" fill="hold">
                            <p:stCondLst>
                              <p:cond delay="0"/>
                            </p:stCondLst>
                            <p:childTnLst>
                              <p:par>
                                <p:cTn id="85" presetID="1" presetClass="entr" presetSubtype="0" fill="hold" nodeType="clickEffect">
                                  <p:stCondLst>
                                    <p:cond delay="0"/>
                                  </p:stCondLst>
                                  <p:childTnLst>
                                    <p:set>
                                      <p:cBhvr>
                                        <p:cTn id="86" dur="1" fill="hold">
                                          <p:stCondLst>
                                            <p:cond delay="0"/>
                                          </p:stCondLst>
                                        </p:cTn>
                                        <p:tgtEl>
                                          <p:spTgt spid="30"/>
                                        </p:tgtEl>
                                        <p:attrNameLst>
                                          <p:attrName>style.visibility</p:attrName>
                                        </p:attrNameLst>
                                      </p:cBhvr>
                                      <p:to>
                                        <p:strVal val="visible"/>
                                      </p:to>
                                    </p:set>
                                  </p:childTnLst>
                                </p:cTn>
                              </p:par>
                            </p:childTnLst>
                          </p:cTn>
                        </p:par>
                      </p:childTnLst>
                    </p:cTn>
                  </p:par>
                  <p:par>
                    <p:cTn id="87" fill="hold">
                      <p:stCondLst>
                        <p:cond delay="indefinite"/>
                      </p:stCondLst>
                      <p:childTnLst>
                        <p:par>
                          <p:cTn id="88" fill="hold">
                            <p:stCondLst>
                              <p:cond delay="0"/>
                            </p:stCondLst>
                            <p:childTnLst>
                              <p:par>
                                <p:cTn id="89" presetID="1" presetClass="entr" presetSubtype="0" fill="hold" grpId="0" nodeType="clickEffect">
                                  <p:stCondLst>
                                    <p:cond delay="0"/>
                                  </p:stCondLst>
                                  <p:childTnLst>
                                    <p:set>
                                      <p:cBhvr>
                                        <p:cTn id="90" dur="1" fill="hold">
                                          <p:stCondLst>
                                            <p:cond delay="0"/>
                                          </p:stCondLst>
                                        </p:cTn>
                                        <p:tgtEl>
                                          <p:spTgt spid="53"/>
                                        </p:tgtEl>
                                        <p:attrNameLst>
                                          <p:attrName>style.visibility</p:attrName>
                                        </p:attrNameLst>
                                      </p:cBhvr>
                                      <p:to>
                                        <p:strVal val="visible"/>
                                      </p:to>
                                    </p:set>
                                  </p:childTnLst>
                                </p:cTn>
                              </p:par>
                            </p:childTnLst>
                          </p:cTn>
                        </p:par>
                      </p:childTnLst>
                    </p:cTn>
                  </p:par>
                  <p:par>
                    <p:cTn id="91" fill="hold">
                      <p:stCondLst>
                        <p:cond delay="indefinite"/>
                      </p:stCondLst>
                      <p:childTnLst>
                        <p:par>
                          <p:cTn id="92" fill="hold">
                            <p:stCondLst>
                              <p:cond delay="0"/>
                            </p:stCondLst>
                            <p:childTnLst>
                              <p:par>
                                <p:cTn id="93" presetID="1" presetClass="entr" presetSubtype="0" fill="hold" grpId="0" nodeType="clickEffect">
                                  <p:stCondLst>
                                    <p:cond delay="0"/>
                                  </p:stCondLst>
                                  <p:childTnLst>
                                    <p:set>
                                      <p:cBhvr>
                                        <p:cTn id="94" dur="1" fill="hold">
                                          <p:stCondLst>
                                            <p:cond delay="0"/>
                                          </p:stCondLst>
                                        </p:cTn>
                                        <p:tgtEl>
                                          <p:spTgt spid="43"/>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4" grpId="0" animBg="1"/>
      <p:bldP spid="15" grpId="0" animBg="1"/>
      <p:bldP spid="16" grpId="0" animBg="1"/>
      <p:bldP spid="17" grpId="0" animBg="1"/>
      <p:bldP spid="18" grpId="0" animBg="1"/>
      <p:bldP spid="19" grpId="0" animBg="1"/>
      <p:bldP spid="20" grpId="0" animBg="1"/>
      <p:bldP spid="21" grpId="0" animBg="1"/>
      <p:bldP spid="23" grpId="0"/>
      <p:bldP spid="24" grpId="0"/>
      <p:bldP spid="25" grpId="0"/>
      <p:bldP spid="27" grpId="0"/>
      <p:bldP spid="32" grpId="0"/>
      <p:bldP spid="33" grpId="0" animBg="1"/>
      <p:bldP spid="34" grpId="0" animBg="1"/>
      <p:bldP spid="35" grpId="0" animBg="1"/>
      <p:bldP spid="43" grpId="0"/>
      <p:bldP spid="50" grpId="0"/>
      <p:bldP spid="51" grpId="0"/>
      <p:bldP spid="53" grpId="0"/>
      <p:bldP spid="57" grpId="0"/>
      <p:bldP spid="58" grpId="0"/>
      <p:bldP spid="59" grpId="0"/>
    </p:bldLst>
  </p:timing>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F5F000B-22D2-7C6C-7187-01C531D2EC99}"/>
              </a:ext>
            </a:extLst>
          </p:cNvPr>
          <p:cNvSpPr>
            <a:spLocks noGrp="1"/>
          </p:cNvSpPr>
          <p:nvPr>
            <p:ph type="title"/>
          </p:nvPr>
        </p:nvSpPr>
        <p:spPr/>
        <p:txBody>
          <a:bodyPr/>
          <a:lstStyle/>
          <a:p>
            <a:pPr algn="ctr"/>
            <a:r>
              <a:rPr lang="tr-TR" dirty="0"/>
              <a:t>Visual of </a:t>
            </a:r>
            <a:r>
              <a:rPr lang="tr-TR" dirty="0" err="1"/>
              <a:t>Cost</a:t>
            </a:r>
            <a:r>
              <a:rPr lang="tr-TR" dirty="0"/>
              <a:t> </a:t>
            </a:r>
            <a:r>
              <a:rPr lang="tr-TR" dirty="0" err="1"/>
              <a:t>Function</a:t>
            </a:r>
            <a:endParaRPr lang="en-US" dirty="0"/>
          </a:p>
        </p:txBody>
      </p:sp>
      <p:pic>
        <p:nvPicPr>
          <p:cNvPr id="5" name="Content Placeholder 4" descr="A diagram of a function&#10;&#10;Description automatically generated">
            <a:extLst>
              <a:ext uri="{FF2B5EF4-FFF2-40B4-BE49-F238E27FC236}">
                <a16:creationId xmlns:a16="http://schemas.microsoft.com/office/drawing/2014/main" id="{ACA1591D-36E0-54B8-E057-AA92B9C6EB42}"/>
              </a:ext>
            </a:extLst>
          </p:cNvPr>
          <p:cNvPicPr>
            <a:picLocks noGrp="1" noChangeAspect="1"/>
          </p:cNvPicPr>
          <p:nvPr>
            <p:ph idx="1"/>
          </p:nvPr>
        </p:nvPicPr>
        <p:blipFill>
          <a:blip r:embed="rId3">
            <a:extLst>
              <a:ext uri="{28A0092B-C50C-407E-A947-70E740481C1C}">
                <a14:useLocalDpi xmlns:a14="http://schemas.microsoft.com/office/drawing/2010/main" val="0"/>
              </a:ext>
            </a:extLst>
          </a:blip>
          <a:stretch>
            <a:fillRect/>
          </a:stretch>
        </p:blipFill>
        <p:spPr>
          <a:xfrm>
            <a:off x="2588135" y="1690688"/>
            <a:ext cx="5801784" cy="4351338"/>
          </a:xfrm>
        </p:spPr>
      </p:pic>
      <p:sp>
        <p:nvSpPr>
          <p:cNvPr id="3" name="Rectangle">
            <a:extLst>
              <a:ext uri="{FF2B5EF4-FFF2-40B4-BE49-F238E27FC236}">
                <a16:creationId xmlns:a16="http://schemas.microsoft.com/office/drawing/2014/main" id="{1FBC3442-B15A-2826-5264-2F110C19DC01}"/>
              </a:ext>
            </a:extLst>
          </p:cNvPr>
          <p:cNvSpPr/>
          <p:nvPr/>
        </p:nvSpPr>
        <p:spPr>
          <a:xfrm>
            <a:off x="-11767" y="6545179"/>
            <a:ext cx="12203767" cy="315200"/>
          </a:xfrm>
          <a:prstGeom prst="rect">
            <a:avLst/>
          </a:prstGeom>
          <a:solidFill>
            <a:schemeClr val="tx1"/>
          </a:solidFill>
          <a:ln w="12700">
            <a:noFill/>
            <a:miter lim="400000"/>
          </a:ln>
        </p:spPr>
        <p:txBody>
          <a:bodyPr lIns="45719" rIns="45719" anchor="ctr"/>
          <a:lstStyle/>
          <a:p>
            <a:endParaRPr/>
          </a:p>
        </p:txBody>
      </p:sp>
      <p:pic>
        <p:nvPicPr>
          <p:cNvPr id="4" name="Picture 3" descr="Frontier Tech Leaders (@FTLeadersProg) / X">
            <a:extLst>
              <a:ext uri="{FF2B5EF4-FFF2-40B4-BE49-F238E27FC236}">
                <a16:creationId xmlns:a16="http://schemas.microsoft.com/office/drawing/2014/main" id="{DDF0EC2E-126C-5585-F20B-E9D54AB2C6DE}"/>
              </a:ext>
            </a:extLst>
          </p:cNvPr>
          <p:cNvPicPr>
            <a:picLocks noChangeAspect="1"/>
          </p:cNvPicPr>
          <p:nvPr/>
        </p:nvPicPr>
        <p:blipFill>
          <a:blip r:embed="rId4"/>
          <a:stretch>
            <a:fillRect/>
          </a:stretch>
        </p:blipFill>
        <p:spPr>
          <a:xfrm>
            <a:off x="10668000" y="94470"/>
            <a:ext cx="1027893" cy="1027893"/>
          </a:xfrm>
          <a:prstGeom prst="rect">
            <a:avLst/>
          </a:prstGeom>
        </p:spPr>
      </p:pic>
    </p:spTree>
    <p:extLst>
      <p:ext uri="{BB962C8B-B14F-4D97-AF65-F5344CB8AC3E}">
        <p14:creationId xmlns:p14="http://schemas.microsoft.com/office/powerpoint/2010/main" val="1733260678"/>
      </p:ext>
    </p:extLst>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BF53567-7586-9589-BAFC-E3DA8F71B07E}"/>
              </a:ext>
            </a:extLst>
          </p:cNvPr>
          <p:cNvSpPr>
            <a:spLocks noGrp="1"/>
          </p:cNvSpPr>
          <p:nvPr>
            <p:ph type="title"/>
          </p:nvPr>
        </p:nvSpPr>
        <p:spPr/>
        <p:txBody>
          <a:bodyPr/>
          <a:lstStyle/>
          <a:p>
            <a:pPr algn="ctr"/>
            <a:r>
              <a:rPr lang="tr-TR" dirty="0" err="1"/>
              <a:t>Gradient</a:t>
            </a:r>
            <a:r>
              <a:rPr lang="tr-TR" dirty="0"/>
              <a:t> </a:t>
            </a:r>
            <a:r>
              <a:rPr lang="tr-TR" dirty="0" err="1"/>
              <a:t>Descent</a:t>
            </a:r>
            <a:r>
              <a:rPr lang="tr-TR" dirty="0"/>
              <a:t> </a:t>
            </a:r>
            <a:endParaRPr lang="en-US" dirty="0"/>
          </a:p>
        </p:txBody>
      </p:sp>
      <p:sp>
        <p:nvSpPr>
          <p:cNvPr id="11" name="TextBox 10">
            <a:extLst>
              <a:ext uri="{FF2B5EF4-FFF2-40B4-BE49-F238E27FC236}">
                <a16:creationId xmlns:a16="http://schemas.microsoft.com/office/drawing/2014/main" id="{AE085AE7-163D-408B-9F06-6AC0F9743A8B}"/>
              </a:ext>
            </a:extLst>
          </p:cNvPr>
          <p:cNvSpPr txBox="1"/>
          <p:nvPr/>
        </p:nvSpPr>
        <p:spPr>
          <a:xfrm>
            <a:off x="279399" y="1987021"/>
            <a:ext cx="8788400" cy="3970318"/>
          </a:xfrm>
          <a:prstGeom prst="rect">
            <a:avLst/>
          </a:prstGeom>
          <a:noFill/>
        </p:spPr>
        <p:txBody>
          <a:bodyPr wrap="square">
            <a:spAutoFit/>
          </a:bodyPr>
          <a:lstStyle/>
          <a:p>
            <a:endParaRPr lang="tr-TR" b="1" dirty="0"/>
          </a:p>
          <a:p>
            <a:r>
              <a:rPr lang="tr-TR" b="1" dirty="0"/>
              <a:t>OUTLINE:</a:t>
            </a:r>
          </a:p>
          <a:p>
            <a:endParaRPr lang="tr-TR" b="1" dirty="0"/>
          </a:p>
          <a:p>
            <a:pPr lvl="1"/>
            <a:r>
              <a:rPr lang="en-US" b="1" dirty="0"/>
              <a:t>Initialization</a:t>
            </a:r>
            <a:r>
              <a:rPr lang="en-US" dirty="0"/>
              <a:t>: We start with some initial parameter values.</a:t>
            </a:r>
          </a:p>
          <a:p>
            <a:pPr lvl="1"/>
            <a:endParaRPr lang="en-US" dirty="0"/>
          </a:p>
          <a:p>
            <a:pPr lvl="1"/>
            <a:r>
              <a:rPr lang="en-US" b="1" dirty="0"/>
              <a:t>Calculate Gradient: </a:t>
            </a:r>
            <a:r>
              <a:rPr lang="en-US" dirty="0"/>
              <a:t>We calculate the gradient of the loss function with respect to each parameter. This gradient points in the direction of the steepest increase in the loss.</a:t>
            </a:r>
          </a:p>
          <a:p>
            <a:pPr lvl="1"/>
            <a:endParaRPr lang="en-US" dirty="0"/>
          </a:p>
          <a:p>
            <a:pPr lvl="1"/>
            <a:r>
              <a:rPr lang="en-US" b="1" dirty="0"/>
              <a:t>Update Parameters: </a:t>
            </a:r>
            <a:r>
              <a:rPr lang="en-US" dirty="0"/>
              <a:t>We adjust the parameters by a small amount in the opposite direction of the gradient. This helps us move closer to the parameter values that minimize the loss.</a:t>
            </a:r>
          </a:p>
          <a:p>
            <a:pPr lvl="1"/>
            <a:endParaRPr lang="en-US" dirty="0"/>
          </a:p>
          <a:p>
            <a:pPr lvl="1"/>
            <a:r>
              <a:rPr lang="en-US" b="1" dirty="0"/>
              <a:t>Repeat: </a:t>
            </a:r>
            <a:r>
              <a:rPr lang="en-US" dirty="0"/>
              <a:t>We repeat steps 2 and 3 iteratively, each time moving a bit closer to the minimum of the loss function.</a:t>
            </a:r>
          </a:p>
        </p:txBody>
      </p:sp>
      <p:cxnSp>
        <p:nvCxnSpPr>
          <p:cNvPr id="12" name="Straight Arrow Connector 11">
            <a:extLst>
              <a:ext uri="{FF2B5EF4-FFF2-40B4-BE49-F238E27FC236}">
                <a16:creationId xmlns:a16="http://schemas.microsoft.com/office/drawing/2014/main" id="{55439A07-5590-E567-23C3-6CB2A843FD67}"/>
              </a:ext>
            </a:extLst>
          </p:cNvPr>
          <p:cNvCxnSpPr>
            <a:cxnSpLocks/>
          </p:cNvCxnSpPr>
          <p:nvPr/>
        </p:nvCxnSpPr>
        <p:spPr>
          <a:xfrm flipV="1">
            <a:off x="9361033" y="3590267"/>
            <a:ext cx="0" cy="2035504"/>
          </a:xfrm>
          <a:prstGeom prst="straightConnector1">
            <a:avLst/>
          </a:prstGeom>
          <a:ln w="38100">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13" name="Straight Arrow Connector 12">
            <a:extLst>
              <a:ext uri="{FF2B5EF4-FFF2-40B4-BE49-F238E27FC236}">
                <a16:creationId xmlns:a16="http://schemas.microsoft.com/office/drawing/2014/main" id="{564B2EA8-71F3-2DAB-3CBB-9D8F62B39001}"/>
              </a:ext>
            </a:extLst>
          </p:cNvPr>
          <p:cNvCxnSpPr>
            <a:cxnSpLocks/>
          </p:cNvCxnSpPr>
          <p:nvPr/>
        </p:nvCxnSpPr>
        <p:spPr>
          <a:xfrm>
            <a:off x="9235226" y="5507866"/>
            <a:ext cx="2603803" cy="0"/>
          </a:xfrm>
          <a:prstGeom prst="straightConnector1">
            <a:avLst/>
          </a:prstGeom>
          <a:ln w="38100">
            <a:solidFill>
              <a:schemeClr val="tx1"/>
            </a:solidFill>
            <a:tailEnd type="triangle"/>
          </a:ln>
        </p:spPr>
        <p:style>
          <a:lnRef idx="1">
            <a:schemeClr val="accent1"/>
          </a:lnRef>
          <a:fillRef idx="0">
            <a:schemeClr val="accent1"/>
          </a:fillRef>
          <a:effectRef idx="0">
            <a:schemeClr val="accent1"/>
          </a:effectRef>
          <a:fontRef idx="minor">
            <a:schemeClr val="tx1"/>
          </a:fontRef>
        </p:style>
      </p:cxnSp>
      <mc:AlternateContent xmlns:mc="http://schemas.openxmlformats.org/markup-compatibility/2006" xmlns:a14="http://schemas.microsoft.com/office/drawing/2010/main">
        <mc:Choice Requires="a14">
          <p:sp>
            <p:nvSpPr>
              <p:cNvPr id="14" name="TextBox 13">
                <a:extLst>
                  <a:ext uri="{FF2B5EF4-FFF2-40B4-BE49-F238E27FC236}">
                    <a16:creationId xmlns:a16="http://schemas.microsoft.com/office/drawing/2014/main" id="{5DA51D44-D203-0893-4BAD-48F760FD17BD}"/>
                  </a:ext>
                </a:extLst>
              </p:cNvPr>
              <p:cNvSpPr txBox="1"/>
              <p:nvPr/>
            </p:nvSpPr>
            <p:spPr>
              <a:xfrm>
                <a:off x="8467364" y="4287534"/>
                <a:ext cx="846667" cy="369332"/>
              </a:xfrm>
              <a:prstGeom prst="rect">
                <a:avLst/>
              </a:prstGeom>
              <a:noFill/>
            </p:spPr>
            <p:txBody>
              <a:bodyPr wrap="square">
                <a:spAutoFit/>
              </a:bodyPr>
              <a:lstStyle/>
              <a:p>
                <a:pPr/>
                <a14:m>
                  <m:oMathPara xmlns:m="http://schemas.openxmlformats.org/officeDocument/2006/math">
                    <m:oMath>
                      <m:r>
                        <a:rPr lang="tr-TR" i="1">
                          <a:latin typeface="Cambria Math" panose="02040503050406030204" pitchFamily="18" charset="0"/>
                        </a:rPr>
                        <m:t>𝐽</m:t>
                      </m:r>
                      <m:r>
                        <a:rPr lang="tr-TR" i="1">
                          <a:latin typeface="Cambria Math" panose="02040503050406030204" pitchFamily="18" charset="0"/>
                        </a:rPr>
                        <m:t>(</m:t>
                      </m:r>
                      <m:r>
                        <a:rPr lang="tr-TR" i="1">
                          <a:latin typeface="Cambria Math" panose="02040503050406030204" pitchFamily="18" charset="0"/>
                        </a:rPr>
                        <m:t>𝑤</m:t>
                      </m:r>
                      <m:r>
                        <a:rPr lang="tr-TR" i="1">
                          <a:latin typeface="Cambria Math" panose="02040503050406030204" pitchFamily="18" charset="0"/>
                        </a:rPr>
                        <m:t>)</m:t>
                      </m:r>
                    </m:oMath>
                  </m:oMathPara>
                </a14:m>
                <a:endParaRPr lang="en-US" dirty="0"/>
              </a:p>
            </p:txBody>
          </p:sp>
        </mc:Choice>
        <mc:Fallback xmlns="">
          <p:sp>
            <p:nvSpPr>
              <p:cNvPr id="14" name="TextBox 13">
                <a:extLst>
                  <a:ext uri="{FF2B5EF4-FFF2-40B4-BE49-F238E27FC236}">
                    <a16:creationId xmlns:a16="http://schemas.microsoft.com/office/drawing/2014/main" id="{5DA51D44-D203-0893-4BAD-48F760FD17BD}"/>
                  </a:ext>
                </a:extLst>
              </p:cNvPr>
              <p:cNvSpPr txBox="1">
                <a:spLocks noRot="1" noChangeAspect="1" noMove="1" noResize="1" noEditPoints="1" noAdjustHandles="1" noChangeArrowheads="1" noChangeShapeType="1" noTextEdit="1"/>
              </p:cNvSpPr>
              <p:nvPr/>
            </p:nvSpPr>
            <p:spPr>
              <a:xfrm>
                <a:off x="8467364" y="4287534"/>
                <a:ext cx="846667" cy="369332"/>
              </a:xfrm>
              <a:prstGeom prst="rect">
                <a:avLst/>
              </a:prstGeom>
              <a:blipFill>
                <a:blip r:embed="rId3"/>
                <a:stretch>
                  <a:fillRect b="-13115"/>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15" name="TextBox 14">
                <a:extLst>
                  <a:ext uri="{FF2B5EF4-FFF2-40B4-BE49-F238E27FC236}">
                    <a16:creationId xmlns:a16="http://schemas.microsoft.com/office/drawing/2014/main" id="{E6231B59-8817-8B55-5ABE-EFF585303F45}"/>
                  </a:ext>
                </a:extLst>
              </p:cNvPr>
              <p:cNvSpPr txBox="1"/>
              <p:nvPr/>
            </p:nvSpPr>
            <p:spPr>
              <a:xfrm>
                <a:off x="10261960" y="5625771"/>
                <a:ext cx="550333" cy="369332"/>
              </a:xfrm>
              <a:prstGeom prst="rect">
                <a:avLst/>
              </a:prstGeom>
              <a:noFill/>
            </p:spPr>
            <p:txBody>
              <a:bodyPr wrap="square">
                <a:spAutoFit/>
              </a:bodyPr>
              <a:lstStyle/>
              <a:p>
                <a:pPr/>
                <a14:m>
                  <m:oMathPara xmlns:m="http://schemas.openxmlformats.org/officeDocument/2006/math">
                    <m:oMath>
                      <m:r>
                        <a:rPr lang="tr-TR" b="0" i="1" smtClean="0">
                          <a:latin typeface="Cambria Math" panose="02040503050406030204" pitchFamily="18" charset="0"/>
                        </a:rPr>
                        <m:t>𝑤</m:t>
                      </m:r>
                    </m:oMath>
                  </m:oMathPara>
                </a14:m>
                <a:endParaRPr lang="en-US" dirty="0"/>
              </a:p>
            </p:txBody>
          </p:sp>
        </mc:Choice>
        <mc:Fallback xmlns="">
          <p:sp>
            <p:nvSpPr>
              <p:cNvPr id="15" name="TextBox 14">
                <a:extLst>
                  <a:ext uri="{FF2B5EF4-FFF2-40B4-BE49-F238E27FC236}">
                    <a16:creationId xmlns:a16="http://schemas.microsoft.com/office/drawing/2014/main" id="{E6231B59-8817-8B55-5ABE-EFF585303F45}"/>
                  </a:ext>
                </a:extLst>
              </p:cNvPr>
              <p:cNvSpPr txBox="1">
                <a:spLocks noRot="1" noChangeAspect="1" noMove="1" noResize="1" noEditPoints="1" noAdjustHandles="1" noChangeArrowheads="1" noChangeShapeType="1" noTextEdit="1"/>
              </p:cNvSpPr>
              <p:nvPr/>
            </p:nvSpPr>
            <p:spPr>
              <a:xfrm>
                <a:off x="10261960" y="5625771"/>
                <a:ext cx="550333" cy="369332"/>
              </a:xfrm>
              <a:prstGeom prst="rect">
                <a:avLst/>
              </a:prstGeom>
              <a:blipFill>
                <a:blip r:embed="rId4"/>
                <a:stretch>
                  <a:fillRect/>
                </a:stretch>
              </a:blipFill>
            </p:spPr>
            <p:txBody>
              <a:bodyPr/>
              <a:lstStyle/>
              <a:p>
                <a:r>
                  <a:rPr lang="en-US">
                    <a:noFill/>
                  </a:rPr>
                  <a:t> </a:t>
                </a:r>
              </a:p>
            </p:txBody>
          </p:sp>
        </mc:Fallback>
      </mc:AlternateContent>
      <p:sp>
        <p:nvSpPr>
          <p:cNvPr id="16" name="Freeform: Shape 15">
            <a:extLst>
              <a:ext uri="{FF2B5EF4-FFF2-40B4-BE49-F238E27FC236}">
                <a16:creationId xmlns:a16="http://schemas.microsoft.com/office/drawing/2014/main" id="{6F126749-D399-9595-842B-0E419B9539E0}"/>
              </a:ext>
            </a:extLst>
          </p:cNvPr>
          <p:cNvSpPr/>
          <p:nvPr/>
        </p:nvSpPr>
        <p:spPr>
          <a:xfrm>
            <a:off x="9601201" y="3986741"/>
            <a:ext cx="1820333" cy="1210922"/>
          </a:xfrm>
          <a:custGeom>
            <a:avLst/>
            <a:gdLst>
              <a:gd name="connsiteX0" fmla="*/ 0 w 1820333"/>
              <a:gd name="connsiteY0" fmla="*/ 0 h 1210922"/>
              <a:gd name="connsiteX1" fmla="*/ 880533 w 1820333"/>
              <a:gd name="connsiteY1" fmla="*/ 1210733 h 1210922"/>
              <a:gd name="connsiteX2" fmla="*/ 1820333 w 1820333"/>
              <a:gd name="connsiteY2" fmla="*/ 93133 h 1210922"/>
            </a:gdLst>
            <a:ahLst/>
            <a:cxnLst>
              <a:cxn ang="0">
                <a:pos x="connsiteX0" y="connsiteY0"/>
              </a:cxn>
              <a:cxn ang="0">
                <a:pos x="connsiteX1" y="connsiteY1"/>
              </a:cxn>
              <a:cxn ang="0">
                <a:pos x="connsiteX2" y="connsiteY2"/>
              </a:cxn>
            </a:cxnLst>
            <a:rect l="l" t="t" r="r" b="b"/>
            <a:pathLst>
              <a:path w="1820333" h="1210922">
                <a:moveTo>
                  <a:pt x="0" y="0"/>
                </a:moveTo>
                <a:cubicBezTo>
                  <a:pt x="288572" y="597605"/>
                  <a:pt x="577144" y="1195211"/>
                  <a:pt x="880533" y="1210733"/>
                </a:cubicBezTo>
                <a:cubicBezTo>
                  <a:pt x="1183922" y="1226255"/>
                  <a:pt x="1601611" y="283633"/>
                  <a:pt x="1820333" y="93133"/>
                </a:cubicBezTo>
              </a:path>
            </a:pathLst>
          </a:custGeom>
          <a:noFill/>
          <a:ln w="57150">
            <a:solidFill>
              <a:srgbClr val="FF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 name="Rectangle">
            <a:extLst>
              <a:ext uri="{FF2B5EF4-FFF2-40B4-BE49-F238E27FC236}">
                <a16:creationId xmlns:a16="http://schemas.microsoft.com/office/drawing/2014/main" id="{A6995B0A-D531-83BF-EF93-E0043C3CD200}"/>
              </a:ext>
            </a:extLst>
          </p:cNvPr>
          <p:cNvSpPr/>
          <p:nvPr/>
        </p:nvSpPr>
        <p:spPr>
          <a:xfrm>
            <a:off x="-11767" y="6545179"/>
            <a:ext cx="12203767" cy="315200"/>
          </a:xfrm>
          <a:prstGeom prst="rect">
            <a:avLst/>
          </a:prstGeom>
          <a:solidFill>
            <a:schemeClr val="tx1"/>
          </a:solidFill>
          <a:ln w="12700">
            <a:noFill/>
            <a:miter lim="400000"/>
          </a:ln>
        </p:spPr>
        <p:txBody>
          <a:bodyPr lIns="45719" rIns="45719" anchor="ctr"/>
          <a:lstStyle/>
          <a:p>
            <a:endParaRPr/>
          </a:p>
        </p:txBody>
      </p:sp>
      <p:pic>
        <p:nvPicPr>
          <p:cNvPr id="4" name="Picture 3" descr="Frontier Tech Leaders (@FTLeadersProg) / X">
            <a:extLst>
              <a:ext uri="{FF2B5EF4-FFF2-40B4-BE49-F238E27FC236}">
                <a16:creationId xmlns:a16="http://schemas.microsoft.com/office/drawing/2014/main" id="{7E84D85B-A4BD-5D71-5203-79EDA7FCB025}"/>
              </a:ext>
            </a:extLst>
          </p:cNvPr>
          <p:cNvPicPr>
            <a:picLocks noChangeAspect="1"/>
          </p:cNvPicPr>
          <p:nvPr/>
        </p:nvPicPr>
        <p:blipFill>
          <a:blip r:embed="rId5"/>
          <a:stretch>
            <a:fillRect/>
          </a:stretch>
        </p:blipFill>
        <p:spPr>
          <a:xfrm>
            <a:off x="10668000" y="94470"/>
            <a:ext cx="1027893" cy="1027893"/>
          </a:xfrm>
          <a:prstGeom prst="rect">
            <a:avLst/>
          </a:prstGeom>
        </p:spPr>
      </p:pic>
    </p:spTree>
    <p:extLst>
      <p:ext uri="{BB962C8B-B14F-4D97-AF65-F5344CB8AC3E}">
        <p14:creationId xmlns:p14="http://schemas.microsoft.com/office/powerpoint/2010/main" val="41807388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2"/>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11"/>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13"/>
                                        </p:tgtEl>
                                        <p:attrNameLst>
                                          <p:attrName>style.visibility</p:attrName>
                                        </p:attrNameLst>
                                      </p:cBhvr>
                                      <p:to>
                                        <p:strVal val="visible"/>
                                      </p:to>
                                    </p:set>
                                  </p:childTnLst>
                                </p:cTn>
                              </p:par>
                              <p:par>
                                <p:cTn id="15" presetID="1" presetClass="entr" presetSubtype="0" fill="hold" nodeType="withEffect">
                                  <p:stCondLst>
                                    <p:cond delay="0"/>
                                  </p:stCondLst>
                                  <p:childTnLst>
                                    <p:set>
                                      <p:cBhvr>
                                        <p:cTn id="16" dur="1" fill="hold">
                                          <p:stCondLst>
                                            <p:cond delay="0"/>
                                          </p:stCondLst>
                                        </p:cTn>
                                        <p:tgtEl>
                                          <p:spTgt spid="12"/>
                                        </p:tgtEl>
                                        <p:attrNameLst>
                                          <p:attrName>style.visibility</p:attrName>
                                        </p:attrNameLst>
                                      </p:cBhvr>
                                      <p:to>
                                        <p:strVal val="visible"/>
                                      </p:to>
                                    </p:set>
                                  </p:childTnLst>
                                </p:cTn>
                              </p:par>
                              <p:par>
                                <p:cTn id="17" presetID="1" presetClass="entr" presetSubtype="0" fill="hold" grpId="0" nodeType="withEffect">
                                  <p:stCondLst>
                                    <p:cond delay="0"/>
                                  </p:stCondLst>
                                  <p:childTnLst>
                                    <p:set>
                                      <p:cBhvr>
                                        <p:cTn id="18" dur="1" fill="hold">
                                          <p:stCondLst>
                                            <p:cond delay="0"/>
                                          </p:stCondLst>
                                        </p:cTn>
                                        <p:tgtEl>
                                          <p:spTgt spid="14"/>
                                        </p:tgtEl>
                                        <p:attrNameLst>
                                          <p:attrName>style.visibility</p:attrName>
                                        </p:attrNameLst>
                                      </p:cBhvr>
                                      <p:to>
                                        <p:strVal val="visible"/>
                                      </p:to>
                                    </p:set>
                                  </p:childTnLst>
                                </p:cTn>
                              </p:par>
                              <p:par>
                                <p:cTn id="19" presetID="1" presetClass="entr" presetSubtype="0" fill="hold" grpId="0" nodeType="withEffect">
                                  <p:stCondLst>
                                    <p:cond delay="0"/>
                                  </p:stCondLst>
                                  <p:childTnLst>
                                    <p:set>
                                      <p:cBhvr>
                                        <p:cTn id="20" dur="1" fill="hold">
                                          <p:stCondLst>
                                            <p:cond delay="0"/>
                                          </p:stCondLst>
                                        </p:cTn>
                                        <p:tgtEl>
                                          <p:spTgt spid="15"/>
                                        </p:tgtEl>
                                        <p:attrNameLst>
                                          <p:attrName>style.visibility</p:attrName>
                                        </p:attrNameLst>
                                      </p:cBhvr>
                                      <p:to>
                                        <p:strVal val="visible"/>
                                      </p:to>
                                    </p:set>
                                  </p:childTnLst>
                                </p:cTn>
                              </p:par>
                              <p:par>
                                <p:cTn id="21" presetID="1" presetClass="entr" presetSubtype="0" fill="hold" grpId="0" nodeType="withEffect">
                                  <p:stCondLst>
                                    <p:cond delay="0"/>
                                  </p:stCondLst>
                                  <p:childTnLst>
                                    <p:set>
                                      <p:cBhvr>
                                        <p:cTn id="22" dur="1" fill="hold">
                                          <p:stCondLst>
                                            <p:cond delay="0"/>
                                          </p:stCondLst>
                                        </p:cTn>
                                        <p:tgtEl>
                                          <p:spTgt spid="16"/>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P spid="11" grpId="0"/>
      <p:bldP spid="14" grpId="0"/>
      <p:bldP spid="15" grpId="0"/>
      <p:bldP spid="16" grpId="0" animBg="1"/>
    </p:bldLst>
  </p:timing>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Picture 4">
            <a:extLst>
              <a:ext uri="{FF2B5EF4-FFF2-40B4-BE49-F238E27FC236}">
                <a16:creationId xmlns:a16="http://schemas.microsoft.com/office/drawing/2014/main" id="{6399A696-B773-F671-6F40-6EA6AB88ADFE}"/>
              </a:ext>
            </a:extLst>
          </p:cNvPr>
          <p:cNvPicPr>
            <a:picLocks noChangeAspect="1"/>
          </p:cNvPicPr>
          <p:nvPr/>
        </p:nvPicPr>
        <p:blipFill>
          <a:blip r:embed="rId3"/>
          <a:stretch>
            <a:fillRect/>
          </a:stretch>
        </p:blipFill>
        <p:spPr>
          <a:xfrm>
            <a:off x="1258544" y="477564"/>
            <a:ext cx="9070790" cy="5902872"/>
          </a:xfrm>
          <a:prstGeom prst="rect">
            <a:avLst/>
          </a:prstGeom>
        </p:spPr>
      </p:pic>
      <p:sp>
        <p:nvSpPr>
          <p:cNvPr id="2" name="TextBox 1">
            <a:extLst>
              <a:ext uri="{FF2B5EF4-FFF2-40B4-BE49-F238E27FC236}">
                <a16:creationId xmlns:a16="http://schemas.microsoft.com/office/drawing/2014/main" id="{EB87DC82-D0A8-29E9-19ED-C8887F10F2F3}"/>
              </a:ext>
            </a:extLst>
          </p:cNvPr>
          <p:cNvSpPr txBox="1"/>
          <p:nvPr/>
        </p:nvSpPr>
        <p:spPr>
          <a:xfrm>
            <a:off x="804231" y="2798284"/>
            <a:ext cx="356188" cy="369332"/>
          </a:xfrm>
          <a:prstGeom prst="rect">
            <a:avLst/>
          </a:prstGeom>
          <a:noFill/>
        </p:spPr>
        <p:txBody>
          <a:bodyPr wrap="none" rtlCol="0">
            <a:spAutoFit/>
          </a:bodyPr>
          <a:lstStyle/>
          <a:p>
            <a:r>
              <a:rPr lang="tr-TR" b="1" dirty="0"/>
              <a:t>w</a:t>
            </a:r>
            <a:endParaRPr lang="en-US" b="1" dirty="0"/>
          </a:p>
        </p:txBody>
      </p:sp>
      <p:sp>
        <p:nvSpPr>
          <p:cNvPr id="3" name="TextBox 2">
            <a:extLst>
              <a:ext uri="{FF2B5EF4-FFF2-40B4-BE49-F238E27FC236}">
                <a16:creationId xmlns:a16="http://schemas.microsoft.com/office/drawing/2014/main" id="{ABDF2D49-9212-7121-AE89-249204E56077}"/>
              </a:ext>
            </a:extLst>
          </p:cNvPr>
          <p:cNvSpPr txBox="1"/>
          <p:nvPr/>
        </p:nvSpPr>
        <p:spPr>
          <a:xfrm>
            <a:off x="5917906" y="6195770"/>
            <a:ext cx="308098" cy="369332"/>
          </a:xfrm>
          <a:prstGeom prst="rect">
            <a:avLst/>
          </a:prstGeom>
          <a:noFill/>
        </p:spPr>
        <p:txBody>
          <a:bodyPr wrap="none" rtlCol="0">
            <a:spAutoFit/>
          </a:bodyPr>
          <a:lstStyle/>
          <a:p>
            <a:r>
              <a:rPr lang="tr-TR" b="1" dirty="0"/>
              <a:t>b</a:t>
            </a:r>
            <a:endParaRPr lang="en-US" b="1" dirty="0"/>
          </a:p>
        </p:txBody>
      </p:sp>
      <p:sp>
        <p:nvSpPr>
          <p:cNvPr id="4" name="Rectangle">
            <a:extLst>
              <a:ext uri="{FF2B5EF4-FFF2-40B4-BE49-F238E27FC236}">
                <a16:creationId xmlns:a16="http://schemas.microsoft.com/office/drawing/2014/main" id="{A589F367-4D24-A566-2A45-F316B3B327B4}"/>
              </a:ext>
            </a:extLst>
          </p:cNvPr>
          <p:cNvSpPr/>
          <p:nvPr/>
        </p:nvSpPr>
        <p:spPr>
          <a:xfrm>
            <a:off x="-11767" y="6545179"/>
            <a:ext cx="12203767" cy="315200"/>
          </a:xfrm>
          <a:prstGeom prst="rect">
            <a:avLst/>
          </a:prstGeom>
          <a:solidFill>
            <a:schemeClr val="tx1"/>
          </a:solidFill>
          <a:ln w="12700">
            <a:noFill/>
            <a:miter lim="400000"/>
          </a:ln>
        </p:spPr>
        <p:txBody>
          <a:bodyPr lIns="45719" rIns="45719" anchor="ctr"/>
          <a:lstStyle/>
          <a:p>
            <a:endParaRPr/>
          </a:p>
        </p:txBody>
      </p:sp>
      <p:pic>
        <p:nvPicPr>
          <p:cNvPr id="6" name="Picture 5" descr="Frontier Tech Leaders (@FTLeadersProg) / X">
            <a:extLst>
              <a:ext uri="{FF2B5EF4-FFF2-40B4-BE49-F238E27FC236}">
                <a16:creationId xmlns:a16="http://schemas.microsoft.com/office/drawing/2014/main" id="{0D14463C-0777-B9B7-A48A-606632BD9D19}"/>
              </a:ext>
            </a:extLst>
          </p:cNvPr>
          <p:cNvPicPr>
            <a:picLocks noChangeAspect="1"/>
          </p:cNvPicPr>
          <p:nvPr/>
        </p:nvPicPr>
        <p:blipFill>
          <a:blip r:embed="rId4"/>
          <a:stretch>
            <a:fillRect/>
          </a:stretch>
        </p:blipFill>
        <p:spPr>
          <a:xfrm>
            <a:off x="10668000" y="94470"/>
            <a:ext cx="1027893" cy="1027893"/>
          </a:xfrm>
          <a:prstGeom prst="rect">
            <a:avLst/>
          </a:prstGeom>
        </p:spPr>
      </p:pic>
    </p:spTree>
    <p:extLst>
      <p:ext uri="{BB962C8B-B14F-4D97-AF65-F5344CB8AC3E}">
        <p14:creationId xmlns:p14="http://schemas.microsoft.com/office/powerpoint/2010/main" val="1656991765"/>
      </p:ext>
    </p:extLst>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 name="Rectangle: Rounded Corners 13">
            <a:extLst>
              <a:ext uri="{FF2B5EF4-FFF2-40B4-BE49-F238E27FC236}">
                <a16:creationId xmlns:a16="http://schemas.microsoft.com/office/drawing/2014/main" id="{04099FCF-3621-9097-D88E-487A8FA2FA4A}"/>
              </a:ext>
            </a:extLst>
          </p:cNvPr>
          <p:cNvSpPr/>
          <p:nvPr/>
        </p:nvSpPr>
        <p:spPr>
          <a:xfrm>
            <a:off x="3942701" y="1286934"/>
            <a:ext cx="3819118" cy="1850636"/>
          </a:xfrm>
          <a:prstGeom prst="roundRect">
            <a:avLst/>
          </a:prstGeom>
          <a:solidFill>
            <a:schemeClr val="tx2">
              <a:lumMod val="20000"/>
              <a:lumOff val="80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mc:AlternateContent xmlns:mc="http://schemas.openxmlformats.org/markup-compatibility/2006" xmlns:a14="http://schemas.microsoft.com/office/drawing/2010/main">
        <mc:Choice Requires="a14">
          <p:sp>
            <p:nvSpPr>
              <p:cNvPr id="8" name="TextBox 7">
                <a:extLst>
                  <a:ext uri="{FF2B5EF4-FFF2-40B4-BE49-F238E27FC236}">
                    <a16:creationId xmlns:a16="http://schemas.microsoft.com/office/drawing/2014/main" id="{A0A83A24-36CA-3E0C-F1EA-9DFA8AB4E9D8}"/>
                  </a:ext>
                </a:extLst>
              </p:cNvPr>
              <p:cNvSpPr txBox="1"/>
              <p:nvPr/>
            </p:nvSpPr>
            <p:spPr>
              <a:xfrm>
                <a:off x="4312806" y="1539960"/>
                <a:ext cx="1997678" cy="404703"/>
              </a:xfrm>
              <a:prstGeom prst="rect">
                <a:avLst/>
              </a:prstGeom>
              <a:noFill/>
            </p:spPr>
            <p:txBody>
              <a:bodyPr wrap="none" lIns="0" tIns="0" rIns="0" bIns="0" rtlCol="0">
                <a:spAutoFit/>
              </a:bodyPr>
              <a:lstStyle/>
              <a:p>
                <a:pPr defTabSz="777240">
                  <a:spcAft>
                    <a:spcPts val="600"/>
                  </a:spcAft>
                </a:pPr>
                <a14:m>
                  <m:oMath xmlns:m="http://schemas.openxmlformats.org/officeDocument/2006/math">
                    <m:sSub>
                      <m:sSubPr>
                        <m:ctrlPr>
                          <a:rPr lang="tr-TR" sz="1530" i="1" kern="1200">
                            <a:solidFill>
                              <a:schemeClr val="tx1"/>
                            </a:solidFill>
                            <a:latin typeface="Cambria Math" panose="02040503050406030204" pitchFamily="18" charset="0"/>
                            <a:ea typeface="+mn-ea"/>
                            <a:cs typeface="+mn-cs"/>
                          </a:rPr>
                        </m:ctrlPr>
                      </m:sSubPr>
                      <m:e>
                        <m:r>
                          <a:rPr lang="tr-TR" sz="1530" i="1" kern="1200">
                            <a:solidFill>
                              <a:schemeClr val="tx1"/>
                            </a:solidFill>
                            <a:latin typeface="Cambria Math" panose="02040503050406030204" pitchFamily="18" charset="0"/>
                            <a:ea typeface="+mn-ea"/>
                            <a:cs typeface="+mn-cs"/>
                          </a:rPr>
                          <m:t>𝑤</m:t>
                        </m:r>
                      </m:e>
                      <m:sub>
                        <m:r>
                          <a:rPr lang="tr-TR" sz="1530" i="1" kern="1200">
                            <a:solidFill>
                              <a:schemeClr val="tx1"/>
                            </a:solidFill>
                            <a:latin typeface="Cambria Math" panose="02040503050406030204" pitchFamily="18" charset="0"/>
                            <a:ea typeface="+mn-ea"/>
                            <a:cs typeface="+mn-cs"/>
                          </a:rPr>
                          <m:t>𝑗</m:t>
                        </m:r>
                      </m:sub>
                    </m:sSub>
                    <m:r>
                      <a:rPr lang="tr-TR" sz="1530" i="1" kern="1200">
                        <a:solidFill>
                          <a:schemeClr val="tx1"/>
                        </a:solidFill>
                        <a:latin typeface="Cambria Math" panose="02040503050406030204" pitchFamily="18" charset="0"/>
                        <a:ea typeface="+mn-ea"/>
                        <a:cs typeface="+mn-cs"/>
                      </a:rPr>
                      <m:t>=</m:t>
                    </m:r>
                    <m:sSub>
                      <m:sSubPr>
                        <m:ctrlPr>
                          <a:rPr lang="tr-TR" sz="1530" i="1" kern="1200">
                            <a:solidFill>
                              <a:schemeClr val="tx1"/>
                            </a:solidFill>
                            <a:latin typeface="Cambria Math" panose="02040503050406030204" pitchFamily="18" charset="0"/>
                            <a:ea typeface="+mn-ea"/>
                            <a:cs typeface="+mn-cs"/>
                          </a:rPr>
                        </m:ctrlPr>
                      </m:sSubPr>
                      <m:e>
                        <m:r>
                          <a:rPr lang="tr-TR" sz="1530" i="1" kern="1200">
                            <a:solidFill>
                              <a:schemeClr val="tx1"/>
                            </a:solidFill>
                            <a:latin typeface="Cambria Math" panose="02040503050406030204" pitchFamily="18" charset="0"/>
                            <a:ea typeface="+mn-ea"/>
                            <a:cs typeface="+mn-cs"/>
                          </a:rPr>
                          <m:t>𝑤</m:t>
                        </m:r>
                      </m:e>
                      <m:sub>
                        <m:r>
                          <a:rPr lang="tr-TR" sz="1530" i="1" kern="1200">
                            <a:solidFill>
                              <a:schemeClr val="tx1"/>
                            </a:solidFill>
                            <a:latin typeface="Cambria Math" panose="02040503050406030204" pitchFamily="18" charset="0"/>
                            <a:ea typeface="+mn-ea"/>
                            <a:cs typeface="+mn-cs"/>
                          </a:rPr>
                          <m:t>𝑗</m:t>
                        </m:r>
                      </m:sub>
                    </m:sSub>
                    <m:r>
                      <a:rPr lang="tr-TR" sz="1530" kern="1200">
                        <a:solidFill>
                          <a:schemeClr val="tx1"/>
                        </a:solidFill>
                        <a:latin typeface="Cambria Math" panose="02040503050406030204" pitchFamily="18" charset="0"/>
                        <a:ea typeface="+mn-ea"/>
                        <a:cs typeface="+mn-cs"/>
                      </a:rPr>
                      <m:t> −</m:t>
                    </m:r>
                    <m:r>
                      <a:rPr lang="tr-TR" sz="1530" i="1" kern="1200">
                        <a:solidFill>
                          <a:schemeClr val="tx1"/>
                        </a:solidFill>
                        <a:latin typeface="Cambria Math" panose="02040503050406030204" pitchFamily="18" charset="0"/>
                        <a:ea typeface="Cambria Math" panose="02040503050406030204" pitchFamily="18" charset="0"/>
                        <a:cs typeface="+mn-cs"/>
                      </a:rPr>
                      <m:t>∝</m:t>
                    </m:r>
                    <m:f>
                      <m:fPr>
                        <m:ctrlPr>
                          <a:rPr lang="tr-TR" sz="1530" i="1" kern="1200">
                            <a:solidFill>
                              <a:schemeClr val="tx1"/>
                            </a:solidFill>
                            <a:latin typeface="Cambria Math" panose="02040503050406030204" pitchFamily="18" charset="0"/>
                            <a:ea typeface="Cambria Math" panose="02040503050406030204" pitchFamily="18" charset="0"/>
                            <a:cs typeface="+mn-cs"/>
                          </a:rPr>
                        </m:ctrlPr>
                      </m:fPr>
                      <m:num>
                        <m:r>
                          <a:rPr lang="tr-TR" sz="1530" i="1" kern="1200">
                            <a:solidFill>
                              <a:schemeClr val="tx1"/>
                            </a:solidFill>
                            <a:latin typeface="Cambria Math" panose="02040503050406030204" pitchFamily="18" charset="0"/>
                            <a:ea typeface="Cambria Math" panose="02040503050406030204" pitchFamily="18" charset="0"/>
                            <a:cs typeface="+mn-cs"/>
                          </a:rPr>
                          <m:t>𝜕</m:t>
                        </m:r>
                      </m:num>
                      <m:den>
                        <m:r>
                          <a:rPr lang="tr-TR" sz="1530" i="1" kern="1200">
                            <a:solidFill>
                              <a:schemeClr val="tx1"/>
                            </a:solidFill>
                            <a:latin typeface="Cambria Math" panose="02040503050406030204" pitchFamily="18" charset="0"/>
                            <a:ea typeface="Cambria Math" panose="02040503050406030204" pitchFamily="18" charset="0"/>
                            <a:cs typeface="+mn-cs"/>
                          </a:rPr>
                          <m:t>𝜕</m:t>
                        </m:r>
                        <m:sSub>
                          <m:sSubPr>
                            <m:ctrlPr>
                              <a:rPr lang="tr-TR" sz="1530" i="1" kern="1200">
                                <a:solidFill>
                                  <a:schemeClr val="tx1"/>
                                </a:solidFill>
                                <a:latin typeface="Cambria Math" panose="02040503050406030204" pitchFamily="18" charset="0"/>
                                <a:ea typeface="+mn-ea"/>
                                <a:cs typeface="+mn-cs"/>
                              </a:rPr>
                            </m:ctrlPr>
                          </m:sSubPr>
                          <m:e>
                            <m:r>
                              <a:rPr lang="tr-TR" sz="1530" i="1" kern="1200">
                                <a:solidFill>
                                  <a:schemeClr val="tx1"/>
                                </a:solidFill>
                                <a:latin typeface="Cambria Math" panose="02040503050406030204" pitchFamily="18" charset="0"/>
                                <a:ea typeface="+mn-ea"/>
                                <a:cs typeface="+mn-cs"/>
                              </a:rPr>
                              <m:t>𝑤</m:t>
                            </m:r>
                          </m:e>
                          <m:sub>
                            <m:r>
                              <a:rPr lang="tr-TR" sz="1530" i="1" kern="1200">
                                <a:solidFill>
                                  <a:schemeClr val="tx1"/>
                                </a:solidFill>
                                <a:latin typeface="Cambria Math" panose="02040503050406030204" pitchFamily="18" charset="0"/>
                                <a:ea typeface="+mn-ea"/>
                                <a:cs typeface="+mn-cs"/>
                              </a:rPr>
                              <m:t>𝑗</m:t>
                            </m:r>
                          </m:sub>
                        </m:sSub>
                      </m:den>
                    </m:f>
                  </m:oMath>
                </a14:m>
                <a:r>
                  <a:rPr lang="tr-TR" sz="1530" kern="1200">
                    <a:solidFill>
                      <a:schemeClr val="tx1"/>
                    </a:solidFill>
                    <a:latin typeface="+mn-lt"/>
                    <a:ea typeface="+mn-ea"/>
                    <a:cs typeface="+mn-cs"/>
                  </a:rPr>
                  <a:t> </a:t>
                </a:r>
                <a14:m>
                  <m:oMath xmlns:m="http://schemas.openxmlformats.org/officeDocument/2006/math">
                    <m:r>
                      <a:rPr lang="tr-TR" sz="1530" i="1" kern="1200">
                        <a:solidFill>
                          <a:schemeClr val="tx1"/>
                        </a:solidFill>
                        <a:latin typeface="Cambria Math" panose="02040503050406030204" pitchFamily="18" charset="0"/>
                        <a:ea typeface="+mn-ea"/>
                        <a:cs typeface="+mn-cs"/>
                      </a:rPr>
                      <m:t>𝐽</m:t>
                    </m:r>
                    <m:d>
                      <m:dPr>
                        <m:ctrlPr>
                          <a:rPr lang="tr-TR" sz="1530" i="1" kern="1200">
                            <a:solidFill>
                              <a:schemeClr val="tx1"/>
                            </a:solidFill>
                            <a:latin typeface="Cambria Math" panose="02040503050406030204" pitchFamily="18" charset="0"/>
                            <a:ea typeface="+mn-ea"/>
                            <a:cs typeface="+mn-cs"/>
                          </a:rPr>
                        </m:ctrlPr>
                      </m:dPr>
                      <m:e>
                        <m:bar>
                          <m:barPr>
                            <m:pos m:val="top"/>
                            <m:ctrlPr>
                              <a:rPr lang="tr-TR" sz="1530" i="1" kern="1200">
                                <a:solidFill>
                                  <a:schemeClr val="tx1"/>
                                </a:solidFill>
                                <a:latin typeface="Cambria Math" panose="02040503050406030204" pitchFamily="18" charset="0"/>
                                <a:ea typeface="+mn-ea"/>
                                <a:cs typeface="+mn-cs"/>
                              </a:rPr>
                            </m:ctrlPr>
                          </m:barPr>
                          <m:e>
                            <m:r>
                              <a:rPr lang="tr-TR" sz="1530" i="1" kern="1200">
                                <a:solidFill>
                                  <a:schemeClr val="tx1"/>
                                </a:solidFill>
                                <a:latin typeface="Cambria Math" panose="02040503050406030204" pitchFamily="18" charset="0"/>
                                <a:ea typeface="+mn-ea"/>
                                <a:cs typeface="+mn-cs"/>
                              </a:rPr>
                              <m:t>𝑤</m:t>
                            </m:r>
                          </m:e>
                        </m:bar>
                        <m:r>
                          <a:rPr lang="tr-TR" sz="1530" i="1" kern="1200">
                            <a:solidFill>
                              <a:schemeClr val="tx1"/>
                            </a:solidFill>
                            <a:latin typeface="Cambria Math" panose="02040503050406030204" pitchFamily="18" charset="0"/>
                            <a:ea typeface="+mn-ea"/>
                            <a:cs typeface="+mn-cs"/>
                          </a:rPr>
                          <m:t>,</m:t>
                        </m:r>
                        <m:r>
                          <a:rPr lang="tr-TR" sz="1530" i="1" kern="1200">
                            <a:solidFill>
                              <a:schemeClr val="tx1"/>
                            </a:solidFill>
                            <a:latin typeface="Cambria Math" panose="02040503050406030204" pitchFamily="18" charset="0"/>
                            <a:ea typeface="+mn-ea"/>
                            <a:cs typeface="+mn-cs"/>
                          </a:rPr>
                          <m:t>𝑏</m:t>
                        </m:r>
                      </m:e>
                    </m:d>
                  </m:oMath>
                </a14:m>
                <a:endParaRPr lang="en-US"/>
              </a:p>
            </p:txBody>
          </p:sp>
        </mc:Choice>
        <mc:Fallback xmlns="">
          <p:sp>
            <p:nvSpPr>
              <p:cNvPr id="8" name="TextBox 7">
                <a:extLst>
                  <a:ext uri="{FF2B5EF4-FFF2-40B4-BE49-F238E27FC236}">
                    <a16:creationId xmlns:a16="http://schemas.microsoft.com/office/drawing/2014/main" id="{A0A83A24-36CA-3E0C-F1EA-9DFA8AB4E9D8}"/>
                  </a:ext>
                </a:extLst>
              </p:cNvPr>
              <p:cNvSpPr txBox="1">
                <a:spLocks noRot="1" noChangeAspect="1" noMove="1" noResize="1" noEditPoints="1" noAdjustHandles="1" noChangeArrowheads="1" noChangeShapeType="1" noTextEdit="1"/>
              </p:cNvSpPr>
              <p:nvPr/>
            </p:nvSpPr>
            <p:spPr>
              <a:xfrm>
                <a:off x="4312806" y="1539960"/>
                <a:ext cx="1997678" cy="404703"/>
              </a:xfrm>
              <a:prstGeom prst="rect">
                <a:avLst/>
              </a:prstGeom>
              <a:blipFill>
                <a:blip r:embed="rId3"/>
                <a:stretch>
                  <a:fillRect l="-2439" b="-12121"/>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9" name="TextBox 8">
                <a:extLst>
                  <a:ext uri="{FF2B5EF4-FFF2-40B4-BE49-F238E27FC236}">
                    <a16:creationId xmlns:a16="http://schemas.microsoft.com/office/drawing/2014/main" id="{CB2F6885-8176-80F3-4A84-BE3CB1A7039A}"/>
                  </a:ext>
                </a:extLst>
              </p:cNvPr>
              <p:cNvSpPr txBox="1"/>
              <p:nvPr/>
            </p:nvSpPr>
            <p:spPr>
              <a:xfrm>
                <a:off x="4312806" y="2211033"/>
                <a:ext cx="1772353" cy="404703"/>
              </a:xfrm>
              <a:prstGeom prst="rect">
                <a:avLst/>
              </a:prstGeom>
              <a:noFill/>
            </p:spPr>
            <p:txBody>
              <a:bodyPr wrap="none" lIns="0" tIns="0" rIns="0" bIns="0" rtlCol="0">
                <a:spAutoFit/>
              </a:bodyPr>
              <a:lstStyle/>
              <a:p>
                <a:pPr defTabSz="777240">
                  <a:spcAft>
                    <a:spcPts val="600"/>
                  </a:spcAft>
                </a:pPr>
                <a14:m>
                  <m:oMath xmlns:m="http://schemas.openxmlformats.org/officeDocument/2006/math">
                    <m:r>
                      <a:rPr lang="tr-TR" sz="1530" i="1" kern="1200">
                        <a:solidFill>
                          <a:schemeClr val="tx1"/>
                        </a:solidFill>
                        <a:latin typeface="Cambria Math" panose="02040503050406030204" pitchFamily="18" charset="0"/>
                        <a:ea typeface="+mn-ea"/>
                        <a:cs typeface="+mn-cs"/>
                      </a:rPr>
                      <m:t>𝑏</m:t>
                    </m:r>
                    <m:r>
                      <a:rPr lang="tr-TR" sz="1530" i="1" kern="1200">
                        <a:solidFill>
                          <a:schemeClr val="tx1"/>
                        </a:solidFill>
                        <a:latin typeface="Cambria Math" panose="02040503050406030204" pitchFamily="18" charset="0"/>
                        <a:ea typeface="+mn-ea"/>
                        <a:cs typeface="+mn-cs"/>
                      </a:rPr>
                      <m:t>=</m:t>
                    </m:r>
                    <m:r>
                      <a:rPr lang="tr-TR" sz="1530" i="1" kern="1200">
                        <a:solidFill>
                          <a:schemeClr val="tx1"/>
                        </a:solidFill>
                        <a:latin typeface="Cambria Math" panose="02040503050406030204" pitchFamily="18" charset="0"/>
                        <a:ea typeface="+mn-ea"/>
                        <a:cs typeface="+mn-cs"/>
                      </a:rPr>
                      <m:t>𝑏</m:t>
                    </m:r>
                    <m:r>
                      <a:rPr lang="tr-TR" sz="1530" kern="1200">
                        <a:solidFill>
                          <a:schemeClr val="tx1"/>
                        </a:solidFill>
                        <a:latin typeface="Cambria Math" panose="02040503050406030204" pitchFamily="18" charset="0"/>
                        <a:ea typeface="+mn-ea"/>
                        <a:cs typeface="+mn-cs"/>
                      </a:rPr>
                      <m:t>−</m:t>
                    </m:r>
                    <m:r>
                      <a:rPr lang="tr-TR" sz="1530" i="1" kern="1200">
                        <a:solidFill>
                          <a:schemeClr val="tx1"/>
                        </a:solidFill>
                        <a:latin typeface="Cambria Math" panose="02040503050406030204" pitchFamily="18" charset="0"/>
                        <a:ea typeface="Cambria Math" panose="02040503050406030204" pitchFamily="18" charset="0"/>
                        <a:cs typeface="+mn-cs"/>
                      </a:rPr>
                      <m:t>∝</m:t>
                    </m:r>
                    <m:f>
                      <m:fPr>
                        <m:ctrlPr>
                          <a:rPr lang="tr-TR" sz="1530" i="1" kern="1200">
                            <a:solidFill>
                              <a:schemeClr val="tx1"/>
                            </a:solidFill>
                            <a:latin typeface="Cambria Math" panose="02040503050406030204" pitchFamily="18" charset="0"/>
                            <a:ea typeface="Cambria Math" panose="02040503050406030204" pitchFamily="18" charset="0"/>
                            <a:cs typeface="+mn-cs"/>
                          </a:rPr>
                        </m:ctrlPr>
                      </m:fPr>
                      <m:num>
                        <m:r>
                          <a:rPr lang="tr-TR" sz="1530" i="1" kern="1200">
                            <a:solidFill>
                              <a:schemeClr val="tx1"/>
                            </a:solidFill>
                            <a:latin typeface="Cambria Math" panose="02040503050406030204" pitchFamily="18" charset="0"/>
                            <a:ea typeface="Cambria Math" panose="02040503050406030204" pitchFamily="18" charset="0"/>
                            <a:cs typeface="+mn-cs"/>
                          </a:rPr>
                          <m:t>𝜕</m:t>
                        </m:r>
                      </m:num>
                      <m:den>
                        <m:r>
                          <a:rPr lang="tr-TR" sz="1530" i="1" kern="1200">
                            <a:solidFill>
                              <a:schemeClr val="tx1"/>
                            </a:solidFill>
                            <a:latin typeface="Cambria Math" panose="02040503050406030204" pitchFamily="18" charset="0"/>
                            <a:ea typeface="Cambria Math" panose="02040503050406030204" pitchFamily="18" charset="0"/>
                            <a:cs typeface="+mn-cs"/>
                          </a:rPr>
                          <m:t>𝜕</m:t>
                        </m:r>
                        <m:sSub>
                          <m:sSubPr>
                            <m:ctrlPr>
                              <a:rPr lang="tr-TR" sz="1530" i="1" kern="1200">
                                <a:solidFill>
                                  <a:schemeClr val="tx1"/>
                                </a:solidFill>
                                <a:latin typeface="Cambria Math" panose="02040503050406030204" pitchFamily="18" charset="0"/>
                                <a:ea typeface="+mn-ea"/>
                                <a:cs typeface="+mn-cs"/>
                              </a:rPr>
                            </m:ctrlPr>
                          </m:sSubPr>
                          <m:e>
                            <m:r>
                              <a:rPr lang="tr-TR" sz="1530" i="1" kern="1200">
                                <a:solidFill>
                                  <a:schemeClr val="tx1"/>
                                </a:solidFill>
                                <a:latin typeface="Cambria Math" panose="02040503050406030204" pitchFamily="18" charset="0"/>
                                <a:ea typeface="+mn-ea"/>
                                <a:cs typeface="+mn-cs"/>
                              </a:rPr>
                              <m:t>𝑤</m:t>
                            </m:r>
                          </m:e>
                          <m:sub>
                            <m:r>
                              <a:rPr lang="tr-TR" sz="1530" i="1" kern="1200">
                                <a:solidFill>
                                  <a:schemeClr val="tx1"/>
                                </a:solidFill>
                                <a:latin typeface="Cambria Math" panose="02040503050406030204" pitchFamily="18" charset="0"/>
                                <a:ea typeface="+mn-ea"/>
                                <a:cs typeface="+mn-cs"/>
                              </a:rPr>
                              <m:t>𝑗</m:t>
                            </m:r>
                          </m:sub>
                        </m:sSub>
                      </m:den>
                    </m:f>
                  </m:oMath>
                </a14:m>
                <a:r>
                  <a:rPr lang="tr-TR" sz="1530" kern="1200">
                    <a:solidFill>
                      <a:schemeClr val="tx1"/>
                    </a:solidFill>
                    <a:latin typeface="+mn-lt"/>
                    <a:ea typeface="+mn-ea"/>
                    <a:cs typeface="+mn-cs"/>
                  </a:rPr>
                  <a:t> </a:t>
                </a:r>
                <a14:m>
                  <m:oMath xmlns:m="http://schemas.openxmlformats.org/officeDocument/2006/math">
                    <m:r>
                      <a:rPr lang="tr-TR" sz="1530" i="1" kern="1200">
                        <a:solidFill>
                          <a:schemeClr val="tx1"/>
                        </a:solidFill>
                        <a:latin typeface="Cambria Math" panose="02040503050406030204" pitchFamily="18" charset="0"/>
                        <a:ea typeface="+mn-ea"/>
                        <a:cs typeface="+mn-cs"/>
                      </a:rPr>
                      <m:t>𝐽</m:t>
                    </m:r>
                    <m:d>
                      <m:dPr>
                        <m:ctrlPr>
                          <a:rPr lang="tr-TR" sz="1530" i="1" kern="1200">
                            <a:solidFill>
                              <a:schemeClr val="tx1"/>
                            </a:solidFill>
                            <a:latin typeface="Cambria Math" panose="02040503050406030204" pitchFamily="18" charset="0"/>
                            <a:ea typeface="+mn-ea"/>
                            <a:cs typeface="+mn-cs"/>
                          </a:rPr>
                        </m:ctrlPr>
                      </m:dPr>
                      <m:e>
                        <m:bar>
                          <m:barPr>
                            <m:pos m:val="top"/>
                            <m:ctrlPr>
                              <a:rPr lang="tr-TR" sz="1530" i="1" kern="1200">
                                <a:solidFill>
                                  <a:schemeClr val="tx1"/>
                                </a:solidFill>
                                <a:latin typeface="Cambria Math" panose="02040503050406030204" pitchFamily="18" charset="0"/>
                                <a:ea typeface="+mn-ea"/>
                                <a:cs typeface="+mn-cs"/>
                              </a:rPr>
                            </m:ctrlPr>
                          </m:barPr>
                          <m:e>
                            <m:r>
                              <a:rPr lang="tr-TR" sz="1530" i="1" kern="1200">
                                <a:solidFill>
                                  <a:schemeClr val="tx1"/>
                                </a:solidFill>
                                <a:latin typeface="Cambria Math" panose="02040503050406030204" pitchFamily="18" charset="0"/>
                                <a:ea typeface="+mn-ea"/>
                                <a:cs typeface="+mn-cs"/>
                              </a:rPr>
                              <m:t>𝑤</m:t>
                            </m:r>
                          </m:e>
                        </m:bar>
                        <m:r>
                          <a:rPr lang="tr-TR" sz="1530" i="1" kern="1200">
                            <a:solidFill>
                              <a:schemeClr val="tx1"/>
                            </a:solidFill>
                            <a:latin typeface="Cambria Math" panose="02040503050406030204" pitchFamily="18" charset="0"/>
                            <a:ea typeface="+mn-ea"/>
                            <a:cs typeface="+mn-cs"/>
                          </a:rPr>
                          <m:t>,</m:t>
                        </m:r>
                        <m:r>
                          <a:rPr lang="tr-TR" sz="1530" i="1" kern="1200">
                            <a:solidFill>
                              <a:schemeClr val="tx1"/>
                            </a:solidFill>
                            <a:latin typeface="Cambria Math" panose="02040503050406030204" pitchFamily="18" charset="0"/>
                            <a:ea typeface="+mn-ea"/>
                            <a:cs typeface="+mn-cs"/>
                          </a:rPr>
                          <m:t>𝑏</m:t>
                        </m:r>
                      </m:e>
                    </m:d>
                  </m:oMath>
                </a14:m>
                <a:endParaRPr lang="en-US"/>
              </a:p>
            </p:txBody>
          </p:sp>
        </mc:Choice>
        <mc:Fallback xmlns="">
          <p:sp>
            <p:nvSpPr>
              <p:cNvPr id="9" name="TextBox 8">
                <a:extLst>
                  <a:ext uri="{FF2B5EF4-FFF2-40B4-BE49-F238E27FC236}">
                    <a16:creationId xmlns:a16="http://schemas.microsoft.com/office/drawing/2014/main" id="{CB2F6885-8176-80F3-4A84-BE3CB1A7039A}"/>
                  </a:ext>
                </a:extLst>
              </p:cNvPr>
              <p:cNvSpPr txBox="1">
                <a:spLocks noRot="1" noChangeAspect="1" noMove="1" noResize="1" noEditPoints="1" noAdjustHandles="1" noChangeArrowheads="1" noChangeShapeType="1" noTextEdit="1"/>
              </p:cNvSpPr>
              <p:nvPr/>
            </p:nvSpPr>
            <p:spPr>
              <a:xfrm>
                <a:off x="4312806" y="2211033"/>
                <a:ext cx="1772353" cy="404703"/>
              </a:xfrm>
              <a:prstGeom prst="rect">
                <a:avLst/>
              </a:prstGeom>
              <a:blipFill>
                <a:blip r:embed="rId4"/>
                <a:stretch>
                  <a:fillRect l="-3780" b="-12121"/>
                </a:stretch>
              </a:blipFill>
            </p:spPr>
            <p:txBody>
              <a:bodyPr/>
              <a:lstStyle/>
              <a:p>
                <a:r>
                  <a:rPr lang="en-US">
                    <a:noFill/>
                  </a:rPr>
                  <a:t> </a:t>
                </a:r>
              </a:p>
            </p:txBody>
          </p:sp>
        </mc:Fallback>
      </mc:AlternateContent>
      <p:sp>
        <p:nvSpPr>
          <p:cNvPr id="10" name="Rectangle: Rounded Corners 9">
            <a:extLst>
              <a:ext uri="{FF2B5EF4-FFF2-40B4-BE49-F238E27FC236}">
                <a16:creationId xmlns:a16="http://schemas.microsoft.com/office/drawing/2014/main" id="{CB68CC52-23B1-40D2-99CC-118DE93BBE36}"/>
              </a:ext>
            </a:extLst>
          </p:cNvPr>
          <p:cNvSpPr/>
          <p:nvPr/>
        </p:nvSpPr>
        <p:spPr>
          <a:xfrm>
            <a:off x="5379585" y="1482004"/>
            <a:ext cx="963705" cy="554318"/>
          </a:xfrm>
          <a:prstGeom prst="roundRect">
            <a:avLst/>
          </a:prstGeom>
          <a:noFill/>
          <a:ln w="38100">
            <a:solidFill>
              <a:srgbClr val="0070C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1" name="Oval 10">
            <a:extLst>
              <a:ext uri="{FF2B5EF4-FFF2-40B4-BE49-F238E27FC236}">
                <a16:creationId xmlns:a16="http://schemas.microsoft.com/office/drawing/2014/main" id="{5892E324-9A89-19F1-BF48-14871A69D737}"/>
              </a:ext>
            </a:extLst>
          </p:cNvPr>
          <p:cNvSpPr/>
          <p:nvPr/>
        </p:nvSpPr>
        <p:spPr>
          <a:xfrm>
            <a:off x="5160454" y="1623016"/>
            <a:ext cx="209506" cy="174588"/>
          </a:xfrm>
          <a:prstGeom prst="ellipse">
            <a:avLst/>
          </a:prstGeom>
          <a:noFill/>
          <a:ln w="28575">
            <a:solidFill>
              <a:srgbClr val="FF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2" name="TextBox 11">
            <a:extLst>
              <a:ext uri="{FF2B5EF4-FFF2-40B4-BE49-F238E27FC236}">
                <a16:creationId xmlns:a16="http://schemas.microsoft.com/office/drawing/2014/main" id="{5E59754B-7EC4-288C-CDDE-08BE03012DD1}"/>
              </a:ext>
            </a:extLst>
          </p:cNvPr>
          <p:cNvSpPr txBox="1"/>
          <p:nvPr/>
        </p:nvSpPr>
        <p:spPr>
          <a:xfrm>
            <a:off x="6352914" y="1464352"/>
            <a:ext cx="989182" cy="327782"/>
          </a:xfrm>
          <a:prstGeom prst="rect">
            <a:avLst/>
          </a:prstGeom>
          <a:noFill/>
        </p:spPr>
        <p:txBody>
          <a:bodyPr wrap="none" rtlCol="0">
            <a:spAutoFit/>
          </a:bodyPr>
          <a:lstStyle/>
          <a:p>
            <a:pPr defTabSz="777240">
              <a:spcAft>
                <a:spcPts val="600"/>
              </a:spcAft>
            </a:pPr>
            <a:r>
              <a:rPr lang="tr-TR" sz="1530" kern="1200" err="1">
                <a:solidFill>
                  <a:srgbClr val="0070C0"/>
                </a:solidFill>
                <a:latin typeface="+mn-lt"/>
                <a:ea typeface="+mn-ea"/>
                <a:cs typeface="+mn-cs"/>
              </a:rPr>
              <a:t>Derivative</a:t>
            </a:r>
            <a:endParaRPr lang="en-US">
              <a:solidFill>
                <a:srgbClr val="0070C0"/>
              </a:solidFill>
            </a:endParaRPr>
          </a:p>
        </p:txBody>
      </p:sp>
      <p:sp>
        <p:nvSpPr>
          <p:cNvPr id="13" name="TextBox 12">
            <a:extLst>
              <a:ext uri="{FF2B5EF4-FFF2-40B4-BE49-F238E27FC236}">
                <a16:creationId xmlns:a16="http://schemas.microsoft.com/office/drawing/2014/main" id="{BF4FD104-10A8-60BE-5830-63AFE6141072}"/>
              </a:ext>
            </a:extLst>
          </p:cNvPr>
          <p:cNvSpPr txBox="1"/>
          <p:nvPr/>
        </p:nvSpPr>
        <p:spPr>
          <a:xfrm>
            <a:off x="6352914" y="1759163"/>
            <a:ext cx="1275606" cy="327782"/>
          </a:xfrm>
          <a:prstGeom prst="rect">
            <a:avLst/>
          </a:prstGeom>
          <a:noFill/>
        </p:spPr>
        <p:txBody>
          <a:bodyPr wrap="none" rtlCol="0">
            <a:spAutoFit/>
          </a:bodyPr>
          <a:lstStyle/>
          <a:p>
            <a:pPr defTabSz="777240">
              <a:spcAft>
                <a:spcPts val="600"/>
              </a:spcAft>
            </a:pPr>
            <a:r>
              <a:rPr lang="tr-TR" sz="1530" kern="1200">
                <a:solidFill>
                  <a:srgbClr val="FF0000"/>
                </a:solidFill>
                <a:latin typeface="+mn-lt"/>
                <a:ea typeface="+mn-ea"/>
                <a:cs typeface="+mn-cs"/>
              </a:rPr>
              <a:t>Learning Rate</a:t>
            </a:r>
            <a:endParaRPr lang="en-US">
              <a:solidFill>
                <a:srgbClr val="FF0000"/>
              </a:solidFill>
            </a:endParaRPr>
          </a:p>
        </p:txBody>
      </p:sp>
      <p:sp>
        <p:nvSpPr>
          <p:cNvPr id="15" name="TextBox 14">
            <a:extLst>
              <a:ext uri="{FF2B5EF4-FFF2-40B4-BE49-F238E27FC236}">
                <a16:creationId xmlns:a16="http://schemas.microsoft.com/office/drawing/2014/main" id="{0605212F-6C1A-97C0-4A7A-CDEEC3A7A865}"/>
              </a:ext>
            </a:extLst>
          </p:cNvPr>
          <p:cNvSpPr txBox="1"/>
          <p:nvPr/>
        </p:nvSpPr>
        <p:spPr>
          <a:xfrm>
            <a:off x="4702160" y="2808983"/>
            <a:ext cx="2200731" cy="327782"/>
          </a:xfrm>
          <a:prstGeom prst="rect">
            <a:avLst/>
          </a:prstGeom>
          <a:noFill/>
        </p:spPr>
        <p:txBody>
          <a:bodyPr wrap="none" rtlCol="0">
            <a:spAutoFit/>
          </a:bodyPr>
          <a:lstStyle/>
          <a:p>
            <a:pPr defTabSz="777240">
              <a:spcAft>
                <a:spcPts val="600"/>
              </a:spcAft>
            </a:pPr>
            <a:r>
              <a:rPr lang="tr-TR" sz="1530" kern="1200" err="1">
                <a:solidFill>
                  <a:schemeClr val="tx1"/>
                </a:solidFill>
                <a:latin typeface="+mn-lt"/>
                <a:ea typeface="+mn-ea"/>
                <a:cs typeface="+mn-cs"/>
              </a:rPr>
              <a:t>Repeat</a:t>
            </a:r>
            <a:r>
              <a:rPr lang="tr-TR" sz="1530" kern="1200">
                <a:solidFill>
                  <a:schemeClr val="tx1"/>
                </a:solidFill>
                <a:latin typeface="+mn-lt"/>
                <a:ea typeface="+mn-ea"/>
                <a:cs typeface="+mn-cs"/>
              </a:rPr>
              <a:t> </a:t>
            </a:r>
            <a:r>
              <a:rPr lang="tr-TR" sz="1530" kern="1200" err="1">
                <a:solidFill>
                  <a:schemeClr val="tx1"/>
                </a:solidFill>
                <a:latin typeface="+mn-lt"/>
                <a:ea typeface="+mn-ea"/>
                <a:cs typeface="+mn-cs"/>
              </a:rPr>
              <a:t>until</a:t>
            </a:r>
            <a:r>
              <a:rPr lang="tr-TR" sz="1530" kern="1200">
                <a:solidFill>
                  <a:schemeClr val="tx1"/>
                </a:solidFill>
                <a:latin typeface="+mn-lt"/>
                <a:ea typeface="+mn-ea"/>
                <a:cs typeface="+mn-cs"/>
              </a:rPr>
              <a:t> </a:t>
            </a:r>
            <a:r>
              <a:rPr lang="tr-TR" sz="1530" kern="1200" err="1">
                <a:solidFill>
                  <a:schemeClr val="tx1"/>
                </a:solidFill>
                <a:latin typeface="+mn-lt"/>
                <a:ea typeface="+mn-ea"/>
                <a:cs typeface="+mn-cs"/>
              </a:rPr>
              <a:t>convergence</a:t>
            </a:r>
            <a:endParaRPr lang="en-US"/>
          </a:p>
        </p:txBody>
      </p:sp>
      <p:cxnSp>
        <p:nvCxnSpPr>
          <p:cNvPr id="17" name="Straight Arrow Connector 16">
            <a:extLst>
              <a:ext uri="{FF2B5EF4-FFF2-40B4-BE49-F238E27FC236}">
                <a16:creationId xmlns:a16="http://schemas.microsoft.com/office/drawing/2014/main" id="{2915C448-E1B5-C837-219E-5D437F82367F}"/>
              </a:ext>
            </a:extLst>
          </p:cNvPr>
          <p:cNvCxnSpPr>
            <a:cxnSpLocks/>
          </p:cNvCxnSpPr>
          <p:nvPr/>
        </p:nvCxnSpPr>
        <p:spPr>
          <a:xfrm flipH="1">
            <a:off x="4211857" y="3217589"/>
            <a:ext cx="490303" cy="425450"/>
          </a:xfrm>
          <a:prstGeom prst="straightConnector1">
            <a:avLst/>
          </a:prstGeom>
          <a:ln w="38100">
            <a:solidFill>
              <a:schemeClr val="tx1"/>
            </a:solidFill>
            <a:tailEnd type="triangle"/>
          </a:ln>
        </p:spPr>
        <p:style>
          <a:lnRef idx="1">
            <a:schemeClr val="accent1"/>
          </a:lnRef>
          <a:fillRef idx="0">
            <a:schemeClr val="accent1"/>
          </a:fillRef>
          <a:effectRef idx="0">
            <a:schemeClr val="accent1"/>
          </a:effectRef>
          <a:fontRef idx="minor">
            <a:schemeClr val="tx1"/>
          </a:fontRef>
        </p:style>
      </p:cxnSp>
      <p:sp>
        <p:nvSpPr>
          <p:cNvPr id="19" name="TextBox 18">
            <a:extLst>
              <a:ext uri="{FF2B5EF4-FFF2-40B4-BE49-F238E27FC236}">
                <a16:creationId xmlns:a16="http://schemas.microsoft.com/office/drawing/2014/main" id="{13BAB117-3F80-2355-0651-5C27D0648149}"/>
              </a:ext>
            </a:extLst>
          </p:cNvPr>
          <p:cNvSpPr txBox="1"/>
          <p:nvPr/>
        </p:nvSpPr>
        <p:spPr>
          <a:xfrm>
            <a:off x="2779164" y="3686622"/>
            <a:ext cx="3351495" cy="406265"/>
          </a:xfrm>
          <a:prstGeom prst="rect">
            <a:avLst/>
          </a:prstGeom>
          <a:noFill/>
        </p:spPr>
        <p:txBody>
          <a:bodyPr wrap="none" rtlCol="0">
            <a:spAutoFit/>
          </a:bodyPr>
          <a:lstStyle/>
          <a:p>
            <a:pPr defTabSz="777240">
              <a:spcAft>
                <a:spcPts val="600"/>
              </a:spcAft>
            </a:pPr>
            <a:r>
              <a:rPr lang="tr-TR" sz="2040" kern="1200" err="1">
                <a:solidFill>
                  <a:schemeClr val="accent4">
                    <a:lumMod val="75000"/>
                  </a:schemeClr>
                </a:solidFill>
                <a:latin typeface="+mn-lt"/>
                <a:ea typeface="+mn-ea"/>
                <a:cs typeface="+mn-cs"/>
              </a:rPr>
              <a:t>Correct</a:t>
            </a:r>
            <a:r>
              <a:rPr lang="tr-TR" sz="2040" kern="1200">
                <a:solidFill>
                  <a:schemeClr val="accent4">
                    <a:lumMod val="75000"/>
                  </a:schemeClr>
                </a:solidFill>
                <a:latin typeface="+mn-lt"/>
                <a:ea typeface="+mn-ea"/>
                <a:cs typeface="+mn-cs"/>
              </a:rPr>
              <a:t>: </a:t>
            </a:r>
            <a:r>
              <a:rPr lang="tr-TR" sz="2040" kern="1200" err="1">
                <a:solidFill>
                  <a:schemeClr val="accent4">
                    <a:lumMod val="75000"/>
                  </a:schemeClr>
                </a:solidFill>
                <a:latin typeface="+mn-lt"/>
                <a:ea typeface="+mn-ea"/>
                <a:cs typeface="+mn-cs"/>
              </a:rPr>
              <a:t>Simultaneous</a:t>
            </a:r>
            <a:r>
              <a:rPr lang="tr-TR" sz="2040" kern="1200">
                <a:solidFill>
                  <a:schemeClr val="accent4">
                    <a:lumMod val="75000"/>
                  </a:schemeClr>
                </a:solidFill>
                <a:latin typeface="+mn-lt"/>
                <a:ea typeface="+mn-ea"/>
                <a:cs typeface="+mn-cs"/>
              </a:rPr>
              <a:t> </a:t>
            </a:r>
            <a:r>
              <a:rPr lang="tr-TR" sz="2040" kern="1200" err="1">
                <a:solidFill>
                  <a:schemeClr val="accent4">
                    <a:lumMod val="75000"/>
                  </a:schemeClr>
                </a:solidFill>
                <a:latin typeface="+mn-lt"/>
                <a:ea typeface="+mn-ea"/>
                <a:cs typeface="+mn-cs"/>
              </a:rPr>
              <a:t>update</a:t>
            </a:r>
            <a:endParaRPr lang="en-US" sz="2400">
              <a:solidFill>
                <a:schemeClr val="accent4">
                  <a:lumMod val="75000"/>
                </a:schemeClr>
              </a:solidFill>
            </a:endParaRPr>
          </a:p>
        </p:txBody>
      </p:sp>
      <p:sp>
        <p:nvSpPr>
          <p:cNvPr id="20" name="TextBox 19">
            <a:extLst>
              <a:ext uri="{FF2B5EF4-FFF2-40B4-BE49-F238E27FC236}">
                <a16:creationId xmlns:a16="http://schemas.microsoft.com/office/drawing/2014/main" id="{5E9C4CBE-DFB4-B054-3637-38FF5CF1A70D}"/>
              </a:ext>
            </a:extLst>
          </p:cNvPr>
          <p:cNvSpPr txBox="1"/>
          <p:nvPr/>
        </p:nvSpPr>
        <p:spPr>
          <a:xfrm>
            <a:off x="6951386" y="3700139"/>
            <a:ext cx="1142429" cy="406265"/>
          </a:xfrm>
          <a:prstGeom prst="rect">
            <a:avLst/>
          </a:prstGeom>
          <a:noFill/>
        </p:spPr>
        <p:txBody>
          <a:bodyPr wrap="none" rtlCol="0">
            <a:spAutoFit/>
          </a:bodyPr>
          <a:lstStyle/>
          <a:p>
            <a:pPr defTabSz="777240">
              <a:spcAft>
                <a:spcPts val="600"/>
              </a:spcAft>
            </a:pPr>
            <a:r>
              <a:rPr lang="tr-TR" sz="2040" kern="1200" err="1">
                <a:solidFill>
                  <a:schemeClr val="accent4">
                    <a:lumMod val="75000"/>
                  </a:schemeClr>
                </a:solidFill>
                <a:latin typeface="+mn-lt"/>
                <a:ea typeface="+mn-ea"/>
                <a:cs typeface="+mn-cs"/>
              </a:rPr>
              <a:t>Incorrect</a:t>
            </a:r>
            <a:endParaRPr lang="en-US" sz="2400">
              <a:solidFill>
                <a:schemeClr val="accent4">
                  <a:lumMod val="75000"/>
                </a:schemeClr>
              </a:solidFill>
            </a:endParaRPr>
          </a:p>
        </p:txBody>
      </p:sp>
      <mc:AlternateContent xmlns:mc="http://schemas.openxmlformats.org/markup-compatibility/2006" xmlns:a14="http://schemas.microsoft.com/office/drawing/2010/main">
        <mc:Choice Requires="a14">
          <p:sp>
            <p:nvSpPr>
              <p:cNvPr id="22" name="TextBox 21">
                <a:extLst>
                  <a:ext uri="{FF2B5EF4-FFF2-40B4-BE49-F238E27FC236}">
                    <a16:creationId xmlns:a16="http://schemas.microsoft.com/office/drawing/2014/main" id="{BC8A7130-5997-4B32-CDE9-EAFE841ECC98}"/>
                  </a:ext>
                </a:extLst>
              </p:cNvPr>
              <p:cNvSpPr txBox="1"/>
              <p:nvPr/>
            </p:nvSpPr>
            <p:spPr>
              <a:xfrm>
                <a:off x="3229041" y="4137785"/>
                <a:ext cx="2573492" cy="1563377"/>
              </a:xfrm>
              <a:prstGeom prst="rect">
                <a:avLst/>
              </a:prstGeom>
              <a:noFill/>
            </p:spPr>
            <p:txBody>
              <a:bodyPr wrap="square">
                <a:spAutoFit/>
              </a:bodyPr>
              <a:lstStyle/>
              <a:p>
                <a:pPr defTabSz="777240">
                  <a:spcAft>
                    <a:spcPts val="600"/>
                  </a:spcAft>
                </a:pPr>
                <a14:m>
                  <m:oMath xmlns:m="http://schemas.openxmlformats.org/officeDocument/2006/math">
                    <m:r>
                      <m:rPr>
                        <m:sty m:val="p"/>
                      </m:rPr>
                      <a:rPr lang="tr-TR" sz="1530" kern="1200">
                        <a:solidFill>
                          <a:schemeClr val="tx1"/>
                        </a:solidFill>
                        <a:latin typeface="Cambria Math" panose="02040503050406030204" pitchFamily="18" charset="0"/>
                        <a:ea typeface="+mn-ea"/>
                        <a:cs typeface="+mn-cs"/>
                      </a:rPr>
                      <m:t>temp</m:t>
                    </m:r>
                    <m:r>
                      <a:rPr lang="tr-TR" sz="1530" kern="1200">
                        <a:solidFill>
                          <a:schemeClr val="tx1"/>
                        </a:solidFill>
                        <a:latin typeface="Cambria Math" panose="02040503050406030204" pitchFamily="18" charset="0"/>
                        <a:ea typeface="+mn-ea"/>
                        <a:cs typeface="+mn-cs"/>
                      </a:rPr>
                      <m:t>_</m:t>
                    </m:r>
                    <m:r>
                      <m:rPr>
                        <m:sty m:val="p"/>
                      </m:rPr>
                      <a:rPr lang="tr-TR" sz="1530" kern="1200">
                        <a:solidFill>
                          <a:schemeClr val="tx1"/>
                        </a:solidFill>
                        <a:latin typeface="Cambria Math" panose="02040503050406030204" pitchFamily="18" charset="0"/>
                        <a:ea typeface="+mn-ea"/>
                        <a:cs typeface="+mn-cs"/>
                      </a:rPr>
                      <m:t>w</m:t>
                    </m:r>
                    <m:r>
                      <a:rPr lang="tr-TR" sz="1530" kern="1200">
                        <a:solidFill>
                          <a:schemeClr val="tx1"/>
                        </a:solidFill>
                        <a:latin typeface="Cambria Math" panose="02040503050406030204" pitchFamily="18" charset="0"/>
                        <a:ea typeface="+mn-ea"/>
                        <a:cs typeface="+mn-cs"/>
                      </a:rPr>
                      <m:t>=</m:t>
                    </m:r>
                    <m:r>
                      <m:rPr>
                        <m:sty m:val="p"/>
                      </m:rPr>
                      <a:rPr lang="tr-TR" sz="1530" kern="1200">
                        <a:solidFill>
                          <a:schemeClr val="tx1"/>
                        </a:solidFill>
                        <a:latin typeface="Cambria Math" panose="02040503050406030204" pitchFamily="18" charset="0"/>
                        <a:ea typeface="+mn-ea"/>
                        <a:cs typeface="+mn-cs"/>
                      </a:rPr>
                      <m:t>w</m:t>
                    </m:r>
                    <m:r>
                      <a:rPr lang="tr-TR" sz="1530" kern="1200">
                        <a:solidFill>
                          <a:schemeClr val="tx1"/>
                        </a:solidFill>
                        <a:latin typeface="Cambria Math" panose="02040503050406030204" pitchFamily="18" charset="0"/>
                        <a:ea typeface="+mn-ea"/>
                        <a:cs typeface="+mn-cs"/>
                      </a:rPr>
                      <m:t>−∝</m:t>
                    </m:r>
                    <m:f>
                      <m:fPr>
                        <m:ctrlPr>
                          <a:rPr lang="tr-TR" sz="1530" i="1" kern="1200">
                            <a:solidFill>
                              <a:schemeClr val="tx1"/>
                            </a:solidFill>
                            <a:latin typeface="Cambria Math" panose="02040503050406030204" pitchFamily="18" charset="0"/>
                            <a:ea typeface="Cambria Math" panose="02040503050406030204" pitchFamily="18" charset="0"/>
                            <a:cs typeface="+mn-cs"/>
                          </a:rPr>
                        </m:ctrlPr>
                      </m:fPr>
                      <m:num>
                        <m:r>
                          <a:rPr lang="tr-TR" sz="1530" i="1" kern="1200">
                            <a:solidFill>
                              <a:schemeClr val="tx1"/>
                            </a:solidFill>
                            <a:latin typeface="Cambria Math" panose="02040503050406030204" pitchFamily="18" charset="0"/>
                            <a:ea typeface="Cambria Math" panose="02040503050406030204" pitchFamily="18" charset="0"/>
                            <a:cs typeface="+mn-cs"/>
                          </a:rPr>
                          <m:t>𝜕</m:t>
                        </m:r>
                      </m:num>
                      <m:den>
                        <m:r>
                          <a:rPr lang="tr-TR" sz="1530" i="1" kern="1200">
                            <a:solidFill>
                              <a:schemeClr val="tx1"/>
                            </a:solidFill>
                            <a:latin typeface="Cambria Math" panose="02040503050406030204" pitchFamily="18" charset="0"/>
                            <a:ea typeface="Cambria Math" panose="02040503050406030204" pitchFamily="18" charset="0"/>
                            <a:cs typeface="+mn-cs"/>
                          </a:rPr>
                          <m:t>𝜕</m:t>
                        </m:r>
                        <m:r>
                          <a:rPr lang="tr-TR" sz="1530" i="1" kern="1200">
                            <a:solidFill>
                              <a:schemeClr val="tx1"/>
                            </a:solidFill>
                            <a:latin typeface="Cambria Math" panose="02040503050406030204" pitchFamily="18" charset="0"/>
                            <a:ea typeface="Cambria Math" panose="02040503050406030204" pitchFamily="18" charset="0"/>
                            <a:cs typeface="+mn-cs"/>
                          </a:rPr>
                          <m:t>𝑤</m:t>
                        </m:r>
                      </m:den>
                    </m:f>
                  </m:oMath>
                </a14:m>
                <a:r>
                  <a:rPr lang="tr-TR" sz="1530" kern="1200">
                    <a:solidFill>
                      <a:schemeClr val="tx1"/>
                    </a:solidFill>
                    <a:latin typeface="+mn-lt"/>
                    <a:ea typeface="+mn-ea"/>
                    <a:cs typeface="+mn-cs"/>
                  </a:rPr>
                  <a:t> </a:t>
                </a:r>
                <a14:m>
                  <m:oMath xmlns:m="http://schemas.openxmlformats.org/officeDocument/2006/math">
                    <m:r>
                      <a:rPr lang="tr-TR" sz="1530" i="1" kern="1200">
                        <a:solidFill>
                          <a:schemeClr val="tx1"/>
                        </a:solidFill>
                        <a:latin typeface="Cambria Math" panose="02040503050406030204" pitchFamily="18" charset="0"/>
                        <a:ea typeface="+mn-ea"/>
                        <a:cs typeface="+mn-cs"/>
                      </a:rPr>
                      <m:t>𝐽</m:t>
                    </m:r>
                    <m:d>
                      <m:dPr>
                        <m:ctrlPr>
                          <a:rPr lang="tr-TR" sz="1530" i="1" kern="1200">
                            <a:solidFill>
                              <a:schemeClr val="tx1"/>
                            </a:solidFill>
                            <a:latin typeface="Cambria Math" panose="02040503050406030204" pitchFamily="18" charset="0"/>
                            <a:ea typeface="+mn-ea"/>
                            <a:cs typeface="+mn-cs"/>
                          </a:rPr>
                        </m:ctrlPr>
                      </m:dPr>
                      <m:e>
                        <m:bar>
                          <m:barPr>
                            <m:pos m:val="top"/>
                            <m:ctrlPr>
                              <a:rPr lang="tr-TR" sz="1530" i="1" kern="1200">
                                <a:solidFill>
                                  <a:schemeClr val="tx1"/>
                                </a:solidFill>
                                <a:latin typeface="Cambria Math" panose="02040503050406030204" pitchFamily="18" charset="0"/>
                                <a:ea typeface="+mn-ea"/>
                                <a:cs typeface="+mn-cs"/>
                              </a:rPr>
                            </m:ctrlPr>
                          </m:barPr>
                          <m:e>
                            <m:r>
                              <a:rPr lang="tr-TR" sz="1530" i="1" kern="1200">
                                <a:solidFill>
                                  <a:schemeClr val="tx1"/>
                                </a:solidFill>
                                <a:latin typeface="Cambria Math" panose="02040503050406030204" pitchFamily="18" charset="0"/>
                                <a:ea typeface="+mn-ea"/>
                                <a:cs typeface="+mn-cs"/>
                              </a:rPr>
                              <m:t>𝑤</m:t>
                            </m:r>
                          </m:e>
                        </m:bar>
                        <m:r>
                          <a:rPr lang="tr-TR" sz="1530" i="1" kern="1200">
                            <a:solidFill>
                              <a:schemeClr val="tx1"/>
                            </a:solidFill>
                            <a:latin typeface="Cambria Math" panose="02040503050406030204" pitchFamily="18" charset="0"/>
                            <a:ea typeface="+mn-ea"/>
                            <a:cs typeface="+mn-cs"/>
                          </a:rPr>
                          <m:t>,</m:t>
                        </m:r>
                        <m:r>
                          <a:rPr lang="tr-TR" sz="1530" i="1" kern="1200">
                            <a:solidFill>
                              <a:schemeClr val="tx1"/>
                            </a:solidFill>
                            <a:latin typeface="Cambria Math" panose="02040503050406030204" pitchFamily="18" charset="0"/>
                            <a:ea typeface="+mn-ea"/>
                            <a:cs typeface="+mn-cs"/>
                          </a:rPr>
                          <m:t>𝑏</m:t>
                        </m:r>
                      </m:e>
                    </m:d>
                  </m:oMath>
                </a14:m>
                <a:endParaRPr lang="tr-TR" sz="1530" kern="1200">
                  <a:solidFill>
                    <a:schemeClr val="tx1"/>
                  </a:solidFill>
                  <a:latin typeface="+mn-lt"/>
                  <a:ea typeface="+mn-ea"/>
                  <a:cs typeface="+mn-cs"/>
                </a:endParaRPr>
              </a:p>
              <a:p>
                <a:pPr defTabSz="777240">
                  <a:spcAft>
                    <a:spcPts val="600"/>
                  </a:spcAft>
                </a:pPr>
                <a14:m>
                  <m:oMath xmlns:m="http://schemas.openxmlformats.org/officeDocument/2006/math">
                    <m:r>
                      <m:rPr>
                        <m:sty m:val="p"/>
                      </m:rPr>
                      <a:rPr lang="tr-TR" sz="1530" kern="1200">
                        <a:solidFill>
                          <a:schemeClr val="tx1"/>
                        </a:solidFill>
                        <a:latin typeface="Cambria Math" panose="02040503050406030204" pitchFamily="18" charset="0"/>
                        <a:ea typeface="+mn-ea"/>
                        <a:cs typeface="+mn-cs"/>
                      </a:rPr>
                      <m:t>temp</m:t>
                    </m:r>
                    <m:r>
                      <a:rPr lang="tr-TR" sz="1530" kern="1200">
                        <a:solidFill>
                          <a:schemeClr val="tx1"/>
                        </a:solidFill>
                        <a:latin typeface="Cambria Math" panose="02040503050406030204" pitchFamily="18" charset="0"/>
                        <a:ea typeface="+mn-ea"/>
                        <a:cs typeface="+mn-cs"/>
                      </a:rPr>
                      <m:t>_</m:t>
                    </m:r>
                    <m:r>
                      <m:rPr>
                        <m:sty m:val="p"/>
                      </m:rPr>
                      <a:rPr lang="tr-TR" sz="1530" kern="1200">
                        <a:solidFill>
                          <a:schemeClr val="tx1"/>
                        </a:solidFill>
                        <a:latin typeface="Cambria Math" panose="02040503050406030204" pitchFamily="18" charset="0"/>
                        <a:ea typeface="+mn-ea"/>
                        <a:cs typeface="+mn-cs"/>
                      </a:rPr>
                      <m:t>b</m:t>
                    </m:r>
                    <m:r>
                      <a:rPr lang="tr-TR" sz="1530" kern="1200">
                        <a:solidFill>
                          <a:schemeClr val="tx1"/>
                        </a:solidFill>
                        <a:latin typeface="Cambria Math" panose="02040503050406030204" pitchFamily="18" charset="0"/>
                        <a:ea typeface="+mn-ea"/>
                        <a:cs typeface="+mn-cs"/>
                      </a:rPr>
                      <m:t>=</m:t>
                    </m:r>
                    <m:r>
                      <m:rPr>
                        <m:sty m:val="p"/>
                      </m:rPr>
                      <a:rPr lang="tr-TR" sz="1530" kern="1200">
                        <a:solidFill>
                          <a:schemeClr val="tx1"/>
                        </a:solidFill>
                        <a:latin typeface="Cambria Math" panose="02040503050406030204" pitchFamily="18" charset="0"/>
                        <a:ea typeface="+mn-ea"/>
                        <a:cs typeface="+mn-cs"/>
                      </a:rPr>
                      <m:t>b</m:t>
                    </m:r>
                    <m:r>
                      <a:rPr lang="tr-TR" sz="1530" kern="1200">
                        <a:solidFill>
                          <a:schemeClr val="tx1"/>
                        </a:solidFill>
                        <a:latin typeface="Cambria Math" panose="02040503050406030204" pitchFamily="18" charset="0"/>
                        <a:ea typeface="+mn-ea"/>
                        <a:cs typeface="+mn-cs"/>
                      </a:rPr>
                      <m:t>−∝</m:t>
                    </m:r>
                    <m:f>
                      <m:fPr>
                        <m:ctrlPr>
                          <a:rPr lang="tr-TR" sz="1530" i="1" kern="1200">
                            <a:solidFill>
                              <a:schemeClr val="tx1"/>
                            </a:solidFill>
                            <a:latin typeface="Cambria Math" panose="02040503050406030204" pitchFamily="18" charset="0"/>
                            <a:ea typeface="Cambria Math" panose="02040503050406030204" pitchFamily="18" charset="0"/>
                            <a:cs typeface="+mn-cs"/>
                          </a:rPr>
                        </m:ctrlPr>
                      </m:fPr>
                      <m:num>
                        <m:r>
                          <a:rPr lang="tr-TR" sz="1530" i="1" kern="1200">
                            <a:solidFill>
                              <a:schemeClr val="tx1"/>
                            </a:solidFill>
                            <a:latin typeface="Cambria Math" panose="02040503050406030204" pitchFamily="18" charset="0"/>
                            <a:ea typeface="Cambria Math" panose="02040503050406030204" pitchFamily="18" charset="0"/>
                            <a:cs typeface="+mn-cs"/>
                          </a:rPr>
                          <m:t>𝜕</m:t>
                        </m:r>
                      </m:num>
                      <m:den>
                        <m:r>
                          <a:rPr lang="tr-TR" sz="1530" i="1" kern="1200">
                            <a:solidFill>
                              <a:schemeClr val="tx1"/>
                            </a:solidFill>
                            <a:latin typeface="Cambria Math" panose="02040503050406030204" pitchFamily="18" charset="0"/>
                            <a:ea typeface="Cambria Math" panose="02040503050406030204" pitchFamily="18" charset="0"/>
                            <a:cs typeface="+mn-cs"/>
                          </a:rPr>
                          <m:t>𝜕</m:t>
                        </m:r>
                        <m:r>
                          <a:rPr lang="tr-TR" sz="1530" i="1" kern="1200">
                            <a:solidFill>
                              <a:schemeClr val="tx1"/>
                            </a:solidFill>
                            <a:latin typeface="Cambria Math" panose="02040503050406030204" pitchFamily="18" charset="0"/>
                            <a:ea typeface="Cambria Math" panose="02040503050406030204" pitchFamily="18" charset="0"/>
                            <a:cs typeface="+mn-cs"/>
                          </a:rPr>
                          <m:t>𝑏</m:t>
                        </m:r>
                      </m:den>
                    </m:f>
                  </m:oMath>
                </a14:m>
                <a:r>
                  <a:rPr lang="tr-TR" sz="1530" kern="1200">
                    <a:solidFill>
                      <a:schemeClr val="tx1"/>
                    </a:solidFill>
                    <a:latin typeface="+mn-lt"/>
                    <a:ea typeface="+mn-ea"/>
                    <a:cs typeface="+mn-cs"/>
                  </a:rPr>
                  <a:t> </a:t>
                </a:r>
                <a14:m>
                  <m:oMath xmlns:m="http://schemas.openxmlformats.org/officeDocument/2006/math">
                    <m:r>
                      <a:rPr lang="tr-TR" sz="1530" i="1" kern="1200">
                        <a:solidFill>
                          <a:schemeClr val="tx1"/>
                        </a:solidFill>
                        <a:latin typeface="Cambria Math" panose="02040503050406030204" pitchFamily="18" charset="0"/>
                        <a:ea typeface="+mn-ea"/>
                        <a:cs typeface="+mn-cs"/>
                      </a:rPr>
                      <m:t>𝐽</m:t>
                    </m:r>
                    <m:d>
                      <m:dPr>
                        <m:ctrlPr>
                          <a:rPr lang="tr-TR" sz="1530" i="1" kern="1200">
                            <a:solidFill>
                              <a:schemeClr val="tx1"/>
                            </a:solidFill>
                            <a:latin typeface="Cambria Math" panose="02040503050406030204" pitchFamily="18" charset="0"/>
                            <a:ea typeface="+mn-ea"/>
                            <a:cs typeface="+mn-cs"/>
                          </a:rPr>
                        </m:ctrlPr>
                      </m:dPr>
                      <m:e>
                        <m:bar>
                          <m:barPr>
                            <m:pos m:val="top"/>
                            <m:ctrlPr>
                              <a:rPr lang="tr-TR" sz="1530" i="1" kern="1200">
                                <a:solidFill>
                                  <a:schemeClr val="tx1"/>
                                </a:solidFill>
                                <a:latin typeface="Cambria Math" panose="02040503050406030204" pitchFamily="18" charset="0"/>
                                <a:ea typeface="+mn-ea"/>
                                <a:cs typeface="+mn-cs"/>
                              </a:rPr>
                            </m:ctrlPr>
                          </m:barPr>
                          <m:e>
                            <m:r>
                              <a:rPr lang="tr-TR" sz="1530" i="1" kern="1200">
                                <a:solidFill>
                                  <a:schemeClr val="tx1"/>
                                </a:solidFill>
                                <a:latin typeface="Cambria Math" panose="02040503050406030204" pitchFamily="18" charset="0"/>
                                <a:ea typeface="+mn-ea"/>
                                <a:cs typeface="+mn-cs"/>
                              </a:rPr>
                              <m:t>𝑤</m:t>
                            </m:r>
                          </m:e>
                        </m:bar>
                        <m:r>
                          <a:rPr lang="tr-TR" sz="1530" i="1" kern="1200">
                            <a:solidFill>
                              <a:schemeClr val="tx1"/>
                            </a:solidFill>
                            <a:latin typeface="Cambria Math" panose="02040503050406030204" pitchFamily="18" charset="0"/>
                            <a:ea typeface="+mn-ea"/>
                            <a:cs typeface="+mn-cs"/>
                          </a:rPr>
                          <m:t>,</m:t>
                        </m:r>
                        <m:r>
                          <a:rPr lang="tr-TR" sz="1530" i="1" kern="1200">
                            <a:solidFill>
                              <a:schemeClr val="tx1"/>
                            </a:solidFill>
                            <a:latin typeface="Cambria Math" panose="02040503050406030204" pitchFamily="18" charset="0"/>
                            <a:ea typeface="+mn-ea"/>
                            <a:cs typeface="+mn-cs"/>
                          </a:rPr>
                          <m:t>𝑏</m:t>
                        </m:r>
                      </m:e>
                    </m:d>
                  </m:oMath>
                </a14:m>
                <a:endParaRPr lang="tr-TR" sz="1530" i="1" kern="1200">
                  <a:solidFill>
                    <a:schemeClr val="tx1"/>
                  </a:solidFill>
                  <a:latin typeface="Cambria Math" panose="02040503050406030204" pitchFamily="18" charset="0"/>
                  <a:ea typeface="+mn-ea"/>
                  <a:cs typeface="+mn-cs"/>
                </a:endParaRPr>
              </a:p>
              <a:p>
                <a:pPr defTabSz="777240">
                  <a:spcAft>
                    <a:spcPts val="600"/>
                  </a:spcAft>
                </a:pPr>
                <a14:m>
                  <m:oMathPara xmlns:m="http://schemas.openxmlformats.org/officeDocument/2006/math">
                    <m:oMathParaPr>
                      <m:jc m:val="left"/>
                    </m:oMathParaPr>
                    <m:oMath>
                      <m:r>
                        <m:rPr>
                          <m:sty m:val="p"/>
                        </m:rPr>
                        <a:rPr lang="tr-TR" sz="1530" kern="1200">
                          <a:solidFill>
                            <a:schemeClr val="tx1"/>
                          </a:solidFill>
                          <a:latin typeface="Cambria Math" panose="02040503050406030204" pitchFamily="18" charset="0"/>
                          <a:ea typeface="+mn-ea"/>
                          <a:cs typeface="+mn-cs"/>
                        </a:rPr>
                        <m:t>w</m:t>
                      </m:r>
                      <m:r>
                        <a:rPr lang="tr-TR" sz="1530" kern="1200">
                          <a:solidFill>
                            <a:schemeClr val="tx1"/>
                          </a:solidFill>
                          <a:latin typeface="Cambria Math" panose="02040503050406030204" pitchFamily="18" charset="0"/>
                          <a:ea typeface="+mn-ea"/>
                          <a:cs typeface="+mn-cs"/>
                        </a:rPr>
                        <m:t>=</m:t>
                      </m:r>
                      <m:r>
                        <m:rPr>
                          <m:sty m:val="p"/>
                        </m:rPr>
                        <a:rPr lang="tr-TR" sz="1530" kern="1200">
                          <a:solidFill>
                            <a:schemeClr val="tx1"/>
                          </a:solidFill>
                          <a:latin typeface="Cambria Math" panose="02040503050406030204" pitchFamily="18" charset="0"/>
                          <a:ea typeface="+mn-ea"/>
                          <a:cs typeface="+mn-cs"/>
                        </a:rPr>
                        <m:t>temp</m:t>
                      </m:r>
                      <m:r>
                        <a:rPr lang="tr-TR" sz="1530" kern="1200">
                          <a:solidFill>
                            <a:schemeClr val="tx1"/>
                          </a:solidFill>
                          <a:latin typeface="Cambria Math" panose="02040503050406030204" pitchFamily="18" charset="0"/>
                          <a:ea typeface="+mn-ea"/>
                          <a:cs typeface="+mn-cs"/>
                        </a:rPr>
                        <m:t>_</m:t>
                      </m:r>
                      <m:r>
                        <m:rPr>
                          <m:sty m:val="p"/>
                        </m:rPr>
                        <a:rPr lang="tr-TR" sz="1530" kern="1200">
                          <a:solidFill>
                            <a:schemeClr val="tx1"/>
                          </a:solidFill>
                          <a:latin typeface="Cambria Math" panose="02040503050406030204" pitchFamily="18" charset="0"/>
                          <a:ea typeface="+mn-ea"/>
                          <a:cs typeface="+mn-cs"/>
                        </a:rPr>
                        <m:t>w</m:t>
                      </m:r>
                    </m:oMath>
                  </m:oMathPara>
                </a14:m>
                <a:endParaRPr lang="tr-TR" sz="1530" kern="1200">
                  <a:solidFill>
                    <a:schemeClr val="tx1"/>
                  </a:solidFill>
                  <a:latin typeface="+mn-lt"/>
                  <a:ea typeface="+mn-ea"/>
                  <a:cs typeface="+mn-cs"/>
                </a:endParaRPr>
              </a:p>
              <a:p>
                <a:pPr defTabSz="777240">
                  <a:spcAft>
                    <a:spcPts val="600"/>
                  </a:spcAft>
                </a:pPr>
                <a14:m>
                  <m:oMathPara xmlns:m="http://schemas.openxmlformats.org/officeDocument/2006/math">
                    <m:oMathParaPr>
                      <m:jc m:val="left"/>
                    </m:oMathParaPr>
                    <m:oMath>
                      <m:r>
                        <m:rPr>
                          <m:sty m:val="p"/>
                        </m:rPr>
                        <a:rPr lang="tr-TR" sz="1530" kern="1200">
                          <a:solidFill>
                            <a:schemeClr val="tx1"/>
                          </a:solidFill>
                          <a:latin typeface="Cambria Math" panose="02040503050406030204" pitchFamily="18" charset="0"/>
                          <a:ea typeface="+mn-ea"/>
                          <a:cs typeface="+mn-cs"/>
                        </a:rPr>
                        <m:t>b</m:t>
                      </m:r>
                      <m:r>
                        <a:rPr lang="tr-TR" sz="1530" kern="1200">
                          <a:solidFill>
                            <a:schemeClr val="tx1"/>
                          </a:solidFill>
                          <a:latin typeface="Cambria Math" panose="02040503050406030204" pitchFamily="18" charset="0"/>
                          <a:ea typeface="+mn-ea"/>
                          <a:cs typeface="+mn-cs"/>
                        </a:rPr>
                        <m:t>=</m:t>
                      </m:r>
                      <m:r>
                        <m:rPr>
                          <m:sty m:val="p"/>
                        </m:rPr>
                        <a:rPr lang="tr-TR" sz="1530" kern="1200">
                          <a:solidFill>
                            <a:schemeClr val="tx1"/>
                          </a:solidFill>
                          <a:latin typeface="Cambria Math" panose="02040503050406030204" pitchFamily="18" charset="0"/>
                          <a:ea typeface="+mn-ea"/>
                          <a:cs typeface="+mn-cs"/>
                        </a:rPr>
                        <m:t>temp</m:t>
                      </m:r>
                      <m:r>
                        <a:rPr lang="tr-TR" sz="1530" kern="1200">
                          <a:solidFill>
                            <a:schemeClr val="tx1"/>
                          </a:solidFill>
                          <a:latin typeface="Cambria Math" panose="02040503050406030204" pitchFamily="18" charset="0"/>
                          <a:ea typeface="+mn-ea"/>
                          <a:cs typeface="+mn-cs"/>
                        </a:rPr>
                        <m:t>_</m:t>
                      </m:r>
                      <m:r>
                        <m:rPr>
                          <m:sty m:val="p"/>
                        </m:rPr>
                        <a:rPr lang="tr-TR" sz="1530" kern="1200">
                          <a:solidFill>
                            <a:schemeClr val="tx1"/>
                          </a:solidFill>
                          <a:latin typeface="Cambria Math" panose="02040503050406030204" pitchFamily="18" charset="0"/>
                          <a:ea typeface="+mn-ea"/>
                          <a:cs typeface="+mn-cs"/>
                        </a:rPr>
                        <m:t>b</m:t>
                      </m:r>
                    </m:oMath>
                  </m:oMathPara>
                </a14:m>
                <a:endParaRPr lang="en-US"/>
              </a:p>
            </p:txBody>
          </p:sp>
        </mc:Choice>
        <mc:Fallback xmlns="">
          <p:sp>
            <p:nvSpPr>
              <p:cNvPr id="22" name="TextBox 21">
                <a:extLst>
                  <a:ext uri="{FF2B5EF4-FFF2-40B4-BE49-F238E27FC236}">
                    <a16:creationId xmlns:a16="http://schemas.microsoft.com/office/drawing/2014/main" id="{BC8A7130-5997-4B32-CDE9-EAFE841ECC98}"/>
                  </a:ext>
                </a:extLst>
              </p:cNvPr>
              <p:cNvSpPr txBox="1">
                <a:spLocks noRot="1" noChangeAspect="1" noMove="1" noResize="1" noEditPoints="1" noAdjustHandles="1" noChangeArrowheads="1" noChangeShapeType="1" noTextEdit="1"/>
              </p:cNvSpPr>
              <p:nvPr/>
            </p:nvSpPr>
            <p:spPr>
              <a:xfrm>
                <a:off x="3229041" y="4137785"/>
                <a:ext cx="2573492" cy="1563377"/>
              </a:xfrm>
              <a:prstGeom prst="rect">
                <a:avLst/>
              </a:prstGeom>
              <a:blipFill>
                <a:blip r:embed="rId5"/>
                <a:stretch>
                  <a:fillRect/>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23" name="TextBox 22">
                <a:extLst>
                  <a:ext uri="{FF2B5EF4-FFF2-40B4-BE49-F238E27FC236}">
                    <a16:creationId xmlns:a16="http://schemas.microsoft.com/office/drawing/2014/main" id="{57B49E9F-6F2A-FCB4-02C8-3B02D8D75B61}"/>
                  </a:ext>
                </a:extLst>
              </p:cNvPr>
              <p:cNvSpPr txBox="1"/>
              <p:nvPr/>
            </p:nvSpPr>
            <p:spPr>
              <a:xfrm>
                <a:off x="6839346" y="4083282"/>
                <a:ext cx="2573492" cy="1563377"/>
              </a:xfrm>
              <a:prstGeom prst="rect">
                <a:avLst/>
              </a:prstGeom>
              <a:noFill/>
            </p:spPr>
            <p:txBody>
              <a:bodyPr wrap="square">
                <a:spAutoFit/>
              </a:bodyPr>
              <a:lstStyle/>
              <a:p>
                <a:pPr defTabSz="777240">
                  <a:spcAft>
                    <a:spcPts val="600"/>
                  </a:spcAft>
                </a:pPr>
                <a14:m>
                  <m:oMath xmlns:m="http://schemas.openxmlformats.org/officeDocument/2006/math">
                    <m:r>
                      <m:rPr>
                        <m:sty m:val="p"/>
                      </m:rPr>
                      <a:rPr lang="tr-TR" sz="1530" kern="1200">
                        <a:solidFill>
                          <a:schemeClr val="tx1"/>
                        </a:solidFill>
                        <a:latin typeface="Cambria Math" panose="02040503050406030204" pitchFamily="18" charset="0"/>
                        <a:ea typeface="+mn-ea"/>
                        <a:cs typeface="+mn-cs"/>
                      </a:rPr>
                      <m:t>temp</m:t>
                    </m:r>
                    <m:r>
                      <a:rPr lang="tr-TR" sz="1530" kern="1200">
                        <a:solidFill>
                          <a:schemeClr val="tx1"/>
                        </a:solidFill>
                        <a:latin typeface="Cambria Math" panose="02040503050406030204" pitchFamily="18" charset="0"/>
                        <a:ea typeface="+mn-ea"/>
                        <a:cs typeface="+mn-cs"/>
                      </a:rPr>
                      <m:t>_</m:t>
                    </m:r>
                    <m:r>
                      <m:rPr>
                        <m:sty m:val="p"/>
                      </m:rPr>
                      <a:rPr lang="tr-TR" sz="1530" kern="1200">
                        <a:solidFill>
                          <a:schemeClr val="tx1"/>
                        </a:solidFill>
                        <a:latin typeface="Cambria Math" panose="02040503050406030204" pitchFamily="18" charset="0"/>
                        <a:ea typeface="+mn-ea"/>
                        <a:cs typeface="+mn-cs"/>
                      </a:rPr>
                      <m:t>w</m:t>
                    </m:r>
                    <m:r>
                      <a:rPr lang="tr-TR" sz="1530" kern="1200">
                        <a:solidFill>
                          <a:schemeClr val="tx1"/>
                        </a:solidFill>
                        <a:latin typeface="Cambria Math" panose="02040503050406030204" pitchFamily="18" charset="0"/>
                        <a:ea typeface="+mn-ea"/>
                        <a:cs typeface="+mn-cs"/>
                      </a:rPr>
                      <m:t>=</m:t>
                    </m:r>
                    <m:r>
                      <m:rPr>
                        <m:sty m:val="p"/>
                      </m:rPr>
                      <a:rPr lang="tr-TR" sz="1530" kern="1200">
                        <a:solidFill>
                          <a:schemeClr val="tx1"/>
                        </a:solidFill>
                        <a:latin typeface="Cambria Math" panose="02040503050406030204" pitchFamily="18" charset="0"/>
                        <a:ea typeface="+mn-ea"/>
                        <a:cs typeface="+mn-cs"/>
                      </a:rPr>
                      <m:t>w</m:t>
                    </m:r>
                    <m:r>
                      <a:rPr lang="tr-TR" sz="1530" kern="1200">
                        <a:solidFill>
                          <a:schemeClr val="tx1"/>
                        </a:solidFill>
                        <a:latin typeface="Cambria Math" panose="02040503050406030204" pitchFamily="18" charset="0"/>
                        <a:ea typeface="+mn-ea"/>
                        <a:cs typeface="+mn-cs"/>
                      </a:rPr>
                      <m:t>−∝</m:t>
                    </m:r>
                    <m:f>
                      <m:fPr>
                        <m:ctrlPr>
                          <a:rPr lang="tr-TR" sz="1530" i="1" kern="1200">
                            <a:solidFill>
                              <a:schemeClr val="tx1"/>
                            </a:solidFill>
                            <a:latin typeface="Cambria Math" panose="02040503050406030204" pitchFamily="18" charset="0"/>
                            <a:ea typeface="Cambria Math" panose="02040503050406030204" pitchFamily="18" charset="0"/>
                            <a:cs typeface="+mn-cs"/>
                          </a:rPr>
                        </m:ctrlPr>
                      </m:fPr>
                      <m:num>
                        <m:r>
                          <a:rPr lang="tr-TR" sz="1530" i="1" kern="1200">
                            <a:solidFill>
                              <a:schemeClr val="tx1"/>
                            </a:solidFill>
                            <a:latin typeface="Cambria Math" panose="02040503050406030204" pitchFamily="18" charset="0"/>
                            <a:ea typeface="Cambria Math" panose="02040503050406030204" pitchFamily="18" charset="0"/>
                            <a:cs typeface="+mn-cs"/>
                          </a:rPr>
                          <m:t>𝜕</m:t>
                        </m:r>
                      </m:num>
                      <m:den>
                        <m:r>
                          <a:rPr lang="tr-TR" sz="1530" i="1" kern="1200">
                            <a:solidFill>
                              <a:schemeClr val="tx1"/>
                            </a:solidFill>
                            <a:latin typeface="Cambria Math" panose="02040503050406030204" pitchFamily="18" charset="0"/>
                            <a:ea typeface="Cambria Math" panose="02040503050406030204" pitchFamily="18" charset="0"/>
                            <a:cs typeface="+mn-cs"/>
                          </a:rPr>
                          <m:t>𝜕</m:t>
                        </m:r>
                        <m:r>
                          <a:rPr lang="tr-TR" sz="1530" i="1" kern="1200">
                            <a:solidFill>
                              <a:schemeClr val="tx1"/>
                            </a:solidFill>
                            <a:latin typeface="Cambria Math" panose="02040503050406030204" pitchFamily="18" charset="0"/>
                            <a:ea typeface="Cambria Math" panose="02040503050406030204" pitchFamily="18" charset="0"/>
                            <a:cs typeface="+mn-cs"/>
                          </a:rPr>
                          <m:t>𝑤</m:t>
                        </m:r>
                      </m:den>
                    </m:f>
                  </m:oMath>
                </a14:m>
                <a:r>
                  <a:rPr lang="tr-TR" sz="1530" kern="1200">
                    <a:solidFill>
                      <a:schemeClr val="tx1"/>
                    </a:solidFill>
                    <a:latin typeface="+mn-lt"/>
                    <a:ea typeface="+mn-ea"/>
                    <a:cs typeface="+mn-cs"/>
                  </a:rPr>
                  <a:t> </a:t>
                </a:r>
                <a14:m>
                  <m:oMath xmlns:m="http://schemas.openxmlformats.org/officeDocument/2006/math">
                    <m:r>
                      <a:rPr lang="tr-TR" sz="1530" i="1" kern="1200">
                        <a:solidFill>
                          <a:schemeClr val="tx1"/>
                        </a:solidFill>
                        <a:latin typeface="Cambria Math" panose="02040503050406030204" pitchFamily="18" charset="0"/>
                        <a:ea typeface="+mn-ea"/>
                        <a:cs typeface="+mn-cs"/>
                      </a:rPr>
                      <m:t>𝐽</m:t>
                    </m:r>
                    <m:d>
                      <m:dPr>
                        <m:ctrlPr>
                          <a:rPr lang="tr-TR" sz="1530" i="1" kern="1200">
                            <a:solidFill>
                              <a:schemeClr val="tx1"/>
                            </a:solidFill>
                            <a:latin typeface="Cambria Math" panose="02040503050406030204" pitchFamily="18" charset="0"/>
                            <a:ea typeface="+mn-ea"/>
                            <a:cs typeface="+mn-cs"/>
                          </a:rPr>
                        </m:ctrlPr>
                      </m:dPr>
                      <m:e>
                        <m:bar>
                          <m:barPr>
                            <m:pos m:val="top"/>
                            <m:ctrlPr>
                              <a:rPr lang="tr-TR" sz="1530" i="1" kern="1200">
                                <a:solidFill>
                                  <a:schemeClr val="tx1"/>
                                </a:solidFill>
                                <a:latin typeface="Cambria Math" panose="02040503050406030204" pitchFamily="18" charset="0"/>
                                <a:ea typeface="+mn-ea"/>
                                <a:cs typeface="+mn-cs"/>
                              </a:rPr>
                            </m:ctrlPr>
                          </m:barPr>
                          <m:e>
                            <m:r>
                              <a:rPr lang="tr-TR" sz="1530" i="1" kern="1200">
                                <a:solidFill>
                                  <a:schemeClr val="tx1"/>
                                </a:solidFill>
                                <a:latin typeface="Cambria Math" panose="02040503050406030204" pitchFamily="18" charset="0"/>
                                <a:ea typeface="+mn-ea"/>
                                <a:cs typeface="+mn-cs"/>
                              </a:rPr>
                              <m:t>𝑤</m:t>
                            </m:r>
                          </m:e>
                        </m:bar>
                        <m:r>
                          <a:rPr lang="tr-TR" sz="1530" i="1" kern="1200">
                            <a:solidFill>
                              <a:schemeClr val="tx1"/>
                            </a:solidFill>
                            <a:latin typeface="Cambria Math" panose="02040503050406030204" pitchFamily="18" charset="0"/>
                            <a:ea typeface="+mn-ea"/>
                            <a:cs typeface="+mn-cs"/>
                          </a:rPr>
                          <m:t>,</m:t>
                        </m:r>
                        <m:r>
                          <a:rPr lang="tr-TR" sz="1530" i="1" kern="1200">
                            <a:solidFill>
                              <a:schemeClr val="tx1"/>
                            </a:solidFill>
                            <a:latin typeface="Cambria Math" panose="02040503050406030204" pitchFamily="18" charset="0"/>
                            <a:ea typeface="+mn-ea"/>
                            <a:cs typeface="+mn-cs"/>
                          </a:rPr>
                          <m:t>𝑏</m:t>
                        </m:r>
                      </m:e>
                    </m:d>
                  </m:oMath>
                </a14:m>
                <a:endParaRPr lang="tr-TR" sz="1530" kern="1200">
                  <a:solidFill>
                    <a:schemeClr val="tx1"/>
                  </a:solidFill>
                  <a:latin typeface="+mn-lt"/>
                  <a:ea typeface="+mn-ea"/>
                  <a:cs typeface="+mn-cs"/>
                </a:endParaRPr>
              </a:p>
              <a:p>
                <a:pPr defTabSz="777240">
                  <a:spcAft>
                    <a:spcPts val="600"/>
                  </a:spcAft>
                </a:pPr>
                <a14:m>
                  <m:oMathPara xmlns:m="http://schemas.openxmlformats.org/officeDocument/2006/math">
                    <m:oMathParaPr>
                      <m:jc m:val="left"/>
                    </m:oMathParaPr>
                    <m:oMath>
                      <m:r>
                        <m:rPr>
                          <m:sty m:val="p"/>
                        </m:rPr>
                        <a:rPr lang="tr-TR" sz="1530" kern="1200">
                          <a:solidFill>
                            <a:schemeClr val="tx1"/>
                          </a:solidFill>
                          <a:latin typeface="Cambria Math" panose="02040503050406030204" pitchFamily="18" charset="0"/>
                          <a:ea typeface="+mn-ea"/>
                          <a:cs typeface="+mn-cs"/>
                        </a:rPr>
                        <m:t>w</m:t>
                      </m:r>
                      <m:r>
                        <a:rPr lang="tr-TR" sz="1530" kern="1200">
                          <a:solidFill>
                            <a:schemeClr val="tx1"/>
                          </a:solidFill>
                          <a:latin typeface="Cambria Math" panose="02040503050406030204" pitchFamily="18" charset="0"/>
                          <a:ea typeface="+mn-ea"/>
                          <a:cs typeface="+mn-cs"/>
                        </a:rPr>
                        <m:t>=</m:t>
                      </m:r>
                      <m:r>
                        <m:rPr>
                          <m:sty m:val="p"/>
                        </m:rPr>
                        <a:rPr lang="tr-TR" sz="1530" kern="1200">
                          <a:solidFill>
                            <a:schemeClr val="tx1"/>
                          </a:solidFill>
                          <a:latin typeface="Cambria Math" panose="02040503050406030204" pitchFamily="18" charset="0"/>
                          <a:ea typeface="+mn-ea"/>
                          <a:cs typeface="+mn-cs"/>
                        </a:rPr>
                        <m:t>temp</m:t>
                      </m:r>
                      <m:r>
                        <a:rPr lang="tr-TR" sz="1530" kern="1200">
                          <a:solidFill>
                            <a:schemeClr val="tx1"/>
                          </a:solidFill>
                          <a:latin typeface="Cambria Math" panose="02040503050406030204" pitchFamily="18" charset="0"/>
                          <a:ea typeface="+mn-ea"/>
                          <a:cs typeface="+mn-cs"/>
                        </a:rPr>
                        <m:t>_</m:t>
                      </m:r>
                      <m:r>
                        <m:rPr>
                          <m:sty m:val="p"/>
                        </m:rPr>
                        <a:rPr lang="tr-TR" sz="1530" kern="1200">
                          <a:solidFill>
                            <a:schemeClr val="tx1"/>
                          </a:solidFill>
                          <a:latin typeface="Cambria Math" panose="02040503050406030204" pitchFamily="18" charset="0"/>
                          <a:ea typeface="+mn-ea"/>
                          <a:cs typeface="+mn-cs"/>
                        </a:rPr>
                        <m:t>w</m:t>
                      </m:r>
                    </m:oMath>
                  </m:oMathPara>
                </a14:m>
                <a:endParaRPr lang="tr-TR" sz="1530" kern="1200">
                  <a:solidFill>
                    <a:schemeClr val="tx1"/>
                  </a:solidFill>
                  <a:latin typeface="+mn-lt"/>
                  <a:ea typeface="+mn-ea"/>
                  <a:cs typeface="+mn-cs"/>
                </a:endParaRPr>
              </a:p>
              <a:p>
                <a:pPr defTabSz="777240">
                  <a:spcAft>
                    <a:spcPts val="600"/>
                  </a:spcAft>
                </a:pPr>
                <a14:m>
                  <m:oMath xmlns:m="http://schemas.openxmlformats.org/officeDocument/2006/math">
                    <m:r>
                      <m:rPr>
                        <m:sty m:val="p"/>
                      </m:rPr>
                      <a:rPr lang="tr-TR" sz="1530" kern="1200">
                        <a:solidFill>
                          <a:schemeClr val="tx1"/>
                        </a:solidFill>
                        <a:latin typeface="Cambria Math" panose="02040503050406030204" pitchFamily="18" charset="0"/>
                        <a:ea typeface="+mn-ea"/>
                        <a:cs typeface="+mn-cs"/>
                      </a:rPr>
                      <m:t>temp</m:t>
                    </m:r>
                    <m:r>
                      <a:rPr lang="tr-TR" sz="1530" kern="1200">
                        <a:solidFill>
                          <a:schemeClr val="tx1"/>
                        </a:solidFill>
                        <a:latin typeface="Cambria Math" panose="02040503050406030204" pitchFamily="18" charset="0"/>
                        <a:ea typeface="+mn-ea"/>
                        <a:cs typeface="+mn-cs"/>
                      </a:rPr>
                      <m:t>_</m:t>
                    </m:r>
                    <m:r>
                      <m:rPr>
                        <m:sty m:val="p"/>
                      </m:rPr>
                      <a:rPr lang="tr-TR" sz="1530" kern="1200">
                        <a:solidFill>
                          <a:schemeClr val="tx1"/>
                        </a:solidFill>
                        <a:latin typeface="Cambria Math" panose="02040503050406030204" pitchFamily="18" charset="0"/>
                        <a:ea typeface="+mn-ea"/>
                        <a:cs typeface="+mn-cs"/>
                      </a:rPr>
                      <m:t>b</m:t>
                    </m:r>
                    <m:r>
                      <a:rPr lang="tr-TR" sz="1530" kern="1200">
                        <a:solidFill>
                          <a:schemeClr val="tx1"/>
                        </a:solidFill>
                        <a:latin typeface="Cambria Math" panose="02040503050406030204" pitchFamily="18" charset="0"/>
                        <a:ea typeface="+mn-ea"/>
                        <a:cs typeface="+mn-cs"/>
                      </a:rPr>
                      <m:t>=</m:t>
                    </m:r>
                    <m:r>
                      <m:rPr>
                        <m:sty m:val="p"/>
                      </m:rPr>
                      <a:rPr lang="tr-TR" sz="1530" kern="1200">
                        <a:solidFill>
                          <a:schemeClr val="tx1"/>
                        </a:solidFill>
                        <a:latin typeface="Cambria Math" panose="02040503050406030204" pitchFamily="18" charset="0"/>
                        <a:ea typeface="+mn-ea"/>
                        <a:cs typeface="+mn-cs"/>
                      </a:rPr>
                      <m:t>b</m:t>
                    </m:r>
                    <m:r>
                      <a:rPr lang="tr-TR" sz="1530" kern="1200">
                        <a:solidFill>
                          <a:schemeClr val="tx1"/>
                        </a:solidFill>
                        <a:latin typeface="Cambria Math" panose="02040503050406030204" pitchFamily="18" charset="0"/>
                        <a:ea typeface="+mn-ea"/>
                        <a:cs typeface="+mn-cs"/>
                      </a:rPr>
                      <m:t>−∝</m:t>
                    </m:r>
                    <m:f>
                      <m:fPr>
                        <m:ctrlPr>
                          <a:rPr lang="tr-TR" sz="1530" i="1" kern="1200">
                            <a:solidFill>
                              <a:schemeClr val="tx1"/>
                            </a:solidFill>
                            <a:latin typeface="Cambria Math" panose="02040503050406030204" pitchFamily="18" charset="0"/>
                            <a:ea typeface="Cambria Math" panose="02040503050406030204" pitchFamily="18" charset="0"/>
                            <a:cs typeface="+mn-cs"/>
                          </a:rPr>
                        </m:ctrlPr>
                      </m:fPr>
                      <m:num>
                        <m:r>
                          <a:rPr lang="tr-TR" sz="1530" i="1" kern="1200">
                            <a:solidFill>
                              <a:schemeClr val="tx1"/>
                            </a:solidFill>
                            <a:latin typeface="Cambria Math" panose="02040503050406030204" pitchFamily="18" charset="0"/>
                            <a:ea typeface="Cambria Math" panose="02040503050406030204" pitchFamily="18" charset="0"/>
                            <a:cs typeface="+mn-cs"/>
                          </a:rPr>
                          <m:t>𝜕</m:t>
                        </m:r>
                      </m:num>
                      <m:den>
                        <m:r>
                          <a:rPr lang="tr-TR" sz="1530" i="1" kern="1200">
                            <a:solidFill>
                              <a:schemeClr val="tx1"/>
                            </a:solidFill>
                            <a:latin typeface="Cambria Math" panose="02040503050406030204" pitchFamily="18" charset="0"/>
                            <a:ea typeface="Cambria Math" panose="02040503050406030204" pitchFamily="18" charset="0"/>
                            <a:cs typeface="+mn-cs"/>
                          </a:rPr>
                          <m:t>𝜕</m:t>
                        </m:r>
                        <m:r>
                          <a:rPr lang="tr-TR" sz="1530" i="1" kern="1200">
                            <a:solidFill>
                              <a:schemeClr val="tx1"/>
                            </a:solidFill>
                            <a:latin typeface="Cambria Math" panose="02040503050406030204" pitchFamily="18" charset="0"/>
                            <a:ea typeface="Cambria Math" panose="02040503050406030204" pitchFamily="18" charset="0"/>
                            <a:cs typeface="+mn-cs"/>
                          </a:rPr>
                          <m:t>𝑏</m:t>
                        </m:r>
                      </m:den>
                    </m:f>
                  </m:oMath>
                </a14:m>
                <a:r>
                  <a:rPr lang="tr-TR" sz="1530" kern="1200">
                    <a:solidFill>
                      <a:schemeClr val="tx1"/>
                    </a:solidFill>
                    <a:latin typeface="+mn-lt"/>
                    <a:ea typeface="+mn-ea"/>
                    <a:cs typeface="+mn-cs"/>
                  </a:rPr>
                  <a:t> </a:t>
                </a:r>
                <a14:m>
                  <m:oMath xmlns:m="http://schemas.openxmlformats.org/officeDocument/2006/math">
                    <m:r>
                      <a:rPr lang="tr-TR" sz="1530" i="1" kern="1200">
                        <a:solidFill>
                          <a:schemeClr val="tx1"/>
                        </a:solidFill>
                        <a:latin typeface="Cambria Math" panose="02040503050406030204" pitchFamily="18" charset="0"/>
                        <a:ea typeface="+mn-ea"/>
                        <a:cs typeface="+mn-cs"/>
                      </a:rPr>
                      <m:t>𝐽</m:t>
                    </m:r>
                    <m:d>
                      <m:dPr>
                        <m:ctrlPr>
                          <a:rPr lang="tr-TR" sz="1530" i="1" kern="1200">
                            <a:solidFill>
                              <a:schemeClr val="tx1"/>
                            </a:solidFill>
                            <a:latin typeface="Cambria Math" panose="02040503050406030204" pitchFamily="18" charset="0"/>
                            <a:ea typeface="+mn-ea"/>
                            <a:cs typeface="+mn-cs"/>
                          </a:rPr>
                        </m:ctrlPr>
                      </m:dPr>
                      <m:e>
                        <m:bar>
                          <m:barPr>
                            <m:pos m:val="top"/>
                            <m:ctrlPr>
                              <a:rPr lang="tr-TR" sz="1530" i="1" kern="1200">
                                <a:solidFill>
                                  <a:schemeClr val="tx1"/>
                                </a:solidFill>
                                <a:latin typeface="Cambria Math" panose="02040503050406030204" pitchFamily="18" charset="0"/>
                                <a:ea typeface="+mn-ea"/>
                                <a:cs typeface="+mn-cs"/>
                              </a:rPr>
                            </m:ctrlPr>
                          </m:barPr>
                          <m:e>
                            <m:r>
                              <a:rPr lang="tr-TR" sz="1530" i="1" kern="1200">
                                <a:solidFill>
                                  <a:schemeClr val="tx1"/>
                                </a:solidFill>
                                <a:latin typeface="Cambria Math" panose="02040503050406030204" pitchFamily="18" charset="0"/>
                                <a:ea typeface="+mn-ea"/>
                                <a:cs typeface="+mn-cs"/>
                              </a:rPr>
                              <m:t>𝑤</m:t>
                            </m:r>
                          </m:e>
                        </m:bar>
                        <m:r>
                          <a:rPr lang="tr-TR" sz="1530" i="1" kern="1200">
                            <a:solidFill>
                              <a:schemeClr val="tx1"/>
                            </a:solidFill>
                            <a:latin typeface="Cambria Math" panose="02040503050406030204" pitchFamily="18" charset="0"/>
                            <a:ea typeface="+mn-ea"/>
                            <a:cs typeface="+mn-cs"/>
                          </a:rPr>
                          <m:t>,</m:t>
                        </m:r>
                        <m:r>
                          <a:rPr lang="tr-TR" sz="1530" i="1" kern="1200">
                            <a:solidFill>
                              <a:schemeClr val="tx1"/>
                            </a:solidFill>
                            <a:latin typeface="Cambria Math" panose="02040503050406030204" pitchFamily="18" charset="0"/>
                            <a:ea typeface="+mn-ea"/>
                            <a:cs typeface="+mn-cs"/>
                          </a:rPr>
                          <m:t>𝑏</m:t>
                        </m:r>
                      </m:e>
                    </m:d>
                  </m:oMath>
                </a14:m>
                <a:endParaRPr lang="tr-TR" sz="1530" i="1" kern="1200">
                  <a:solidFill>
                    <a:schemeClr val="tx1"/>
                  </a:solidFill>
                  <a:latin typeface="Cambria Math" panose="02040503050406030204" pitchFamily="18" charset="0"/>
                  <a:ea typeface="+mn-ea"/>
                  <a:cs typeface="+mn-cs"/>
                </a:endParaRPr>
              </a:p>
              <a:p>
                <a:pPr defTabSz="777240">
                  <a:spcAft>
                    <a:spcPts val="600"/>
                  </a:spcAft>
                </a:pPr>
                <a14:m>
                  <m:oMathPara xmlns:m="http://schemas.openxmlformats.org/officeDocument/2006/math">
                    <m:oMathParaPr>
                      <m:jc m:val="left"/>
                    </m:oMathParaPr>
                    <m:oMath>
                      <m:r>
                        <m:rPr>
                          <m:sty m:val="p"/>
                        </m:rPr>
                        <a:rPr lang="tr-TR" sz="1530" kern="1200">
                          <a:solidFill>
                            <a:schemeClr val="tx1"/>
                          </a:solidFill>
                          <a:latin typeface="Cambria Math" panose="02040503050406030204" pitchFamily="18" charset="0"/>
                          <a:ea typeface="+mn-ea"/>
                          <a:cs typeface="+mn-cs"/>
                        </a:rPr>
                        <m:t>b</m:t>
                      </m:r>
                      <m:r>
                        <a:rPr lang="tr-TR" sz="1530" kern="1200">
                          <a:solidFill>
                            <a:schemeClr val="tx1"/>
                          </a:solidFill>
                          <a:latin typeface="Cambria Math" panose="02040503050406030204" pitchFamily="18" charset="0"/>
                          <a:ea typeface="+mn-ea"/>
                          <a:cs typeface="+mn-cs"/>
                        </a:rPr>
                        <m:t>=</m:t>
                      </m:r>
                      <m:r>
                        <m:rPr>
                          <m:sty m:val="p"/>
                        </m:rPr>
                        <a:rPr lang="tr-TR" sz="1530" kern="1200">
                          <a:solidFill>
                            <a:schemeClr val="tx1"/>
                          </a:solidFill>
                          <a:latin typeface="Cambria Math" panose="02040503050406030204" pitchFamily="18" charset="0"/>
                          <a:ea typeface="+mn-ea"/>
                          <a:cs typeface="+mn-cs"/>
                        </a:rPr>
                        <m:t>temp</m:t>
                      </m:r>
                      <m:r>
                        <a:rPr lang="tr-TR" sz="1530" kern="1200">
                          <a:solidFill>
                            <a:schemeClr val="tx1"/>
                          </a:solidFill>
                          <a:latin typeface="Cambria Math" panose="02040503050406030204" pitchFamily="18" charset="0"/>
                          <a:ea typeface="+mn-ea"/>
                          <a:cs typeface="+mn-cs"/>
                        </a:rPr>
                        <m:t>_</m:t>
                      </m:r>
                      <m:r>
                        <m:rPr>
                          <m:sty m:val="p"/>
                        </m:rPr>
                        <a:rPr lang="tr-TR" sz="1530" kern="1200">
                          <a:solidFill>
                            <a:schemeClr val="tx1"/>
                          </a:solidFill>
                          <a:latin typeface="Cambria Math" panose="02040503050406030204" pitchFamily="18" charset="0"/>
                          <a:ea typeface="+mn-ea"/>
                          <a:cs typeface="+mn-cs"/>
                        </a:rPr>
                        <m:t>b</m:t>
                      </m:r>
                    </m:oMath>
                  </m:oMathPara>
                </a14:m>
                <a:endParaRPr lang="en-US"/>
              </a:p>
            </p:txBody>
          </p:sp>
        </mc:Choice>
        <mc:Fallback xmlns="">
          <p:sp>
            <p:nvSpPr>
              <p:cNvPr id="23" name="TextBox 22">
                <a:extLst>
                  <a:ext uri="{FF2B5EF4-FFF2-40B4-BE49-F238E27FC236}">
                    <a16:creationId xmlns:a16="http://schemas.microsoft.com/office/drawing/2014/main" id="{57B49E9F-6F2A-FCB4-02C8-3B02D8D75B61}"/>
                  </a:ext>
                </a:extLst>
              </p:cNvPr>
              <p:cNvSpPr txBox="1">
                <a:spLocks noRot="1" noChangeAspect="1" noMove="1" noResize="1" noEditPoints="1" noAdjustHandles="1" noChangeArrowheads="1" noChangeShapeType="1" noTextEdit="1"/>
              </p:cNvSpPr>
              <p:nvPr/>
            </p:nvSpPr>
            <p:spPr>
              <a:xfrm>
                <a:off x="6839346" y="4083282"/>
                <a:ext cx="2573492" cy="1563377"/>
              </a:xfrm>
              <a:prstGeom prst="rect">
                <a:avLst/>
              </a:prstGeom>
              <a:blipFill>
                <a:blip r:embed="rId6"/>
                <a:stretch>
                  <a:fillRect/>
                </a:stretch>
              </a:blipFill>
            </p:spPr>
            <p:txBody>
              <a:bodyPr/>
              <a:lstStyle/>
              <a:p>
                <a:r>
                  <a:rPr lang="en-US">
                    <a:noFill/>
                  </a:rPr>
                  <a:t> </a:t>
                </a:r>
              </a:p>
            </p:txBody>
          </p:sp>
        </mc:Fallback>
      </mc:AlternateContent>
      <p:cxnSp>
        <p:nvCxnSpPr>
          <p:cNvPr id="24" name="Straight Arrow Connector 23">
            <a:extLst>
              <a:ext uri="{FF2B5EF4-FFF2-40B4-BE49-F238E27FC236}">
                <a16:creationId xmlns:a16="http://schemas.microsoft.com/office/drawing/2014/main" id="{15A044E8-A624-0BD1-17C4-A6F8E313A942}"/>
              </a:ext>
            </a:extLst>
          </p:cNvPr>
          <p:cNvCxnSpPr>
            <a:cxnSpLocks/>
          </p:cNvCxnSpPr>
          <p:nvPr/>
        </p:nvCxnSpPr>
        <p:spPr>
          <a:xfrm>
            <a:off x="6590958" y="3192126"/>
            <a:ext cx="393664" cy="417672"/>
          </a:xfrm>
          <a:prstGeom prst="straightConnector1">
            <a:avLst/>
          </a:prstGeom>
          <a:ln w="38100">
            <a:solidFill>
              <a:schemeClr val="tx1"/>
            </a:solidFill>
            <a:tailEnd type="triangle"/>
          </a:ln>
        </p:spPr>
        <p:style>
          <a:lnRef idx="1">
            <a:schemeClr val="accent1"/>
          </a:lnRef>
          <a:fillRef idx="0">
            <a:schemeClr val="accent1"/>
          </a:fillRef>
          <a:effectRef idx="0">
            <a:schemeClr val="accent1"/>
          </a:effectRef>
          <a:fontRef idx="minor">
            <a:schemeClr val="tx1"/>
          </a:fontRef>
        </p:style>
      </p:cxnSp>
      <p:sp>
        <p:nvSpPr>
          <p:cNvPr id="2" name="Rectangle">
            <a:extLst>
              <a:ext uri="{FF2B5EF4-FFF2-40B4-BE49-F238E27FC236}">
                <a16:creationId xmlns:a16="http://schemas.microsoft.com/office/drawing/2014/main" id="{1E354EB6-C9D7-E275-B814-FDCF4E3CCBB8}"/>
              </a:ext>
            </a:extLst>
          </p:cNvPr>
          <p:cNvSpPr/>
          <p:nvPr/>
        </p:nvSpPr>
        <p:spPr>
          <a:xfrm>
            <a:off x="-11767" y="6545179"/>
            <a:ext cx="12203767" cy="315200"/>
          </a:xfrm>
          <a:prstGeom prst="rect">
            <a:avLst/>
          </a:prstGeom>
          <a:solidFill>
            <a:schemeClr val="tx1"/>
          </a:solidFill>
          <a:ln w="12700">
            <a:noFill/>
            <a:miter lim="400000"/>
          </a:ln>
        </p:spPr>
        <p:txBody>
          <a:bodyPr lIns="45719" rIns="45719" anchor="ctr"/>
          <a:lstStyle/>
          <a:p>
            <a:endParaRPr/>
          </a:p>
        </p:txBody>
      </p:sp>
      <p:pic>
        <p:nvPicPr>
          <p:cNvPr id="3" name="Picture 2" descr="Frontier Tech Leaders (@FTLeadersProg) / X">
            <a:extLst>
              <a:ext uri="{FF2B5EF4-FFF2-40B4-BE49-F238E27FC236}">
                <a16:creationId xmlns:a16="http://schemas.microsoft.com/office/drawing/2014/main" id="{6940966B-8DC8-DA09-6AFD-3CEE3C78098D}"/>
              </a:ext>
            </a:extLst>
          </p:cNvPr>
          <p:cNvPicPr>
            <a:picLocks noChangeAspect="1"/>
          </p:cNvPicPr>
          <p:nvPr/>
        </p:nvPicPr>
        <p:blipFill>
          <a:blip r:embed="rId7"/>
          <a:stretch>
            <a:fillRect/>
          </a:stretch>
        </p:blipFill>
        <p:spPr>
          <a:xfrm>
            <a:off x="10668000" y="94470"/>
            <a:ext cx="1027893" cy="1027893"/>
          </a:xfrm>
          <a:prstGeom prst="rect">
            <a:avLst/>
          </a:prstGeom>
        </p:spPr>
      </p:pic>
    </p:spTree>
    <p:extLst>
      <p:ext uri="{BB962C8B-B14F-4D97-AF65-F5344CB8AC3E}">
        <p14:creationId xmlns:p14="http://schemas.microsoft.com/office/powerpoint/2010/main" val="323057755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8"/>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9"/>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10"/>
                                        </p:tgtEl>
                                        <p:attrNameLst>
                                          <p:attrName>style.visibility</p:attrName>
                                        </p:attrNameLst>
                                      </p:cBhvr>
                                      <p:to>
                                        <p:strVal val="visible"/>
                                      </p:to>
                                    </p:set>
                                  </p:childTnLst>
                                </p:cTn>
                              </p:par>
                              <p:par>
                                <p:cTn id="15" presetID="1" presetClass="entr" presetSubtype="0" fill="hold" grpId="0" nodeType="withEffect">
                                  <p:stCondLst>
                                    <p:cond delay="0"/>
                                  </p:stCondLst>
                                  <p:childTnLst>
                                    <p:set>
                                      <p:cBhvr>
                                        <p:cTn id="16" dur="1" fill="hold">
                                          <p:stCondLst>
                                            <p:cond delay="0"/>
                                          </p:stCondLst>
                                        </p:cTn>
                                        <p:tgtEl>
                                          <p:spTgt spid="12"/>
                                        </p:tgtEl>
                                        <p:attrNameLst>
                                          <p:attrName>style.visibility</p:attrName>
                                        </p:attrNameLst>
                                      </p:cBhvr>
                                      <p:to>
                                        <p:strVal val="visible"/>
                                      </p:to>
                                    </p:set>
                                  </p:childTnLst>
                                </p:cTn>
                              </p:par>
                            </p:childTnLst>
                          </p:cTn>
                        </p:par>
                      </p:childTnLst>
                    </p:cTn>
                  </p:par>
                  <p:par>
                    <p:cTn id="17" fill="hold">
                      <p:stCondLst>
                        <p:cond delay="indefinite"/>
                      </p:stCondLst>
                      <p:childTnLst>
                        <p:par>
                          <p:cTn id="18" fill="hold">
                            <p:stCondLst>
                              <p:cond delay="0"/>
                            </p:stCondLst>
                            <p:childTnLst>
                              <p:par>
                                <p:cTn id="19" presetID="1" presetClass="entr" presetSubtype="0" fill="hold" grpId="0" nodeType="clickEffect">
                                  <p:stCondLst>
                                    <p:cond delay="0"/>
                                  </p:stCondLst>
                                  <p:childTnLst>
                                    <p:set>
                                      <p:cBhvr>
                                        <p:cTn id="20" dur="1" fill="hold">
                                          <p:stCondLst>
                                            <p:cond delay="0"/>
                                          </p:stCondLst>
                                        </p:cTn>
                                        <p:tgtEl>
                                          <p:spTgt spid="11"/>
                                        </p:tgtEl>
                                        <p:attrNameLst>
                                          <p:attrName>style.visibility</p:attrName>
                                        </p:attrNameLst>
                                      </p:cBhvr>
                                      <p:to>
                                        <p:strVal val="visible"/>
                                      </p:to>
                                    </p:set>
                                  </p:childTnLst>
                                </p:cTn>
                              </p:par>
                              <p:par>
                                <p:cTn id="21" presetID="1" presetClass="entr" presetSubtype="0" fill="hold" grpId="0" nodeType="withEffect">
                                  <p:stCondLst>
                                    <p:cond delay="0"/>
                                  </p:stCondLst>
                                  <p:childTnLst>
                                    <p:set>
                                      <p:cBhvr>
                                        <p:cTn id="22" dur="1" fill="hold">
                                          <p:stCondLst>
                                            <p:cond delay="0"/>
                                          </p:stCondLst>
                                        </p:cTn>
                                        <p:tgtEl>
                                          <p:spTgt spid="13"/>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grpId="0" nodeType="clickEffect">
                                  <p:stCondLst>
                                    <p:cond delay="0"/>
                                  </p:stCondLst>
                                  <p:childTnLst>
                                    <p:set>
                                      <p:cBhvr>
                                        <p:cTn id="26" dur="1" fill="hold">
                                          <p:stCondLst>
                                            <p:cond delay="0"/>
                                          </p:stCondLst>
                                        </p:cTn>
                                        <p:tgtEl>
                                          <p:spTgt spid="14"/>
                                        </p:tgtEl>
                                        <p:attrNameLst>
                                          <p:attrName>style.visibility</p:attrName>
                                        </p:attrNameLst>
                                      </p:cBhvr>
                                      <p:to>
                                        <p:strVal val="visible"/>
                                      </p:to>
                                    </p:set>
                                  </p:childTnLst>
                                </p:cTn>
                              </p:par>
                            </p:childTnLst>
                          </p:cTn>
                        </p:par>
                      </p:childTnLst>
                    </p:cTn>
                  </p:par>
                  <p:par>
                    <p:cTn id="27" fill="hold">
                      <p:stCondLst>
                        <p:cond delay="indefinite"/>
                      </p:stCondLst>
                      <p:childTnLst>
                        <p:par>
                          <p:cTn id="28" fill="hold">
                            <p:stCondLst>
                              <p:cond delay="0"/>
                            </p:stCondLst>
                            <p:childTnLst>
                              <p:par>
                                <p:cTn id="29" presetID="1" presetClass="entr" presetSubtype="0" fill="hold" grpId="0" nodeType="clickEffect">
                                  <p:stCondLst>
                                    <p:cond delay="0"/>
                                  </p:stCondLst>
                                  <p:childTnLst>
                                    <p:set>
                                      <p:cBhvr>
                                        <p:cTn id="30" dur="1" fill="hold">
                                          <p:stCondLst>
                                            <p:cond delay="0"/>
                                          </p:stCondLst>
                                        </p:cTn>
                                        <p:tgtEl>
                                          <p:spTgt spid="15"/>
                                        </p:tgtEl>
                                        <p:attrNameLst>
                                          <p:attrName>style.visibility</p:attrName>
                                        </p:attrNameLst>
                                      </p:cBhvr>
                                      <p:to>
                                        <p:strVal val="visible"/>
                                      </p:to>
                                    </p:set>
                                  </p:childTnLst>
                                </p:cTn>
                              </p:par>
                            </p:childTnLst>
                          </p:cTn>
                        </p:par>
                      </p:childTnLst>
                    </p:cTn>
                  </p:par>
                  <p:par>
                    <p:cTn id="31" fill="hold">
                      <p:stCondLst>
                        <p:cond delay="indefinite"/>
                      </p:stCondLst>
                      <p:childTnLst>
                        <p:par>
                          <p:cTn id="32" fill="hold">
                            <p:stCondLst>
                              <p:cond delay="0"/>
                            </p:stCondLst>
                            <p:childTnLst>
                              <p:par>
                                <p:cTn id="33" presetID="1" presetClass="entr" presetSubtype="0" fill="hold" nodeType="clickEffect">
                                  <p:stCondLst>
                                    <p:cond delay="0"/>
                                  </p:stCondLst>
                                  <p:childTnLst>
                                    <p:set>
                                      <p:cBhvr>
                                        <p:cTn id="34" dur="1" fill="hold">
                                          <p:stCondLst>
                                            <p:cond delay="0"/>
                                          </p:stCondLst>
                                        </p:cTn>
                                        <p:tgtEl>
                                          <p:spTgt spid="17"/>
                                        </p:tgtEl>
                                        <p:attrNameLst>
                                          <p:attrName>style.visibility</p:attrName>
                                        </p:attrNameLst>
                                      </p:cBhvr>
                                      <p:to>
                                        <p:strVal val="visible"/>
                                      </p:to>
                                    </p:set>
                                  </p:childTnLst>
                                </p:cTn>
                              </p:par>
                            </p:childTnLst>
                          </p:cTn>
                        </p:par>
                      </p:childTnLst>
                    </p:cTn>
                  </p:par>
                  <p:par>
                    <p:cTn id="35" fill="hold">
                      <p:stCondLst>
                        <p:cond delay="indefinite"/>
                      </p:stCondLst>
                      <p:childTnLst>
                        <p:par>
                          <p:cTn id="36" fill="hold">
                            <p:stCondLst>
                              <p:cond delay="0"/>
                            </p:stCondLst>
                            <p:childTnLst>
                              <p:par>
                                <p:cTn id="37" presetID="1" presetClass="entr" presetSubtype="0" fill="hold" grpId="0" nodeType="clickEffect">
                                  <p:stCondLst>
                                    <p:cond delay="0"/>
                                  </p:stCondLst>
                                  <p:childTnLst>
                                    <p:set>
                                      <p:cBhvr>
                                        <p:cTn id="38" dur="1" fill="hold">
                                          <p:stCondLst>
                                            <p:cond delay="0"/>
                                          </p:stCondLst>
                                        </p:cTn>
                                        <p:tgtEl>
                                          <p:spTgt spid="19"/>
                                        </p:tgtEl>
                                        <p:attrNameLst>
                                          <p:attrName>style.visibility</p:attrName>
                                        </p:attrNameLst>
                                      </p:cBhvr>
                                      <p:to>
                                        <p:strVal val="visible"/>
                                      </p:to>
                                    </p:set>
                                  </p:childTnLst>
                                </p:cTn>
                              </p:par>
                            </p:childTnLst>
                          </p:cTn>
                        </p:par>
                      </p:childTnLst>
                    </p:cTn>
                  </p:par>
                  <p:par>
                    <p:cTn id="39" fill="hold">
                      <p:stCondLst>
                        <p:cond delay="indefinite"/>
                      </p:stCondLst>
                      <p:childTnLst>
                        <p:par>
                          <p:cTn id="40" fill="hold">
                            <p:stCondLst>
                              <p:cond delay="0"/>
                            </p:stCondLst>
                            <p:childTnLst>
                              <p:par>
                                <p:cTn id="41" presetID="1" presetClass="entr" presetSubtype="0" fill="hold" grpId="0" nodeType="clickEffect">
                                  <p:stCondLst>
                                    <p:cond delay="0"/>
                                  </p:stCondLst>
                                  <p:childTnLst>
                                    <p:set>
                                      <p:cBhvr>
                                        <p:cTn id="42" dur="1" fill="hold">
                                          <p:stCondLst>
                                            <p:cond delay="0"/>
                                          </p:stCondLst>
                                        </p:cTn>
                                        <p:tgtEl>
                                          <p:spTgt spid="22"/>
                                        </p:tgtEl>
                                        <p:attrNameLst>
                                          <p:attrName>style.visibility</p:attrName>
                                        </p:attrNameLst>
                                      </p:cBhvr>
                                      <p:to>
                                        <p:strVal val="visible"/>
                                      </p:to>
                                    </p:set>
                                  </p:childTnLst>
                                </p:cTn>
                              </p:par>
                            </p:childTnLst>
                          </p:cTn>
                        </p:par>
                      </p:childTnLst>
                    </p:cTn>
                  </p:par>
                  <p:par>
                    <p:cTn id="43" fill="hold">
                      <p:stCondLst>
                        <p:cond delay="indefinite"/>
                      </p:stCondLst>
                      <p:childTnLst>
                        <p:par>
                          <p:cTn id="44" fill="hold">
                            <p:stCondLst>
                              <p:cond delay="0"/>
                            </p:stCondLst>
                            <p:childTnLst>
                              <p:par>
                                <p:cTn id="45" presetID="1" presetClass="entr" presetSubtype="0" fill="hold" nodeType="clickEffect">
                                  <p:stCondLst>
                                    <p:cond delay="0"/>
                                  </p:stCondLst>
                                  <p:childTnLst>
                                    <p:set>
                                      <p:cBhvr>
                                        <p:cTn id="46" dur="1" fill="hold">
                                          <p:stCondLst>
                                            <p:cond delay="0"/>
                                          </p:stCondLst>
                                        </p:cTn>
                                        <p:tgtEl>
                                          <p:spTgt spid="24"/>
                                        </p:tgtEl>
                                        <p:attrNameLst>
                                          <p:attrName>style.visibility</p:attrName>
                                        </p:attrNameLst>
                                      </p:cBhvr>
                                      <p:to>
                                        <p:strVal val="visible"/>
                                      </p:to>
                                    </p:set>
                                  </p:childTnLst>
                                </p:cTn>
                              </p:par>
                            </p:childTnLst>
                          </p:cTn>
                        </p:par>
                      </p:childTnLst>
                    </p:cTn>
                  </p:par>
                  <p:par>
                    <p:cTn id="47" fill="hold">
                      <p:stCondLst>
                        <p:cond delay="indefinite"/>
                      </p:stCondLst>
                      <p:childTnLst>
                        <p:par>
                          <p:cTn id="48" fill="hold">
                            <p:stCondLst>
                              <p:cond delay="0"/>
                            </p:stCondLst>
                            <p:childTnLst>
                              <p:par>
                                <p:cTn id="49" presetID="1" presetClass="entr" presetSubtype="0" fill="hold" grpId="0" nodeType="clickEffect">
                                  <p:stCondLst>
                                    <p:cond delay="0"/>
                                  </p:stCondLst>
                                  <p:childTnLst>
                                    <p:set>
                                      <p:cBhvr>
                                        <p:cTn id="50" dur="1" fill="hold">
                                          <p:stCondLst>
                                            <p:cond delay="0"/>
                                          </p:stCondLst>
                                        </p:cTn>
                                        <p:tgtEl>
                                          <p:spTgt spid="20"/>
                                        </p:tgtEl>
                                        <p:attrNameLst>
                                          <p:attrName>style.visibility</p:attrName>
                                        </p:attrNameLst>
                                      </p:cBhvr>
                                      <p:to>
                                        <p:strVal val="visible"/>
                                      </p:to>
                                    </p:set>
                                  </p:childTnLst>
                                </p:cTn>
                              </p:par>
                            </p:childTnLst>
                          </p:cTn>
                        </p:par>
                      </p:childTnLst>
                    </p:cTn>
                  </p:par>
                  <p:par>
                    <p:cTn id="51" fill="hold">
                      <p:stCondLst>
                        <p:cond delay="indefinite"/>
                      </p:stCondLst>
                      <p:childTnLst>
                        <p:par>
                          <p:cTn id="52" fill="hold">
                            <p:stCondLst>
                              <p:cond delay="0"/>
                            </p:stCondLst>
                            <p:childTnLst>
                              <p:par>
                                <p:cTn id="53" presetID="1" presetClass="entr" presetSubtype="0" fill="hold" grpId="0" nodeType="clickEffect">
                                  <p:stCondLst>
                                    <p:cond delay="0"/>
                                  </p:stCondLst>
                                  <p:childTnLst>
                                    <p:set>
                                      <p:cBhvr>
                                        <p:cTn id="54" dur="1" fill="hold">
                                          <p:stCondLst>
                                            <p:cond delay="0"/>
                                          </p:stCondLst>
                                        </p:cTn>
                                        <p:tgtEl>
                                          <p:spTgt spid="23"/>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4" grpId="0" animBg="1"/>
      <p:bldP spid="8" grpId="0"/>
      <p:bldP spid="9" grpId="0"/>
      <p:bldP spid="10" grpId="0" animBg="1"/>
      <p:bldP spid="11" grpId="0" animBg="1"/>
      <p:bldP spid="12" grpId="0"/>
      <p:bldP spid="13" grpId="0"/>
      <p:bldP spid="15" grpId="0"/>
      <p:bldP spid="19" grpId="0"/>
      <p:bldP spid="20" grpId="0"/>
      <p:bldP spid="22" grpId="0"/>
      <p:bldP spid="23" grpId="0"/>
    </p:bldLst>
  </p:timing>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cxnSp>
        <p:nvCxnSpPr>
          <p:cNvPr id="6" name="Straight Arrow Connector 5">
            <a:extLst>
              <a:ext uri="{FF2B5EF4-FFF2-40B4-BE49-F238E27FC236}">
                <a16:creationId xmlns:a16="http://schemas.microsoft.com/office/drawing/2014/main" id="{6BE32B84-851F-B540-3F1E-5D1D10614915}"/>
              </a:ext>
            </a:extLst>
          </p:cNvPr>
          <p:cNvCxnSpPr>
            <a:cxnSpLocks/>
          </p:cNvCxnSpPr>
          <p:nvPr/>
        </p:nvCxnSpPr>
        <p:spPr>
          <a:xfrm flipV="1">
            <a:off x="1597099" y="932793"/>
            <a:ext cx="0" cy="2035504"/>
          </a:xfrm>
          <a:prstGeom prst="straightConnector1">
            <a:avLst/>
          </a:prstGeom>
          <a:ln w="38100">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7" name="Straight Arrow Connector 6">
            <a:extLst>
              <a:ext uri="{FF2B5EF4-FFF2-40B4-BE49-F238E27FC236}">
                <a16:creationId xmlns:a16="http://schemas.microsoft.com/office/drawing/2014/main" id="{9193763A-32B4-B3A5-7B9E-03B1193E94FD}"/>
              </a:ext>
            </a:extLst>
          </p:cNvPr>
          <p:cNvCxnSpPr>
            <a:cxnSpLocks/>
          </p:cNvCxnSpPr>
          <p:nvPr/>
        </p:nvCxnSpPr>
        <p:spPr>
          <a:xfrm>
            <a:off x="1471292" y="2850392"/>
            <a:ext cx="2603803" cy="0"/>
          </a:xfrm>
          <a:prstGeom prst="straightConnector1">
            <a:avLst/>
          </a:prstGeom>
          <a:ln w="38100">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8" name="Straight Arrow Connector 7">
            <a:extLst>
              <a:ext uri="{FF2B5EF4-FFF2-40B4-BE49-F238E27FC236}">
                <a16:creationId xmlns:a16="http://schemas.microsoft.com/office/drawing/2014/main" id="{EF94EAA5-9B0B-7CD7-F4AD-71C4A0C33307}"/>
              </a:ext>
            </a:extLst>
          </p:cNvPr>
          <p:cNvCxnSpPr>
            <a:cxnSpLocks/>
          </p:cNvCxnSpPr>
          <p:nvPr/>
        </p:nvCxnSpPr>
        <p:spPr>
          <a:xfrm flipV="1">
            <a:off x="1597099" y="3701393"/>
            <a:ext cx="0" cy="2035504"/>
          </a:xfrm>
          <a:prstGeom prst="straightConnector1">
            <a:avLst/>
          </a:prstGeom>
          <a:ln w="38100">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9" name="Straight Arrow Connector 8">
            <a:extLst>
              <a:ext uri="{FF2B5EF4-FFF2-40B4-BE49-F238E27FC236}">
                <a16:creationId xmlns:a16="http://schemas.microsoft.com/office/drawing/2014/main" id="{0BE5BC16-E26E-8B12-FAB7-A29F8D647C9A}"/>
              </a:ext>
            </a:extLst>
          </p:cNvPr>
          <p:cNvCxnSpPr>
            <a:cxnSpLocks/>
          </p:cNvCxnSpPr>
          <p:nvPr/>
        </p:nvCxnSpPr>
        <p:spPr>
          <a:xfrm>
            <a:off x="1471292" y="5618992"/>
            <a:ext cx="2603803" cy="0"/>
          </a:xfrm>
          <a:prstGeom prst="straightConnector1">
            <a:avLst/>
          </a:prstGeom>
          <a:ln w="38100">
            <a:solidFill>
              <a:schemeClr val="tx1"/>
            </a:solidFill>
            <a:tailEnd type="triangle"/>
          </a:ln>
        </p:spPr>
        <p:style>
          <a:lnRef idx="1">
            <a:schemeClr val="accent1"/>
          </a:lnRef>
          <a:fillRef idx="0">
            <a:schemeClr val="accent1"/>
          </a:fillRef>
          <a:effectRef idx="0">
            <a:schemeClr val="accent1"/>
          </a:effectRef>
          <a:fontRef idx="minor">
            <a:schemeClr val="tx1"/>
          </a:fontRef>
        </p:style>
      </p:cxnSp>
      <mc:AlternateContent xmlns:mc="http://schemas.openxmlformats.org/markup-compatibility/2006" xmlns:a14="http://schemas.microsoft.com/office/drawing/2010/main">
        <mc:Choice Requires="a14">
          <p:sp>
            <p:nvSpPr>
              <p:cNvPr id="11" name="TextBox 10">
                <a:extLst>
                  <a:ext uri="{FF2B5EF4-FFF2-40B4-BE49-F238E27FC236}">
                    <a16:creationId xmlns:a16="http://schemas.microsoft.com/office/drawing/2014/main" id="{438148AE-23CF-4DD4-3FAE-84F7212F2D6B}"/>
                  </a:ext>
                </a:extLst>
              </p:cNvPr>
              <p:cNvSpPr txBox="1"/>
              <p:nvPr/>
            </p:nvSpPr>
            <p:spPr>
              <a:xfrm>
                <a:off x="703430" y="1630060"/>
                <a:ext cx="846667" cy="369332"/>
              </a:xfrm>
              <a:prstGeom prst="rect">
                <a:avLst/>
              </a:prstGeom>
              <a:noFill/>
            </p:spPr>
            <p:txBody>
              <a:bodyPr wrap="square">
                <a:spAutoFit/>
              </a:bodyPr>
              <a:lstStyle/>
              <a:p>
                <a:pPr/>
                <a14:m>
                  <m:oMathPara xmlns:m="http://schemas.openxmlformats.org/officeDocument/2006/math">
                    <m:oMath>
                      <m:r>
                        <a:rPr lang="tr-TR" i="1">
                          <a:latin typeface="Cambria Math" panose="02040503050406030204" pitchFamily="18" charset="0"/>
                        </a:rPr>
                        <m:t>𝐽</m:t>
                      </m:r>
                      <m:r>
                        <a:rPr lang="tr-TR" i="1">
                          <a:latin typeface="Cambria Math" panose="02040503050406030204" pitchFamily="18" charset="0"/>
                        </a:rPr>
                        <m:t>(</m:t>
                      </m:r>
                      <m:r>
                        <a:rPr lang="tr-TR" i="1">
                          <a:latin typeface="Cambria Math" panose="02040503050406030204" pitchFamily="18" charset="0"/>
                        </a:rPr>
                        <m:t>𝑤</m:t>
                      </m:r>
                      <m:r>
                        <a:rPr lang="tr-TR" i="1">
                          <a:latin typeface="Cambria Math" panose="02040503050406030204" pitchFamily="18" charset="0"/>
                        </a:rPr>
                        <m:t>)</m:t>
                      </m:r>
                    </m:oMath>
                  </m:oMathPara>
                </a14:m>
                <a:endParaRPr lang="en-US" dirty="0"/>
              </a:p>
            </p:txBody>
          </p:sp>
        </mc:Choice>
        <mc:Fallback xmlns="">
          <p:sp>
            <p:nvSpPr>
              <p:cNvPr id="11" name="TextBox 10">
                <a:extLst>
                  <a:ext uri="{FF2B5EF4-FFF2-40B4-BE49-F238E27FC236}">
                    <a16:creationId xmlns:a16="http://schemas.microsoft.com/office/drawing/2014/main" id="{438148AE-23CF-4DD4-3FAE-84F7212F2D6B}"/>
                  </a:ext>
                </a:extLst>
              </p:cNvPr>
              <p:cNvSpPr txBox="1">
                <a:spLocks noRot="1" noChangeAspect="1" noMove="1" noResize="1" noEditPoints="1" noAdjustHandles="1" noChangeArrowheads="1" noChangeShapeType="1" noTextEdit="1"/>
              </p:cNvSpPr>
              <p:nvPr/>
            </p:nvSpPr>
            <p:spPr>
              <a:xfrm>
                <a:off x="703430" y="1630060"/>
                <a:ext cx="846667" cy="369332"/>
              </a:xfrm>
              <a:prstGeom prst="rect">
                <a:avLst/>
              </a:prstGeom>
              <a:blipFill>
                <a:blip r:embed="rId4"/>
                <a:stretch>
                  <a:fillRect b="-13115"/>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13" name="TextBox 12">
                <a:extLst>
                  <a:ext uri="{FF2B5EF4-FFF2-40B4-BE49-F238E27FC236}">
                    <a16:creationId xmlns:a16="http://schemas.microsoft.com/office/drawing/2014/main" id="{0E2D1E3C-9B75-63D9-5B6B-A554BE9000B4}"/>
                  </a:ext>
                </a:extLst>
              </p:cNvPr>
              <p:cNvSpPr txBox="1"/>
              <p:nvPr/>
            </p:nvSpPr>
            <p:spPr>
              <a:xfrm>
                <a:off x="2498026" y="2968297"/>
                <a:ext cx="550333" cy="369332"/>
              </a:xfrm>
              <a:prstGeom prst="rect">
                <a:avLst/>
              </a:prstGeom>
              <a:noFill/>
            </p:spPr>
            <p:txBody>
              <a:bodyPr wrap="square">
                <a:spAutoFit/>
              </a:bodyPr>
              <a:lstStyle/>
              <a:p>
                <a:pPr/>
                <a14:m>
                  <m:oMathPara xmlns:m="http://schemas.openxmlformats.org/officeDocument/2006/math">
                    <m:oMath>
                      <m:r>
                        <a:rPr lang="tr-TR" b="0" i="1" smtClean="0">
                          <a:latin typeface="Cambria Math" panose="02040503050406030204" pitchFamily="18" charset="0"/>
                        </a:rPr>
                        <m:t>𝑤</m:t>
                      </m:r>
                    </m:oMath>
                  </m:oMathPara>
                </a14:m>
                <a:endParaRPr lang="en-US" dirty="0"/>
              </a:p>
            </p:txBody>
          </p:sp>
        </mc:Choice>
        <mc:Fallback xmlns="">
          <p:sp>
            <p:nvSpPr>
              <p:cNvPr id="13" name="TextBox 12">
                <a:extLst>
                  <a:ext uri="{FF2B5EF4-FFF2-40B4-BE49-F238E27FC236}">
                    <a16:creationId xmlns:a16="http://schemas.microsoft.com/office/drawing/2014/main" id="{0E2D1E3C-9B75-63D9-5B6B-A554BE9000B4}"/>
                  </a:ext>
                </a:extLst>
              </p:cNvPr>
              <p:cNvSpPr txBox="1">
                <a:spLocks noRot="1" noChangeAspect="1" noMove="1" noResize="1" noEditPoints="1" noAdjustHandles="1" noChangeArrowheads="1" noChangeShapeType="1" noTextEdit="1"/>
              </p:cNvSpPr>
              <p:nvPr/>
            </p:nvSpPr>
            <p:spPr>
              <a:xfrm>
                <a:off x="2498026" y="2968297"/>
                <a:ext cx="550333" cy="369332"/>
              </a:xfrm>
              <a:prstGeom prst="rect">
                <a:avLst/>
              </a:prstGeom>
              <a:blipFill>
                <a:blip r:embed="rId5"/>
                <a:stretch>
                  <a:fillRect/>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14" name="TextBox 13">
                <a:extLst>
                  <a:ext uri="{FF2B5EF4-FFF2-40B4-BE49-F238E27FC236}">
                    <a16:creationId xmlns:a16="http://schemas.microsoft.com/office/drawing/2014/main" id="{9A1B8CE2-CA62-F0D0-0F64-4A49202F7932}"/>
                  </a:ext>
                </a:extLst>
              </p:cNvPr>
              <p:cNvSpPr txBox="1"/>
              <p:nvPr/>
            </p:nvSpPr>
            <p:spPr>
              <a:xfrm>
                <a:off x="779989" y="4280755"/>
                <a:ext cx="728884" cy="369332"/>
              </a:xfrm>
              <a:prstGeom prst="rect">
                <a:avLst/>
              </a:prstGeom>
              <a:noFill/>
            </p:spPr>
            <p:txBody>
              <a:bodyPr wrap="square">
                <a:spAutoFit/>
              </a:bodyPr>
              <a:lstStyle/>
              <a:p>
                <a:pPr/>
                <a14:m>
                  <m:oMathPara xmlns:m="http://schemas.openxmlformats.org/officeDocument/2006/math">
                    <m:oMath>
                      <m:r>
                        <a:rPr lang="tr-TR" i="1">
                          <a:latin typeface="Cambria Math" panose="02040503050406030204" pitchFamily="18" charset="0"/>
                        </a:rPr>
                        <m:t>𝐽</m:t>
                      </m:r>
                      <m:r>
                        <a:rPr lang="tr-TR" i="1">
                          <a:latin typeface="Cambria Math" panose="02040503050406030204" pitchFamily="18" charset="0"/>
                        </a:rPr>
                        <m:t>(</m:t>
                      </m:r>
                      <m:r>
                        <a:rPr lang="tr-TR" i="1">
                          <a:latin typeface="Cambria Math" panose="02040503050406030204" pitchFamily="18" charset="0"/>
                        </a:rPr>
                        <m:t>𝑤</m:t>
                      </m:r>
                      <m:r>
                        <a:rPr lang="tr-TR" i="1">
                          <a:latin typeface="Cambria Math" panose="02040503050406030204" pitchFamily="18" charset="0"/>
                        </a:rPr>
                        <m:t>)</m:t>
                      </m:r>
                    </m:oMath>
                  </m:oMathPara>
                </a14:m>
                <a:endParaRPr lang="en-US" dirty="0"/>
              </a:p>
            </p:txBody>
          </p:sp>
        </mc:Choice>
        <mc:Fallback xmlns="">
          <p:sp>
            <p:nvSpPr>
              <p:cNvPr id="14" name="TextBox 13">
                <a:extLst>
                  <a:ext uri="{FF2B5EF4-FFF2-40B4-BE49-F238E27FC236}">
                    <a16:creationId xmlns:a16="http://schemas.microsoft.com/office/drawing/2014/main" id="{9A1B8CE2-CA62-F0D0-0F64-4A49202F7932}"/>
                  </a:ext>
                </a:extLst>
              </p:cNvPr>
              <p:cNvSpPr txBox="1">
                <a:spLocks noRot="1" noChangeAspect="1" noMove="1" noResize="1" noEditPoints="1" noAdjustHandles="1" noChangeArrowheads="1" noChangeShapeType="1" noTextEdit="1"/>
              </p:cNvSpPr>
              <p:nvPr/>
            </p:nvSpPr>
            <p:spPr>
              <a:xfrm>
                <a:off x="779989" y="4280755"/>
                <a:ext cx="728884" cy="369332"/>
              </a:xfrm>
              <a:prstGeom prst="rect">
                <a:avLst/>
              </a:prstGeom>
              <a:blipFill>
                <a:blip r:embed="rId6"/>
                <a:stretch>
                  <a:fillRect b="-13115"/>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15" name="TextBox 14">
                <a:extLst>
                  <a:ext uri="{FF2B5EF4-FFF2-40B4-BE49-F238E27FC236}">
                    <a16:creationId xmlns:a16="http://schemas.microsoft.com/office/drawing/2014/main" id="{9B6A1DE3-246F-0CA2-E6A3-0B2E7BB86EB0}"/>
                  </a:ext>
                </a:extLst>
              </p:cNvPr>
              <p:cNvSpPr txBox="1"/>
              <p:nvPr/>
            </p:nvSpPr>
            <p:spPr>
              <a:xfrm>
                <a:off x="2574585" y="5618992"/>
                <a:ext cx="473774" cy="369332"/>
              </a:xfrm>
              <a:prstGeom prst="rect">
                <a:avLst/>
              </a:prstGeom>
              <a:noFill/>
            </p:spPr>
            <p:txBody>
              <a:bodyPr wrap="square">
                <a:spAutoFit/>
              </a:bodyPr>
              <a:lstStyle/>
              <a:p>
                <a:pPr/>
                <a14:m>
                  <m:oMathPara xmlns:m="http://schemas.openxmlformats.org/officeDocument/2006/math">
                    <m:oMath>
                      <m:r>
                        <a:rPr lang="tr-TR" b="0" i="1" smtClean="0">
                          <a:latin typeface="Cambria Math" panose="02040503050406030204" pitchFamily="18" charset="0"/>
                        </a:rPr>
                        <m:t>𝑤</m:t>
                      </m:r>
                    </m:oMath>
                  </m:oMathPara>
                </a14:m>
                <a:endParaRPr lang="en-US" dirty="0"/>
              </a:p>
            </p:txBody>
          </p:sp>
        </mc:Choice>
        <mc:Fallback xmlns="">
          <p:sp>
            <p:nvSpPr>
              <p:cNvPr id="15" name="TextBox 14">
                <a:extLst>
                  <a:ext uri="{FF2B5EF4-FFF2-40B4-BE49-F238E27FC236}">
                    <a16:creationId xmlns:a16="http://schemas.microsoft.com/office/drawing/2014/main" id="{9B6A1DE3-246F-0CA2-E6A3-0B2E7BB86EB0}"/>
                  </a:ext>
                </a:extLst>
              </p:cNvPr>
              <p:cNvSpPr txBox="1">
                <a:spLocks noRot="1" noChangeAspect="1" noMove="1" noResize="1" noEditPoints="1" noAdjustHandles="1" noChangeArrowheads="1" noChangeShapeType="1" noTextEdit="1"/>
              </p:cNvSpPr>
              <p:nvPr/>
            </p:nvSpPr>
            <p:spPr>
              <a:xfrm>
                <a:off x="2574585" y="5618992"/>
                <a:ext cx="473774" cy="369332"/>
              </a:xfrm>
              <a:prstGeom prst="rect">
                <a:avLst/>
              </a:prstGeom>
              <a:blipFill>
                <a:blip r:embed="rId7"/>
                <a:stretch>
                  <a:fillRect/>
                </a:stretch>
              </a:blipFill>
            </p:spPr>
            <p:txBody>
              <a:bodyPr/>
              <a:lstStyle/>
              <a:p>
                <a:r>
                  <a:rPr lang="en-US">
                    <a:noFill/>
                  </a:rPr>
                  <a:t> </a:t>
                </a:r>
              </a:p>
            </p:txBody>
          </p:sp>
        </mc:Fallback>
      </mc:AlternateContent>
      <p:sp>
        <p:nvSpPr>
          <p:cNvPr id="17" name="Freeform: Shape 16">
            <a:extLst>
              <a:ext uri="{FF2B5EF4-FFF2-40B4-BE49-F238E27FC236}">
                <a16:creationId xmlns:a16="http://schemas.microsoft.com/office/drawing/2014/main" id="{7415DC82-363D-5663-F71E-79539E0F4256}"/>
              </a:ext>
            </a:extLst>
          </p:cNvPr>
          <p:cNvSpPr/>
          <p:nvPr/>
        </p:nvSpPr>
        <p:spPr>
          <a:xfrm>
            <a:off x="1837268" y="1325889"/>
            <a:ext cx="1766992" cy="1214300"/>
          </a:xfrm>
          <a:custGeom>
            <a:avLst/>
            <a:gdLst>
              <a:gd name="connsiteX0" fmla="*/ 0 w 1820333"/>
              <a:gd name="connsiteY0" fmla="*/ 0 h 1210922"/>
              <a:gd name="connsiteX1" fmla="*/ 880533 w 1820333"/>
              <a:gd name="connsiteY1" fmla="*/ 1210733 h 1210922"/>
              <a:gd name="connsiteX2" fmla="*/ 1820333 w 1820333"/>
              <a:gd name="connsiteY2" fmla="*/ 93133 h 1210922"/>
            </a:gdLst>
            <a:ahLst/>
            <a:cxnLst>
              <a:cxn ang="0">
                <a:pos x="connsiteX0" y="connsiteY0"/>
              </a:cxn>
              <a:cxn ang="0">
                <a:pos x="connsiteX1" y="connsiteY1"/>
              </a:cxn>
              <a:cxn ang="0">
                <a:pos x="connsiteX2" y="connsiteY2"/>
              </a:cxn>
            </a:cxnLst>
            <a:rect l="l" t="t" r="r" b="b"/>
            <a:pathLst>
              <a:path w="1820333" h="1210922">
                <a:moveTo>
                  <a:pt x="0" y="0"/>
                </a:moveTo>
                <a:cubicBezTo>
                  <a:pt x="288572" y="597605"/>
                  <a:pt x="577144" y="1195211"/>
                  <a:pt x="880533" y="1210733"/>
                </a:cubicBezTo>
                <a:cubicBezTo>
                  <a:pt x="1183922" y="1226255"/>
                  <a:pt x="1601611" y="283633"/>
                  <a:pt x="1820333" y="93133"/>
                </a:cubicBezTo>
              </a:path>
            </a:pathLst>
          </a:custGeom>
          <a:noFill/>
          <a:ln w="57150">
            <a:solidFill>
              <a:srgbClr val="FF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8" name="Freeform: Shape 17">
            <a:extLst>
              <a:ext uri="{FF2B5EF4-FFF2-40B4-BE49-F238E27FC236}">
                <a16:creationId xmlns:a16="http://schemas.microsoft.com/office/drawing/2014/main" id="{4E1D3CE6-86E2-A815-E169-5972DFA3E332}"/>
              </a:ext>
            </a:extLst>
          </p:cNvPr>
          <p:cNvSpPr/>
          <p:nvPr/>
        </p:nvSpPr>
        <p:spPr>
          <a:xfrm>
            <a:off x="1925931" y="4171942"/>
            <a:ext cx="1820333" cy="1210922"/>
          </a:xfrm>
          <a:custGeom>
            <a:avLst/>
            <a:gdLst>
              <a:gd name="connsiteX0" fmla="*/ 0 w 1820333"/>
              <a:gd name="connsiteY0" fmla="*/ 0 h 1210922"/>
              <a:gd name="connsiteX1" fmla="*/ 880533 w 1820333"/>
              <a:gd name="connsiteY1" fmla="*/ 1210733 h 1210922"/>
              <a:gd name="connsiteX2" fmla="*/ 1820333 w 1820333"/>
              <a:gd name="connsiteY2" fmla="*/ 93133 h 1210922"/>
            </a:gdLst>
            <a:ahLst/>
            <a:cxnLst>
              <a:cxn ang="0">
                <a:pos x="connsiteX0" y="connsiteY0"/>
              </a:cxn>
              <a:cxn ang="0">
                <a:pos x="connsiteX1" y="connsiteY1"/>
              </a:cxn>
              <a:cxn ang="0">
                <a:pos x="connsiteX2" y="connsiteY2"/>
              </a:cxn>
            </a:cxnLst>
            <a:rect l="l" t="t" r="r" b="b"/>
            <a:pathLst>
              <a:path w="1820333" h="1210922">
                <a:moveTo>
                  <a:pt x="0" y="0"/>
                </a:moveTo>
                <a:cubicBezTo>
                  <a:pt x="288572" y="597605"/>
                  <a:pt x="577144" y="1195211"/>
                  <a:pt x="880533" y="1210733"/>
                </a:cubicBezTo>
                <a:cubicBezTo>
                  <a:pt x="1183922" y="1226255"/>
                  <a:pt x="1601611" y="283633"/>
                  <a:pt x="1820333" y="93133"/>
                </a:cubicBezTo>
              </a:path>
            </a:pathLst>
          </a:custGeom>
          <a:noFill/>
          <a:ln w="57150">
            <a:solidFill>
              <a:srgbClr val="FF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cxnSp>
        <p:nvCxnSpPr>
          <p:cNvPr id="20" name="Straight Connector 19">
            <a:extLst>
              <a:ext uri="{FF2B5EF4-FFF2-40B4-BE49-F238E27FC236}">
                <a16:creationId xmlns:a16="http://schemas.microsoft.com/office/drawing/2014/main" id="{ECF3EF13-731A-1677-7B2C-33DB8F1FA931}"/>
              </a:ext>
            </a:extLst>
          </p:cNvPr>
          <p:cNvCxnSpPr>
            <a:cxnSpLocks/>
          </p:cNvCxnSpPr>
          <p:nvPr/>
        </p:nvCxnSpPr>
        <p:spPr>
          <a:xfrm flipH="1">
            <a:off x="3089263" y="1619074"/>
            <a:ext cx="359793" cy="627929"/>
          </a:xfrm>
          <a:prstGeom prst="line">
            <a:avLst/>
          </a:prstGeom>
          <a:ln w="38100">
            <a:solidFill>
              <a:srgbClr val="0070C0"/>
            </a:solidFill>
          </a:ln>
        </p:spPr>
        <p:style>
          <a:lnRef idx="1">
            <a:schemeClr val="accent1"/>
          </a:lnRef>
          <a:fillRef idx="0">
            <a:schemeClr val="accent1"/>
          </a:fillRef>
          <a:effectRef idx="0">
            <a:schemeClr val="accent1"/>
          </a:effectRef>
          <a:fontRef idx="minor">
            <a:schemeClr val="tx1"/>
          </a:fontRef>
        </p:style>
      </p:cxnSp>
      <p:cxnSp>
        <p:nvCxnSpPr>
          <p:cNvPr id="22" name="Straight Connector 21">
            <a:extLst>
              <a:ext uri="{FF2B5EF4-FFF2-40B4-BE49-F238E27FC236}">
                <a16:creationId xmlns:a16="http://schemas.microsoft.com/office/drawing/2014/main" id="{53161C9A-B230-C755-A477-A637810DEE24}"/>
              </a:ext>
            </a:extLst>
          </p:cNvPr>
          <p:cNvCxnSpPr>
            <a:cxnSpLocks/>
          </p:cNvCxnSpPr>
          <p:nvPr/>
        </p:nvCxnSpPr>
        <p:spPr>
          <a:xfrm>
            <a:off x="3449056" y="1619074"/>
            <a:ext cx="0" cy="627929"/>
          </a:xfrm>
          <a:prstGeom prst="line">
            <a:avLst/>
          </a:prstGeom>
          <a:ln w="38100">
            <a:solidFill>
              <a:srgbClr val="0070C0"/>
            </a:solidFill>
            <a:prstDash val="sysDot"/>
          </a:ln>
        </p:spPr>
        <p:style>
          <a:lnRef idx="1">
            <a:schemeClr val="accent1"/>
          </a:lnRef>
          <a:fillRef idx="0">
            <a:schemeClr val="accent1"/>
          </a:fillRef>
          <a:effectRef idx="0">
            <a:schemeClr val="accent1"/>
          </a:effectRef>
          <a:fontRef idx="minor">
            <a:schemeClr val="tx1"/>
          </a:fontRef>
        </p:style>
      </p:cxnSp>
      <p:cxnSp>
        <p:nvCxnSpPr>
          <p:cNvPr id="24" name="Straight Connector 23">
            <a:extLst>
              <a:ext uri="{FF2B5EF4-FFF2-40B4-BE49-F238E27FC236}">
                <a16:creationId xmlns:a16="http://schemas.microsoft.com/office/drawing/2014/main" id="{DCEA0C84-8D58-A18B-C9A3-FDB1F3EB4470}"/>
              </a:ext>
            </a:extLst>
          </p:cNvPr>
          <p:cNvCxnSpPr>
            <a:cxnSpLocks/>
          </p:cNvCxnSpPr>
          <p:nvPr/>
        </p:nvCxnSpPr>
        <p:spPr>
          <a:xfrm>
            <a:off x="3089263" y="2226224"/>
            <a:ext cx="359793" cy="0"/>
          </a:xfrm>
          <a:prstGeom prst="line">
            <a:avLst/>
          </a:prstGeom>
          <a:ln w="38100">
            <a:solidFill>
              <a:srgbClr val="0070C0"/>
            </a:solidFill>
            <a:prstDash val="sysDot"/>
          </a:ln>
        </p:spPr>
        <p:style>
          <a:lnRef idx="1">
            <a:schemeClr val="accent1"/>
          </a:lnRef>
          <a:fillRef idx="0">
            <a:schemeClr val="accent1"/>
          </a:fillRef>
          <a:effectRef idx="0">
            <a:schemeClr val="accent1"/>
          </a:effectRef>
          <a:fontRef idx="minor">
            <a:schemeClr val="tx1"/>
          </a:fontRef>
        </p:style>
      </p:cxnSp>
      <p:cxnSp>
        <p:nvCxnSpPr>
          <p:cNvPr id="29" name="Straight Connector 28">
            <a:extLst>
              <a:ext uri="{FF2B5EF4-FFF2-40B4-BE49-F238E27FC236}">
                <a16:creationId xmlns:a16="http://schemas.microsoft.com/office/drawing/2014/main" id="{33FF9D68-FE76-555A-69DE-2C60F01E4FFF}"/>
              </a:ext>
            </a:extLst>
          </p:cNvPr>
          <p:cNvCxnSpPr>
            <a:cxnSpLocks/>
          </p:cNvCxnSpPr>
          <p:nvPr/>
        </p:nvCxnSpPr>
        <p:spPr>
          <a:xfrm>
            <a:off x="1917134" y="4245956"/>
            <a:ext cx="337416" cy="624127"/>
          </a:xfrm>
          <a:prstGeom prst="line">
            <a:avLst/>
          </a:prstGeom>
          <a:ln w="38100">
            <a:solidFill>
              <a:srgbClr val="0070C0"/>
            </a:solidFill>
          </a:ln>
        </p:spPr>
        <p:style>
          <a:lnRef idx="1">
            <a:schemeClr val="accent1"/>
          </a:lnRef>
          <a:fillRef idx="0">
            <a:schemeClr val="accent1"/>
          </a:fillRef>
          <a:effectRef idx="0">
            <a:schemeClr val="accent1"/>
          </a:effectRef>
          <a:fontRef idx="minor">
            <a:schemeClr val="tx1"/>
          </a:fontRef>
        </p:style>
      </p:cxnSp>
      <p:cxnSp>
        <p:nvCxnSpPr>
          <p:cNvPr id="31" name="Straight Connector 30">
            <a:extLst>
              <a:ext uri="{FF2B5EF4-FFF2-40B4-BE49-F238E27FC236}">
                <a16:creationId xmlns:a16="http://schemas.microsoft.com/office/drawing/2014/main" id="{A5686679-2DD3-3B93-EB82-B35832F24520}"/>
              </a:ext>
            </a:extLst>
          </p:cNvPr>
          <p:cNvCxnSpPr>
            <a:cxnSpLocks/>
          </p:cNvCxnSpPr>
          <p:nvPr/>
        </p:nvCxnSpPr>
        <p:spPr>
          <a:xfrm>
            <a:off x="1906710" y="4280755"/>
            <a:ext cx="0" cy="627929"/>
          </a:xfrm>
          <a:prstGeom prst="line">
            <a:avLst/>
          </a:prstGeom>
          <a:ln w="38100">
            <a:solidFill>
              <a:srgbClr val="0070C0"/>
            </a:solidFill>
            <a:prstDash val="sysDot"/>
          </a:ln>
        </p:spPr>
        <p:style>
          <a:lnRef idx="1">
            <a:schemeClr val="accent1"/>
          </a:lnRef>
          <a:fillRef idx="0">
            <a:schemeClr val="accent1"/>
          </a:fillRef>
          <a:effectRef idx="0">
            <a:schemeClr val="accent1"/>
          </a:effectRef>
          <a:fontRef idx="minor">
            <a:schemeClr val="tx1"/>
          </a:fontRef>
        </p:style>
      </p:cxnSp>
      <p:cxnSp>
        <p:nvCxnSpPr>
          <p:cNvPr id="32" name="Straight Connector 31">
            <a:extLst>
              <a:ext uri="{FF2B5EF4-FFF2-40B4-BE49-F238E27FC236}">
                <a16:creationId xmlns:a16="http://schemas.microsoft.com/office/drawing/2014/main" id="{108F56AA-5461-CB4A-617D-85D30C7C35B0}"/>
              </a:ext>
            </a:extLst>
          </p:cNvPr>
          <p:cNvCxnSpPr>
            <a:cxnSpLocks/>
          </p:cNvCxnSpPr>
          <p:nvPr/>
        </p:nvCxnSpPr>
        <p:spPr>
          <a:xfrm>
            <a:off x="1925931" y="4894628"/>
            <a:ext cx="359793" cy="0"/>
          </a:xfrm>
          <a:prstGeom prst="line">
            <a:avLst/>
          </a:prstGeom>
          <a:ln w="38100">
            <a:solidFill>
              <a:srgbClr val="0070C0"/>
            </a:solidFill>
            <a:prstDash val="sysDot"/>
          </a:ln>
        </p:spPr>
        <p:style>
          <a:lnRef idx="1">
            <a:schemeClr val="accent1"/>
          </a:lnRef>
          <a:fillRef idx="0">
            <a:schemeClr val="accent1"/>
          </a:fillRef>
          <a:effectRef idx="0">
            <a:schemeClr val="accent1"/>
          </a:effectRef>
          <a:fontRef idx="minor">
            <a:schemeClr val="tx1"/>
          </a:fontRef>
        </p:style>
      </p:cxnSp>
      <p:cxnSp>
        <p:nvCxnSpPr>
          <p:cNvPr id="34" name="Straight Arrow Connector 33">
            <a:extLst>
              <a:ext uri="{FF2B5EF4-FFF2-40B4-BE49-F238E27FC236}">
                <a16:creationId xmlns:a16="http://schemas.microsoft.com/office/drawing/2014/main" id="{81FF30AF-5768-ADB6-1116-27B45B0B2031}"/>
              </a:ext>
            </a:extLst>
          </p:cNvPr>
          <p:cNvCxnSpPr>
            <a:cxnSpLocks/>
          </p:cNvCxnSpPr>
          <p:nvPr/>
        </p:nvCxnSpPr>
        <p:spPr>
          <a:xfrm flipH="1">
            <a:off x="3048359" y="1933038"/>
            <a:ext cx="220800" cy="305793"/>
          </a:xfrm>
          <a:prstGeom prst="straightConnector1">
            <a:avLst/>
          </a:prstGeom>
          <a:ln w="57150">
            <a:solidFill>
              <a:srgbClr val="002060"/>
            </a:solidFill>
            <a:tailEnd type="triangle"/>
          </a:ln>
        </p:spPr>
        <p:style>
          <a:lnRef idx="1">
            <a:schemeClr val="accent1"/>
          </a:lnRef>
          <a:fillRef idx="0">
            <a:schemeClr val="accent1"/>
          </a:fillRef>
          <a:effectRef idx="0">
            <a:schemeClr val="accent1"/>
          </a:effectRef>
          <a:fontRef idx="minor">
            <a:schemeClr val="tx1"/>
          </a:fontRef>
        </p:style>
      </p:cxnSp>
      <p:cxnSp>
        <p:nvCxnSpPr>
          <p:cNvPr id="37" name="Straight Arrow Connector 36">
            <a:extLst>
              <a:ext uri="{FF2B5EF4-FFF2-40B4-BE49-F238E27FC236}">
                <a16:creationId xmlns:a16="http://schemas.microsoft.com/office/drawing/2014/main" id="{D6B2B912-99CC-FB36-54E3-A814CEC28788}"/>
              </a:ext>
            </a:extLst>
          </p:cNvPr>
          <p:cNvCxnSpPr>
            <a:cxnSpLocks/>
          </p:cNvCxnSpPr>
          <p:nvPr/>
        </p:nvCxnSpPr>
        <p:spPr>
          <a:xfrm>
            <a:off x="2146910" y="4546776"/>
            <a:ext cx="158034" cy="321774"/>
          </a:xfrm>
          <a:prstGeom prst="straightConnector1">
            <a:avLst/>
          </a:prstGeom>
          <a:ln w="57150">
            <a:solidFill>
              <a:srgbClr val="002060"/>
            </a:solidFill>
            <a:tailEnd type="triangle"/>
          </a:ln>
        </p:spPr>
        <p:style>
          <a:lnRef idx="1">
            <a:schemeClr val="accent1"/>
          </a:lnRef>
          <a:fillRef idx="0">
            <a:schemeClr val="accent1"/>
          </a:fillRef>
          <a:effectRef idx="0">
            <a:schemeClr val="accent1"/>
          </a:effectRef>
          <a:fontRef idx="minor">
            <a:schemeClr val="tx1"/>
          </a:fontRef>
        </p:style>
      </p:cxnSp>
      <mc:AlternateContent xmlns:mc="http://schemas.openxmlformats.org/markup-compatibility/2006" xmlns:a14="http://schemas.microsoft.com/office/drawing/2010/main">
        <mc:Choice Requires="a14">
          <p:sp>
            <p:nvSpPr>
              <p:cNvPr id="40" name="TextBox 39">
                <a:extLst>
                  <a:ext uri="{FF2B5EF4-FFF2-40B4-BE49-F238E27FC236}">
                    <a16:creationId xmlns:a16="http://schemas.microsoft.com/office/drawing/2014/main" id="{8144474F-3448-84EC-5D82-2DE354D2C719}"/>
                  </a:ext>
                </a:extLst>
              </p:cNvPr>
              <p:cNvSpPr txBox="1"/>
              <p:nvPr/>
            </p:nvSpPr>
            <p:spPr>
              <a:xfrm>
                <a:off x="3612664" y="1809316"/>
                <a:ext cx="1656284" cy="369332"/>
              </a:xfrm>
              <a:prstGeom prst="rect">
                <a:avLst/>
              </a:prstGeom>
              <a:noFill/>
            </p:spPr>
            <p:txBody>
              <a:bodyPr wrap="square">
                <a:spAutoFit/>
              </a:bodyPr>
              <a:lstStyle/>
              <a:p>
                <a:pPr/>
                <a14:m>
                  <m:oMathPara xmlns:m="http://schemas.openxmlformats.org/officeDocument/2006/math">
                    <m:oMath>
                      <m:r>
                        <a:rPr lang="tr-TR" b="0" i="1" smtClean="0">
                          <a:latin typeface="Cambria Math" panose="02040503050406030204" pitchFamily="18" charset="0"/>
                        </a:rPr>
                        <m:t>𝑝𝑜𝑠𝑖𝑡𝑖𝑣𝑒</m:t>
                      </m:r>
                      <m:r>
                        <a:rPr lang="tr-TR" b="0" i="1" smtClean="0">
                          <a:latin typeface="Cambria Math" panose="02040503050406030204" pitchFamily="18" charset="0"/>
                        </a:rPr>
                        <m:t> </m:t>
                      </m:r>
                      <m:r>
                        <a:rPr lang="tr-TR" b="0" i="1" smtClean="0">
                          <a:latin typeface="Cambria Math" panose="02040503050406030204" pitchFamily="18" charset="0"/>
                        </a:rPr>
                        <m:t>𝑠𝑙𝑜𝑝𝑒</m:t>
                      </m:r>
                    </m:oMath>
                  </m:oMathPara>
                </a14:m>
                <a:endParaRPr lang="en-US" dirty="0"/>
              </a:p>
            </p:txBody>
          </p:sp>
        </mc:Choice>
        <mc:Fallback xmlns="">
          <p:sp>
            <p:nvSpPr>
              <p:cNvPr id="40" name="TextBox 39">
                <a:extLst>
                  <a:ext uri="{FF2B5EF4-FFF2-40B4-BE49-F238E27FC236}">
                    <a16:creationId xmlns:a16="http://schemas.microsoft.com/office/drawing/2014/main" id="{8144474F-3448-84EC-5D82-2DE354D2C719}"/>
                  </a:ext>
                </a:extLst>
              </p:cNvPr>
              <p:cNvSpPr txBox="1">
                <a:spLocks noRot="1" noChangeAspect="1" noMove="1" noResize="1" noEditPoints="1" noAdjustHandles="1" noChangeArrowheads="1" noChangeShapeType="1" noTextEdit="1"/>
              </p:cNvSpPr>
              <p:nvPr/>
            </p:nvSpPr>
            <p:spPr>
              <a:xfrm>
                <a:off x="3612664" y="1809316"/>
                <a:ext cx="1656284" cy="369332"/>
              </a:xfrm>
              <a:prstGeom prst="rect">
                <a:avLst/>
              </a:prstGeom>
              <a:blipFill>
                <a:blip r:embed="rId8"/>
                <a:stretch>
                  <a:fillRect b="-13333"/>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41" name="TextBox 40">
                <a:extLst>
                  <a:ext uri="{FF2B5EF4-FFF2-40B4-BE49-F238E27FC236}">
                    <a16:creationId xmlns:a16="http://schemas.microsoft.com/office/drawing/2014/main" id="{3B857A59-2E87-4842-3665-FCD1A6884646}"/>
                  </a:ext>
                </a:extLst>
              </p:cNvPr>
              <p:cNvSpPr txBox="1"/>
              <p:nvPr/>
            </p:nvSpPr>
            <p:spPr>
              <a:xfrm>
                <a:off x="3765484" y="4465421"/>
                <a:ext cx="1656284" cy="369332"/>
              </a:xfrm>
              <a:prstGeom prst="rect">
                <a:avLst/>
              </a:prstGeom>
              <a:noFill/>
            </p:spPr>
            <p:txBody>
              <a:bodyPr wrap="square">
                <a:spAutoFit/>
              </a:bodyPr>
              <a:lstStyle/>
              <a:p>
                <a:pPr/>
                <a14:m>
                  <m:oMathPara xmlns:m="http://schemas.openxmlformats.org/officeDocument/2006/math">
                    <m:oMath>
                      <m:r>
                        <a:rPr lang="tr-TR" b="0" i="1" smtClean="0">
                          <a:latin typeface="Cambria Math" panose="02040503050406030204" pitchFamily="18" charset="0"/>
                        </a:rPr>
                        <m:t>𝑛𝑒𝑔𝑎𝑡𝑖𝑣𝑒</m:t>
                      </m:r>
                      <m:r>
                        <a:rPr lang="tr-TR" b="0" i="1" smtClean="0">
                          <a:latin typeface="Cambria Math" panose="02040503050406030204" pitchFamily="18" charset="0"/>
                        </a:rPr>
                        <m:t> </m:t>
                      </m:r>
                      <m:r>
                        <a:rPr lang="tr-TR" b="0" i="1" smtClean="0">
                          <a:latin typeface="Cambria Math" panose="02040503050406030204" pitchFamily="18" charset="0"/>
                        </a:rPr>
                        <m:t>𝑠𝑙𝑜𝑝𝑒</m:t>
                      </m:r>
                    </m:oMath>
                  </m:oMathPara>
                </a14:m>
                <a:endParaRPr lang="en-US" dirty="0"/>
              </a:p>
            </p:txBody>
          </p:sp>
        </mc:Choice>
        <mc:Fallback xmlns="">
          <p:sp>
            <p:nvSpPr>
              <p:cNvPr id="41" name="TextBox 40">
                <a:extLst>
                  <a:ext uri="{FF2B5EF4-FFF2-40B4-BE49-F238E27FC236}">
                    <a16:creationId xmlns:a16="http://schemas.microsoft.com/office/drawing/2014/main" id="{3B857A59-2E87-4842-3665-FCD1A6884646}"/>
                  </a:ext>
                </a:extLst>
              </p:cNvPr>
              <p:cNvSpPr txBox="1">
                <a:spLocks noRot="1" noChangeAspect="1" noMove="1" noResize="1" noEditPoints="1" noAdjustHandles="1" noChangeArrowheads="1" noChangeShapeType="1" noTextEdit="1"/>
              </p:cNvSpPr>
              <p:nvPr/>
            </p:nvSpPr>
            <p:spPr>
              <a:xfrm>
                <a:off x="3765484" y="4465421"/>
                <a:ext cx="1656284" cy="369332"/>
              </a:xfrm>
              <a:prstGeom prst="rect">
                <a:avLst/>
              </a:prstGeom>
              <a:blipFill>
                <a:blip r:embed="rId9"/>
                <a:stretch>
                  <a:fillRect l="-1107" r="-3690" b="-13333"/>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3" name="TextBox 2">
                <a:extLst>
                  <a:ext uri="{FF2B5EF4-FFF2-40B4-BE49-F238E27FC236}">
                    <a16:creationId xmlns:a16="http://schemas.microsoft.com/office/drawing/2014/main" id="{21E1D216-DDB3-3BF5-EAEC-3C20F5E61068}"/>
                  </a:ext>
                </a:extLst>
              </p:cNvPr>
              <p:cNvSpPr txBox="1"/>
              <p:nvPr/>
            </p:nvSpPr>
            <p:spPr>
              <a:xfrm>
                <a:off x="6415806" y="2968297"/>
                <a:ext cx="2635786" cy="563616"/>
              </a:xfrm>
              <a:prstGeom prst="rect">
                <a:avLst/>
              </a:prstGeom>
              <a:noFill/>
            </p:spPr>
            <p:txBody>
              <a:bodyPr wrap="square">
                <a:spAutoFit/>
              </a:bodyPr>
              <a:lstStyle/>
              <a:p>
                <a14:m>
                  <m:oMath xmlns:m="http://schemas.openxmlformats.org/officeDocument/2006/math">
                    <m:sSub>
                      <m:sSubPr>
                        <m:ctrlPr>
                          <a:rPr lang="tr-TR" b="0" i="1" smtClean="0">
                            <a:latin typeface="Cambria Math" panose="02040503050406030204" pitchFamily="18" charset="0"/>
                          </a:rPr>
                        </m:ctrlPr>
                      </m:sSubPr>
                      <m:e>
                        <m:r>
                          <a:rPr lang="tr-TR" b="0" i="1" smtClean="0">
                            <a:latin typeface="Cambria Math" panose="02040503050406030204" pitchFamily="18" charset="0"/>
                          </a:rPr>
                          <m:t>𝑤</m:t>
                        </m:r>
                      </m:e>
                      <m:sub>
                        <m:r>
                          <a:rPr lang="tr-TR" b="0" i="1" smtClean="0">
                            <a:latin typeface="Cambria Math" panose="02040503050406030204" pitchFamily="18" charset="0"/>
                          </a:rPr>
                          <m:t>𝑗</m:t>
                        </m:r>
                      </m:sub>
                    </m:sSub>
                    <m:r>
                      <a:rPr lang="tr-TR" b="0" i="1" smtClean="0">
                        <a:latin typeface="Cambria Math" panose="02040503050406030204" pitchFamily="18" charset="0"/>
                      </a:rPr>
                      <m:t>=</m:t>
                    </m:r>
                    <m:sSub>
                      <m:sSubPr>
                        <m:ctrlPr>
                          <a:rPr lang="tr-TR" b="0" i="1" smtClean="0">
                            <a:latin typeface="Cambria Math" panose="02040503050406030204" pitchFamily="18" charset="0"/>
                          </a:rPr>
                        </m:ctrlPr>
                      </m:sSubPr>
                      <m:e>
                        <m:r>
                          <a:rPr lang="tr-TR" b="0" i="1" smtClean="0">
                            <a:latin typeface="Cambria Math" panose="02040503050406030204" pitchFamily="18" charset="0"/>
                          </a:rPr>
                          <m:t>𝑤</m:t>
                        </m:r>
                      </m:e>
                      <m:sub>
                        <m:r>
                          <a:rPr lang="tr-TR" b="0" i="1" smtClean="0">
                            <a:latin typeface="Cambria Math" panose="02040503050406030204" pitchFamily="18" charset="0"/>
                          </a:rPr>
                          <m:t>𝑗</m:t>
                        </m:r>
                      </m:sub>
                    </m:sSub>
                    <m:r>
                      <a:rPr lang="tr-TR" b="0" i="0" smtClean="0">
                        <a:latin typeface="Cambria Math" panose="02040503050406030204" pitchFamily="18" charset="0"/>
                      </a:rPr>
                      <m:t> −</m:t>
                    </m:r>
                    <m:r>
                      <a:rPr lang="tr-TR" b="0" i="1" smtClean="0">
                        <a:latin typeface="Cambria Math" panose="02040503050406030204" pitchFamily="18" charset="0"/>
                        <a:ea typeface="Cambria Math" panose="02040503050406030204" pitchFamily="18" charset="0"/>
                      </a:rPr>
                      <m:t>∝</m:t>
                    </m:r>
                    <m:f>
                      <m:fPr>
                        <m:ctrlPr>
                          <a:rPr lang="tr-TR" b="0" i="1" smtClean="0">
                            <a:latin typeface="Cambria Math" panose="02040503050406030204" pitchFamily="18" charset="0"/>
                            <a:ea typeface="Cambria Math" panose="02040503050406030204" pitchFamily="18" charset="0"/>
                          </a:rPr>
                        </m:ctrlPr>
                      </m:fPr>
                      <m:num>
                        <m:r>
                          <a:rPr lang="tr-TR" b="0" i="1" smtClean="0">
                            <a:latin typeface="Cambria Math" panose="02040503050406030204" pitchFamily="18" charset="0"/>
                            <a:ea typeface="Cambria Math" panose="02040503050406030204" pitchFamily="18" charset="0"/>
                          </a:rPr>
                          <m:t>𝜕</m:t>
                        </m:r>
                      </m:num>
                      <m:den>
                        <m:r>
                          <a:rPr lang="tr-TR" b="0" i="1" smtClean="0">
                            <a:latin typeface="Cambria Math" panose="02040503050406030204" pitchFamily="18" charset="0"/>
                            <a:ea typeface="Cambria Math" panose="02040503050406030204" pitchFamily="18" charset="0"/>
                          </a:rPr>
                          <m:t>𝜕</m:t>
                        </m:r>
                        <m:sSub>
                          <m:sSubPr>
                            <m:ctrlPr>
                              <a:rPr lang="tr-TR" b="0" i="1" smtClean="0">
                                <a:latin typeface="Cambria Math" panose="02040503050406030204" pitchFamily="18" charset="0"/>
                              </a:rPr>
                            </m:ctrlPr>
                          </m:sSubPr>
                          <m:e>
                            <m:r>
                              <a:rPr lang="tr-TR" b="0" i="1" smtClean="0">
                                <a:latin typeface="Cambria Math" panose="02040503050406030204" pitchFamily="18" charset="0"/>
                              </a:rPr>
                              <m:t>𝑤</m:t>
                            </m:r>
                          </m:e>
                          <m:sub>
                            <m:r>
                              <a:rPr lang="tr-TR" b="0" i="1" smtClean="0">
                                <a:latin typeface="Cambria Math" panose="02040503050406030204" pitchFamily="18" charset="0"/>
                              </a:rPr>
                              <m:t>𝑗</m:t>
                            </m:r>
                          </m:sub>
                        </m:sSub>
                      </m:den>
                    </m:f>
                  </m:oMath>
                </a14:m>
                <a:r>
                  <a:rPr lang="tr-TR" b="0" dirty="0"/>
                  <a:t> </a:t>
                </a:r>
                <a14:m>
                  <m:oMath xmlns:m="http://schemas.openxmlformats.org/officeDocument/2006/math">
                    <m:r>
                      <a:rPr lang="tr-TR" b="0" i="1" smtClean="0">
                        <a:latin typeface="Cambria Math" panose="02040503050406030204" pitchFamily="18" charset="0"/>
                      </a:rPr>
                      <m:t>𝐽</m:t>
                    </m:r>
                    <m:d>
                      <m:dPr>
                        <m:ctrlPr>
                          <a:rPr lang="tr-TR" b="0" i="1" smtClean="0">
                            <a:latin typeface="Cambria Math" panose="02040503050406030204" pitchFamily="18" charset="0"/>
                          </a:rPr>
                        </m:ctrlPr>
                      </m:dPr>
                      <m:e>
                        <m:bar>
                          <m:barPr>
                            <m:pos m:val="top"/>
                            <m:ctrlPr>
                              <a:rPr lang="tr-TR" b="0" i="1" smtClean="0">
                                <a:latin typeface="Cambria Math" panose="02040503050406030204" pitchFamily="18" charset="0"/>
                              </a:rPr>
                            </m:ctrlPr>
                          </m:barPr>
                          <m:e>
                            <m:r>
                              <a:rPr lang="tr-TR" b="0" i="1" smtClean="0">
                                <a:latin typeface="Cambria Math" panose="02040503050406030204" pitchFamily="18" charset="0"/>
                              </a:rPr>
                              <m:t>𝑤</m:t>
                            </m:r>
                          </m:e>
                        </m:bar>
                        <m:r>
                          <a:rPr lang="tr-TR" b="0" i="1" smtClean="0">
                            <a:latin typeface="Cambria Math" panose="02040503050406030204" pitchFamily="18" charset="0"/>
                          </a:rPr>
                          <m:t>,</m:t>
                        </m:r>
                        <m:r>
                          <a:rPr lang="tr-TR" b="0" i="1" smtClean="0">
                            <a:latin typeface="Cambria Math" panose="02040503050406030204" pitchFamily="18" charset="0"/>
                          </a:rPr>
                          <m:t>𝑏</m:t>
                        </m:r>
                      </m:e>
                    </m:d>
                  </m:oMath>
                </a14:m>
                <a:endParaRPr lang="en-US" dirty="0"/>
              </a:p>
            </p:txBody>
          </p:sp>
        </mc:Choice>
        <mc:Fallback xmlns="">
          <p:sp>
            <p:nvSpPr>
              <p:cNvPr id="3" name="TextBox 2">
                <a:extLst>
                  <a:ext uri="{FF2B5EF4-FFF2-40B4-BE49-F238E27FC236}">
                    <a16:creationId xmlns:a16="http://schemas.microsoft.com/office/drawing/2014/main" id="{21E1D216-DDB3-3BF5-EAEC-3C20F5E61068}"/>
                  </a:ext>
                </a:extLst>
              </p:cNvPr>
              <p:cNvSpPr txBox="1">
                <a:spLocks noRot="1" noChangeAspect="1" noMove="1" noResize="1" noEditPoints="1" noAdjustHandles="1" noChangeArrowheads="1" noChangeShapeType="1" noTextEdit="1"/>
              </p:cNvSpPr>
              <p:nvPr/>
            </p:nvSpPr>
            <p:spPr>
              <a:xfrm>
                <a:off x="6415806" y="2968297"/>
                <a:ext cx="2635786" cy="563616"/>
              </a:xfrm>
              <a:prstGeom prst="rect">
                <a:avLst/>
              </a:prstGeom>
              <a:blipFill>
                <a:blip r:embed="rId10"/>
                <a:stretch>
                  <a:fillRect b="-4348"/>
                </a:stretch>
              </a:blipFill>
            </p:spPr>
            <p:txBody>
              <a:bodyPr/>
              <a:lstStyle/>
              <a:p>
                <a:r>
                  <a:rPr lang="en-US">
                    <a:noFill/>
                  </a:rPr>
                  <a:t> </a:t>
                </a:r>
              </a:p>
            </p:txBody>
          </p:sp>
        </mc:Fallback>
      </mc:AlternateContent>
      <p:sp>
        <p:nvSpPr>
          <p:cNvPr id="2" name="Rectangle">
            <a:extLst>
              <a:ext uri="{FF2B5EF4-FFF2-40B4-BE49-F238E27FC236}">
                <a16:creationId xmlns:a16="http://schemas.microsoft.com/office/drawing/2014/main" id="{DB267A35-B118-7635-0BCF-6FD6C7ED2450}"/>
              </a:ext>
            </a:extLst>
          </p:cNvPr>
          <p:cNvSpPr/>
          <p:nvPr/>
        </p:nvSpPr>
        <p:spPr>
          <a:xfrm>
            <a:off x="-11767" y="6545179"/>
            <a:ext cx="12203767" cy="315200"/>
          </a:xfrm>
          <a:prstGeom prst="rect">
            <a:avLst/>
          </a:prstGeom>
          <a:solidFill>
            <a:schemeClr val="tx1"/>
          </a:solidFill>
          <a:ln w="12700">
            <a:noFill/>
            <a:miter lim="400000"/>
          </a:ln>
        </p:spPr>
        <p:txBody>
          <a:bodyPr lIns="45719" rIns="45719" anchor="ctr"/>
          <a:lstStyle/>
          <a:p>
            <a:endParaRPr/>
          </a:p>
        </p:txBody>
      </p:sp>
      <p:pic>
        <p:nvPicPr>
          <p:cNvPr id="4" name="Picture 3" descr="Frontier Tech Leaders (@FTLeadersProg) / X">
            <a:extLst>
              <a:ext uri="{FF2B5EF4-FFF2-40B4-BE49-F238E27FC236}">
                <a16:creationId xmlns:a16="http://schemas.microsoft.com/office/drawing/2014/main" id="{85597203-858F-3F6D-CDA6-E6DEA46A5D4F}"/>
              </a:ext>
            </a:extLst>
          </p:cNvPr>
          <p:cNvPicPr>
            <a:picLocks noChangeAspect="1"/>
          </p:cNvPicPr>
          <p:nvPr/>
        </p:nvPicPr>
        <p:blipFill>
          <a:blip r:embed="rId11"/>
          <a:stretch>
            <a:fillRect/>
          </a:stretch>
        </p:blipFill>
        <p:spPr>
          <a:xfrm>
            <a:off x="10668000" y="94470"/>
            <a:ext cx="1027893" cy="1027893"/>
          </a:xfrm>
          <a:prstGeom prst="rect">
            <a:avLst/>
          </a:prstGeom>
        </p:spPr>
      </p:pic>
    </p:spTree>
    <p:extLst>
      <p:ext uri="{BB962C8B-B14F-4D97-AF65-F5344CB8AC3E}">
        <p14:creationId xmlns:p14="http://schemas.microsoft.com/office/powerpoint/2010/main" val="115050274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6"/>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13"/>
                                        </p:tgtEl>
                                        <p:attrNameLst>
                                          <p:attrName>style.visibility</p:attrName>
                                        </p:attrNameLst>
                                      </p:cBhvr>
                                      <p:to>
                                        <p:strVal val="visible"/>
                                      </p:to>
                                    </p:set>
                                  </p:childTnLst>
                                </p:cTn>
                              </p:par>
                              <p:par>
                                <p:cTn id="9" presetID="1" presetClass="entr" presetSubtype="0" fill="hold" nodeType="withEffect">
                                  <p:stCondLst>
                                    <p:cond delay="0"/>
                                  </p:stCondLst>
                                  <p:childTnLst>
                                    <p:set>
                                      <p:cBhvr>
                                        <p:cTn id="10" dur="1" fill="hold">
                                          <p:stCondLst>
                                            <p:cond delay="0"/>
                                          </p:stCondLst>
                                        </p:cTn>
                                        <p:tgtEl>
                                          <p:spTgt spid="7"/>
                                        </p:tgtEl>
                                        <p:attrNameLst>
                                          <p:attrName>style.visibility</p:attrName>
                                        </p:attrNameLst>
                                      </p:cBhvr>
                                      <p:to>
                                        <p:strVal val="visible"/>
                                      </p:to>
                                    </p:set>
                                  </p:childTnLst>
                                </p:cTn>
                              </p:par>
                              <p:par>
                                <p:cTn id="11" presetID="1" presetClass="entr" presetSubtype="0" fill="hold" grpId="0" nodeType="withEffect">
                                  <p:stCondLst>
                                    <p:cond delay="0"/>
                                  </p:stCondLst>
                                  <p:childTnLst>
                                    <p:set>
                                      <p:cBhvr>
                                        <p:cTn id="12" dur="1" fill="hold">
                                          <p:stCondLst>
                                            <p:cond delay="0"/>
                                          </p:stCondLst>
                                        </p:cTn>
                                        <p:tgtEl>
                                          <p:spTgt spid="11"/>
                                        </p:tgtEl>
                                        <p:attrNameLst>
                                          <p:attrName>style.visibility</p:attrName>
                                        </p:attrNameLst>
                                      </p:cBhvr>
                                      <p:to>
                                        <p:strVal val="visible"/>
                                      </p:to>
                                    </p:set>
                                  </p:childTnLst>
                                </p:cTn>
                              </p:par>
                              <p:par>
                                <p:cTn id="13" presetID="1" presetClass="entr" presetSubtype="0" fill="hold" grpId="0" nodeType="withEffect">
                                  <p:stCondLst>
                                    <p:cond delay="0"/>
                                  </p:stCondLst>
                                  <p:childTnLst>
                                    <p:set>
                                      <p:cBhvr>
                                        <p:cTn id="14" dur="1" fill="hold">
                                          <p:stCondLst>
                                            <p:cond delay="0"/>
                                          </p:stCondLst>
                                        </p:cTn>
                                        <p:tgtEl>
                                          <p:spTgt spid="17"/>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20"/>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nodeType="clickEffect">
                                  <p:stCondLst>
                                    <p:cond delay="0"/>
                                  </p:stCondLst>
                                  <p:childTnLst>
                                    <p:set>
                                      <p:cBhvr>
                                        <p:cTn id="22" dur="1" fill="hold">
                                          <p:stCondLst>
                                            <p:cond delay="0"/>
                                          </p:stCondLst>
                                        </p:cTn>
                                        <p:tgtEl>
                                          <p:spTgt spid="22"/>
                                        </p:tgtEl>
                                        <p:attrNameLst>
                                          <p:attrName>style.visibility</p:attrName>
                                        </p:attrNameLst>
                                      </p:cBhvr>
                                      <p:to>
                                        <p:strVal val="visible"/>
                                      </p:to>
                                    </p:set>
                                  </p:childTnLst>
                                </p:cTn>
                              </p:par>
                              <p:par>
                                <p:cTn id="23" presetID="1" presetClass="entr" presetSubtype="0" fill="hold" nodeType="withEffect">
                                  <p:stCondLst>
                                    <p:cond delay="0"/>
                                  </p:stCondLst>
                                  <p:childTnLst>
                                    <p:set>
                                      <p:cBhvr>
                                        <p:cTn id="24" dur="1" fill="hold">
                                          <p:stCondLst>
                                            <p:cond delay="0"/>
                                          </p:stCondLst>
                                        </p:cTn>
                                        <p:tgtEl>
                                          <p:spTgt spid="24"/>
                                        </p:tgtEl>
                                        <p:attrNameLst>
                                          <p:attrName>style.visibility</p:attrName>
                                        </p:attrNameLst>
                                      </p:cBhvr>
                                      <p:to>
                                        <p:strVal val="visible"/>
                                      </p:to>
                                    </p:set>
                                  </p:childTnLst>
                                </p:cTn>
                              </p:par>
                              <p:par>
                                <p:cTn id="25" presetID="1" presetClass="entr" presetSubtype="0" fill="hold" nodeType="withEffect">
                                  <p:stCondLst>
                                    <p:cond delay="0"/>
                                  </p:stCondLst>
                                  <p:childTnLst>
                                    <p:set>
                                      <p:cBhvr>
                                        <p:cTn id="26" dur="1" fill="hold">
                                          <p:stCondLst>
                                            <p:cond delay="0"/>
                                          </p:stCondLst>
                                        </p:cTn>
                                        <p:tgtEl>
                                          <p:spTgt spid="34"/>
                                        </p:tgtEl>
                                        <p:attrNameLst>
                                          <p:attrName>style.visibility</p:attrName>
                                        </p:attrNameLst>
                                      </p:cBhvr>
                                      <p:to>
                                        <p:strVal val="visible"/>
                                      </p:to>
                                    </p:set>
                                  </p:childTnLst>
                                </p:cTn>
                              </p:par>
                            </p:childTnLst>
                          </p:cTn>
                        </p:par>
                      </p:childTnLst>
                    </p:cTn>
                  </p:par>
                  <p:par>
                    <p:cTn id="27" fill="hold">
                      <p:stCondLst>
                        <p:cond delay="indefinite"/>
                      </p:stCondLst>
                      <p:childTnLst>
                        <p:par>
                          <p:cTn id="28" fill="hold">
                            <p:stCondLst>
                              <p:cond delay="0"/>
                            </p:stCondLst>
                            <p:childTnLst>
                              <p:par>
                                <p:cTn id="29" presetID="1" presetClass="entr" presetSubtype="0" fill="hold" grpId="0" nodeType="clickEffect">
                                  <p:stCondLst>
                                    <p:cond delay="0"/>
                                  </p:stCondLst>
                                  <p:childTnLst>
                                    <p:set>
                                      <p:cBhvr>
                                        <p:cTn id="30" dur="1" fill="hold">
                                          <p:stCondLst>
                                            <p:cond delay="0"/>
                                          </p:stCondLst>
                                        </p:cTn>
                                        <p:tgtEl>
                                          <p:spTgt spid="40"/>
                                        </p:tgtEl>
                                        <p:attrNameLst>
                                          <p:attrName>style.visibility</p:attrName>
                                        </p:attrNameLst>
                                      </p:cBhvr>
                                      <p:to>
                                        <p:strVal val="visible"/>
                                      </p:to>
                                    </p:set>
                                  </p:childTnLst>
                                </p:cTn>
                              </p:par>
                            </p:childTnLst>
                          </p:cTn>
                        </p:par>
                      </p:childTnLst>
                    </p:cTn>
                  </p:par>
                  <p:par>
                    <p:cTn id="31" fill="hold">
                      <p:stCondLst>
                        <p:cond delay="indefinite"/>
                      </p:stCondLst>
                      <p:childTnLst>
                        <p:par>
                          <p:cTn id="32" fill="hold">
                            <p:stCondLst>
                              <p:cond delay="0"/>
                            </p:stCondLst>
                            <p:childTnLst>
                              <p:par>
                                <p:cTn id="33" presetID="22" presetClass="entr" presetSubtype="4" fill="hold" nodeType="clickEffect">
                                  <p:stCondLst>
                                    <p:cond delay="0"/>
                                  </p:stCondLst>
                                  <p:childTnLst>
                                    <p:set>
                                      <p:cBhvr>
                                        <p:cTn id="34" dur="1" fill="hold">
                                          <p:stCondLst>
                                            <p:cond delay="0"/>
                                          </p:stCondLst>
                                        </p:cTn>
                                        <p:tgtEl>
                                          <p:spTgt spid="3">
                                            <p:txEl>
                                              <p:pRg st="0" end="0"/>
                                            </p:txEl>
                                          </p:spTgt>
                                        </p:tgtEl>
                                        <p:attrNameLst>
                                          <p:attrName>style.visibility</p:attrName>
                                        </p:attrNameLst>
                                      </p:cBhvr>
                                      <p:to>
                                        <p:strVal val="visible"/>
                                      </p:to>
                                    </p:set>
                                    <p:animEffect transition="in" filter="wipe(down)">
                                      <p:cBhvr>
                                        <p:cTn id="35" dur="500"/>
                                        <p:tgtEl>
                                          <p:spTgt spid="3">
                                            <p:txEl>
                                              <p:pRg st="0" end="0"/>
                                            </p:txEl>
                                          </p:spTgt>
                                        </p:tgtEl>
                                      </p:cBhvr>
                                    </p:animEffect>
                                  </p:childTnLst>
                                </p:cTn>
                              </p:par>
                            </p:childTnLst>
                          </p:cTn>
                        </p:par>
                      </p:childTnLst>
                    </p:cTn>
                  </p:par>
                  <p:par>
                    <p:cTn id="36" fill="hold">
                      <p:stCondLst>
                        <p:cond delay="indefinite"/>
                      </p:stCondLst>
                      <p:childTnLst>
                        <p:par>
                          <p:cTn id="37" fill="hold">
                            <p:stCondLst>
                              <p:cond delay="0"/>
                            </p:stCondLst>
                            <p:childTnLst>
                              <p:par>
                                <p:cTn id="38" presetID="1" presetClass="entr" presetSubtype="0" fill="hold" nodeType="clickEffect">
                                  <p:stCondLst>
                                    <p:cond delay="0"/>
                                  </p:stCondLst>
                                  <p:childTnLst>
                                    <p:set>
                                      <p:cBhvr>
                                        <p:cTn id="39" dur="1" fill="hold">
                                          <p:stCondLst>
                                            <p:cond delay="0"/>
                                          </p:stCondLst>
                                        </p:cTn>
                                        <p:tgtEl>
                                          <p:spTgt spid="9"/>
                                        </p:tgtEl>
                                        <p:attrNameLst>
                                          <p:attrName>style.visibility</p:attrName>
                                        </p:attrNameLst>
                                      </p:cBhvr>
                                      <p:to>
                                        <p:strVal val="visible"/>
                                      </p:to>
                                    </p:set>
                                  </p:childTnLst>
                                </p:cTn>
                              </p:par>
                              <p:par>
                                <p:cTn id="40" presetID="1" presetClass="entr" presetSubtype="0" fill="hold" nodeType="withEffect">
                                  <p:stCondLst>
                                    <p:cond delay="0"/>
                                  </p:stCondLst>
                                  <p:childTnLst>
                                    <p:set>
                                      <p:cBhvr>
                                        <p:cTn id="41" dur="1" fill="hold">
                                          <p:stCondLst>
                                            <p:cond delay="0"/>
                                          </p:stCondLst>
                                        </p:cTn>
                                        <p:tgtEl>
                                          <p:spTgt spid="8"/>
                                        </p:tgtEl>
                                        <p:attrNameLst>
                                          <p:attrName>style.visibility</p:attrName>
                                        </p:attrNameLst>
                                      </p:cBhvr>
                                      <p:to>
                                        <p:strVal val="visible"/>
                                      </p:to>
                                    </p:set>
                                  </p:childTnLst>
                                </p:cTn>
                              </p:par>
                              <p:par>
                                <p:cTn id="42" presetID="1" presetClass="entr" presetSubtype="0" fill="hold" grpId="0" nodeType="withEffect">
                                  <p:stCondLst>
                                    <p:cond delay="0"/>
                                  </p:stCondLst>
                                  <p:childTnLst>
                                    <p:set>
                                      <p:cBhvr>
                                        <p:cTn id="43" dur="1" fill="hold">
                                          <p:stCondLst>
                                            <p:cond delay="0"/>
                                          </p:stCondLst>
                                        </p:cTn>
                                        <p:tgtEl>
                                          <p:spTgt spid="14"/>
                                        </p:tgtEl>
                                        <p:attrNameLst>
                                          <p:attrName>style.visibility</p:attrName>
                                        </p:attrNameLst>
                                      </p:cBhvr>
                                      <p:to>
                                        <p:strVal val="visible"/>
                                      </p:to>
                                    </p:set>
                                  </p:childTnLst>
                                </p:cTn>
                              </p:par>
                              <p:par>
                                <p:cTn id="44" presetID="1" presetClass="entr" presetSubtype="0" fill="hold" grpId="0" nodeType="withEffect">
                                  <p:stCondLst>
                                    <p:cond delay="0"/>
                                  </p:stCondLst>
                                  <p:childTnLst>
                                    <p:set>
                                      <p:cBhvr>
                                        <p:cTn id="45" dur="1" fill="hold">
                                          <p:stCondLst>
                                            <p:cond delay="0"/>
                                          </p:stCondLst>
                                        </p:cTn>
                                        <p:tgtEl>
                                          <p:spTgt spid="15"/>
                                        </p:tgtEl>
                                        <p:attrNameLst>
                                          <p:attrName>style.visibility</p:attrName>
                                        </p:attrNameLst>
                                      </p:cBhvr>
                                      <p:to>
                                        <p:strVal val="visible"/>
                                      </p:to>
                                    </p:set>
                                  </p:childTnLst>
                                </p:cTn>
                              </p:par>
                              <p:par>
                                <p:cTn id="46" presetID="1" presetClass="entr" presetSubtype="0" fill="hold" grpId="0" nodeType="withEffect">
                                  <p:stCondLst>
                                    <p:cond delay="0"/>
                                  </p:stCondLst>
                                  <p:childTnLst>
                                    <p:set>
                                      <p:cBhvr>
                                        <p:cTn id="47" dur="1" fill="hold">
                                          <p:stCondLst>
                                            <p:cond delay="0"/>
                                          </p:stCondLst>
                                        </p:cTn>
                                        <p:tgtEl>
                                          <p:spTgt spid="18"/>
                                        </p:tgtEl>
                                        <p:attrNameLst>
                                          <p:attrName>style.visibility</p:attrName>
                                        </p:attrNameLst>
                                      </p:cBhvr>
                                      <p:to>
                                        <p:strVal val="visible"/>
                                      </p:to>
                                    </p:set>
                                  </p:childTnLst>
                                </p:cTn>
                              </p:par>
                            </p:childTnLst>
                          </p:cTn>
                        </p:par>
                      </p:childTnLst>
                    </p:cTn>
                  </p:par>
                  <p:par>
                    <p:cTn id="48" fill="hold">
                      <p:stCondLst>
                        <p:cond delay="indefinite"/>
                      </p:stCondLst>
                      <p:childTnLst>
                        <p:par>
                          <p:cTn id="49" fill="hold">
                            <p:stCondLst>
                              <p:cond delay="0"/>
                            </p:stCondLst>
                            <p:childTnLst>
                              <p:par>
                                <p:cTn id="50" presetID="1" presetClass="entr" presetSubtype="0" fill="hold" nodeType="clickEffect">
                                  <p:stCondLst>
                                    <p:cond delay="0"/>
                                  </p:stCondLst>
                                  <p:childTnLst>
                                    <p:set>
                                      <p:cBhvr>
                                        <p:cTn id="51" dur="1" fill="hold">
                                          <p:stCondLst>
                                            <p:cond delay="0"/>
                                          </p:stCondLst>
                                        </p:cTn>
                                        <p:tgtEl>
                                          <p:spTgt spid="29"/>
                                        </p:tgtEl>
                                        <p:attrNameLst>
                                          <p:attrName>style.visibility</p:attrName>
                                        </p:attrNameLst>
                                      </p:cBhvr>
                                      <p:to>
                                        <p:strVal val="visible"/>
                                      </p:to>
                                    </p:set>
                                  </p:childTnLst>
                                </p:cTn>
                              </p:par>
                            </p:childTnLst>
                          </p:cTn>
                        </p:par>
                      </p:childTnLst>
                    </p:cTn>
                  </p:par>
                  <p:par>
                    <p:cTn id="52" fill="hold">
                      <p:stCondLst>
                        <p:cond delay="indefinite"/>
                      </p:stCondLst>
                      <p:childTnLst>
                        <p:par>
                          <p:cTn id="53" fill="hold">
                            <p:stCondLst>
                              <p:cond delay="0"/>
                            </p:stCondLst>
                            <p:childTnLst>
                              <p:par>
                                <p:cTn id="54" presetID="1" presetClass="entr" presetSubtype="0" fill="hold" nodeType="clickEffect">
                                  <p:stCondLst>
                                    <p:cond delay="0"/>
                                  </p:stCondLst>
                                  <p:childTnLst>
                                    <p:set>
                                      <p:cBhvr>
                                        <p:cTn id="55" dur="1" fill="hold">
                                          <p:stCondLst>
                                            <p:cond delay="0"/>
                                          </p:stCondLst>
                                        </p:cTn>
                                        <p:tgtEl>
                                          <p:spTgt spid="31"/>
                                        </p:tgtEl>
                                        <p:attrNameLst>
                                          <p:attrName>style.visibility</p:attrName>
                                        </p:attrNameLst>
                                      </p:cBhvr>
                                      <p:to>
                                        <p:strVal val="visible"/>
                                      </p:to>
                                    </p:set>
                                  </p:childTnLst>
                                </p:cTn>
                              </p:par>
                              <p:par>
                                <p:cTn id="56" presetID="1" presetClass="entr" presetSubtype="0" fill="hold" nodeType="withEffect">
                                  <p:stCondLst>
                                    <p:cond delay="0"/>
                                  </p:stCondLst>
                                  <p:childTnLst>
                                    <p:set>
                                      <p:cBhvr>
                                        <p:cTn id="57" dur="1" fill="hold">
                                          <p:stCondLst>
                                            <p:cond delay="0"/>
                                          </p:stCondLst>
                                        </p:cTn>
                                        <p:tgtEl>
                                          <p:spTgt spid="32"/>
                                        </p:tgtEl>
                                        <p:attrNameLst>
                                          <p:attrName>style.visibility</p:attrName>
                                        </p:attrNameLst>
                                      </p:cBhvr>
                                      <p:to>
                                        <p:strVal val="visible"/>
                                      </p:to>
                                    </p:set>
                                  </p:childTnLst>
                                </p:cTn>
                              </p:par>
                              <p:par>
                                <p:cTn id="58" presetID="1" presetClass="entr" presetSubtype="0" fill="hold" nodeType="withEffect">
                                  <p:stCondLst>
                                    <p:cond delay="0"/>
                                  </p:stCondLst>
                                  <p:childTnLst>
                                    <p:set>
                                      <p:cBhvr>
                                        <p:cTn id="59" dur="1" fill="hold">
                                          <p:stCondLst>
                                            <p:cond delay="0"/>
                                          </p:stCondLst>
                                        </p:cTn>
                                        <p:tgtEl>
                                          <p:spTgt spid="37"/>
                                        </p:tgtEl>
                                        <p:attrNameLst>
                                          <p:attrName>style.visibility</p:attrName>
                                        </p:attrNameLst>
                                      </p:cBhvr>
                                      <p:to>
                                        <p:strVal val="visible"/>
                                      </p:to>
                                    </p:set>
                                  </p:childTnLst>
                                </p:cTn>
                              </p:par>
                            </p:childTnLst>
                          </p:cTn>
                        </p:par>
                      </p:childTnLst>
                    </p:cTn>
                  </p:par>
                  <p:par>
                    <p:cTn id="60" fill="hold">
                      <p:stCondLst>
                        <p:cond delay="indefinite"/>
                      </p:stCondLst>
                      <p:childTnLst>
                        <p:par>
                          <p:cTn id="61" fill="hold">
                            <p:stCondLst>
                              <p:cond delay="0"/>
                            </p:stCondLst>
                            <p:childTnLst>
                              <p:par>
                                <p:cTn id="62" presetID="1" presetClass="entr" presetSubtype="0" fill="hold" grpId="0" nodeType="clickEffect">
                                  <p:stCondLst>
                                    <p:cond delay="0"/>
                                  </p:stCondLst>
                                  <p:childTnLst>
                                    <p:set>
                                      <p:cBhvr>
                                        <p:cTn id="63" dur="1" fill="hold">
                                          <p:stCondLst>
                                            <p:cond delay="0"/>
                                          </p:stCondLst>
                                        </p:cTn>
                                        <p:tgtEl>
                                          <p:spTgt spid="41"/>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1" grpId="0"/>
      <p:bldP spid="13" grpId="0"/>
      <p:bldP spid="14" grpId="0"/>
      <p:bldP spid="15" grpId="0"/>
      <p:bldP spid="17" grpId="0" animBg="1"/>
      <p:bldP spid="18" grpId="0" animBg="1"/>
      <p:bldP spid="40" grpId="0"/>
      <p:bldP spid="41" grpId="0"/>
    </p:bldLst>
  </p:timing>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75A1B05-DC20-EADC-289A-B29302932639}"/>
              </a:ext>
            </a:extLst>
          </p:cNvPr>
          <p:cNvSpPr>
            <a:spLocks noGrp="1"/>
          </p:cNvSpPr>
          <p:nvPr>
            <p:ph type="title"/>
          </p:nvPr>
        </p:nvSpPr>
        <p:spPr>
          <a:xfrm>
            <a:off x="838200" y="365125"/>
            <a:ext cx="10515600" cy="1325563"/>
          </a:xfrm>
        </p:spPr>
        <p:txBody>
          <a:bodyPr>
            <a:normAutofit/>
          </a:bodyPr>
          <a:lstStyle/>
          <a:p>
            <a:pPr algn="ctr"/>
            <a:r>
              <a:rPr lang="tr-TR" dirty="0"/>
              <a:t>Learning Rate</a:t>
            </a:r>
            <a:endParaRPr lang="en-US" dirty="0"/>
          </a:p>
        </p:txBody>
      </p:sp>
      <p:pic>
        <p:nvPicPr>
          <p:cNvPr id="4" name="gradient_descent_animation">
            <a:hlinkClick r:id="" action="ppaction://media"/>
            <a:extLst>
              <a:ext uri="{FF2B5EF4-FFF2-40B4-BE49-F238E27FC236}">
                <a16:creationId xmlns:a16="http://schemas.microsoft.com/office/drawing/2014/main" id="{A28D1218-6B82-8553-9686-908FF20E1F1F}"/>
              </a:ext>
            </a:extLst>
          </p:cNvPr>
          <p:cNvPicPr>
            <a:picLocks noChangeAspect="1"/>
          </p:cNvPicPr>
          <p:nvPr>
            <a:videoFile r:link="rId2"/>
            <p:extLst>
              <p:ext uri="{DAA4B4D4-6D71-4841-9C94-3DE7FCFB9230}">
                <p14:media xmlns:p14="http://schemas.microsoft.com/office/powerpoint/2010/main" r:embed="rId1"/>
              </p:ext>
            </p:extLst>
          </p:nvPr>
        </p:nvPicPr>
        <p:blipFill>
          <a:blip r:embed="rId7"/>
          <a:stretch>
            <a:fillRect/>
          </a:stretch>
        </p:blipFill>
        <p:spPr>
          <a:xfrm>
            <a:off x="2293387" y="2513214"/>
            <a:ext cx="3455229" cy="2834496"/>
          </a:xfrm>
          <a:prstGeom prst="rect">
            <a:avLst/>
          </a:prstGeom>
        </p:spPr>
      </p:pic>
      <p:pic>
        <p:nvPicPr>
          <p:cNvPr id="5" name="zigzag">
            <a:hlinkClick r:id="" action="ppaction://media"/>
            <a:extLst>
              <a:ext uri="{FF2B5EF4-FFF2-40B4-BE49-F238E27FC236}">
                <a16:creationId xmlns:a16="http://schemas.microsoft.com/office/drawing/2014/main" id="{AE002A69-87F9-4827-336F-2960C2529BCC}"/>
              </a:ext>
            </a:extLst>
          </p:cNvPr>
          <p:cNvPicPr>
            <a:picLocks noChangeAspect="1"/>
          </p:cNvPicPr>
          <p:nvPr>
            <a:videoFile r:link="rId4"/>
            <p:extLst>
              <p:ext uri="{DAA4B4D4-6D71-4841-9C94-3DE7FCFB9230}">
                <p14:media xmlns:p14="http://schemas.microsoft.com/office/powerpoint/2010/main" r:embed="rId3"/>
              </p:ext>
            </p:extLst>
          </p:nvPr>
        </p:nvPicPr>
        <p:blipFill>
          <a:blip r:embed="rId8"/>
          <a:stretch>
            <a:fillRect/>
          </a:stretch>
        </p:blipFill>
        <p:spPr>
          <a:xfrm>
            <a:off x="6119284" y="2513214"/>
            <a:ext cx="3779329" cy="2834496"/>
          </a:xfrm>
          <a:prstGeom prst="rect">
            <a:avLst/>
          </a:prstGeom>
        </p:spPr>
      </p:pic>
      <p:sp>
        <p:nvSpPr>
          <p:cNvPr id="6" name="TextBox 5">
            <a:extLst>
              <a:ext uri="{FF2B5EF4-FFF2-40B4-BE49-F238E27FC236}">
                <a16:creationId xmlns:a16="http://schemas.microsoft.com/office/drawing/2014/main" id="{91DC68C1-E81E-AF75-411E-91F27662EF34}"/>
              </a:ext>
            </a:extLst>
          </p:cNvPr>
          <p:cNvSpPr txBox="1"/>
          <p:nvPr/>
        </p:nvSpPr>
        <p:spPr>
          <a:xfrm>
            <a:off x="3020336" y="5785981"/>
            <a:ext cx="2184068" cy="390982"/>
          </a:xfrm>
          <a:prstGeom prst="rect">
            <a:avLst/>
          </a:prstGeom>
          <a:noFill/>
        </p:spPr>
        <p:txBody>
          <a:bodyPr wrap="none" rtlCol="0">
            <a:spAutoFit/>
          </a:bodyPr>
          <a:lstStyle/>
          <a:p>
            <a:pPr defTabSz="960120">
              <a:spcAft>
                <a:spcPts val="600"/>
              </a:spcAft>
            </a:pPr>
            <a:r>
              <a:rPr lang="tr-TR" sz="1890" kern="1200" err="1">
                <a:solidFill>
                  <a:schemeClr val="tx1"/>
                </a:solidFill>
                <a:latin typeface="+mn-lt"/>
                <a:ea typeface="+mn-ea"/>
                <a:cs typeface="+mn-cs"/>
              </a:rPr>
              <a:t>Proper</a:t>
            </a:r>
            <a:r>
              <a:rPr lang="tr-TR" sz="1890" kern="1200">
                <a:solidFill>
                  <a:schemeClr val="tx1"/>
                </a:solidFill>
                <a:latin typeface="+mn-lt"/>
                <a:ea typeface="+mn-ea"/>
                <a:cs typeface="+mn-cs"/>
              </a:rPr>
              <a:t> </a:t>
            </a:r>
            <a:r>
              <a:rPr lang="tr-TR" sz="1890" kern="1200" err="1">
                <a:solidFill>
                  <a:schemeClr val="tx1"/>
                </a:solidFill>
                <a:latin typeface="+mn-lt"/>
                <a:ea typeface="+mn-ea"/>
                <a:cs typeface="+mn-cs"/>
              </a:rPr>
              <a:t>learning</a:t>
            </a:r>
            <a:r>
              <a:rPr lang="tr-TR" sz="1890" kern="1200">
                <a:solidFill>
                  <a:schemeClr val="tx1"/>
                </a:solidFill>
                <a:latin typeface="+mn-lt"/>
                <a:ea typeface="+mn-ea"/>
                <a:cs typeface="+mn-cs"/>
              </a:rPr>
              <a:t> rate</a:t>
            </a:r>
            <a:endParaRPr lang="en-US"/>
          </a:p>
        </p:txBody>
      </p:sp>
      <p:sp>
        <p:nvSpPr>
          <p:cNvPr id="7" name="TextBox 6">
            <a:extLst>
              <a:ext uri="{FF2B5EF4-FFF2-40B4-BE49-F238E27FC236}">
                <a16:creationId xmlns:a16="http://schemas.microsoft.com/office/drawing/2014/main" id="{BE981E07-3CFB-F362-A686-7FC0A87FD94B}"/>
              </a:ext>
            </a:extLst>
          </p:cNvPr>
          <p:cNvSpPr txBox="1"/>
          <p:nvPr/>
        </p:nvSpPr>
        <p:spPr>
          <a:xfrm>
            <a:off x="6865453" y="5785981"/>
            <a:ext cx="1787412" cy="383182"/>
          </a:xfrm>
          <a:prstGeom prst="rect">
            <a:avLst/>
          </a:prstGeom>
          <a:noFill/>
        </p:spPr>
        <p:txBody>
          <a:bodyPr wrap="none" rtlCol="0">
            <a:spAutoFit/>
          </a:bodyPr>
          <a:lstStyle/>
          <a:p>
            <a:pPr defTabSz="960120">
              <a:spcAft>
                <a:spcPts val="600"/>
              </a:spcAft>
            </a:pPr>
            <a:r>
              <a:rPr lang="tr-TR" sz="1890" kern="1200" err="1">
                <a:solidFill>
                  <a:schemeClr val="tx1"/>
                </a:solidFill>
                <a:latin typeface="+mn-lt"/>
                <a:ea typeface="+mn-ea"/>
                <a:cs typeface="+mn-cs"/>
              </a:rPr>
              <a:t>Big</a:t>
            </a:r>
            <a:r>
              <a:rPr lang="tr-TR" sz="1890" kern="1200">
                <a:solidFill>
                  <a:schemeClr val="tx1"/>
                </a:solidFill>
                <a:latin typeface="+mn-lt"/>
                <a:ea typeface="+mn-ea"/>
                <a:cs typeface="+mn-cs"/>
              </a:rPr>
              <a:t> </a:t>
            </a:r>
            <a:r>
              <a:rPr lang="tr-TR" sz="1890" kern="1200" err="1">
                <a:solidFill>
                  <a:schemeClr val="tx1"/>
                </a:solidFill>
                <a:latin typeface="+mn-lt"/>
                <a:ea typeface="+mn-ea"/>
                <a:cs typeface="+mn-cs"/>
              </a:rPr>
              <a:t>learning</a:t>
            </a:r>
            <a:r>
              <a:rPr lang="tr-TR" sz="1890" kern="1200">
                <a:solidFill>
                  <a:schemeClr val="tx1"/>
                </a:solidFill>
                <a:latin typeface="+mn-lt"/>
                <a:ea typeface="+mn-ea"/>
                <a:cs typeface="+mn-cs"/>
              </a:rPr>
              <a:t> rate</a:t>
            </a:r>
            <a:endParaRPr lang="en-US"/>
          </a:p>
        </p:txBody>
      </p:sp>
      <mc:AlternateContent xmlns:mc="http://schemas.openxmlformats.org/markup-compatibility/2006" xmlns:a14="http://schemas.microsoft.com/office/drawing/2010/main">
        <mc:Choice Requires="a14">
          <p:sp>
            <p:nvSpPr>
              <p:cNvPr id="3" name="TextBox 2">
                <a:extLst>
                  <a:ext uri="{FF2B5EF4-FFF2-40B4-BE49-F238E27FC236}">
                    <a16:creationId xmlns:a16="http://schemas.microsoft.com/office/drawing/2014/main" id="{3F15B9AB-85EC-A4D6-02C8-69244C5FAC00}"/>
                  </a:ext>
                </a:extLst>
              </p:cNvPr>
              <p:cNvSpPr txBox="1"/>
              <p:nvPr/>
            </p:nvSpPr>
            <p:spPr>
              <a:xfrm>
                <a:off x="4232869" y="1825625"/>
                <a:ext cx="2461353" cy="498637"/>
              </a:xfrm>
              <a:prstGeom prst="rect">
                <a:avLst/>
              </a:prstGeom>
              <a:noFill/>
            </p:spPr>
            <p:txBody>
              <a:bodyPr wrap="none" lIns="0" tIns="0" rIns="0" bIns="0" rtlCol="0">
                <a:spAutoFit/>
              </a:bodyPr>
              <a:lstStyle/>
              <a:p>
                <a:pPr defTabSz="960120">
                  <a:spcAft>
                    <a:spcPts val="600"/>
                  </a:spcAft>
                </a:pPr>
                <a14:m>
                  <m:oMath xmlns:m="http://schemas.openxmlformats.org/officeDocument/2006/math">
                    <m:sSub>
                      <m:sSubPr>
                        <m:ctrlPr>
                          <a:rPr lang="tr-TR" sz="1890" i="1" kern="1200">
                            <a:solidFill>
                              <a:schemeClr val="tx1"/>
                            </a:solidFill>
                            <a:latin typeface="Cambria Math" panose="02040503050406030204" pitchFamily="18" charset="0"/>
                            <a:ea typeface="+mn-ea"/>
                            <a:cs typeface="+mn-cs"/>
                          </a:rPr>
                        </m:ctrlPr>
                      </m:sSubPr>
                      <m:e>
                        <m:r>
                          <a:rPr lang="tr-TR" sz="1890" i="1" kern="1200">
                            <a:solidFill>
                              <a:schemeClr val="tx1"/>
                            </a:solidFill>
                            <a:latin typeface="Cambria Math" panose="02040503050406030204" pitchFamily="18" charset="0"/>
                            <a:ea typeface="+mn-ea"/>
                            <a:cs typeface="+mn-cs"/>
                          </a:rPr>
                          <m:t>𝑤</m:t>
                        </m:r>
                      </m:e>
                      <m:sub>
                        <m:r>
                          <a:rPr lang="tr-TR" sz="1890" i="1" kern="1200">
                            <a:solidFill>
                              <a:schemeClr val="tx1"/>
                            </a:solidFill>
                            <a:latin typeface="Cambria Math" panose="02040503050406030204" pitchFamily="18" charset="0"/>
                            <a:ea typeface="+mn-ea"/>
                            <a:cs typeface="+mn-cs"/>
                          </a:rPr>
                          <m:t>𝑗</m:t>
                        </m:r>
                      </m:sub>
                    </m:sSub>
                    <m:r>
                      <a:rPr lang="tr-TR" sz="1890" i="1" kern="1200">
                        <a:solidFill>
                          <a:schemeClr val="tx1"/>
                        </a:solidFill>
                        <a:latin typeface="Cambria Math" panose="02040503050406030204" pitchFamily="18" charset="0"/>
                        <a:ea typeface="+mn-ea"/>
                        <a:cs typeface="+mn-cs"/>
                      </a:rPr>
                      <m:t>=</m:t>
                    </m:r>
                    <m:sSub>
                      <m:sSubPr>
                        <m:ctrlPr>
                          <a:rPr lang="tr-TR" sz="1890" i="1" kern="1200">
                            <a:solidFill>
                              <a:schemeClr val="tx1"/>
                            </a:solidFill>
                            <a:latin typeface="Cambria Math" panose="02040503050406030204" pitchFamily="18" charset="0"/>
                            <a:ea typeface="+mn-ea"/>
                            <a:cs typeface="+mn-cs"/>
                          </a:rPr>
                        </m:ctrlPr>
                      </m:sSubPr>
                      <m:e>
                        <m:r>
                          <a:rPr lang="tr-TR" sz="1890" i="1" kern="1200">
                            <a:solidFill>
                              <a:schemeClr val="tx1"/>
                            </a:solidFill>
                            <a:latin typeface="Cambria Math" panose="02040503050406030204" pitchFamily="18" charset="0"/>
                            <a:ea typeface="+mn-ea"/>
                            <a:cs typeface="+mn-cs"/>
                          </a:rPr>
                          <m:t>𝑤</m:t>
                        </m:r>
                      </m:e>
                      <m:sub>
                        <m:r>
                          <a:rPr lang="tr-TR" sz="1890" i="1" kern="1200">
                            <a:solidFill>
                              <a:schemeClr val="tx1"/>
                            </a:solidFill>
                            <a:latin typeface="Cambria Math" panose="02040503050406030204" pitchFamily="18" charset="0"/>
                            <a:ea typeface="+mn-ea"/>
                            <a:cs typeface="+mn-cs"/>
                          </a:rPr>
                          <m:t>𝑗</m:t>
                        </m:r>
                      </m:sub>
                    </m:sSub>
                    <m:r>
                      <a:rPr lang="tr-TR" sz="1890" kern="1200">
                        <a:solidFill>
                          <a:schemeClr val="tx1"/>
                        </a:solidFill>
                        <a:latin typeface="Cambria Math" panose="02040503050406030204" pitchFamily="18" charset="0"/>
                        <a:ea typeface="+mn-ea"/>
                        <a:cs typeface="+mn-cs"/>
                      </a:rPr>
                      <m:t> −</m:t>
                    </m:r>
                    <m:r>
                      <a:rPr lang="tr-TR" sz="1890" i="1" kern="1200">
                        <a:solidFill>
                          <a:schemeClr val="tx1"/>
                        </a:solidFill>
                        <a:latin typeface="Cambria Math" panose="02040503050406030204" pitchFamily="18" charset="0"/>
                        <a:ea typeface="Cambria Math" panose="02040503050406030204" pitchFamily="18" charset="0"/>
                        <a:cs typeface="+mn-cs"/>
                      </a:rPr>
                      <m:t>∝</m:t>
                    </m:r>
                    <m:f>
                      <m:fPr>
                        <m:ctrlPr>
                          <a:rPr lang="tr-TR" sz="1890" i="1" kern="1200">
                            <a:solidFill>
                              <a:schemeClr val="tx1"/>
                            </a:solidFill>
                            <a:latin typeface="Cambria Math" panose="02040503050406030204" pitchFamily="18" charset="0"/>
                            <a:ea typeface="Cambria Math" panose="02040503050406030204" pitchFamily="18" charset="0"/>
                            <a:cs typeface="+mn-cs"/>
                          </a:rPr>
                        </m:ctrlPr>
                      </m:fPr>
                      <m:num>
                        <m:r>
                          <a:rPr lang="tr-TR" sz="1890" i="1" kern="1200">
                            <a:solidFill>
                              <a:schemeClr val="tx1"/>
                            </a:solidFill>
                            <a:latin typeface="Cambria Math" panose="02040503050406030204" pitchFamily="18" charset="0"/>
                            <a:ea typeface="Cambria Math" panose="02040503050406030204" pitchFamily="18" charset="0"/>
                            <a:cs typeface="+mn-cs"/>
                          </a:rPr>
                          <m:t>𝜕</m:t>
                        </m:r>
                      </m:num>
                      <m:den>
                        <m:r>
                          <a:rPr lang="tr-TR" sz="1890" i="1" kern="1200">
                            <a:solidFill>
                              <a:schemeClr val="tx1"/>
                            </a:solidFill>
                            <a:latin typeface="Cambria Math" panose="02040503050406030204" pitchFamily="18" charset="0"/>
                            <a:ea typeface="Cambria Math" panose="02040503050406030204" pitchFamily="18" charset="0"/>
                            <a:cs typeface="+mn-cs"/>
                          </a:rPr>
                          <m:t>𝜕</m:t>
                        </m:r>
                        <m:sSub>
                          <m:sSubPr>
                            <m:ctrlPr>
                              <a:rPr lang="tr-TR" sz="1890" i="1" kern="1200">
                                <a:solidFill>
                                  <a:schemeClr val="tx1"/>
                                </a:solidFill>
                                <a:latin typeface="Cambria Math" panose="02040503050406030204" pitchFamily="18" charset="0"/>
                                <a:ea typeface="+mn-ea"/>
                                <a:cs typeface="+mn-cs"/>
                              </a:rPr>
                            </m:ctrlPr>
                          </m:sSubPr>
                          <m:e>
                            <m:r>
                              <a:rPr lang="tr-TR" sz="1890" i="1" kern="1200">
                                <a:solidFill>
                                  <a:schemeClr val="tx1"/>
                                </a:solidFill>
                                <a:latin typeface="Cambria Math" panose="02040503050406030204" pitchFamily="18" charset="0"/>
                                <a:ea typeface="+mn-ea"/>
                                <a:cs typeface="+mn-cs"/>
                              </a:rPr>
                              <m:t>𝑤</m:t>
                            </m:r>
                          </m:e>
                          <m:sub>
                            <m:r>
                              <a:rPr lang="tr-TR" sz="1890" i="1" kern="1200">
                                <a:solidFill>
                                  <a:schemeClr val="tx1"/>
                                </a:solidFill>
                                <a:latin typeface="Cambria Math" panose="02040503050406030204" pitchFamily="18" charset="0"/>
                                <a:ea typeface="+mn-ea"/>
                                <a:cs typeface="+mn-cs"/>
                              </a:rPr>
                              <m:t>𝑗</m:t>
                            </m:r>
                          </m:sub>
                        </m:sSub>
                      </m:den>
                    </m:f>
                  </m:oMath>
                </a14:m>
                <a:r>
                  <a:rPr lang="tr-TR" sz="1890" kern="1200">
                    <a:solidFill>
                      <a:schemeClr val="tx1"/>
                    </a:solidFill>
                    <a:latin typeface="+mn-lt"/>
                    <a:ea typeface="+mn-ea"/>
                    <a:cs typeface="+mn-cs"/>
                  </a:rPr>
                  <a:t> </a:t>
                </a:r>
                <a14:m>
                  <m:oMath xmlns:m="http://schemas.openxmlformats.org/officeDocument/2006/math">
                    <m:r>
                      <a:rPr lang="tr-TR" sz="1890" i="1" kern="1200">
                        <a:solidFill>
                          <a:schemeClr val="tx1"/>
                        </a:solidFill>
                        <a:latin typeface="Cambria Math" panose="02040503050406030204" pitchFamily="18" charset="0"/>
                        <a:ea typeface="+mn-ea"/>
                        <a:cs typeface="+mn-cs"/>
                      </a:rPr>
                      <m:t>𝐽</m:t>
                    </m:r>
                    <m:d>
                      <m:dPr>
                        <m:ctrlPr>
                          <a:rPr lang="tr-TR" sz="1890" i="1" kern="1200">
                            <a:solidFill>
                              <a:schemeClr val="tx1"/>
                            </a:solidFill>
                            <a:latin typeface="Cambria Math" panose="02040503050406030204" pitchFamily="18" charset="0"/>
                            <a:ea typeface="+mn-ea"/>
                            <a:cs typeface="+mn-cs"/>
                          </a:rPr>
                        </m:ctrlPr>
                      </m:dPr>
                      <m:e>
                        <m:bar>
                          <m:barPr>
                            <m:pos m:val="top"/>
                            <m:ctrlPr>
                              <a:rPr lang="tr-TR" sz="1890" i="1" kern="1200">
                                <a:solidFill>
                                  <a:schemeClr val="tx1"/>
                                </a:solidFill>
                                <a:latin typeface="Cambria Math" panose="02040503050406030204" pitchFamily="18" charset="0"/>
                                <a:ea typeface="+mn-ea"/>
                                <a:cs typeface="+mn-cs"/>
                              </a:rPr>
                            </m:ctrlPr>
                          </m:barPr>
                          <m:e>
                            <m:r>
                              <a:rPr lang="tr-TR" sz="1890" i="1" kern="1200">
                                <a:solidFill>
                                  <a:schemeClr val="tx1"/>
                                </a:solidFill>
                                <a:latin typeface="Cambria Math" panose="02040503050406030204" pitchFamily="18" charset="0"/>
                                <a:ea typeface="+mn-ea"/>
                                <a:cs typeface="+mn-cs"/>
                              </a:rPr>
                              <m:t>𝑤</m:t>
                            </m:r>
                          </m:e>
                        </m:bar>
                        <m:r>
                          <a:rPr lang="tr-TR" sz="1890" i="1" kern="1200">
                            <a:solidFill>
                              <a:schemeClr val="tx1"/>
                            </a:solidFill>
                            <a:latin typeface="Cambria Math" panose="02040503050406030204" pitchFamily="18" charset="0"/>
                            <a:ea typeface="+mn-ea"/>
                            <a:cs typeface="+mn-cs"/>
                          </a:rPr>
                          <m:t>,</m:t>
                        </m:r>
                        <m:r>
                          <a:rPr lang="tr-TR" sz="1890" i="1" kern="1200">
                            <a:solidFill>
                              <a:schemeClr val="tx1"/>
                            </a:solidFill>
                            <a:latin typeface="Cambria Math" panose="02040503050406030204" pitchFamily="18" charset="0"/>
                            <a:ea typeface="+mn-ea"/>
                            <a:cs typeface="+mn-cs"/>
                          </a:rPr>
                          <m:t>𝑏</m:t>
                        </m:r>
                      </m:e>
                    </m:d>
                  </m:oMath>
                </a14:m>
                <a:endParaRPr lang="en-US"/>
              </a:p>
            </p:txBody>
          </p:sp>
        </mc:Choice>
        <mc:Fallback xmlns="">
          <p:sp>
            <p:nvSpPr>
              <p:cNvPr id="3" name="TextBox 2">
                <a:extLst>
                  <a:ext uri="{FF2B5EF4-FFF2-40B4-BE49-F238E27FC236}">
                    <a16:creationId xmlns:a16="http://schemas.microsoft.com/office/drawing/2014/main" id="{3F15B9AB-85EC-A4D6-02C8-69244C5FAC00}"/>
                  </a:ext>
                </a:extLst>
              </p:cNvPr>
              <p:cNvSpPr txBox="1">
                <a:spLocks noRot="1" noChangeAspect="1" noMove="1" noResize="1" noEditPoints="1" noAdjustHandles="1" noChangeArrowheads="1" noChangeShapeType="1" noTextEdit="1"/>
              </p:cNvSpPr>
              <p:nvPr/>
            </p:nvSpPr>
            <p:spPr>
              <a:xfrm>
                <a:off x="4232869" y="1825625"/>
                <a:ext cx="2461353" cy="498637"/>
              </a:xfrm>
              <a:prstGeom prst="rect">
                <a:avLst/>
              </a:prstGeom>
              <a:blipFill>
                <a:blip r:embed="rId9"/>
                <a:stretch>
                  <a:fillRect l="-2475" b="-12195"/>
                </a:stretch>
              </a:blipFill>
            </p:spPr>
            <p:txBody>
              <a:bodyPr/>
              <a:lstStyle/>
              <a:p>
                <a:r>
                  <a:rPr lang="en-US">
                    <a:noFill/>
                  </a:rPr>
                  <a:t> </a:t>
                </a:r>
              </a:p>
            </p:txBody>
          </p:sp>
        </mc:Fallback>
      </mc:AlternateContent>
      <p:sp>
        <p:nvSpPr>
          <p:cNvPr id="8" name="Rectangle">
            <a:extLst>
              <a:ext uri="{FF2B5EF4-FFF2-40B4-BE49-F238E27FC236}">
                <a16:creationId xmlns:a16="http://schemas.microsoft.com/office/drawing/2014/main" id="{E04A132A-D465-6608-D403-5398DBF7976A}"/>
              </a:ext>
            </a:extLst>
          </p:cNvPr>
          <p:cNvSpPr/>
          <p:nvPr/>
        </p:nvSpPr>
        <p:spPr>
          <a:xfrm>
            <a:off x="-11767" y="6545179"/>
            <a:ext cx="12203767" cy="315200"/>
          </a:xfrm>
          <a:prstGeom prst="rect">
            <a:avLst/>
          </a:prstGeom>
          <a:solidFill>
            <a:schemeClr val="tx1"/>
          </a:solidFill>
          <a:ln w="12700">
            <a:noFill/>
            <a:miter lim="400000"/>
          </a:ln>
        </p:spPr>
        <p:txBody>
          <a:bodyPr lIns="45719" rIns="45719" anchor="ctr"/>
          <a:lstStyle/>
          <a:p>
            <a:endParaRPr/>
          </a:p>
        </p:txBody>
      </p:sp>
      <p:pic>
        <p:nvPicPr>
          <p:cNvPr id="9" name="Picture 8" descr="Frontier Tech Leaders (@FTLeadersProg) / X">
            <a:extLst>
              <a:ext uri="{FF2B5EF4-FFF2-40B4-BE49-F238E27FC236}">
                <a16:creationId xmlns:a16="http://schemas.microsoft.com/office/drawing/2014/main" id="{77C26264-1DC3-10C3-7507-1A031D5773E3}"/>
              </a:ext>
            </a:extLst>
          </p:cNvPr>
          <p:cNvPicPr>
            <a:picLocks noChangeAspect="1"/>
          </p:cNvPicPr>
          <p:nvPr/>
        </p:nvPicPr>
        <p:blipFill>
          <a:blip r:embed="rId10"/>
          <a:stretch>
            <a:fillRect/>
          </a:stretch>
        </p:blipFill>
        <p:spPr>
          <a:xfrm>
            <a:off x="10668000" y="94470"/>
            <a:ext cx="1027893" cy="1027893"/>
          </a:xfrm>
          <a:prstGeom prst="rect">
            <a:avLst/>
          </a:prstGeom>
        </p:spPr>
      </p:pic>
    </p:spTree>
    <p:extLst>
      <p:ext uri="{BB962C8B-B14F-4D97-AF65-F5344CB8AC3E}">
        <p14:creationId xmlns:p14="http://schemas.microsoft.com/office/powerpoint/2010/main" val="360832626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mediacall" presetSubtype="0" fill="hold" nodeType="clickEffect">
                                  <p:stCondLst>
                                    <p:cond delay="0"/>
                                  </p:stCondLst>
                                  <p:childTnLst>
                                    <p:cmd type="call" cmd="playFrom(0.0)">
                                      <p:cBhvr>
                                        <p:cTn id="6" dur="10000" fill="hold"/>
                                        <p:tgtEl>
                                          <p:spTgt spid="4"/>
                                        </p:tgtEl>
                                      </p:cBhvr>
                                    </p:cmd>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4"/>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mediacall" presetSubtype="0" fill="hold" nodeType="clickEffect">
                                  <p:stCondLst>
                                    <p:cond delay="0"/>
                                  </p:stCondLst>
                                  <p:childTnLst>
                                    <p:cmd type="call" cmd="playFrom(0.0)">
                                      <p:cBhvr>
                                        <p:cTn id="14" dur="5000" fill="hold"/>
                                        <p:tgtEl>
                                          <p:spTgt spid="5"/>
                                        </p:tgtEl>
                                      </p:cBhvr>
                                    </p:cmd>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6"/>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grpId="0" nodeType="clickEffect">
                                  <p:stCondLst>
                                    <p:cond delay="0"/>
                                  </p:stCondLst>
                                  <p:childTnLst>
                                    <p:set>
                                      <p:cBhvr>
                                        <p:cTn id="22" dur="1" fill="hold">
                                          <p:stCondLst>
                                            <p:cond delay="0"/>
                                          </p:stCondLst>
                                        </p:cTn>
                                        <p:tgtEl>
                                          <p:spTgt spid="7"/>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grpId="0" nodeType="clickEffect">
                                  <p:stCondLst>
                                    <p:cond delay="0"/>
                                  </p:stCondLst>
                                  <p:childTnLst>
                                    <p:set>
                                      <p:cBhvr>
                                        <p:cTn id="26" dur="1" fill="hold">
                                          <p:stCondLst>
                                            <p:cond delay="0"/>
                                          </p:stCondLst>
                                        </p:cTn>
                                        <p:tgtEl>
                                          <p:spTgt spid="3"/>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seq concurrent="1" nextAc="seek">
              <p:cTn id="27" restart="whenNotActive" fill="hold" evtFilter="cancelBubble" nodeType="interactiveSeq">
                <p:stCondLst>
                  <p:cond evt="onClick" delay="0">
                    <p:tgtEl>
                      <p:spTgt spid="4"/>
                    </p:tgtEl>
                  </p:cond>
                </p:stCondLst>
                <p:endSync evt="end" delay="0">
                  <p:rtn val="all"/>
                </p:endSync>
                <p:childTnLst>
                  <p:par>
                    <p:cTn id="28" fill="hold">
                      <p:stCondLst>
                        <p:cond delay="0"/>
                      </p:stCondLst>
                      <p:childTnLst>
                        <p:par>
                          <p:cTn id="29" fill="hold">
                            <p:stCondLst>
                              <p:cond delay="0"/>
                            </p:stCondLst>
                            <p:childTnLst>
                              <p:par>
                                <p:cTn id="30" presetID="2" presetClass="mediacall" presetSubtype="0" fill="hold" nodeType="clickEffect">
                                  <p:stCondLst>
                                    <p:cond delay="0"/>
                                  </p:stCondLst>
                                  <p:childTnLst>
                                    <p:cmd type="call" cmd="togglePause">
                                      <p:cBhvr>
                                        <p:cTn id="31" dur="1" fill="hold"/>
                                        <p:tgtEl>
                                          <p:spTgt spid="4"/>
                                        </p:tgtEl>
                                      </p:cBhvr>
                                    </p:cmd>
                                  </p:childTnLst>
                                </p:cTn>
                              </p:par>
                            </p:childTnLst>
                          </p:cTn>
                        </p:par>
                      </p:childTnLst>
                    </p:cTn>
                  </p:par>
                </p:childTnLst>
              </p:cTn>
              <p:nextCondLst>
                <p:cond evt="onClick" delay="0">
                  <p:tgtEl>
                    <p:spTgt spid="4"/>
                  </p:tgtEl>
                </p:cond>
              </p:nextCondLst>
            </p:seq>
            <p:seq concurrent="1" nextAc="seek">
              <p:cTn id="32" restart="whenNotActive" fill="hold" evtFilter="cancelBubble" nodeType="interactiveSeq">
                <p:stCondLst>
                  <p:cond evt="onClick" delay="0">
                    <p:tgtEl>
                      <p:spTgt spid="5"/>
                    </p:tgtEl>
                  </p:cond>
                </p:stCondLst>
                <p:endSync evt="end" delay="0">
                  <p:rtn val="all"/>
                </p:endSync>
                <p:childTnLst>
                  <p:par>
                    <p:cTn id="33" fill="hold">
                      <p:stCondLst>
                        <p:cond delay="0"/>
                      </p:stCondLst>
                      <p:childTnLst>
                        <p:par>
                          <p:cTn id="34" fill="hold">
                            <p:stCondLst>
                              <p:cond delay="0"/>
                            </p:stCondLst>
                            <p:childTnLst>
                              <p:par>
                                <p:cTn id="35" presetID="2" presetClass="mediacall" presetSubtype="0" fill="hold" nodeType="clickEffect">
                                  <p:stCondLst>
                                    <p:cond delay="0"/>
                                  </p:stCondLst>
                                  <p:childTnLst>
                                    <p:cmd type="call" cmd="togglePause">
                                      <p:cBhvr>
                                        <p:cTn id="36" dur="1" fill="hold"/>
                                        <p:tgtEl>
                                          <p:spTgt spid="5"/>
                                        </p:tgtEl>
                                      </p:cBhvr>
                                    </p:cmd>
                                  </p:childTnLst>
                                </p:cTn>
                              </p:par>
                            </p:childTnLst>
                          </p:cTn>
                        </p:par>
                      </p:childTnLst>
                    </p:cTn>
                  </p:par>
                </p:childTnLst>
              </p:cTn>
              <p:nextCondLst>
                <p:cond evt="onClick" delay="0">
                  <p:tgtEl>
                    <p:spTgt spid="5"/>
                  </p:tgtEl>
                </p:cond>
              </p:nextCondLst>
            </p:seq>
            <p:video>
              <p:cMediaNode vol="80000">
                <p:cTn id="37" fill="hold" display="0">
                  <p:stCondLst>
                    <p:cond delay="indefinite"/>
                  </p:stCondLst>
                </p:cTn>
                <p:tgtEl>
                  <p:spTgt spid="4"/>
                </p:tgtEl>
              </p:cMediaNode>
            </p:video>
            <p:video>
              <p:cMediaNode vol="80000">
                <p:cTn id="38" fill="hold" display="0">
                  <p:stCondLst>
                    <p:cond delay="indefinite"/>
                  </p:stCondLst>
                </p:cTn>
                <p:tgtEl>
                  <p:spTgt spid="5"/>
                </p:tgtEl>
              </p:cMediaNode>
            </p:video>
          </p:childTnLst>
        </p:cTn>
      </p:par>
    </p:tnLst>
    <p:bldLst>
      <p:bldP spid="6" grpId="0"/>
      <p:bldP spid="7" grpId="0"/>
      <p:bldP spid="3" grpId="0"/>
    </p:bldLst>
  </p:timing>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 name="Rectangle: Rounded Corners 19">
            <a:extLst>
              <a:ext uri="{FF2B5EF4-FFF2-40B4-BE49-F238E27FC236}">
                <a16:creationId xmlns:a16="http://schemas.microsoft.com/office/drawing/2014/main" id="{1F074613-B654-0E41-F1B4-8AED67505906}"/>
              </a:ext>
            </a:extLst>
          </p:cNvPr>
          <p:cNvSpPr/>
          <p:nvPr/>
        </p:nvSpPr>
        <p:spPr>
          <a:xfrm>
            <a:off x="4253315" y="4244850"/>
            <a:ext cx="1123019" cy="564216"/>
          </a:xfrm>
          <a:prstGeom prst="roundRect">
            <a:avLst/>
          </a:prstGeom>
          <a:solidFill>
            <a:schemeClr val="accent2">
              <a:lumMod val="40000"/>
              <a:lumOff val="60000"/>
            </a:schemeClr>
          </a:solidFill>
          <a:ln w="38100">
            <a:solidFill>
              <a:schemeClr val="accent2">
                <a:lumMod val="7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cxnSp>
        <p:nvCxnSpPr>
          <p:cNvPr id="8" name="Straight Arrow Connector 7">
            <a:extLst>
              <a:ext uri="{FF2B5EF4-FFF2-40B4-BE49-F238E27FC236}">
                <a16:creationId xmlns:a16="http://schemas.microsoft.com/office/drawing/2014/main" id="{960512F4-B39E-3907-CAF6-AA74C450A25C}"/>
              </a:ext>
            </a:extLst>
          </p:cNvPr>
          <p:cNvCxnSpPr>
            <a:cxnSpLocks/>
          </p:cNvCxnSpPr>
          <p:nvPr/>
        </p:nvCxnSpPr>
        <p:spPr>
          <a:xfrm flipV="1">
            <a:off x="3188833" y="1270000"/>
            <a:ext cx="0" cy="2468764"/>
          </a:xfrm>
          <a:prstGeom prst="straightConnector1">
            <a:avLst/>
          </a:prstGeom>
          <a:ln w="38100">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9" name="Straight Arrow Connector 8">
            <a:extLst>
              <a:ext uri="{FF2B5EF4-FFF2-40B4-BE49-F238E27FC236}">
                <a16:creationId xmlns:a16="http://schemas.microsoft.com/office/drawing/2014/main" id="{8682673E-B4BE-C873-02EE-5517F275DDF2}"/>
              </a:ext>
            </a:extLst>
          </p:cNvPr>
          <p:cNvCxnSpPr>
            <a:cxnSpLocks/>
          </p:cNvCxnSpPr>
          <p:nvPr/>
        </p:nvCxnSpPr>
        <p:spPr>
          <a:xfrm>
            <a:off x="3063026" y="3620859"/>
            <a:ext cx="4421508" cy="0"/>
          </a:xfrm>
          <a:prstGeom prst="straightConnector1">
            <a:avLst/>
          </a:prstGeom>
          <a:ln w="38100">
            <a:solidFill>
              <a:schemeClr val="tx1"/>
            </a:solidFill>
            <a:tailEnd type="triangle"/>
          </a:ln>
        </p:spPr>
        <p:style>
          <a:lnRef idx="1">
            <a:schemeClr val="accent1"/>
          </a:lnRef>
          <a:fillRef idx="0">
            <a:schemeClr val="accent1"/>
          </a:fillRef>
          <a:effectRef idx="0">
            <a:schemeClr val="accent1"/>
          </a:effectRef>
          <a:fontRef idx="minor">
            <a:schemeClr val="tx1"/>
          </a:fontRef>
        </p:style>
      </p:cxnSp>
      <mc:AlternateContent xmlns:mc="http://schemas.openxmlformats.org/markup-compatibility/2006" xmlns:a14="http://schemas.microsoft.com/office/drawing/2010/main">
        <mc:Choice Requires="a14">
          <p:sp>
            <p:nvSpPr>
              <p:cNvPr id="10" name="TextBox 9">
                <a:extLst>
                  <a:ext uri="{FF2B5EF4-FFF2-40B4-BE49-F238E27FC236}">
                    <a16:creationId xmlns:a16="http://schemas.microsoft.com/office/drawing/2014/main" id="{2D11F76A-2A5C-8988-357B-89B648710ADE}"/>
                  </a:ext>
                </a:extLst>
              </p:cNvPr>
              <p:cNvSpPr txBox="1"/>
              <p:nvPr/>
            </p:nvSpPr>
            <p:spPr>
              <a:xfrm>
                <a:off x="2371723" y="2282622"/>
                <a:ext cx="728884" cy="369332"/>
              </a:xfrm>
              <a:prstGeom prst="rect">
                <a:avLst/>
              </a:prstGeom>
              <a:noFill/>
            </p:spPr>
            <p:txBody>
              <a:bodyPr wrap="square">
                <a:spAutoFit/>
              </a:bodyPr>
              <a:lstStyle/>
              <a:p>
                <a:pPr/>
                <a14:m>
                  <m:oMathPara xmlns:m="http://schemas.openxmlformats.org/officeDocument/2006/math">
                    <m:oMath>
                      <m:r>
                        <a:rPr lang="tr-TR" i="1">
                          <a:latin typeface="Cambria Math" panose="02040503050406030204" pitchFamily="18" charset="0"/>
                        </a:rPr>
                        <m:t>𝐽</m:t>
                      </m:r>
                      <m:r>
                        <a:rPr lang="tr-TR" i="1">
                          <a:latin typeface="Cambria Math" panose="02040503050406030204" pitchFamily="18" charset="0"/>
                        </a:rPr>
                        <m:t>(</m:t>
                      </m:r>
                      <m:r>
                        <a:rPr lang="tr-TR" i="1">
                          <a:latin typeface="Cambria Math" panose="02040503050406030204" pitchFamily="18" charset="0"/>
                        </a:rPr>
                        <m:t>𝑤</m:t>
                      </m:r>
                      <m:r>
                        <a:rPr lang="tr-TR" i="1">
                          <a:latin typeface="Cambria Math" panose="02040503050406030204" pitchFamily="18" charset="0"/>
                        </a:rPr>
                        <m:t>)</m:t>
                      </m:r>
                    </m:oMath>
                  </m:oMathPara>
                </a14:m>
                <a:endParaRPr lang="en-US" dirty="0"/>
              </a:p>
            </p:txBody>
          </p:sp>
        </mc:Choice>
        <mc:Fallback xmlns="">
          <p:sp>
            <p:nvSpPr>
              <p:cNvPr id="10" name="TextBox 9">
                <a:extLst>
                  <a:ext uri="{FF2B5EF4-FFF2-40B4-BE49-F238E27FC236}">
                    <a16:creationId xmlns:a16="http://schemas.microsoft.com/office/drawing/2014/main" id="{2D11F76A-2A5C-8988-357B-89B648710ADE}"/>
                  </a:ext>
                </a:extLst>
              </p:cNvPr>
              <p:cNvSpPr txBox="1">
                <a:spLocks noRot="1" noChangeAspect="1" noMove="1" noResize="1" noEditPoints="1" noAdjustHandles="1" noChangeArrowheads="1" noChangeShapeType="1" noTextEdit="1"/>
              </p:cNvSpPr>
              <p:nvPr/>
            </p:nvSpPr>
            <p:spPr>
              <a:xfrm>
                <a:off x="2371723" y="2282622"/>
                <a:ext cx="728884" cy="369332"/>
              </a:xfrm>
              <a:prstGeom prst="rect">
                <a:avLst/>
              </a:prstGeom>
              <a:blipFill>
                <a:blip r:embed="rId3"/>
                <a:stretch>
                  <a:fillRect b="-13115"/>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11" name="TextBox 10">
                <a:extLst>
                  <a:ext uri="{FF2B5EF4-FFF2-40B4-BE49-F238E27FC236}">
                    <a16:creationId xmlns:a16="http://schemas.microsoft.com/office/drawing/2014/main" id="{3D72991F-023E-419E-483E-250A85402A44}"/>
                  </a:ext>
                </a:extLst>
              </p:cNvPr>
              <p:cNvSpPr txBox="1"/>
              <p:nvPr/>
            </p:nvSpPr>
            <p:spPr>
              <a:xfrm>
                <a:off x="4166319" y="3620859"/>
                <a:ext cx="473774" cy="369332"/>
              </a:xfrm>
              <a:prstGeom prst="rect">
                <a:avLst/>
              </a:prstGeom>
              <a:noFill/>
            </p:spPr>
            <p:txBody>
              <a:bodyPr wrap="square">
                <a:spAutoFit/>
              </a:bodyPr>
              <a:lstStyle/>
              <a:p>
                <a:pPr/>
                <a14:m>
                  <m:oMathPara xmlns:m="http://schemas.openxmlformats.org/officeDocument/2006/math">
                    <m:oMath>
                      <m:r>
                        <a:rPr lang="tr-TR" b="0" i="1" smtClean="0">
                          <a:latin typeface="Cambria Math" panose="02040503050406030204" pitchFamily="18" charset="0"/>
                        </a:rPr>
                        <m:t>𝑤</m:t>
                      </m:r>
                    </m:oMath>
                  </m:oMathPara>
                </a14:m>
                <a:endParaRPr lang="en-US" dirty="0"/>
              </a:p>
            </p:txBody>
          </p:sp>
        </mc:Choice>
        <mc:Fallback xmlns="">
          <p:sp>
            <p:nvSpPr>
              <p:cNvPr id="11" name="TextBox 10">
                <a:extLst>
                  <a:ext uri="{FF2B5EF4-FFF2-40B4-BE49-F238E27FC236}">
                    <a16:creationId xmlns:a16="http://schemas.microsoft.com/office/drawing/2014/main" id="{3D72991F-023E-419E-483E-250A85402A44}"/>
                  </a:ext>
                </a:extLst>
              </p:cNvPr>
              <p:cNvSpPr txBox="1">
                <a:spLocks noRot="1" noChangeAspect="1" noMove="1" noResize="1" noEditPoints="1" noAdjustHandles="1" noChangeArrowheads="1" noChangeShapeType="1" noTextEdit="1"/>
              </p:cNvSpPr>
              <p:nvPr/>
            </p:nvSpPr>
            <p:spPr>
              <a:xfrm>
                <a:off x="4166319" y="3620859"/>
                <a:ext cx="473774" cy="369332"/>
              </a:xfrm>
              <a:prstGeom prst="rect">
                <a:avLst/>
              </a:prstGeom>
              <a:blipFill>
                <a:blip r:embed="rId4"/>
                <a:stretch>
                  <a:fillRect/>
                </a:stretch>
              </a:blipFill>
            </p:spPr>
            <p:txBody>
              <a:bodyPr/>
              <a:lstStyle/>
              <a:p>
                <a:r>
                  <a:rPr lang="en-US">
                    <a:noFill/>
                  </a:rPr>
                  <a:t> </a:t>
                </a:r>
              </a:p>
            </p:txBody>
          </p:sp>
        </mc:Fallback>
      </mc:AlternateContent>
      <p:sp>
        <p:nvSpPr>
          <p:cNvPr id="14" name="Freeform: Shape 13">
            <a:extLst>
              <a:ext uri="{FF2B5EF4-FFF2-40B4-BE49-F238E27FC236}">
                <a16:creationId xmlns:a16="http://schemas.microsoft.com/office/drawing/2014/main" id="{908E3A97-0149-A3FD-44AD-2C412449107F}"/>
              </a:ext>
            </a:extLst>
          </p:cNvPr>
          <p:cNvSpPr/>
          <p:nvPr/>
        </p:nvSpPr>
        <p:spPr>
          <a:xfrm>
            <a:off x="3141134" y="1444322"/>
            <a:ext cx="3217333" cy="1822885"/>
          </a:xfrm>
          <a:custGeom>
            <a:avLst/>
            <a:gdLst>
              <a:gd name="connsiteX0" fmla="*/ 0 w 3217333"/>
              <a:gd name="connsiteY0" fmla="*/ 706211 h 1822885"/>
              <a:gd name="connsiteX1" fmla="*/ 347133 w 3217333"/>
              <a:gd name="connsiteY1" fmla="*/ 409878 h 1822885"/>
              <a:gd name="connsiteX2" fmla="*/ 1219200 w 3217333"/>
              <a:gd name="connsiteY2" fmla="*/ 1815345 h 1822885"/>
              <a:gd name="connsiteX3" fmla="*/ 1828800 w 3217333"/>
              <a:gd name="connsiteY3" fmla="*/ 926345 h 1822885"/>
              <a:gd name="connsiteX4" fmla="*/ 2192866 w 3217333"/>
              <a:gd name="connsiteY4" fmla="*/ 3478 h 1822885"/>
              <a:gd name="connsiteX5" fmla="*/ 2768600 w 3217333"/>
              <a:gd name="connsiteY5" fmla="*/ 1273478 h 1822885"/>
              <a:gd name="connsiteX6" fmla="*/ 3217333 w 3217333"/>
              <a:gd name="connsiteY6" fmla="*/ 536878 h 182288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3217333" h="1822885">
                <a:moveTo>
                  <a:pt x="0" y="706211"/>
                </a:moveTo>
                <a:cubicBezTo>
                  <a:pt x="71966" y="465616"/>
                  <a:pt x="143933" y="225022"/>
                  <a:pt x="347133" y="409878"/>
                </a:cubicBezTo>
                <a:cubicBezTo>
                  <a:pt x="550333" y="594734"/>
                  <a:pt x="972256" y="1729267"/>
                  <a:pt x="1219200" y="1815345"/>
                </a:cubicBezTo>
                <a:cubicBezTo>
                  <a:pt x="1466144" y="1901423"/>
                  <a:pt x="1666522" y="1228323"/>
                  <a:pt x="1828800" y="926345"/>
                </a:cubicBezTo>
                <a:cubicBezTo>
                  <a:pt x="1991078" y="624367"/>
                  <a:pt x="2036233" y="-54378"/>
                  <a:pt x="2192866" y="3478"/>
                </a:cubicBezTo>
                <a:cubicBezTo>
                  <a:pt x="2349499" y="61333"/>
                  <a:pt x="2597856" y="1184578"/>
                  <a:pt x="2768600" y="1273478"/>
                </a:cubicBezTo>
                <a:cubicBezTo>
                  <a:pt x="2939344" y="1362378"/>
                  <a:pt x="3111500" y="670933"/>
                  <a:pt x="3217333" y="536878"/>
                </a:cubicBezTo>
              </a:path>
            </a:pathLst>
          </a:custGeom>
          <a:noFill/>
          <a:ln w="57150">
            <a:solidFill>
              <a:schemeClr val="accent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mc:AlternateContent xmlns:mc="http://schemas.openxmlformats.org/markup-compatibility/2006" xmlns:a14="http://schemas.microsoft.com/office/drawing/2010/main">
        <mc:Choice Requires="a14">
          <p:sp>
            <p:nvSpPr>
              <p:cNvPr id="16" name="TextBox 15">
                <a:extLst>
                  <a:ext uri="{FF2B5EF4-FFF2-40B4-BE49-F238E27FC236}">
                    <a16:creationId xmlns:a16="http://schemas.microsoft.com/office/drawing/2014/main" id="{C97EFD32-F2F6-4C53-52EF-10C588137691}"/>
                  </a:ext>
                </a:extLst>
              </p:cNvPr>
              <p:cNvSpPr txBox="1"/>
              <p:nvPr/>
            </p:nvSpPr>
            <p:spPr>
              <a:xfrm>
                <a:off x="3100607" y="4244850"/>
                <a:ext cx="2487388" cy="499560"/>
              </a:xfrm>
              <a:prstGeom prst="rect">
                <a:avLst/>
              </a:prstGeom>
              <a:noFill/>
            </p:spPr>
            <p:txBody>
              <a:bodyPr wrap="square">
                <a:spAutoFit/>
              </a:bodyPr>
              <a:lstStyle/>
              <a:p>
                <a14:m>
                  <m:oMath xmlns:m="http://schemas.openxmlformats.org/officeDocument/2006/math">
                    <m:r>
                      <m:rPr>
                        <m:sty m:val="p"/>
                      </m:rPr>
                      <a:rPr lang="tr-TR" smtClean="0">
                        <a:latin typeface="Cambria Math" panose="02040503050406030204" pitchFamily="18" charset="0"/>
                      </a:rPr>
                      <m:t>w</m:t>
                    </m:r>
                    <m:r>
                      <a:rPr lang="tr-TR" b="0" i="0" smtClean="0">
                        <a:latin typeface="Cambria Math" panose="02040503050406030204" pitchFamily="18" charset="0"/>
                      </a:rPr>
                      <m:t>= </m:t>
                    </m:r>
                    <m:r>
                      <m:rPr>
                        <m:sty m:val="p"/>
                      </m:rPr>
                      <a:rPr lang="tr-TR" smtClean="0">
                        <a:latin typeface="Cambria Math" panose="02040503050406030204" pitchFamily="18" charset="0"/>
                      </a:rPr>
                      <m:t>w</m:t>
                    </m:r>
                    <m:r>
                      <a:rPr lang="tr-TR" b="0" i="0" smtClean="0">
                        <a:latin typeface="Cambria Math" panose="02040503050406030204" pitchFamily="18" charset="0"/>
                      </a:rPr>
                      <m:t>−</m:t>
                    </m:r>
                    <m:r>
                      <a:rPr lang="tr-TR" b="0" i="1" smtClean="0">
                        <a:latin typeface="Cambria Math" panose="02040503050406030204" pitchFamily="18" charset="0"/>
                        <a:ea typeface="Cambria Math" panose="02040503050406030204" pitchFamily="18" charset="0"/>
                      </a:rPr>
                      <m:t>∝</m:t>
                    </m:r>
                    <m:f>
                      <m:fPr>
                        <m:ctrlPr>
                          <a:rPr lang="tr-TR" b="0" i="1" smtClean="0">
                            <a:latin typeface="Cambria Math" panose="02040503050406030204" pitchFamily="18" charset="0"/>
                            <a:ea typeface="Cambria Math" panose="02040503050406030204" pitchFamily="18" charset="0"/>
                          </a:rPr>
                        </m:ctrlPr>
                      </m:fPr>
                      <m:num>
                        <m:r>
                          <a:rPr lang="tr-TR" b="0" i="1" smtClean="0">
                            <a:latin typeface="Cambria Math" panose="02040503050406030204" pitchFamily="18" charset="0"/>
                            <a:ea typeface="Cambria Math" panose="02040503050406030204" pitchFamily="18" charset="0"/>
                          </a:rPr>
                          <m:t>𝜕</m:t>
                        </m:r>
                      </m:num>
                      <m:den>
                        <m:r>
                          <a:rPr lang="tr-TR" b="0" i="1" smtClean="0">
                            <a:latin typeface="Cambria Math" panose="02040503050406030204" pitchFamily="18" charset="0"/>
                            <a:ea typeface="Cambria Math" panose="02040503050406030204" pitchFamily="18" charset="0"/>
                          </a:rPr>
                          <m:t>𝜕</m:t>
                        </m:r>
                        <m:r>
                          <a:rPr lang="tr-TR" b="0" i="1" smtClean="0">
                            <a:latin typeface="Cambria Math" panose="02040503050406030204" pitchFamily="18" charset="0"/>
                            <a:ea typeface="Cambria Math" panose="02040503050406030204" pitchFamily="18" charset="0"/>
                          </a:rPr>
                          <m:t>𝑤</m:t>
                        </m:r>
                      </m:den>
                    </m:f>
                  </m:oMath>
                </a14:m>
                <a:r>
                  <a:rPr lang="tr-TR" b="0" dirty="0"/>
                  <a:t> </a:t>
                </a:r>
                <a14:m>
                  <m:oMath xmlns:m="http://schemas.openxmlformats.org/officeDocument/2006/math">
                    <m:r>
                      <a:rPr lang="tr-TR" b="0" i="1" smtClean="0">
                        <a:latin typeface="Cambria Math" panose="02040503050406030204" pitchFamily="18" charset="0"/>
                      </a:rPr>
                      <m:t>𝐽</m:t>
                    </m:r>
                    <m:d>
                      <m:dPr>
                        <m:ctrlPr>
                          <a:rPr lang="tr-TR" b="0" i="1" smtClean="0">
                            <a:latin typeface="Cambria Math" panose="02040503050406030204" pitchFamily="18" charset="0"/>
                          </a:rPr>
                        </m:ctrlPr>
                      </m:dPr>
                      <m:e>
                        <m:bar>
                          <m:barPr>
                            <m:pos m:val="top"/>
                            <m:ctrlPr>
                              <a:rPr lang="tr-TR" b="0" i="1" smtClean="0">
                                <a:latin typeface="Cambria Math" panose="02040503050406030204" pitchFamily="18" charset="0"/>
                              </a:rPr>
                            </m:ctrlPr>
                          </m:barPr>
                          <m:e>
                            <m:r>
                              <a:rPr lang="tr-TR" b="0" i="1" smtClean="0">
                                <a:latin typeface="Cambria Math" panose="02040503050406030204" pitchFamily="18" charset="0"/>
                              </a:rPr>
                              <m:t>𝑤</m:t>
                            </m:r>
                          </m:e>
                        </m:bar>
                        <m:r>
                          <a:rPr lang="tr-TR" b="0" i="1" smtClean="0">
                            <a:latin typeface="Cambria Math" panose="02040503050406030204" pitchFamily="18" charset="0"/>
                          </a:rPr>
                          <m:t>,</m:t>
                        </m:r>
                        <m:r>
                          <a:rPr lang="tr-TR" b="0" i="1" smtClean="0">
                            <a:latin typeface="Cambria Math" panose="02040503050406030204" pitchFamily="18" charset="0"/>
                          </a:rPr>
                          <m:t>𝑏</m:t>
                        </m:r>
                      </m:e>
                    </m:d>
                  </m:oMath>
                </a14:m>
                <a:endParaRPr lang="en-US" dirty="0"/>
              </a:p>
            </p:txBody>
          </p:sp>
        </mc:Choice>
        <mc:Fallback xmlns="">
          <p:sp>
            <p:nvSpPr>
              <p:cNvPr id="16" name="TextBox 15">
                <a:extLst>
                  <a:ext uri="{FF2B5EF4-FFF2-40B4-BE49-F238E27FC236}">
                    <a16:creationId xmlns:a16="http://schemas.microsoft.com/office/drawing/2014/main" id="{C97EFD32-F2F6-4C53-52EF-10C588137691}"/>
                  </a:ext>
                </a:extLst>
              </p:cNvPr>
              <p:cNvSpPr txBox="1">
                <a:spLocks noRot="1" noChangeAspect="1" noMove="1" noResize="1" noEditPoints="1" noAdjustHandles="1" noChangeArrowheads="1" noChangeShapeType="1" noTextEdit="1"/>
              </p:cNvSpPr>
              <p:nvPr/>
            </p:nvSpPr>
            <p:spPr>
              <a:xfrm>
                <a:off x="3100607" y="4244850"/>
                <a:ext cx="2487388" cy="499560"/>
              </a:xfrm>
              <a:prstGeom prst="rect">
                <a:avLst/>
              </a:prstGeom>
              <a:blipFill>
                <a:blip r:embed="rId5"/>
                <a:stretch>
                  <a:fillRect b="-2439"/>
                </a:stretch>
              </a:blipFill>
            </p:spPr>
            <p:txBody>
              <a:bodyPr/>
              <a:lstStyle/>
              <a:p>
                <a:r>
                  <a:rPr lang="en-US">
                    <a:noFill/>
                  </a:rPr>
                  <a:t> </a:t>
                </a:r>
              </a:p>
            </p:txBody>
          </p:sp>
        </mc:Fallback>
      </mc:AlternateContent>
      <p:cxnSp>
        <p:nvCxnSpPr>
          <p:cNvPr id="18" name="Straight Connector 17">
            <a:extLst>
              <a:ext uri="{FF2B5EF4-FFF2-40B4-BE49-F238E27FC236}">
                <a16:creationId xmlns:a16="http://schemas.microsoft.com/office/drawing/2014/main" id="{D682B341-C04F-718C-1FF5-58E12BD113F5}"/>
              </a:ext>
            </a:extLst>
          </p:cNvPr>
          <p:cNvCxnSpPr/>
          <p:nvPr/>
        </p:nvCxnSpPr>
        <p:spPr>
          <a:xfrm>
            <a:off x="5587995" y="2743200"/>
            <a:ext cx="770472" cy="0"/>
          </a:xfrm>
          <a:prstGeom prst="line">
            <a:avLst/>
          </a:prstGeom>
          <a:ln w="38100">
            <a:solidFill>
              <a:schemeClr val="accent2">
                <a:lumMod val="75000"/>
              </a:schemeClr>
            </a:solidFill>
          </a:ln>
        </p:spPr>
        <p:style>
          <a:lnRef idx="1">
            <a:schemeClr val="accent1"/>
          </a:lnRef>
          <a:fillRef idx="0">
            <a:schemeClr val="accent1"/>
          </a:fillRef>
          <a:effectRef idx="0">
            <a:schemeClr val="accent1"/>
          </a:effectRef>
          <a:fontRef idx="minor">
            <a:schemeClr val="tx1"/>
          </a:fontRef>
        </p:style>
      </p:cxnSp>
      <p:sp>
        <p:nvSpPr>
          <p:cNvPr id="19" name="TextBox 18">
            <a:extLst>
              <a:ext uri="{FF2B5EF4-FFF2-40B4-BE49-F238E27FC236}">
                <a16:creationId xmlns:a16="http://schemas.microsoft.com/office/drawing/2014/main" id="{B8CCB1B4-309A-96A8-EEF8-BD722FFECEAE}"/>
              </a:ext>
            </a:extLst>
          </p:cNvPr>
          <p:cNvSpPr txBox="1"/>
          <p:nvPr/>
        </p:nvSpPr>
        <p:spPr>
          <a:xfrm>
            <a:off x="6443864" y="2467288"/>
            <a:ext cx="1619033" cy="923330"/>
          </a:xfrm>
          <a:prstGeom prst="rect">
            <a:avLst/>
          </a:prstGeom>
          <a:noFill/>
        </p:spPr>
        <p:txBody>
          <a:bodyPr wrap="none" rtlCol="0">
            <a:spAutoFit/>
          </a:bodyPr>
          <a:lstStyle/>
          <a:p>
            <a:r>
              <a:rPr lang="tr-TR" dirty="0" err="1">
                <a:solidFill>
                  <a:schemeClr val="accent2">
                    <a:lumMod val="75000"/>
                  </a:schemeClr>
                </a:solidFill>
              </a:rPr>
              <a:t>Slope</a:t>
            </a:r>
            <a:r>
              <a:rPr lang="tr-TR" dirty="0">
                <a:solidFill>
                  <a:schemeClr val="accent2">
                    <a:lumMod val="75000"/>
                  </a:schemeClr>
                </a:solidFill>
              </a:rPr>
              <a:t> = 0</a:t>
            </a:r>
          </a:p>
          <a:p>
            <a:endParaRPr lang="tr-TR" dirty="0">
              <a:solidFill>
                <a:schemeClr val="accent2">
                  <a:lumMod val="75000"/>
                </a:schemeClr>
              </a:solidFill>
            </a:endParaRPr>
          </a:p>
          <a:p>
            <a:r>
              <a:rPr lang="tr-TR" dirty="0" err="1">
                <a:solidFill>
                  <a:schemeClr val="accent2">
                    <a:lumMod val="75000"/>
                  </a:schemeClr>
                </a:solidFill>
              </a:rPr>
              <a:t>Local</a:t>
            </a:r>
            <a:r>
              <a:rPr lang="tr-TR" dirty="0">
                <a:solidFill>
                  <a:schemeClr val="accent2">
                    <a:lumMod val="75000"/>
                  </a:schemeClr>
                </a:solidFill>
              </a:rPr>
              <a:t> minimum</a:t>
            </a:r>
            <a:endParaRPr lang="en-US" dirty="0">
              <a:solidFill>
                <a:schemeClr val="accent2">
                  <a:lumMod val="75000"/>
                </a:schemeClr>
              </a:solidFill>
            </a:endParaRPr>
          </a:p>
        </p:txBody>
      </p:sp>
      <p:sp>
        <p:nvSpPr>
          <p:cNvPr id="21" name="TextBox 20">
            <a:extLst>
              <a:ext uri="{FF2B5EF4-FFF2-40B4-BE49-F238E27FC236}">
                <a16:creationId xmlns:a16="http://schemas.microsoft.com/office/drawing/2014/main" id="{17735BC9-46C5-9949-F86E-67E2BFB3081B}"/>
              </a:ext>
            </a:extLst>
          </p:cNvPr>
          <p:cNvSpPr txBox="1"/>
          <p:nvPr/>
        </p:nvSpPr>
        <p:spPr>
          <a:xfrm>
            <a:off x="5555594" y="4309964"/>
            <a:ext cx="522900" cy="369332"/>
          </a:xfrm>
          <a:prstGeom prst="rect">
            <a:avLst/>
          </a:prstGeom>
          <a:noFill/>
        </p:spPr>
        <p:txBody>
          <a:bodyPr wrap="none" rtlCol="0">
            <a:spAutoFit/>
          </a:bodyPr>
          <a:lstStyle/>
          <a:p>
            <a:r>
              <a:rPr lang="tr-TR" dirty="0">
                <a:solidFill>
                  <a:schemeClr val="accent2">
                    <a:lumMod val="75000"/>
                  </a:schemeClr>
                </a:solidFill>
              </a:rPr>
              <a:t> = 0</a:t>
            </a:r>
            <a:endParaRPr lang="en-US" dirty="0">
              <a:solidFill>
                <a:schemeClr val="accent2">
                  <a:lumMod val="75000"/>
                </a:schemeClr>
              </a:solidFill>
            </a:endParaRPr>
          </a:p>
        </p:txBody>
      </p:sp>
      <p:cxnSp>
        <p:nvCxnSpPr>
          <p:cNvPr id="22" name="Straight Connector 21">
            <a:extLst>
              <a:ext uri="{FF2B5EF4-FFF2-40B4-BE49-F238E27FC236}">
                <a16:creationId xmlns:a16="http://schemas.microsoft.com/office/drawing/2014/main" id="{ACD4484C-965F-109C-CBE7-C09A74E74A78}"/>
              </a:ext>
            </a:extLst>
          </p:cNvPr>
          <p:cNvCxnSpPr/>
          <p:nvPr/>
        </p:nvCxnSpPr>
        <p:spPr>
          <a:xfrm>
            <a:off x="5908174" y="3526266"/>
            <a:ext cx="0" cy="189186"/>
          </a:xfrm>
          <a:prstGeom prst="line">
            <a:avLst/>
          </a:prstGeom>
          <a:ln w="381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23" name="Straight Connector 22">
            <a:extLst>
              <a:ext uri="{FF2B5EF4-FFF2-40B4-BE49-F238E27FC236}">
                <a16:creationId xmlns:a16="http://schemas.microsoft.com/office/drawing/2014/main" id="{71D48844-C249-0FF1-31E9-8B21F973AF8A}"/>
              </a:ext>
            </a:extLst>
          </p:cNvPr>
          <p:cNvCxnSpPr>
            <a:cxnSpLocks/>
            <a:stCxn id="14" idx="5"/>
          </p:cNvCxnSpPr>
          <p:nvPr/>
        </p:nvCxnSpPr>
        <p:spPr>
          <a:xfrm>
            <a:off x="5909734" y="2717800"/>
            <a:ext cx="0" cy="771394"/>
          </a:xfrm>
          <a:prstGeom prst="line">
            <a:avLst/>
          </a:prstGeom>
          <a:ln w="38100">
            <a:solidFill>
              <a:schemeClr val="tx1"/>
            </a:solidFill>
            <a:prstDash val="dashDot"/>
          </a:ln>
        </p:spPr>
        <p:style>
          <a:lnRef idx="1">
            <a:schemeClr val="accent1"/>
          </a:lnRef>
          <a:fillRef idx="0">
            <a:schemeClr val="accent1"/>
          </a:fillRef>
          <a:effectRef idx="0">
            <a:schemeClr val="accent1"/>
          </a:effectRef>
          <a:fontRef idx="minor">
            <a:schemeClr val="tx1"/>
          </a:fontRef>
        </p:style>
      </p:cxnSp>
      <mc:AlternateContent xmlns:mc="http://schemas.openxmlformats.org/markup-compatibility/2006" xmlns:a14="http://schemas.microsoft.com/office/drawing/2010/main">
        <mc:Choice Requires="a14">
          <p:sp>
            <p:nvSpPr>
              <p:cNvPr id="29" name="TextBox 28">
                <a:extLst>
                  <a:ext uri="{FF2B5EF4-FFF2-40B4-BE49-F238E27FC236}">
                    <a16:creationId xmlns:a16="http://schemas.microsoft.com/office/drawing/2014/main" id="{9954DB31-C688-E919-5F90-271A66A92CBB}"/>
                  </a:ext>
                </a:extLst>
              </p:cNvPr>
              <p:cNvSpPr txBox="1"/>
              <p:nvPr/>
            </p:nvSpPr>
            <p:spPr>
              <a:xfrm>
                <a:off x="5617578" y="3748189"/>
                <a:ext cx="507999" cy="369332"/>
              </a:xfrm>
              <a:prstGeom prst="rect">
                <a:avLst/>
              </a:prstGeom>
              <a:noFill/>
            </p:spPr>
            <p:txBody>
              <a:bodyPr wrap="square">
                <a:spAutoFit/>
              </a:bodyPr>
              <a:lstStyle/>
              <a:p>
                <a:pPr/>
                <a14:m>
                  <m:oMathPara xmlns:m="http://schemas.openxmlformats.org/officeDocument/2006/math">
                    <m:oMath>
                      <m:r>
                        <a:rPr lang="tr-TR" b="0" i="1" smtClean="0">
                          <a:latin typeface="Cambria Math" panose="02040503050406030204" pitchFamily="18" charset="0"/>
                        </a:rPr>
                        <m:t>5</m:t>
                      </m:r>
                    </m:oMath>
                  </m:oMathPara>
                </a14:m>
                <a:endParaRPr lang="en-US" dirty="0"/>
              </a:p>
            </p:txBody>
          </p:sp>
        </mc:Choice>
        <mc:Fallback xmlns="">
          <p:sp>
            <p:nvSpPr>
              <p:cNvPr id="29" name="TextBox 28">
                <a:extLst>
                  <a:ext uri="{FF2B5EF4-FFF2-40B4-BE49-F238E27FC236}">
                    <a16:creationId xmlns:a16="http://schemas.microsoft.com/office/drawing/2014/main" id="{9954DB31-C688-E919-5F90-271A66A92CBB}"/>
                  </a:ext>
                </a:extLst>
              </p:cNvPr>
              <p:cNvSpPr txBox="1">
                <a:spLocks noRot="1" noChangeAspect="1" noMove="1" noResize="1" noEditPoints="1" noAdjustHandles="1" noChangeArrowheads="1" noChangeShapeType="1" noTextEdit="1"/>
              </p:cNvSpPr>
              <p:nvPr/>
            </p:nvSpPr>
            <p:spPr>
              <a:xfrm>
                <a:off x="5617578" y="3748189"/>
                <a:ext cx="507999" cy="369332"/>
              </a:xfrm>
              <a:prstGeom prst="rect">
                <a:avLst/>
              </a:prstGeom>
              <a:blipFill>
                <a:blip r:embed="rId6"/>
                <a:stretch>
                  <a:fillRect/>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31" name="TextBox 30">
                <a:extLst>
                  <a:ext uri="{FF2B5EF4-FFF2-40B4-BE49-F238E27FC236}">
                    <a16:creationId xmlns:a16="http://schemas.microsoft.com/office/drawing/2014/main" id="{9DB8B6BD-2FAF-8EB9-62EE-BC3FF82EBD4D}"/>
                  </a:ext>
                </a:extLst>
              </p:cNvPr>
              <p:cNvSpPr txBox="1"/>
              <p:nvPr/>
            </p:nvSpPr>
            <p:spPr>
              <a:xfrm>
                <a:off x="7874010" y="3667025"/>
                <a:ext cx="1820331" cy="646331"/>
              </a:xfrm>
              <a:prstGeom prst="rect">
                <a:avLst/>
              </a:prstGeom>
              <a:noFill/>
            </p:spPr>
            <p:txBody>
              <a:bodyPr wrap="square">
                <a:spAutoFit/>
              </a:bodyPr>
              <a:lstStyle/>
              <a:p>
                <a:pPr/>
                <a14:m>
                  <m:oMathPara xmlns:m="http://schemas.openxmlformats.org/officeDocument/2006/math">
                    <m:oMath>
                      <m:r>
                        <a:rPr lang="tr-TR" b="0" i="1" smtClean="0">
                          <a:latin typeface="Cambria Math" panose="02040503050406030204" pitchFamily="18" charset="0"/>
                        </a:rPr>
                        <m:t>𝑤</m:t>
                      </m:r>
                      <m:r>
                        <a:rPr lang="tr-TR" b="0" i="1" smtClean="0">
                          <a:latin typeface="Cambria Math" panose="02040503050406030204" pitchFamily="18" charset="0"/>
                        </a:rPr>
                        <m:t>=</m:t>
                      </m:r>
                      <m:r>
                        <a:rPr lang="tr-TR" b="0" i="1" smtClean="0">
                          <a:latin typeface="Cambria Math" panose="02040503050406030204" pitchFamily="18" charset="0"/>
                        </a:rPr>
                        <m:t>𝑤</m:t>
                      </m:r>
                      <m:r>
                        <a:rPr lang="tr-TR" b="0" i="1" smtClean="0">
                          <a:latin typeface="Cambria Math" panose="02040503050406030204" pitchFamily="18" charset="0"/>
                        </a:rPr>
                        <m:t> −∝∗0</m:t>
                      </m:r>
                    </m:oMath>
                  </m:oMathPara>
                </a14:m>
                <a:endParaRPr lang="tr-TR" b="0" i="0" dirty="0">
                  <a:latin typeface="Cambria Math" panose="02040503050406030204" pitchFamily="18" charset="0"/>
                  <a:ea typeface="Cambria Math" panose="02040503050406030204" pitchFamily="18" charset="0"/>
                </a:endParaRPr>
              </a:p>
              <a:p>
                <a:pPr/>
                <a14:m>
                  <m:oMathPara xmlns:m="http://schemas.openxmlformats.org/officeDocument/2006/math">
                    <m:oMath>
                      <m:r>
                        <a:rPr lang="tr-TR" b="0" i="1" smtClean="0">
                          <a:latin typeface="Cambria Math" panose="02040503050406030204" pitchFamily="18" charset="0"/>
                        </a:rPr>
                        <m:t>𝑤</m:t>
                      </m:r>
                      <m:r>
                        <a:rPr lang="tr-TR" b="0" i="1" smtClean="0">
                          <a:latin typeface="Cambria Math" panose="02040503050406030204" pitchFamily="18" charset="0"/>
                        </a:rPr>
                        <m:t>=</m:t>
                      </m:r>
                      <m:r>
                        <a:rPr lang="tr-TR" b="0" i="1" smtClean="0">
                          <a:latin typeface="Cambria Math" panose="02040503050406030204" pitchFamily="18" charset="0"/>
                        </a:rPr>
                        <m:t>𝑤</m:t>
                      </m:r>
                      <m:r>
                        <a:rPr lang="tr-TR" b="0" i="1" smtClean="0">
                          <a:latin typeface="Cambria Math" panose="02040503050406030204" pitchFamily="18" charset="0"/>
                        </a:rPr>
                        <m:t> </m:t>
                      </m:r>
                    </m:oMath>
                  </m:oMathPara>
                </a14:m>
                <a:endParaRPr lang="en-US" dirty="0"/>
              </a:p>
            </p:txBody>
          </p:sp>
        </mc:Choice>
        <mc:Fallback xmlns="">
          <p:sp>
            <p:nvSpPr>
              <p:cNvPr id="31" name="TextBox 30">
                <a:extLst>
                  <a:ext uri="{FF2B5EF4-FFF2-40B4-BE49-F238E27FC236}">
                    <a16:creationId xmlns:a16="http://schemas.microsoft.com/office/drawing/2014/main" id="{9DB8B6BD-2FAF-8EB9-62EE-BC3FF82EBD4D}"/>
                  </a:ext>
                </a:extLst>
              </p:cNvPr>
              <p:cNvSpPr txBox="1">
                <a:spLocks noRot="1" noChangeAspect="1" noMove="1" noResize="1" noEditPoints="1" noAdjustHandles="1" noChangeArrowheads="1" noChangeShapeType="1" noTextEdit="1"/>
              </p:cNvSpPr>
              <p:nvPr/>
            </p:nvSpPr>
            <p:spPr>
              <a:xfrm>
                <a:off x="7874010" y="3667025"/>
                <a:ext cx="1820331" cy="646331"/>
              </a:xfrm>
              <a:prstGeom prst="rect">
                <a:avLst/>
              </a:prstGeom>
              <a:blipFill>
                <a:blip r:embed="rId7"/>
                <a:stretch>
                  <a:fillRect/>
                </a:stretch>
              </a:blipFill>
            </p:spPr>
            <p:txBody>
              <a:bodyPr/>
              <a:lstStyle/>
              <a:p>
                <a:r>
                  <a:rPr lang="en-US">
                    <a:noFill/>
                  </a:rPr>
                  <a:t> </a:t>
                </a:r>
              </a:p>
            </p:txBody>
          </p:sp>
        </mc:Fallback>
      </mc:AlternateContent>
      <p:sp>
        <p:nvSpPr>
          <p:cNvPr id="2" name="Rectangle">
            <a:extLst>
              <a:ext uri="{FF2B5EF4-FFF2-40B4-BE49-F238E27FC236}">
                <a16:creationId xmlns:a16="http://schemas.microsoft.com/office/drawing/2014/main" id="{A4A911F8-8CB2-A80A-FE1D-3C37EEE9282A}"/>
              </a:ext>
            </a:extLst>
          </p:cNvPr>
          <p:cNvSpPr/>
          <p:nvPr/>
        </p:nvSpPr>
        <p:spPr>
          <a:xfrm>
            <a:off x="-11767" y="6545179"/>
            <a:ext cx="12203767" cy="315200"/>
          </a:xfrm>
          <a:prstGeom prst="rect">
            <a:avLst/>
          </a:prstGeom>
          <a:solidFill>
            <a:schemeClr val="tx1"/>
          </a:solidFill>
          <a:ln w="12700">
            <a:noFill/>
            <a:miter lim="400000"/>
          </a:ln>
        </p:spPr>
        <p:txBody>
          <a:bodyPr lIns="45719" rIns="45719" anchor="ctr"/>
          <a:lstStyle/>
          <a:p>
            <a:endParaRPr/>
          </a:p>
        </p:txBody>
      </p:sp>
      <p:pic>
        <p:nvPicPr>
          <p:cNvPr id="3" name="Picture 2" descr="Frontier Tech Leaders (@FTLeadersProg) / X">
            <a:extLst>
              <a:ext uri="{FF2B5EF4-FFF2-40B4-BE49-F238E27FC236}">
                <a16:creationId xmlns:a16="http://schemas.microsoft.com/office/drawing/2014/main" id="{7E28708A-FA48-9DC1-2387-1E2327ADF533}"/>
              </a:ext>
            </a:extLst>
          </p:cNvPr>
          <p:cNvPicPr>
            <a:picLocks noChangeAspect="1"/>
          </p:cNvPicPr>
          <p:nvPr/>
        </p:nvPicPr>
        <p:blipFill>
          <a:blip r:embed="rId8"/>
          <a:stretch>
            <a:fillRect/>
          </a:stretch>
        </p:blipFill>
        <p:spPr>
          <a:xfrm>
            <a:off x="10668000" y="94470"/>
            <a:ext cx="1027893" cy="1027893"/>
          </a:xfrm>
          <a:prstGeom prst="rect">
            <a:avLst/>
          </a:prstGeom>
        </p:spPr>
      </p:pic>
    </p:spTree>
    <p:extLst>
      <p:ext uri="{BB962C8B-B14F-4D97-AF65-F5344CB8AC3E}">
        <p14:creationId xmlns:p14="http://schemas.microsoft.com/office/powerpoint/2010/main" val="2557076607"/>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8"/>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9"/>
                                        </p:tgtEl>
                                        <p:attrNameLst>
                                          <p:attrName>style.visibility</p:attrName>
                                        </p:attrNameLst>
                                      </p:cBhvr>
                                      <p:to>
                                        <p:strVal val="visible"/>
                                      </p:to>
                                    </p:set>
                                  </p:childTnLst>
                                </p:cTn>
                              </p:par>
                              <p:par>
                                <p:cTn id="9" presetID="1" presetClass="entr" presetSubtype="0" fill="hold" grpId="0" nodeType="withEffect">
                                  <p:stCondLst>
                                    <p:cond delay="0"/>
                                  </p:stCondLst>
                                  <p:childTnLst>
                                    <p:set>
                                      <p:cBhvr>
                                        <p:cTn id="10" dur="1" fill="hold">
                                          <p:stCondLst>
                                            <p:cond delay="0"/>
                                          </p:stCondLst>
                                        </p:cTn>
                                        <p:tgtEl>
                                          <p:spTgt spid="10"/>
                                        </p:tgtEl>
                                        <p:attrNameLst>
                                          <p:attrName>style.visibility</p:attrName>
                                        </p:attrNameLst>
                                      </p:cBhvr>
                                      <p:to>
                                        <p:strVal val="visible"/>
                                      </p:to>
                                    </p:set>
                                  </p:childTnLst>
                                </p:cTn>
                              </p:par>
                              <p:par>
                                <p:cTn id="11" presetID="1" presetClass="entr" presetSubtype="0" fill="hold" grpId="0" nodeType="withEffect">
                                  <p:stCondLst>
                                    <p:cond delay="0"/>
                                  </p:stCondLst>
                                  <p:childTnLst>
                                    <p:set>
                                      <p:cBhvr>
                                        <p:cTn id="12" dur="1" fill="hold">
                                          <p:stCondLst>
                                            <p:cond delay="0"/>
                                          </p:stCondLst>
                                        </p:cTn>
                                        <p:tgtEl>
                                          <p:spTgt spid="11"/>
                                        </p:tgtEl>
                                        <p:attrNameLst>
                                          <p:attrName>style.visibility</p:attrName>
                                        </p:attrNameLst>
                                      </p:cBhvr>
                                      <p:to>
                                        <p:strVal val="visible"/>
                                      </p:to>
                                    </p:set>
                                  </p:childTnLst>
                                </p:cTn>
                              </p:par>
                              <p:par>
                                <p:cTn id="13" presetID="1" presetClass="entr" presetSubtype="0" fill="hold" grpId="0" nodeType="withEffect">
                                  <p:stCondLst>
                                    <p:cond delay="0"/>
                                  </p:stCondLst>
                                  <p:childTnLst>
                                    <p:set>
                                      <p:cBhvr>
                                        <p:cTn id="14" dur="1" fill="hold">
                                          <p:stCondLst>
                                            <p:cond delay="0"/>
                                          </p:stCondLst>
                                        </p:cTn>
                                        <p:tgtEl>
                                          <p:spTgt spid="14"/>
                                        </p:tgtEl>
                                        <p:attrNameLst>
                                          <p:attrName>style.visibility</p:attrName>
                                        </p:attrNameLst>
                                      </p:cBhvr>
                                      <p:to>
                                        <p:strVal val="visible"/>
                                      </p:to>
                                    </p:set>
                                  </p:childTnLst>
                                </p:cTn>
                              </p:par>
                              <p:par>
                                <p:cTn id="15" presetID="1" presetClass="entr" presetSubtype="0" fill="hold" nodeType="withEffect">
                                  <p:stCondLst>
                                    <p:cond delay="0"/>
                                  </p:stCondLst>
                                  <p:childTnLst>
                                    <p:set>
                                      <p:cBhvr>
                                        <p:cTn id="16" dur="1" fill="hold">
                                          <p:stCondLst>
                                            <p:cond delay="0"/>
                                          </p:stCondLst>
                                        </p:cTn>
                                        <p:tgtEl>
                                          <p:spTgt spid="22"/>
                                        </p:tgtEl>
                                        <p:attrNameLst>
                                          <p:attrName>style.visibility</p:attrName>
                                        </p:attrNameLst>
                                      </p:cBhvr>
                                      <p:to>
                                        <p:strVal val="visible"/>
                                      </p:to>
                                    </p:set>
                                  </p:childTnLst>
                                </p:cTn>
                              </p:par>
                              <p:par>
                                <p:cTn id="17" presetID="1" presetClass="entr" presetSubtype="0" fill="hold" grpId="0" nodeType="withEffect">
                                  <p:stCondLst>
                                    <p:cond delay="0"/>
                                  </p:stCondLst>
                                  <p:childTnLst>
                                    <p:set>
                                      <p:cBhvr>
                                        <p:cTn id="18" dur="1" fill="hold">
                                          <p:stCondLst>
                                            <p:cond delay="0"/>
                                          </p:stCondLst>
                                        </p:cTn>
                                        <p:tgtEl>
                                          <p:spTgt spid="29"/>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nodeType="clickEffect">
                                  <p:stCondLst>
                                    <p:cond delay="0"/>
                                  </p:stCondLst>
                                  <p:childTnLst>
                                    <p:set>
                                      <p:cBhvr>
                                        <p:cTn id="22" dur="1" fill="hold">
                                          <p:stCondLst>
                                            <p:cond delay="0"/>
                                          </p:stCondLst>
                                        </p:cTn>
                                        <p:tgtEl>
                                          <p:spTgt spid="18"/>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nodeType="clickEffect">
                                  <p:stCondLst>
                                    <p:cond delay="0"/>
                                  </p:stCondLst>
                                  <p:childTnLst>
                                    <p:set>
                                      <p:cBhvr>
                                        <p:cTn id="26" dur="1" fill="hold">
                                          <p:stCondLst>
                                            <p:cond delay="0"/>
                                          </p:stCondLst>
                                        </p:cTn>
                                        <p:tgtEl>
                                          <p:spTgt spid="23"/>
                                        </p:tgtEl>
                                        <p:attrNameLst>
                                          <p:attrName>style.visibility</p:attrName>
                                        </p:attrNameLst>
                                      </p:cBhvr>
                                      <p:to>
                                        <p:strVal val="visible"/>
                                      </p:to>
                                    </p:set>
                                  </p:childTnLst>
                                </p:cTn>
                              </p:par>
                            </p:childTnLst>
                          </p:cTn>
                        </p:par>
                      </p:childTnLst>
                    </p:cTn>
                  </p:par>
                  <p:par>
                    <p:cTn id="27" fill="hold">
                      <p:stCondLst>
                        <p:cond delay="indefinite"/>
                      </p:stCondLst>
                      <p:childTnLst>
                        <p:par>
                          <p:cTn id="28" fill="hold">
                            <p:stCondLst>
                              <p:cond delay="0"/>
                            </p:stCondLst>
                            <p:childTnLst>
                              <p:par>
                                <p:cTn id="29" presetID="1" presetClass="entr" presetSubtype="0" fill="hold" grpId="0" nodeType="clickEffect">
                                  <p:stCondLst>
                                    <p:cond delay="0"/>
                                  </p:stCondLst>
                                  <p:childTnLst>
                                    <p:set>
                                      <p:cBhvr>
                                        <p:cTn id="30" dur="1" fill="hold">
                                          <p:stCondLst>
                                            <p:cond delay="0"/>
                                          </p:stCondLst>
                                        </p:cTn>
                                        <p:tgtEl>
                                          <p:spTgt spid="19"/>
                                        </p:tgtEl>
                                        <p:attrNameLst>
                                          <p:attrName>style.visibility</p:attrName>
                                        </p:attrNameLst>
                                      </p:cBhvr>
                                      <p:to>
                                        <p:strVal val="visible"/>
                                      </p:to>
                                    </p:set>
                                  </p:childTnLst>
                                </p:cTn>
                              </p:par>
                            </p:childTnLst>
                          </p:cTn>
                        </p:par>
                      </p:childTnLst>
                    </p:cTn>
                  </p:par>
                  <p:par>
                    <p:cTn id="31" fill="hold">
                      <p:stCondLst>
                        <p:cond delay="indefinite"/>
                      </p:stCondLst>
                      <p:childTnLst>
                        <p:par>
                          <p:cTn id="32" fill="hold">
                            <p:stCondLst>
                              <p:cond delay="0"/>
                            </p:stCondLst>
                            <p:childTnLst>
                              <p:par>
                                <p:cTn id="33" presetID="1" presetClass="entr" presetSubtype="0" fill="hold" grpId="0" nodeType="clickEffect">
                                  <p:stCondLst>
                                    <p:cond delay="0"/>
                                  </p:stCondLst>
                                  <p:childTnLst>
                                    <p:set>
                                      <p:cBhvr>
                                        <p:cTn id="34" dur="1" fill="hold">
                                          <p:stCondLst>
                                            <p:cond delay="0"/>
                                          </p:stCondLst>
                                        </p:cTn>
                                        <p:tgtEl>
                                          <p:spTgt spid="31"/>
                                        </p:tgtEl>
                                        <p:attrNameLst>
                                          <p:attrName>style.visibility</p:attrName>
                                        </p:attrNameLst>
                                      </p:cBhvr>
                                      <p:to>
                                        <p:strVal val="visible"/>
                                      </p:to>
                                    </p:set>
                                  </p:childTnLst>
                                </p:cTn>
                              </p:par>
                            </p:childTnLst>
                          </p:cTn>
                        </p:par>
                      </p:childTnLst>
                    </p:cTn>
                  </p:par>
                  <p:par>
                    <p:cTn id="35" fill="hold">
                      <p:stCondLst>
                        <p:cond delay="indefinite"/>
                      </p:stCondLst>
                      <p:childTnLst>
                        <p:par>
                          <p:cTn id="36" fill="hold">
                            <p:stCondLst>
                              <p:cond delay="0"/>
                            </p:stCondLst>
                            <p:childTnLst>
                              <p:par>
                                <p:cTn id="37" presetID="1" presetClass="entr" presetSubtype="0" fill="hold" grpId="0" nodeType="clickEffect">
                                  <p:stCondLst>
                                    <p:cond delay="0"/>
                                  </p:stCondLst>
                                  <p:childTnLst>
                                    <p:set>
                                      <p:cBhvr>
                                        <p:cTn id="38" dur="1" fill="hold">
                                          <p:stCondLst>
                                            <p:cond delay="0"/>
                                          </p:stCondLst>
                                        </p:cTn>
                                        <p:tgtEl>
                                          <p:spTgt spid="16"/>
                                        </p:tgtEl>
                                        <p:attrNameLst>
                                          <p:attrName>style.visibility</p:attrName>
                                        </p:attrNameLst>
                                      </p:cBhvr>
                                      <p:to>
                                        <p:strVal val="visible"/>
                                      </p:to>
                                    </p:set>
                                  </p:childTnLst>
                                </p:cTn>
                              </p:par>
                            </p:childTnLst>
                          </p:cTn>
                        </p:par>
                      </p:childTnLst>
                    </p:cTn>
                  </p:par>
                  <p:par>
                    <p:cTn id="39" fill="hold">
                      <p:stCondLst>
                        <p:cond delay="indefinite"/>
                      </p:stCondLst>
                      <p:childTnLst>
                        <p:par>
                          <p:cTn id="40" fill="hold">
                            <p:stCondLst>
                              <p:cond delay="0"/>
                            </p:stCondLst>
                            <p:childTnLst>
                              <p:par>
                                <p:cTn id="41" presetID="1" presetClass="entr" presetSubtype="0" fill="hold" grpId="0" nodeType="clickEffect">
                                  <p:stCondLst>
                                    <p:cond delay="0"/>
                                  </p:stCondLst>
                                  <p:childTnLst>
                                    <p:set>
                                      <p:cBhvr>
                                        <p:cTn id="42" dur="1" fill="hold">
                                          <p:stCondLst>
                                            <p:cond delay="0"/>
                                          </p:stCondLst>
                                        </p:cTn>
                                        <p:tgtEl>
                                          <p:spTgt spid="20"/>
                                        </p:tgtEl>
                                        <p:attrNameLst>
                                          <p:attrName>style.visibility</p:attrName>
                                        </p:attrNameLst>
                                      </p:cBhvr>
                                      <p:to>
                                        <p:strVal val="visible"/>
                                      </p:to>
                                    </p:set>
                                  </p:childTnLst>
                                </p:cTn>
                              </p:par>
                            </p:childTnLst>
                          </p:cTn>
                        </p:par>
                      </p:childTnLst>
                    </p:cTn>
                  </p:par>
                  <p:par>
                    <p:cTn id="43" fill="hold">
                      <p:stCondLst>
                        <p:cond delay="indefinite"/>
                      </p:stCondLst>
                      <p:childTnLst>
                        <p:par>
                          <p:cTn id="44" fill="hold">
                            <p:stCondLst>
                              <p:cond delay="0"/>
                            </p:stCondLst>
                            <p:childTnLst>
                              <p:par>
                                <p:cTn id="45" presetID="1" presetClass="entr" presetSubtype="0" fill="hold" grpId="0" nodeType="clickEffect">
                                  <p:stCondLst>
                                    <p:cond delay="0"/>
                                  </p:stCondLst>
                                  <p:childTnLst>
                                    <p:set>
                                      <p:cBhvr>
                                        <p:cTn id="46" dur="1" fill="hold">
                                          <p:stCondLst>
                                            <p:cond delay="0"/>
                                          </p:stCondLst>
                                        </p:cTn>
                                        <p:tgtEl>
                                          <p:spTgt spid="21"/>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0" grpId="0" animBg="1"/>
      <p:bldP spid="10" grpId="0"/>
      <p:bldP spid="11" grpId="0"/>
      <p:bldP spid="14" grpId="0" animBg="1"/>
      <p:bldP spid="16" grpId="0"/>
      <p:bldP spid="19" grpId="0"/>
      <p:bldP spid="21" grpId="0"/>
      <p:bldP spid="29" grpId="0"/>
      <p:bldP spid="31" grpId="0"/>
    </p:bldLst>
  </p:timing>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cxnSp>
        <p:nvCxnSpPr>
          <p:cNvPr id="8" name="Straight Arrow Connector 7">
            <a:extLst>
              <a:ext uri="{FF2B5EF4-FFF2-40B4-BE49-F238E27FC236}">
                <a16:creationId xmlns:a16="http://schemas.microsoft.com/office/drawing/2014/main" id="{89C025B5-CE3A-8001-FF14-069AB6A4C3DD}"/>
              </a:ext>
            </a:extLst>
          </p:cNvPr>
          <p:cNvCxnSpPr>
            <a:cxnSpLocks/>
          </p:cNvCxnSpPr>
          <p:nvPr/>
        </p:nvCxnSpPr>
        <p:spPr>
          <a:xfrm flipV="1">
            <a:off x="1597099" y="660400"/>
            <a:ext cx="0" cy="2307897"/>
          </a:xfrm>
          <a:prstGeom prst="straightConnector1">
            <a:avLst/>
          </a:prstGeom>
          <a:ln w="38100">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9" name="Straight Arrow Connector 8">
            <a:extLst>
              <a:ext uri="{FF2B5EF4-FFF2-40B4-BE49-F238E27FC236}">
                <a16:creationId xmlns:a16="http://schemas.microsoft.com/office/drawing/2014/main" id="{0895EEC0-490E-31B8-0CF9-FB64CB026B7A}"/>
              </a:ext>
            </a:extLst>
          </p:cNvPr>
          <p:cNvCxnSpPr>
            <a:cxnSpLocks/>
          </p:cNvCxnSpPr>
          <p:nvPr/>
        </p:nvCxnSpPr>
        <p:spPr>
          <a:xfrm>
            <a:off x="1471292" y="2850392"/>
            <a:ext cx="2982175" cy="0"/>
          </a:xfrm>
          <a:prstGeom prst="straightConnector1">
            <a:avLst/>
          </a:prstGeom>
          <a:ln w="38100">
            <a:solidFill>
              <a:schemeClr val="tx1"/>
            </a:solidFill>
            <a:tailEnd type="triangle"/>
          </a:ln>
        </p:spPr>
        <p:style>
          <a:lnRef idx="1">
            <a:schemeClr val="accent1"/>
          </a:lnRef>
          <a:fillRef idx="0">
            <a:schemeClr val="accent1"/>
          </a:fillRef>
          <a:effectRef idx="0">
            <a:schemeClr val="accent1"/>
          </a:effectRef>
          <a:fontRef idx="minor">
            <a:schemeClr val="tx1"/>
          </a:fontRef>
        </p:style>
      </p:cxnSp>
      <mc:AlternateContent xmlns:mc="http://schemas.openxmlformats.org/markup-compatibility/2006" xmlns:a14="http://schemas.microsoft.com/office/drawing/2010/main">
        <mc:Choice Requires="a14">
          <p:sp>
            <p:nvSpPr>
              <p:cNvPr id="10" name="TextBox 9">
                <a:extLst>
                  <a:ext uri="{FF2B5EF4-FFF2-40B4-BE49-F238E27FC236}">
                    <a16:creationId xmlns:a16="http://schemas.microsoft.com/office/drawing/2014/main" id="{BD5CCEE7-A555-D49F-A5F5-09DC898CD55E}"/>
                  </a:ext>
                </a:extLst>
              </p:cNvPr>
              <p:cNvSpPr txBox="1"/>
              <p:nvPr/>
            </p:nvSpPr>
            <p:spPr>
              <a:xfrm>
                <a:off x="703430" y="1630060"/>
                <a:ext cx="846667" cy="369332"/>
              </a:xfrm>
              <a:prstGeom prst="rect">
                <a:avLst/>
              </a:prstGeom>
              <a:noFill/>
            </p:spPr>
            <p:txBody>
              <a:bodyPr wrap="square">
                <a:spAutoFit/>
              </a:bodyPr>
              <a:lstStyle/>
              <a:p>
                <a:pPr/>
                <a14:m>
                  <m:oMathPara xmlns:m="http://schemas.openxmlformats.org/officeDocument/2006/math">
                    <m:oMath>
                      <m:r>
                        <a:rPr lang="tr-TR" i="1">
                          <a:latin typeface="Cambria Math" panose="02040503050406030204" pitchFamily="18" charset="0"/>
                        </a:rPr>
                        <m:t>𝐽</m:t>
                      </m:r>
                      <m:r>
                        <a:rPr lang="tr-TR" i="1">
                          <a:latin typeface="Cambria Math" panose="02040503050406030204" pitchFamily="18" charset="0"/>
                        </a:rPr>
                        <m:t>(</m:t>
                      </m:r>
                      <m:r>
                        <a:rPr lang="tr-TR" i="1">
                          <a:latin typeface="Cambria Math" panose="02040503050406030204" pitchFamily="18" charset="0"/>
                        </a:rPr>
                        <m:t>𝑤</m:t>
                      </m:r>
                      <m:r>
                        <a:rPr lang="tr-TR" i="1">
                          <a:latin typeface="Cambria Math" panose="02040503050406030204" pitchFamily="18" charset="0"/>
                        </a:rPr>
                        <m:t>)</m:t>
                      </m:r>
                    </m:oMath>
                  </m:oMathPara>
                </a14:m>
                <a:endParaRPr lang="en-US" dirty="0"/>
              </a:p>
            </p:txBody>
          </p:sp>
        </mc:Choice>
        <mc:Fallback xmlns="">
          <p:sp>
            <p:nvSpPr>
              <p:cNvPr id="10" name="TextBox 9">
                <a:extLst>
                  <a:ext uri="{FF2B5EF4-FFF2-40B4-BE49-F238E27FC236}">
                    <a16:creationId xmlns:a16="http://schemas.microsoft.com/office/drawing/2014/main" id="{BD5CCEE7-A555-D49F-A5F5-09DC898CD55E}"/>
                  </a:ext>
                </a:extLst>
              </p:cNvPr>
              <p:cNvSpPr txBox="1">
                <a:spLocks noRot="1" noChangeAspect="1" noMove="1" noResize="1" noEditPoints="1" noAdjustHandles="1" noChangeArrowheads="1" noChangeShapeType="1" noTextEdit="1"/>
              </p:cNvSpPr>
              <p:nvPr/>
            </p:nvSpPr>
            <p:spPr>
              <a:xfrm>
                <a:off x="703430" y="1630060"/>
                <a:ext cx="846667" cy="369332"/>
              </a:xfrm>
              <a:prstGeom prst="rect">
                <a:avLst/>
              </a:prstGeom>
              <a:blipFill>
                <a:blip r:embed="rId3"/>
                <a:stretch>
                  <a:fillRect b="-13115"/>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11" name="TextBox 10">
                <a:extLst>
                  <a:ext uri="{FF2B5EF4-FFF2-40B4-BE49-F238E27FC236}">
                    <a16:creationId xmlns:a16="http://schemas.microsoft.com/office/drawing/2014/main" id="{0BFC0597-EB6E-5116-0387-9AB022BEEF57}"/>
                  </a:ext>
                </a:extLst>
              </p:cNvPr>
              <p:cNvSpPr txBox="1"/>
              <p:nvPr/>
            </p:nvSpPr>
            <p:spPr>
              <a:xfrm>
                <a:off x="2498026" y="2968297"/>
                <a:ext cx="550333" cy="369332"/>
              </a:xfrm>
              <a:prstGeom prst="rect">
                <a:avLst/>
              </a:prstGeom>
              <a:noFill/>
            </p:spPr>
            <p:txBody>
              <a:bodyPr wrap="square">
                <a:spAutoFit/>
              </a:bodyPr>
              <a:lstStyle/>
              <a:p>
                <a:pPr/>
                <a14:m>
                  <m:oMathPara xmlns:m="http://schemas.openxmlformats.org/officeDocument/2006/math">
                    <m:oMath>
                      <m:r>
                        <a:rPr lang="tr-TR" b="0" i="1" smtClean="0">
                          <a:latin typeface="Cambria Math" panose="02040503050406030204" pitchFamily="18" charset="0"/>
                        </a:rPr>
                        <m:t>𝑤</m:t>
                      </m:r>
                    </m:oMath>
                  </m:oMathPara>
                </a14:m>
                <a:endParaRPr lang="en-US" dirty="0"/>
              </a:p>
            </p:txBody>
          </p:sp>
        </mc:Choice>
        <mc:Fallback xmlns="">
          <p:sp>
            <p:nvSpPr>
              <p:cNvPr id="11" name="TextBox 10">
                <a:extLst>
                  <a:ext uri="{FF2B5EF4-FFF2-40B4-BE49-F238E27FC236}">
                    <a16:creationId xmlns:a16="http://schemas.microsoft.com/office/drawing/2014/main" id="{0BFC0597-EB6E-5116-0387-9AB022BEEF57}"/>
                  </a:ext>
                </a:extLst>
              </p:cNvPr>
              <p:cNvSpPr txBox="1">
                <a:spLocks noRot="1" noChangeAspect="1" noMove="1" noResize="1" noEditPoints="1" noAdjustHandles="1" noChangeArrowheads="1" noChangeShapeType="1" noTextEdit="1"/>
              </p:cNvSpPr>
              <p:nvPr/>
            </p:nvSpPr>
            <p:spPr>
              <a:xfrm>
                <a:off x="2498026" y="2968297"/>
                <a:ext cx="550333" cy="369332"/>
              </a:xfrm>
              <a:prstGeom prst="rect">
                <a:avLst/>
              </a:prstGeom>
              <a:blipFill>
                <a:blip r:embed="rId4"/>
                <a:stretch>
                  <a:fillRect/>
                </a:stretch>
              </a:blipFill>
            </p:spPr>
            <p:txBody>
              <a:bodyPr/>
              <a:lstStyle/>
              <a:p>
                <a:r>
                  <a:rPr lang="en-US">
                    <a:noFill/>
                  </a:rPr>
                  <a:t> </a:t>
                </a:r>
              </a:p>
            </p:txBody>
          </p:sp>
        </mc:Fallback>
      </mc:AlternateContent>
      <p:sp>
        <p:nvSpPr>
          <p:cNvPr id="15" name="Freeform: Shape 14">
            <a:extLst>
              <a:ext uri="{FF2B5EF4-FFF2-40B4-BE49-F238E27FC236}">
                <a16:creationId xmlns:a16="http://schemas.microsoft.com/office/drawing/2014/main" id="{48A42DA5-5C62-E88E-3E99-8D1AE6099B33}"/>
              </a:ext>
            </a:extLst>
          </p:cNvPr>
          <p:cNvSpPr/>
          <p:nvPr/>
        </p:nvSpPr>
        <p:spPr>
          <a:xfrm>
            <a:off x="1828800" y="1032933"/>
            <a:ext cx="2446867" cy="1634099"/>
          </a:xfrm>
          <a:custGeom>
            <a:avLst/>
            <a:gdLst>
              <a:gd name="connsiteX0" fmla="*/ 2446867 w 2446867"/>
              <a:gd name="connsiteY0" fmla="*/ 0 h 1634099"/>
              <a:gd name="connsiteX1" fmla="*/ 2065867 w 2446867"/>
              <a:gd name="connsiteY1" fmla="*/ 1261534 h 1634099"/>
              <a:gd name="connsiteX2" fmla="*/ 931333 w 2446867"/>
              <a:gd name="connsiteY2" fmla="*/ 1634067 h 1634099"/>
              <a:gd name="connsiteX3" fmla="*/ 0 w 2446867"/>
              <a:gd name="connsiteY3" fmla="*/ 1278467 h 1634099"/>
            </a:gdLst>
            <a:ahLst/>
            <a:cxnLst>
              <a:cxn ang="0">
                <a:pos x="connsiteX0" y="connsiteY0"/>
              </a:cxn>
              <a:cxn ang="0">
                <a:pos x="connsiteX1" y="connsiteY1"/>
              </a:cxn>
              <a:cxn ang="0">
                <a:pos x="connsiteX2" y="connsiteY2"/>
              </a:cxn>
              <a:cxn ang="0">
                <a:pos x="connsiteX3" y="connsiteY3"/>
              </a:cxn>
            </a:cxnLst>
            <a:rect l="l" t="t" r="r" b="b"/>
            <a:pathLst>
              <a:path w="2446867" h="1634099">
                <a:moveTo>
                  <a:pt x="2446867" y="0"/>
                </a:moveTo>
                <a:cubicBezTo>
                  <a:pt x="2382661" y="494595"/>
                  <a:pt x="2318456" y="989190"/>
                  <a:pt x="2065867" y="1261534"/>
                </a:cubicBezTo>
                <a:cubicBezTo>
                  <a:pt x="1813278" y="1533878"/>
                  <a:pt x="1275644" y="1631245"/>
                  <a:pt x="931333" y="1634067"/>
                </a:cubicBezTo>
                <a:cubicBezTo>
                  <a:pt x="587022" y="1636889"/>
                  <a:pt x="293511" y="1457678"/>
                  <a:pt x="0" y="1278467"/>
                </a:cubicBezTo>
              </a:path>
            </a:pathLst>
          </a:custGeom>
          <a:noFill/>
          <a:ln w="38100">
            <a:solidFill>
              <a:srgbClr val="FF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mc:AlternateContent xmlns:mc="http://schemas.openxmlformats.org/markup-compatibility/2006" xmlns:a14="http://schemas.microsoft.com/office/drawing/2010/main">
        <mc:Choice Requires="a14">
          <p:sp>
            <p:nvSpPr>
              <p:cNvPr id="17" name="TextBox 16">
                <a:extLst>
                  <a:ext uri="{FF2B5EF4-FFF2-40B4-BE49-F238E27FC236}">
                    <a16:creationId xmlns:a16="http://schemas.microsoft.com/office/drawing/2014/main" id="{A203EFCC-E692-957B-C1F5-64AB68221C19}"/>
                  </a:ext>
                </a:extLst>
              </p:cNvPr>
              <p:cNvSpPr txBox="1"/>
              <p:nvPr/>
            </p:nvSpPr>
            <p:spPr>
              <a:xfrm>
                <a:off x="6492026" y="2031665"/>
                <a:ext cx="6096000" cy="635367"/>
              </a:xfrm>
              <a:prstGeom prst="rect">
                <a:avLst/>
              </a:prstGeom>
              <a:noFill/>
            </p:spPr>
            <p:txBody>
              <a:bodyPr wrap="square">
                <a:spAutoFit/>
              </a:bodyPr>
              <a:lstStyle/>
              <a:p>
                <a14:m>
                  <m:oMath xmlns:m="http://schemas.openxmlformats.org/officeDocument/2006/math">
                    <m:r>
                      <m:rPr>
                        <m:sty m:val="p"/>
                      </m:rPr>
                      <a:rPr lang="tr-TR" sz="2400" b="0" i="0" smtClean="0">
                        <a:latin typeface="Cambria Math" panose="02040503050406030204" pitchFamily="18" charset="0"/>
                      </a:rPr>
                      <m:t>w</m:t>
                    </m:r>
                    <m:r>
                      <a:rPr lang="tr-TR" sz="2400" b="0" i="0" smtClean="0">
                        <a:latin typeface="Cambria Math" panose="02040503050406030204" pitchFamily="18" charset="0"/>
                      </a:rPr>
                      <m:t>= </m:t>
                    </m:r>
                    <m:r>
                      <m:rPr>
                        <m:sty m:val="p"/>
                      </m:rPr>
                      <a:rPr lang="tr-TR" sz="2400" smtClean="0">
                        <a:latin typeface="Cambria Math" panose="02040503050406030204" pitchFamily="18" charset="0"/>
                      </a:rPr>
                      <m:t>w</m:t>
                    </m:r>
                    <m:r>
                      <a:rPr lang="tr-TR" sz="2400" b="0" i="0" smtClean="0">
                        <a:latin typeface="Cambria Math" panose="02040503050406030204" pitchFamily="18" charset="0"/>
                      </a:rPr>
                      <m:t>−</m:t>
                    </m:r>
                    <m:r>
                      <a:rPr lang="tr-TR" sz="2400" b="0" i="1" smtClean="0">
                        <a:latin typeface="Cambria Math" panose="02040503050406030204" pitchFamily="18" charset="0"/>
                        <a:ea typeface="Cambria Math" panose="02040503050406030204" pitchFamily="18" charset="0"/>
                      </a:rPr>
                      <m:t>∝</m:t>
                    </m:r>
                    <m:f>
                      <m:fPr>
                        <m:ctrlPr>
                          <a:rPr lang="tr-TR" sz="2400" b="0" i="1" smtClean="0">
                            <a:latin typeface="Cambria Math" panose="02040503050406030204" pitchFamily="18" charset="0"/>
                            <a:ea typeface="Cambria Math" panose="02040503050406030204" pitchFamily="18" charset="0"/>
                          </a:rPr>
                        </m:ctrlPr>
                      </m:fPr>
                      <m:num>
                        <m:r>
                          <a:rPr lang="tr-TR" sz="2400" b="0" i="1" smtClean="0">
                            <a:latin typeface="Cambria Math" panose="02040503050406030204" pitchFamily="18" charset="0"/>
                            <a:ea typeface="Cambria Math" panose="02040503050406030204" pitchFamily="18" charset="0"/>
                          </a:rPr>
                          <m:t>𝜕</m:t>
                        </m:r>
                      </m:num>
                      <m:den>
                        <m:r>
                          <a:rPr lang="tr-TR" sz="2400" b="0" i="1" smtClean="0">
                            <a:latin typeface="Cambria Math" panose="02040503050406030204" pitchFamily="18" charset="0"/>
                            <a:ea typeface="Cambria Math" panose="02040503050406030204" pitchFamily="18" charset="0"/>
                          </a:rPr>
                          <m:t>𝜕</m:t>
                        </m:r>
                        <m:r>
                          <a:rPr lang="tr-TR" sz="2400" b="0" i="1" smtClean="0">
                            <a:latin typeface="Cambria Math" panose="02040503050406030204" pitchFamily="18" charset="0"/>
                            <a:ea typeface="Cambria Math" panose="02040503050406030204" pitchFamily="18" charset="0"/>
                          </a:rPr>
                          <m:t>𝑤</m:t>
                        </m:r>
                      </m:den>
                    </m:f>
                  </m:oMath>
                </a14:m>
                <a:r>
                  <a:rPr lang="tr-TR" sz="2400" b="0" dirty="0"/>
                  <a:t> </a:t>
                </a:r>
                <a14:m>
                  <m:oMath xmlns:m="http://schemas.openxmlformats.org/officeDocument/2006/math">
                    <m:r>
                      <a:rPr lang="tr-TR" sz="2400" b="0" i="1" smtClean="0">
                        <a:latin typeface="Cambria Math" panose="02040503050406030204" pitchFamily="18" charset="0"/>
                      </a:rPr>
                      <m:t>𝐽</m:t>
                    </m:r>
                    <m:d>
                      <m:dPr>
                        <m:ctrlPr>
                          <a:rPr lang="tr-TR" sz="2400" b="0" i="1" smtClean="0">
                            <a:latin typeface="Cambria Math" panose="02040503050406030204" pitchFamily="18" charset="0"/>
                          </a:rPr>
                        </m:ctrlPr>
                      </m:dPr>
                      <m:e>
                        <m:bar>
                          <m:barPr>
                            <m:pos m:val="top"/>
                            <m:ctrlPr>
                              <a:rPr lang="tr-TR" sz="2400" b="0" i="1" smtClean="0">
                                <a:latin typeface="Cambria Math" panose="02040503050406030204" pitchFamily="18" charset="0"/>
                              </a:rPr>
                            </m:ctrlPr>
                          </m:barPr>
                          <m:e>
                            <m:r>
                              <a:rPr lang="tr-TR" sz="2400" b="0" i="1" smtClean="0">
                                <a:latin typeface="Cambria Math" panose="02040503050406030204" pitchFamily="18" charset="0"/>
                              </a:rPr>
                              <m:t>𝑤</m:t>
                            </m:r>
                          </m:e>
                        </m:bar>
                        <m:r>
                          <a:rPr lang="tr-TR" sz="2400" b="0" i="1" smtClean="0">
                            <a:latin typeface="Cambria Math" panose="02040503050406030204" pitchFamily="18" charset="0"/>
                          </a:rPr>
                          <m:t>,</m:t>
                        </m:r>
                        <m:r>
                          <a:rPr lang="tr-TR" sz="2400" b="0" i="1" smtClean="0">
                            <a:latin typeface="Cambria Math" panose="02040503050406030204" pitchFamily="18" charset="0"/>
                          </a:rPr>
                          <m:t>𝑏</m:t>
                        </m:r>
                      </m:e>
                    </m:d>
                  </m:oMath>
                </a14:m>
                <a:endParaRPr lang="en-US" sz="2400" dirty="0"/>
              </a:p>
            </p:txBody>
          </p:sp>
        </mc:Choice>
        <mc:Fallback xmlns="">
          <p:sp>
            <p:nvSpPr>
              <p:cNvPr id="17" name="TextBox 16">
                <a:extLst>
                  <a:ext uri="{FF2B5EF4-FFF2-40B4-BE49-F238E27FC236}">
                    <a16:creationId xmlns:a16="http://schemas.microsoft.com/office/drawing/2014/main" id="{A203EFCC-E692-957B-C1F5-64AB68221C19}"/>
                  </a:ext>
                </a:extLst>
              </p:cNvPr>
              <p:cNvSpPr txBox="1">
                <a:spLocks noRot="1" noChangeAspect="1" noMove="1" noResize="1" noEditPoints="1" noAdjustHandles="1" noChangeArrowheads="1" noChangeShapeType="1" noTextEdit="1"/>
              </p:cNvSpPr>
              <p:nvPr/>
            </p:nvSpPr>
            <p:spPr>
              <a:xfrm>
                <a:off x="6492026" y="2031665"/>
                <a:ext cx="6096000" cy="635367"/>
              </a:xfrm>
              <a:prstGeom prst="rect">
                <a:avLst/>
              </a:prstGeom>
              <a:blipFill>
                <a:blip r:embed="rId5"/>
                <a:stretch>
                  <a:fillRect/>
                </a:stretch>
              </a:blipFill>
            </p:spPr>
            <p:txBody>
              <a:bodyPr/>
              <a:lstStyle/>
              <a:p>
                <a:r>
                  <a:rPr lang="en-US">
                    <a:noFill/>
                  </a:rPr>
                  <a:t> </a:t>
                </a:r>
              </a:p>
            </p:txBody>
          </p:sp>
        </mc:Fallback>
      </mc:AlternateContent>
      <p:sp>
        <p:nvSpPr>
          <p:cNvPr id="18" name="TextBox 17">
            <a:extLst>
              <a:ext uri="{FF2B5EF4-FFF2-40B4-BE49-F238E27FC236}">
                <a16:creationId xmlns:a16="http://schemas.microsoft.com/office/drawing/2014/main" id="{E43A5D64-CA09-2C60-D006-EE5BADF42D11}"/>
              </a:ext>
            </a:extLst>
          </p:cNvPr>
          <p:cNvSpPr txBox="1"/>
          <p:nvPr/>
        </p:nvSpPr>
        <p:spPr>
          <a:xfrm>
            <a:off x="5461000" y="1297331"/>
            <a:ext cx="6292107" cy="461665"/>
          </a:xfrm>
          <a:prstGeom prst="rect">
            <a:avLst/>
          </a:prstGeom>
          <a:noFill/>
        </p:spPr>
        <p:txBody>
          <a:bodyPr wrap="none" rtlCol="0">
            <a:spAutoFit/>
          </a:bodyPr>
          <a:lstStyle/>
          <a:p>
            <a:r>
              <a:rPr lang="tr-TR" sz="2400" dirty="0"/>
              <a:t>Can </a:t>
            </a:r>
            <a:r>
              <a:rPr lang="tr-TR" sz="2400" dirty="0" err="1"/>
              <a:t>reach</a:t>
            </a:r>
            <a:r>
              <a:rPr lang="tr-TR" sz="2400" dirty="0"/>
              <a:t> </a:t>
            </a:r>
            <a:r>
              <a:rPr lang="tr-TR" sz="2400" dirty="0" err="1"/>
              <a:t>local</a:t>
            </a:r>
            <a:r>
              <a:rPr lang="tr-TR" sz="2400" dirty="0"/>
              <a:t> minimum </a:t>
            </a:r>
            <a:r>
              <a:rPr lang="tr-TR" sz="2400" dirty="0" err="1"/>
              <a:t>with</a:t>
            </a:r>
            <a:r>
              <a:rPr lang="tr-TR" sz="2400" dirty="0"/>
              <a:t> </a:t>
            </a:r>
            <a:r>
              <a:rPr lang="tr-TR" sz="2400" dirty="0" err="1"/>
              <a:t>fixed</a:t>
            </a:r>
            <a:r>
              <a:rPr lang="tr-TR" sz="2400" dirty="0"/>
              <a:t> </a:t>
            </a:r>
            <a:r>
              <a:rPr lang="tr-TR" sz="2400" dirty="0" err="1"/>
              <a:t>learning</a:t>
            </a:r>
            <a:r>
              <a:rPr lang="tr-TR" sz="2400" dirty="0"/>
              <a:t> rate</a:t>
            </a:r>
            <a:endParaRPr lang="en-US" sz="2400" dirty="0"/>
          </a:p>
        </p:txBody>
      </p:sp>
      <p:cxnSp>
        <p:nvCxnSpPr>
          <p:cNvPr id="20" name="Straight Arrow Connector 19">
            <a:extLst>
              <a:ext uri="{FF2B5EF4-FFF2-40B4-BE49-F238E27FC236}">
                <a16:creationId xmlns:a16="http://schemas.microsoft.com/office/drawing/2014/main" id="{1B401107-60FD-C135-AB6B-0C6AB6CA31E3}"/>
              </a:ext>
            </a:extLst>
          </p:cNvPr>
          <p:cNvCxnSpPr>
            <a:cxnSpLocks/>
          </p:cNvCxnSpPr>
          <p:nvPr/>
        </p:nvCxnSpPr>
        <p:spPr>
          <a:xfrm flipH="1">
            <a:off x="4127960" y="1171005"/>
            <a:ext cx="147707" cy="587991"/>
          </a:xfrm>
          <a:prstGeom prst="straightConnector1">
            <a:avLst/>
          </a:prstGeom>
          <a:ln w="38100">
            <a:solidFill>
              <a:srgbClr val="7030A0"/>
            </a:solidFill>
            <a:tailEnd type="triangle"/>
          </a:ln>
        </p:spPr>
        <p:style>
          <a:lnRef idx="1">
            <a:schemeClr val="accent1"/>
          </a:lnRef>
          <a:fillRef idx="0">
            <a:schemeClr val="accent1"/>
          </a:fillRef>
          <a:effectRef idx="0">
            <a:schemeClr val="accent1"/>
          </a:effectRef>
          <a:fontRef idx="minor">
            <a:schemeClr val="tx1"/>
          </a:fontRef>
        </p:style>
      </p:cxnSp>
      <p:sp>
        <p:nvSpPr>
          <p:cNvPr id="22" name="Rectangle: Rounded Corners 21">
            <a:extLst>
              <a:ext uri="{FF2B5EF4-FFF2-40B4-BE49-F238E27FC236}">
                <a16:creationId xmlns:a16="http://schemas.microsoft.com/office/drawing/2014/main" id="{27BBC242-2D8B-34AF-50D3-0B61C45EADB6}"/>
              </a:ext>
            </a:extLst>
          </p:cNvPr>
          <p:cNvSpPr/>
          <p:nvPr/>
        </p:nvSpPr>
        <p:spPr>
          <a:xfrm>
            <a:off x="8094133" y="2031665"/>
            <a:ext cx="1363133" cy="703068"/>
          </a:xfrm>
          <a:prstGeom prst="roundRect">
            <a:avLst/>
          </a:prstGeom>
          <a:noFill/>
          <a:ln w="28575">
            <a:solidFill>
              <a:srgbClr val="7030A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cxnSp>
        <p:nvCxnSpPr>
          <p:cNvPr id="24" name="Straight Arrow Connector 23">
            <a:extLst>
              <a:ext uri="{FF2B5EF4-FFF2-40B4-BE49-F238E27FC236}">
                <a16:creationId xmlns:a16="http://schemas.microsoft.com/office/drawing/2014/main" id="{126FA769-F2DD-FC6C-BDBC-605CD7319D4A}"/>
              </a:ext>
            </a:extLst>
          </p:cNvPr>
          <p:cNvCxnSpPr/>
          <p:nvPr/>
        </p:nvCxnSpPr>
        <p:spPr>
          <a:xfrm flipH="1">
            <a:off x="4055533" y="1758996"/>
            <a:ext cx="72427" cy="272669"/>
          </a:xfrm>
          <a:prstGeom prst="straightConnector1">
            <a:avLst/>
          </a:prstGeom>
          <a:ln w="38100">
            <a:tailEnd type="triangle"/>
          </a:ln>
        </p:spPr>
        <p:style>
          <a:lnRef idx="1">
            <a:schemeClr val="accent1"/>
          </a:lnRef>
          <a:fillRef idx="0">
            <a:schemeClr val="accent1"/>
          </a:fillRef>
          <a:effectRef idx="0">
            <a:schemeClr val="accent1"/>
          </a:effectRef>
          <a:fontRef idx="minor">
            <a:schemeClr val="tx1"/>
          </a:fontRef>
        </p:style>
      </p:cxnSp>
      <p:cxnSp>
        <p:nvCxnSpPr>
          <p:cNvPr id="25" name="Straight Arrow Connector 24">
            <a:extLst>
              <a:ext uri="{FF2B5EF4-FFF2-40B4-BE49-F238E27FC236}">
                <a16:creationId xmlns:a16="http://schemas.microsoft.com/office/drawing/2014/main" id="{87BE21CD-140D-F8EB-5E41-AE6D85E7319A}"/>
              </a:ext>
            </a:extLst>
          </p:cNvPr>
          <p:cNvCxnSpPr>
            <a:cxnSpLocks/>
            <a:endCxn id="15" idx="1"/>
          </p:cNvCxnSpPr>
          <p:nvPr/>
        </p:nvCxnSpPr>
        <p:spPr>
          <a:xfrm flipH="1">
            <a:off x="3894667" y="2067877"/>
            <a:ext cx="149895" cy="226590"/>
          </a:xfrm>
          <a:prstGeom prst="straightConnector1">
            <a:avLst/>
          </a:prstGeom>
          <a:ln w="38100">
            <a:tailEnd type="triangle"/>
          </a:ln>
        </p:spPr>
        <p:style>
          <a:lnRef idx="1">
            <a:schemeClr val="accent1"/>
          </a:lnRef>
          <a:fillRef idx="0">
            <a:schemeClr val="accent1"/>
          </a:fillRef>
          <a:effectRef idx="0">
            <a:schemeClr val="accent1"/>
          </a:effectRef>
          <a:fontRef idx="minor">
            <a:schemeClr val="tx1"/>
          </a:fontRef>
        </p:style>
      </p:cxnSp>
      <p:cxnSp>
        <p:nvCxnSpPr>
          <p:cNvPr id="27" name="Straight Arrow Connector 26">
            <a:extLst>
              <a:ext uri="{FF2B5EF4-FFF2-40B4-BE49-F238E27FC236}">
                <a16:creationId xmlns:a16="http://schemas.microsoft.com/office/drawing/2014/main" id="{4381D520-BCE4-F155-4BB2-DB19B6B2388C}"/>
              </a:ext>
            </a:extLst>
          </p:cNvPr>
          <p:cNvCxnSpPr>
            <a:cxnSpLocks/>
          </p:cNvCxnSpPr>
          <p:nvPr/>
        </p:nvCxnSpPr>
        <p:spPr>
          <a:xfrm flipH="1">
            <a:off x="3691467" y="2311597"/>
            <a:ext cx="196939" cy="166230"/>
          </a:xfrm>
          <a:prstGeom prst="straightConnector1">
            <a:avLst/>
          </a:prstGeom>
          <a:ln w="38100">
            <a:tailEnd type="triangle"/>
          </a:ln>
        </p:spPr>
        <p:style>
          <a:lnRef idx="1">
            <a:schemeClr val="accent1"/>
          </a:lnRef>
          <a:fillRef idx="0">
            <a:schemeClr val="accent1"/>
          </a:fillRef>
          <a:effectRef idx="0">
            <a:schemeClr val="accent1"/>
          </a:effectRef>
          <a:fontRef idx="minor">
            <a:schemeClr val="tx1"/>
          </a:fontRef>
        </p:style>
      </p:cxnSp>
      <p:cxnSp>
        <p:nvCxnSpPr>
          <p:cNvPr id="30" name="Straight Arrow Connector 29">
            <a:extLst>
              <a:ext uri="{FF2B5EF4-FFF2-40B4-BE49-F238E27FC236}">
                <a16:creationId xmlns:a16="http://schemas.microsoft.com/office/drawing/2014/main" id="{F58475B9-B103-4712-C0AC-623DEB99B547}"/>
              </a:ext>
            </a:extLst>
          </p:cNvPr>
          <p:cNvCxnSpPr/>
          <p:nvPr/>
        </p:nvCxnSpPr>
        <p:spPr>
          <a:xfrm flipH="1">
            <a:off x="3556000" y="2477827"/>
            <a:ext cx="135467" cy="62173"/>
          </a:xfrm>
          <a:prstGeom prst="straightConnector1">
            <a:avLst/>
          </a:prstGeom>
          <a:ln w="38100">
            <a:solidFill>
              <a:schemeClr val="accent6">
                <a:lumMod val="75000"/>
              </a:schemeClr>
            </a:solidFill>
            <a:tailEnd type="triangle"/>
          </a:ln>
        </p:spPr>
        <p:style>
          <a:lnRef idx="1">
            <a:schemeClr val="accent1"/>
          </a:lnRef>
          <a:fillRef idx="0">
            <a:schemeClr val="accent1"/>
          </a:fillRef>
          <a:effectRef idx="0">
            <a:schemeClr val="accent1"/>
          </a:effectRef>
          <a:fontRef idx="minor">
            <a:schemeClr val="tx1"/>
          </a:fontRef>
        </p:style>
      </p:cxnSp>
      <p:cxnSp>
        <p:nvCxnSpPr>
          <p:cNvPr id="31" name="Straight Arrow Connector 30">
            <a:extLst>
              <a:ext uri="{FF2B5EF4-FFF2-40B4-BE49-F238E27FC236}">
                <a16:creationId xmlns:a16="http://schemas.microsoft.com/office/drawing/2014/main" id="{A755EE44-CBB4-EB2A-E72C-CD3F8F95AC0E}"/>
              </a:ext>
            </a:extLst>
          </p:cNvPr>
          <p:cNvCxnSpPr>
            <a:cxnSpLocks/>
          </p:cNvCxnSpPr>
          <p:nvPr/>
        </p:nvCxnSpPr>
        <p:spPr>
          <a:xfrm flipH="1">
            <a:off x="3359061" y="2508913"/>
            <a:ext cx="161998" cy="91123"/>
          </a:xfrm>
          <a:prstGeom prst="straightConnector1">
            <a:avLst/>
          </a:prstGeom>
          <a:ln w="38100">
            <a:solidFill>
              <a:schemeClr val="accent6">
                <a:lumMod val="75000"/>
              </a:schemeClr>
            </a:solidFill>
            <a:tailEnd type="triangle"/>
          </a:ln>
        </p:spPr>
        <p:style>
          <a:lnRef idx="1">
            <a:schemeClr val="accent1"/>
          </a:lnRef>
          <a:fillRef idx="0">
            <a:schemeClr val="accent1"/>
          </a:fillRef>
          <a:effectRef idx="0">
            <a:schemeClr val="accent1"/>
          </a:effectRef>
          <a:fontRef idx="minor">
            <a:schemeClr val="tx1"/>
          </a:fontRef>
        </p:style>
      </p:cxnSp>
      <p:cxnSp>
        <p:nvCxnSpPr>
          <p:cNvPr id="34" name="Straight Arrow Connector 33">
            <a:extLst>
              <a:ext uri="{FF2B5EF4-FFF2-40B4-BE49-F238E27FC236}">
                <a16:creationId xmlns:a16="http://schemas.microsoft.com/office/drawing/2014/main" id="{19825FBE-F210-9BDD-7BA4-0BA3F3857597}"/>
              </a:ext>
            </a:extLst>
          </p:cNvPr>
          <p:cNvCxnSpPr>
            <a:cxnSpLocks/>
          </p:cNvCxnSpPr>
          <p:nvPr/>
        </p:nvCxnSpPr>
        <p:spPr>
          <a:xfrm flipH="1">
            <a:off x="3127361" y="2600036"/>
            <a:ext cx="196849" cy="46889"/>
          </a:xfrm>
          <a:prstGeom prst="straightConnector1">
            <a:avLst/>
          </a:prstGeom>
          <a:ln w="38100">
            <a:solidFill>
              <a:schemeClr val="accent6">
                <a:lumMod val="75000"/>
              </a:schemeClr>
            </a:solidFill>
            <a:tailEnd type="triangle"/>
          </a:ln>
        </p:spPr>
        <p:style>
          <a:lnRef idx="1">
            <a:schemeClr val="accent1"/>
          </a:lnRef>
          <a:fillRef idx="0">
            <a:schemeClr val="accent1"/>
          </a:fillRef>
          <a:effectRef idx="0">
            <a:schemeClr val="accent1"/>
          </a:effectRef>
          <a:fontRef idx="minor">
            <a:schemeClr val="tx1"/>
          </a:fontRef>
        </p:style>
      </p:cxnSp>
      <p:cxnSp>
        <p:nvCxnSpPr>
          <p:cNvPr id="37" name="Straight Arrow Connector 36">
            <a:extLst>
              <a:ext uri="{FF2B5EF4-FFF2-40B4-BE49-F238E27FC236}">
                <a16:creationId xmlns:a16="http://schemas.microsoft.com/office/drawing/2014/main" id="{CFC151FF-48E0-0F25-4788-AE27626C7267}"/>
              </a:ext>
            </a:extLst>
          </p:cNvPr>
          <p:cNvCxnSpPr>
            <a:cxnSpLocks/>
          </p:cNvCxnSpPr>
          <p:nvPr/>
        </p:nvCxnSpPr>
        <p:spPr>
          <a:xfrm flipH="1">
            <a:off x="2907720" y="2643406"/>
            <a:ext cx="196849" cy="46889"/>
          </a:xfrm>
          <a:prstGeom prst="straightConnector1">
            <a:avLst/>
          </a:prstGeom>
          <a:ln w="38100">
            <a:solidFill>
              <a:schemeClr val="accent6">
                <a:lumMod val="75000"/>
              </a:schemeClr>
            </a:solidFill>
            <a:tailEnd type="triangle"/>
          </a:ln>
        </p:spPr>
        <p:style>
          <a:lnRef idx="1">
            <a:schemeClr val="accent1"/>
          </a:lnRef>
          <a:fillRef idx="0">
            <a:schemeClr val="accent1"/>
          </a:fillRef>
          <a:effectRef idx="0">
            <a:schemeClr val="accent1"/>
          </a:effectRef>
          <a:fontRef idx="minor">
            <a:schemeClr val="tx1"/>
          </a:fontRef>
        </p:style>
      </p:cxnSp>
      <p:sp>
        <p:nvSpPr>
          <p:cNvPr id="39" name="TextBox 38">
            <a:extLst>
              <a:ext uri="{FF2B5EF4-FFF2-40B4-BE49-F238E27FC236}">
                <a16:creationId xmlns:a16="http://schemas.microsoft.com/office/drawing/2014/main" id="{A87460A0-F982-05C6-7137-CEF392DC57FD}"/>
              </a:ext>
            </a:extLst>
          </p:cNvPr>
          <p:cNvSpPr txBox="1"/>
          <p:nvPr/>
        </p:nvSpPr>
        <p:spPr>
          <a:xfrm>
            <a:off x="9540026" y="2138419"/>
            <a:ext cx="745460" cy="369332"/>
          </a:xfrm>
          <a:prstGeom prst="rect">
            <a:avLst/>
          </a:prstGeom>
          <a:noFill/>
        </p:spPr>
        <p:txBody>
          <a:bodyPr wrap="none" rtlCol="0">
            <a:spAutoFit/>
          </a:bodyPr>
          <a:lstStyle/>
          <a:p>
            <a:r>
              <a:rPr lang="tr-TR" dirty="0" err="1">
                <a:solidFill>
                  <a:srgbClr val="7030A0"/>
                </a:solidFill>
              </a:rPr>
              <a:t>Large</a:t>
            </a:r>
            <a:r>
              <a:rPr lang="tr-TR" dirty="0">
                <a:solidFill>
                  <a:srgbClr val="7030A0"/>
                </a:solidFill>
              </a:rPr>
              <a:t> </a:t>
            </a:r>
            <a:endParaRPr lang="en-US" dirty="0">
              <a:solidFill>
                <a:srgbClr val="7030A0"/>
              </a:solidFill>
            </a:endParaRPr>
          </a:p>
        </p:txBody>
      </p:sp>
      <p:sp>
        <p:nvSpPr>
          <p:cNvPr id="40" name="Right Brace 39">
            <a:extLst>
              <a:ext uri="{FF2B5EF4-FFF2-40B4-BE49-F238E27FC236}">
                <a16:creationId xmlns:a16="http://schemas.microsoft.com/office/drawing/2014/main" id="{7B3A668F-9CFF-13C5-C441-59889B94D3E9}"/>
              </a:ext>
            </a:extLst>
          </p:cNvPr>
          <p:cNvSpPr/>
          <p:nvPr/>
        </p:nvSpPr>
        <p:spPr>
          <a:xfrm rot="5400000">
            <a:off x="8591033" y="2429695"/>
            <a:ext cx="369331" cy="1210725"/>
          </a:xfrm>
          <a:prstGeom prst="rightBrace">
            <a:avLst/>
          </a:prstGeom>
          <a:ln w="28575"/>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a:p>
        </p:txBody>
      </p:sp>
      <p:sp>
        <p:nvSpPr>
          <p:cNvPr id="41" name="TextBox 40">
            <a:extLst>
              <a:ext uri="{FF2B5EF4-FFF2-40B4-BE49-F238E27FC236}">
                <a16:creationId xmlns:a16="http://schemas.microsoft.com/office/drawing/2014/main" id="{8466F14A-B960-7807-0941-AD599111D181}"/>
              </a:ext>
            </a:extLst>
          </p:cNvPr>
          <p:cNvSpPr txBox="1"/>
          <p:nvPr/>
        </p:nvSpPr>
        <p:spPr>
          <a:xfrm>
            <a:off x="9575444" y="2692101"/>
            <a:ext cx="1301703" cy="369332"/>
          </a:xfrm>
          <a:prstGeom prst="rect">
            <a:avLst/>
          </a:prstGeom>
          <a:noFill/>
        </p:spPr>
        <p:txBody>
          <a:bodyPr wrap="none" rtlCol="0">
            <a:spAutoFit/>
          </a:bodyPr>
          <a:lstStyle/>
          <a:p>
            <a:r>
              <a:rPr lang="tr-TR" dirty="0">
                <a:solidFill>
                  <a:schemeClr val="accent1"/>
                </a:solidFill>
              </a:rPr>
              <a:t>Not as </a:t>
            </a:r>
            <a:r>
              <a:rPr lang="tr-TR" dirty="0" err="1">
                <a:solidFill>
                  <a:schemeClr val="accent1"/>
                </a:solidFill>
              </a:rPr>
              <a:t>large</a:t>
            </a:r>
            <a:endParaRPr lang="en-US" dirty="0">
              <a:solidFill>
                <a:schemeClr val="accent1"/>
              </a:solidFill>
            </a:endParaRPr>
          </a:p>
        </p:txBody>
      </p:sp>
      <p:sp>
        <p:nvSpPr>
          <p:cNvPr id="42" name="Right Brace 41">
            <a:extLst>
              <a:ext uri="{FF2B5EF4-FFF2-40B4-BE49-F238E27FC236}">
                <a16:creationId xmlns:a16="http://schemas.microsoft.com/office/drawing/2014/main" id="{96A5CA1E-0629-E164-2EF6-2B4B86C6BCDD}"/>
              </a:ext>
            </a:extLst>
          </p:cNvPr>
          <p:cNvSpPr/>
          <p:nvPr/>
        </p:nvSpPr>
        <p:spPr>
          <a:xfrm rot="5400000">
            <a:off x="8667238" y="2853345"/>
            <a:ext cx="369331" cy="1210725"/>
          </a:xfrm>
          <a:prstGeom prst="rightBrace">
            <a:avLst/>
          </a:prstGeom>
          <a:ln w="28575">
            <a:solidFill>
              <a:schemeClr val="accent6">
                <a:lumMod val="75000"/>
              </a:schemeClr>
            </a:solid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a:p>
        </p:txBody>
      </p:sp>
      <p:sp>
        <p:nvSpPr>
          <p:cNvPr id="43" name="TextBox 42">
            <a:extLst>
              <a:ext uri="{FF2B5EF4-FFF2-40B4-BE49-F238E27FC236}">
                <a16:creationId xmlns:a16="http://schemas.microsoft.com/office/drawing/2014/main" id="{22D7DF2D-4AD5-CF13-EDB0-4E85DEB639A0}"/>
              </a:ext>
            </a:extLst>
          </p:cNvPr>
          <p:cNvSpPr txBox="1"/>
          <p:nvPr/>
        </p:nvSpPr>
        <p:spPr>
          <a:xfrm>
            <a:off x="9611219" y="3222113"/>
            <a:ext cx="939681" cy="369332"/>
          </a:xfrm>
          <a:prstGeom prst="rect">
            <a:avLst/>
          </a:prstGeom>
          <a:noFill/>
        </p:spPr>
        <p:txBody>
          <a:bodyPr wrap="none" rtlCol="0">
            <a:spAutoFit/>
          </a:bodyPr>
          <a:lstStyle/>
          <a:p>
            <a:r>
              <a:rPr lang="tr-TR" dirty="0" err="1">
                <a:solidFill>
                  <a:schemeClr val="accent6">
                    <a:lumMod val="75000"/>
                  </a:schemeClr>
                </a:solidFill>
              </a:rPr>
              <a:t>Smaller</a:t>
            </a:r>
            <a:r>
              <a:rPr lang="tr-TR" dirty="0">
                <a:solidFill>
                  <a:schemeClr val="accent6">
                    <a:lumMod val="75000"/>
                  </a:schemeClr>
                </a:solidFill>
              </a:rPr>
              <a:t> </a:t>
            </a:r>
            <a:endParaRPr lang="en-US" dirty="0">
              <a:solidFill>
                <a:schemeClr val="accent6">
                  <a:lumMod val="75000"/>
                </a:schemeClr>
              </a:solidFill>
            </a:endParaRPr>
          </a:p>
        </p:txBody>
      </p:sp>
      <p:sp>
        <p:nvSpPr>
          <p:cNvPr id="44" name="TextBox 43">
            <a:extLst>
              <a:ext uri="{FF2B5EF4-FFF2-40B4-BE49-F238E27FC236}">
                <a16:creationId xmlns:a16="http://schemas.microsoft.com/office/drawing/2014/main" id="{8CBC41B5-305F-990B-8E85-45265BF32E00}"/>
              </a:ext>
            </a:extLst>
          </p:cNvPr>
          <p:cNvSpPr txBox="1"/>
          <p:nvPr/>
        </p:nvSpPr>
        <p:spPr>
          <a:xfrm>
            <a:off x="703430" y="3752275"/>
            <a:ext cx="4329583" cy="1569660"/>
          </a:xfrm>
          <a:prstGeom prst="rect">
            <a:avLst/>
          </a:prstGeom>
          <a:noFill/>
        </p:spPr>
        <p:txBody>
          <a:bodyPr wrap="none" rtlCol="0">
            <a:spAutoFit/>
          </a:bodyPr>
          <a:lstStyle/>
          <a:p>
            <a:r>
              <a:rPr lang="tr-TR" sz="2400" dirty="0" err="1"/>
              <a:t>Near</a:t>
            </a:r>
            <a:r>
              <a:rPr lang="tr-TR" sz="2400" dirty="0"/>
              <a:t> a </a:t>
            </a:r>
            <a:r>
              <a:rPr lang="tr-TR" sz="2400" dirty="0" err="1"/>
              <a:t>local</a:t>
            </a:r>
            <a:r>
              <a:rPr lang="tr-TR" sz="2400" dirty="0"/>
              <a:t> minimum,</a:t>
            </a:r>
          </a:p>
          <a:p>
            <a:pPr marL="342900" indent="-342900">
              <a:buFont typeface="Arial" panose="020B0604020202020204" pitchFamily="34" charset="0"/>
              <a:buChar char="•"/>
            </a:pPr>
            <a:r>
              <a:rPr lang="tr-TR" sz="2400" dirty="0" err="1"/>
              <a:t>Derivative</a:t>
            </a:r>
            <a:r>
              <a:rPr lang="tr-TR" sz="2400" dirty="0"/>
              <a:t> </a:t>
            </a:r>
            <a:r>
              <a:rPr lang="tr-TR" sz="2400" dirty="0" err="1"/>
              <a:t>becomes</a:t>
            </a:r>
            <a:r>
              <a:rPr lang="tr-TR" sz="2400" dirty="0"/>
              <a:t> </a:t>
            </a:r>
            <a:r>
              <a:rPr lang="tr-TR" sz="2400" dirty="0" err="1"/>
              <a:t>smaller</a:t>
            </a:r>
            <a:endParaRPr lang="tr-TR" sz="2400" dirty="0"/>
          </a:p>
          <a:p>
            <a:pPr marL="342900" indent="-342900">
              <a:buFont typeface="Arial" panose="020B0604020202020204" pitchFamily="34" charset="0"/>
              <a:buChar char="•"/>
            </a:pPr>
            <a:r>
              <a:rPr lang="tr-TR" sz="2400" dirty="0" err="1"/>
              <a:t>Uprdate</a:t>
            </a:r>
            <a:r>
              <a:rPr lang="tr-TR" sz="2400" dirty="0"/>
              <a:t> </a:t>
            </a:r>
            <a:r>
              <a:rPr lang="tr-TR" sz="2400" dirty="0" err="1"/>
              <a:t>steps</a:t>
            </a:r>
            <a:r>
              <a:rPr lang="tr-TR" sz="2400" dirty="0"/>
              <a:t> </a:t>
            </a:r>
            <a:r>
              <a:rPr lang="tr-TR" sz="2400" dirty="0" err="1"/>
              <a:t>become</a:t>
            </a:r>
            <a:r>
              <a:rPr lang="tr-TR" sz="2400" dirty="0"/>
              <a:t> </a:t>
            </a:r>
            <a:r>
              <a:rPr lang="tr-TR" sz="2400" dirty="0" err="1"/>
              <a:t>smaller</a:t>
            </a:r>
            <a:endParaRPr lang="tr-TR" sz="2400" dirty="0"/>
          </a:p>
          <a:p>
            <a:pPr marL="342900" indent="-342900">
              <a:buFont typeface="Arial" panose="020B0604020202020204" pitchFamily="34" charset="0"/>
              <a:buChar char="•"/>
            </a:pPr>
            <a:endParaRPr lang="en-US" sz="2400" dirty="0"/>
          </a:p>
        </p:txBody>
      </p:sp>
      <p:sp>
        <p:nvSpPr>
          <p:cNvPr id="2" name="Rectangle">
            <a:extLst>
              <a:ext uri="{FF2B5EF4-FFF2-40B4-BE49-F238E27FC236}">
                <a16:creationId xmlns:a16="http://schemas.microsoft.com/office/drawing/2014/main" id="{7BA465E7-4112-F000-8533-9F58A956BC5D}"/>
              </a:ext>
            </a:extLst>
          </p:cNvPr>
          <p:cNvSpPr/>
          <p:nvPr/>
        </p:nvSpPr>
        <p:spPr>
          <a:xfrm>
            <a:off x="-11767" y="6545179"/>
            <a:ext cx="12203767" cy="315200"/>
          </a:xfrm>
          <a:prstGeom prst="rect">
            <a:avLst/>
          </a:prstGeom>
          <a:solidFill>
            <a:schemeClr val="tx1"/>
          </a:solidFill>
          <a:ln w="12700">
            <a:noFill/>
            <a:miter lim="400000"/>
          </a:ln>
        </p:spPr>
        <p:txBody>
          <a:bodyPr lIns="45719" rIns="45719" anchor="ctr"/>
          <a:lstStyle/>
          <a:p>
            <a:endParaRPr/>
          </a:p>
        </p:txBody>
      </p:sp>
      <p:pic>
        <p:nvPicPr>
          <p:cNvPr id="3" name="Picture 2" descr="Frontier Tech Leaders (@FTLeadersProg) / X">
            <a:extLst>
              <a:ext uri="{FF2B5EF4-FFF2-40B4-BE49-F238E27FC236}">
                <a16:creationId xmlns:a16="http://schemas.microsoft.com/office/drawing/2014/main" id="{4F03451F-3D9A-5A5C-DDB8-E13090E243B4}"/>
              </a:ext>
            </a:extLst>
          </p:cNvPr>
          <p:cNvPicPr>
            <a:picLocks noChangeAspect="1"/>
          </p:cNvPicPr>
          <p:nvPr/>
        </p:nvPicPr>
        <p:blipFill>
          <a:blip r:embed="rId6"/>
          <a:stretch>
            <a:fillRect/>
          </a:stretch>
        </p:blipFill>
        <p:spPr>
          <a:xfrm>
            <a:off x="10668000" y="94470"/>
            <a:ext cx="1027893" cy="1027893"/>
          </a:xfrm>
          <a:prstGeom prst="rect">
            <a:avLst/>
          </a:prstGeom>
        </p:spPr>
      </p:pic>
    </p:spTree>
    <p:extLst>
      <p:ext uri="{BB962C8B-B14F-4D97-AF65-F5344CB8AC3E}">
        <p14:creationId xmlns:p14="http://schemas.microsoft.com/office/powerpoint/2010/main" val="8616190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8"/>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10"/>
                                        </p:tgtEl>
                                        <p:attrNameLst>
                                          <p:attrName>style.visibility</p:attrName>
                                        </p:attrNameLst>
                                      </p:cBhvr>
                                      <p:to>
                                        <p:strVal val="visible"/>
                                      </p:to>
                                    </p:set>
                                  </p:childTnLst>
                                </p:cTn>
                              </p:par>
                              <p:par>
                                <p:cTn id="9" presetID="1" presetClass="entr" presetSubtype="0" fill="hold" grpId="0" nodeType="withEffect">
                                  <p:stCondLst>
                                    <p:cond delay="0"/>
                                  </p:stCondLst>
                                  <p:childTnLst>
                                    <p:set>
                                      <p:cBhvr>
                                        <p:cTn id="10" dur="1" fill="hold">
                                          <p:stCondLst>
                                            <p:cond delay="0"/>
                                          </p:stCondLst>
                                        </p:cTn>
                                        <p:tgtEl>
                                          <p:spTgt spid="11"/>
                                        </p:tgtEl>
                                        <p:attrNameLst>
                                          <p:attrName>style.visibility</p:attrName>
                                        </p:attrNameLst>
                                      </p:cBhvr>
                                      <p:to>
                                        <p:strVal val="visible"/>
                                      </p:to>
                                    </p:set>
                                  </p:childTnLst>
                                </p:cTn>
                              </p:par>
                              <p:par>
                                <p:cTn id="11" presetID="1" presetClass="entr" presetSubtype="0" fill="hold" nodeType="withEffect">
                                  <p:stCondLst>
                                    <p:cond delay="0"/>
                                  </p:stCondLst>
                                  <p:childTnLst>
                                    <p:set>
                                      <p:cBhvr>
                                        <p:cTn id="12" dur="1" fill="hold">
                                          <p:stCondLst>
                                            <p:cond delay="0"/>
                                          </p:stCondLst>
                                        </p:cTn>
                                        <p:tgtEl>
                                          <p:spTgt spid="31"/>
                                        </p:tgtEl>
                                        <p:attrNameLst>
                                          <p:attrName>style.visibility</p:attrName>
                                        </p:attrNameLst>
                                      </p:cBhvr>
                                      <p:to>
                                        <p:strVal val="visible"/>
                                      </p:to>
                                    </p:set>
                                  </p:childTnLst>
                                </p:cTn>
                              </p:par>
                              <p:par>
                                <p:cTn id="13" presetID="1" presetClass="entr" presetSubtype="0" fill="hold" nodeType="withEffect">
                                  <p:stCondLst>
                                    <p:cond delay="0"/>
                                  </p:stCondLst>
                                  <p:childTnLst>
                                    <p:set>
                                      <p:cBhvr>
                                        <p:cTn id="14" dur="1" fill="hold">
                                          <p:stCondLst>
                                            <p:cond delay="0"/>
                                          </p:stCondLst>
                                        </p:cTn>
                                        <p:tgtEl>
                                          <p:spTgt spid="34"/>
                                        </p:tgtEl>
                                        <p:attrNameLst>
                                          <p:attrName>style.visibility</p:attrName>
                                        </p:attrNameLst>
                                      </p:cBhvr>
                                      <p:to>
                                        <p:strVal val="visible"/>
                                      </p:to>
                                    </p:set>
                                  </p:childTnLst>
                                </p:cTn>
                              </p:par>
                              <p:par>
                                <p:cTn id="15" presetID="1" presetClass="entr" presetSubtype="0" fill="hold" nodeType="withEffect">
                                  <p:stCondLst>
                                    <p:cond delay="0"/>
                                  </p:stCondLst>
                                  <p:childTnLst>
                                    <p:set>
                                      <p:cBhvr>
                                        <p:cTn id="16" dur="1" fill="hold">
                                          <p:stCondLst>
                                            <p:cond delay="0"/>
                                          </p:stCondLst>
                                        </p:cTn>
                                        <p:tgtEl>
                                          <p:spTgt spid="37"/>
                                        </p:tgtEl>
                                        <p:attrNameLst>
                                          <p:attrName>style.visibility</p:attrName>
                                        </p:attrNameLst>
                                      </p:cBhvr>
                                      <p:to>
                                        <p:strVal val="visible"/>
                                      </p:to>
                                    </p:set>
                                  </p:childTnLst>
                                </p:cTn>
                              </p:par>
                              <p:par>
                                <p:cTn id="17" presetID="1" presetClass="entr" presetSubtype="0" fill="hold" nodeType="withEffect">
                                  <p:stCondLst>
                                    <p:cond delay="0"/>
                                  </p:stCondLst>
                                  <p:childTnLst>
                                    <p:set>
                                      <p:cBhvr>
                                        <p:cTn id="18" dur="1" fill="hold">
                                          <p:stCondLst>
                                            <p:cond delay="0"/>
                                          </p:stCondLst>
                                        </p:cTn>
                                        <p:tgtEl>
                                          <p:spTgt spid="9"/>
                                        </p:tgtEl>
                                        <p:attrNameLst>
                                          <p:attrName>style.visibility</p:attrName>
                                        </p:attrNameLst>
                                      </p:cBhvr>
                                      <p:to>
                                        <p:strVal val="visible"/>
                                      </p:to>
                                    </p:set>
                                  </p:childTnLst>
                                </p:cTn>
                              </p:par>
                              <p:par>
                                <p:cTn id="19" presetID="1" presetClass="entr" presetSubtype="0" fill="hold" grpId="0" nodeType="withEffect">
                                  <p:stCondLst>
                                    <p:cond delay="0"/>
                                  </p:stCondLst>
                                  <p:childTnLst>
                                    <p:set>
                                      <p:cBhvr>
                                        <p:cTn id="20" dur="1" fill="hold">
                                          <p:stCondLst>
                                            <p:cond delay="0"/>
                                          </p:stCondLst>
                                        </p:cTn>
                                        <p:tgtEl>
                                          <p:spTgt spid="15"/>
                                        </p:tgtEl>
                                        <p:attrNameLst>
                                          <p:attrName>style.visibility</p:attrName>
                                        </p:attrNameLst>
                                      </p:cBhvr>
                                      <p:to>
                                        <p:strVal val="visible"/>
                                      </p:to>
                                    </p:set>
                                  </p:childTnLst>
                                </p:cTn>
                              </p:par>
                            </p:childTnLst>
                          </p:cTn>
                        </p:par>
                      </p:childTnLst>
                    </p:cTn>
                  </p:par>
                  <p:par>
                    <p:cTn id="21" fill="hold">
                      <p:stCondLst>
                        <p:cond delay="indefinite"/>
                      </p:stCondLst>
                      <p:childTnLst>
                        <p:par>
                          <p:cTn id="22" fill="hold">
                            <p:stCondLst>
                              <p:cond delay="0"/>
                            </p:stCondLst>
                            <p:childTnLst>
                              <p:par>
                                <p:cTn id="23" presetID="1" presetClass="entr" presetSubtype="0" fill="hold" nodeType="clickEffect">
                                  <p:stCondLst>
                                    <p:cond delay="0"/>
                                  </p:stCondLst>
                                  <p:childTnLst>
                                    <p:set>
                                      <p:cBhvr>
                                        <p:cTn id="24" dur="1" fill="hold">
                                          <p:stCondLst>
                                            <p:cond delay="0"/>
                                          </p:stCondLst>
                                        </p:cTn>
                                        <p:tgtEl>
                                          <p:spTgt spid="20"/>
                                        </p:tgtEl>
                                        <p:attrNameLst>
                                          <p:attrName>style.visibility</p:attrName>
                                        </p:attrNameLst>
                                      </p:cBhvr>
                                      <p:to>
                                        <p:strVal val="visible"/>
                                      </p:to>
                                    </p:set>
                                  </p:childTnLst>
                                </p:cTn>
                              </p:par>
                            </p:childTnLst>
                          </p:cTn>
                        </p:par>
                      </p:childTnLst>
                    </p:cTn>
                  </p:par>
                  <p:par>
                    <p:cTn id="25" fill="hold">
                      <p:stCondLst>
                        <p:cond delay="indefinite"/>
                      </p:stCondLst>
                      <p:childTnLst>
                        <p:par>
                          <p:cTn id="26" fill="hold">
                            <p:stCondLst>
                              <p:cond delay="0"/>
                            </p:stCondLst>
                            <p:childTnLst>
                              <p:par>
                                <p:cTn id="27" presetID="1" presetClass="entr" presetSubtype="0" fill="hold" nodeType="clickEffect">
                                  <p:stCondLst>
                                    <p:cond delay="0"/>
                                  </p:stCondLst>
                                  <p:childTnLst>
                                    <p:set>
                                      <p:cBhvr>
                                        <p:cTn id="28" dur="1" fill="hold">
                                          <p:stCondLst>
                                            <p:cond delay="0"/>
                                          </p:stCondLst>
                                        </p:cTn>
                                        <p:tgtEl>
                                          <p:spTgt spid="24"/>
                                        </p:tgtEl>
                                        <p:attrNameLst>
                                          <p:attrName>style.visibility</p:attrName>
                                        </p:attrNameLst>
                                      </p:cBhvr>
                                      <p:to>
                                        <p:strVal val="visible"/>
                                      </p:to>
                                    </p:set>
                                  </p:childTnLst>
                                </p:cTn>
                              </p:par>
                              <p:par>
                                <p:cTn id="29" presetID="1" presetClass="entr" presetSubtype="0" fill="hold" nodeType="withEffect">
                                  <p:stCondLst>
                                    <p:cond delay="0"/>
                                  </p:stCondLst>
                                  <p:childTnLst>
                                    <p:set>
                                      <p:cBhvr>
                                        <p:cTn id="30" dur="1" fill="hold">
                                          <p:stCondLst>
                                            <p:cond delay="0"/>
                                          </p:stCondLst>
                                        </p:cTn>
                                        <p:tgtEl>
                                          <p:spTgt spid="25"/>
                                        </p:tgtEl>
                                        <p:attrNameLst>
                                          <p:attrName>style.visibility</p:attrName>
                                        </p:attrNameLst>
                                      </p:cBhvr>
                                      <p:to>
                                        <p:strVal val="visible"/>
                                      </p:to>
                                    </p:set>
                                  </p:childTnLst>
                                </p:cTn>
                              </p:par>
                              <p:par>
                                <p:cTn id="31" presetID="1" presetClass="entr" presetSubtype="0" fill="hold" nodeType="withEffect">
                                  <p:stCondLst>
                                    <p:cond delay="0"/>
                                  </p:stCondLst>
                                  <p:childTnLst>
                                    <p:set>
                                      <p:cBhvr>
                                        <p:cTn id="32" dur="1" fill="hold">
                                          <p:stCondLst>
                                            <p:cond delay="0"/>
                                          </p:stCondLst>
                                        </p:cTn>
                                        <p:tgtEl>
                                          <p:spTgt spid="27"/>
                                        </p:tgtEl>
                                        <p:attrNameLst>
                                          <p:attrName>style.visibility</p:attrName>
                                        </p:attrNameLst>
                                      </p:cBhvr>
                                      <p:to>
                                        <p:strVal val="visible"/>
                                      </p:to>
                                    </p:set>
                                  </p:childTnLst>
                                </p:cTn>
                              </p:par>
                            </p:childTnLst>
                          </p:cTn>
                        </p:par>
                      </p:childTnLst>
                    </p:cTn>
                  </p:par>
                  <p:par>
                    <p:cTn id="33" fill="hold">
                      <p:stCondLst>
                        <p:cond delay="indefinite"/>
                      </p:stCondLst>
                      <p:childTnLst>
                        <p:par>
                          <p:cTn id="34" fill="hold">
                            <p:stCondLst>
                              <p:cond delay="0"/>
                            </p:stCondLst>
                            <p:childTnLst>
                              <p:par>
                                <p:cTn id="35" presetID="1" presetClass="entr" presetSubtype="0" fill="hold" grpId="1" nodeType="clickEffect">
                                  <p:stCondLst>
                                    <p:cond delay="0"/>
                                  </p:stCondLst>
                                  <p:childTnLst>
                                    <p:set>
                                      <p:cBhvr>
                                        <p:cTn id="36" dur="1" fill="hold">
                                          <p:stCondLst>
                                            <p:cond delay="0"/>
                                          </p:stCondLst>
                                        </p:cTn>
                                        <p:tgtEl>
                                          <p:spTgt spid="11"/>
                                        </p:tgtEl>
                                        <p:attrNameLst>
                                          <p:attrName>style.visibility</p:attrName>
                                        </p:attrNameLst>
                                      </p:cBhvr>
                                      <p:to>
                                        <p:strVal val="visible"/>
                                      </p:to>
                                    </p:set>
                                  </p:childTnLst>
                                </p:cTn>
                              </p:par>
                              <p:par>
                                <p:cTn id="37" presetID="1" presetClass="entr" presetSubtype="0" fill="hold" nodeType="withEffect">
                                  <p:stCondLst>
                                    <p:cond delay="0"/>
                                  </p:stCondLst>
                                  <p:childTnLst>
                                    <p:set>
                                      <p:cBhvr>
                                        <p:cTn id="38" dur="1" fill="hold">
                                          <p:stCondLst>
                                            <p:cond delay="0"/>
                                          </p:stCondLst>
                                        </p:cTn>
                                        <p:tgtEl>
                                          <p:spTgt spid="31"/>
                                        </p:tgtEl>
                                        <p:attrNameLst>
                                          <p:attrName>style.visibility</p:attrName>
                                        </p:attrNameLst>
                                      </p:cBhvr>
                                      <p:to>
                                        <p:strVal val="visible"/>
                                      </p:to>
                                    </p:set>
                                  </p:childTnLst>
                                </p:cTn>
                              </p:par>
                              <p:par>
                                <p:cTn id="39" presetID="1" presetClass="entr" presetSubtype="0" fill="hold" nodeType="withEffect">
                                  <p:stCondLst>
                                    <p:cond delay="0"/>
                                  </p:stCondLst>
                                  <p:childTnLst>
                                    <p:set>
                                      <p:cBhvr>
                                        <p:cTn id="40" dur="1" fill="hold">
                                          <p:stCondLst>
                                            <p:cond delay="0"/>
                                          </p:stCondLst>
                                        </p:cTn>
                                        <p:tgtEl>
                                          <p:spTgt spid="34"/>
                                        </p:tgtEl>
                                        <p:attrNameLst>
                                          <p:attrName>style.visibility</p:attrName>
                                        </p:attrNameLst>
                                      </p:cBhvr>
                                      <p:to>
                                        <p:strVal val="visible"/>
                                      </p:to>
                                    </p:set>
                                  </p:childTnLst>
                                </p:cTn>
                              </p:par>
                              <p:par>
                                <p:cTn id="41" presetID="1" presetClass="entr" presetSubtype="0" fill="hold" nodeType="withEffect">
                                  <p:stCondLst>
                                    <p:cond delay="0"/>
                                  </p:stCondLst>
                                  <p:childTnLst>
                                    <p:set>
                                      <p:cBhvr>
                                        <p:cTn id="42" dur="1" fill="hold">
                                          <p:stCondLst>
                                            <p:cond delay="0"/>
                                          </p:stCondLst>
                                        </p:cTn>
                                        <p:tgtEl>
                                          <p:spTgt spid="37"/>
                                        </p:tgtEl>
                                        <p:attrNameLst>
                                          <p:attrName>style.visibility</p:attrName>
                                        </p:attrNameLst>
                                      </p:cBhvr>
                                      <p:to>
                                        <p:strVal val="visible"/>
                                      </p:to>
                                    </p:set>
                                  </p:childTnLst>
                                </p:cTn>
                              </p:par>
                              <p:par>
                                <p:cTn id="43" presetID="1" presetClass="entr" presetSubtype="0" fill="hold" nodeType="withEffect">
                                  <p:stCondLst>
                                    <p:cond delay="0"/>
                                  </p:stCondLst>
                                  <p:childTnLst>
                                    <p:set>
                                      <p:cBhvr>
                                        <p:cTn id="44" dur="1" fill="hold">
                                          <p:stCondLst>
                                            <p:cond delay="0"/>
                                          </p:stCondLst>
                                        </p:cTn>
                                        <p:tgtEl>
                                          <p:spTgt spid="27"/>
                                        </p:tgtEl>
                                        <p:attrNameLst>
                                          <p:attrName>style.visibility</p:attrName>
                                        </p:attrNameLst>
                                      </p:cBhvr>
                                      <p:to>
                                        <p:strVal val="visible"/>
                                      </p:to>
                                    </p:set>
                                  </p:childTnLst>
                                </p:cTn>
                              </p:par>
                              <p:par>
                                <p:cTn id="45" presetID="1" presetClass="entr" presetSubtype="0" fill="hold" nodeType="withEffect">
                                  <p:stCondLst>
                                    <p:cond delay="0"/>
                                  </p:stCondLst>
                                  <p:childTnLst>
                                    <p:set>
                                      <p:cBhvr>
                                        <p:cTn id="46" dur="1" fill="hold">
                                          <p:stCondLst>
                                            <p:cond delay="0"/>
                                          </p:stCondLst>
                                        </p:cTn>
                                        <p:tgtEl>
                                          <p:spTgt spid="30"/>
                                        </p:tgtEl>
                                        <p:attrNameLst>
                                          <p:attrName>style.visibility</p:attrName>
                                        </p:attrNameLst>
                                      </p:cBhvr>
                                      <p:to>
                                        <p:strVal val="visible"/>
                                      </p:to>
                                    </p:set>
                                  </p:childTnLst>
                                </p:cTn>
                              </p:par>
                            </p:childTnLst>
                          </p:cTn>
                        </p:par>
                      </p:childTnLst>
                    </p:cTn>
                  </p:par>
                  <p:par>
                    <p:cTn id="47" fill="hold">
                      <p:stCondLst>
                        <p:cond delay="indefinite"/>
                      </p:stCondLst>
                      <p:childTnLst>
                        <p:par>
                          <p:cTn id="48" fill="hold">
                            <p:stCondLst>
                              <p:cond delay="0"/>
                            </p:stCondLst>
                            <p:childTnLst>
                              <p:par>
                                <p:cTn id="49" presetID="1" presetClass="entr" presetSubtype="0" fill="hold" grpId="0" nodeType="clickEffect">
                                  <p:stCondLst>
                                    <p:cond delay="0"/>
                                  </p:stCondLst>
                                  <p:childTnLst>
                                    <p:set>
                                      <p:cBhvr>
                                        <p:cTn id="50" dur="1" fill="hold">
                                          <p:stCondLst>
                                            <p:cond delay="0"/>
                                          </p:stCondLst>
                                        </p:cTn>
                                        <p:tgtEl>
                                          <p:spTgt spid="18"/>
                                        </p:tgtEl>
                                        <p:attrNameLst>
                                          <p:attrName>style.visibility</p:attrName>
                                        </p:attrNameLst>
                                      </p:cBhvr>
                                      <p:to>
                                        <p:strVal val="visible"/>
                                      </p:to>
                                    </p:set>
                                  </p:childTnLst>
                                </p:cTn>
                              </p:par>
                            </p:childTnLst>
                          </p:cTn>
                        </p:par>
                      </p:childTnLst>
                    </p:cTn>
                  </p:par>
                  <p:par>
                    <p:cTn id="51" fill="hold">
                      <p:stCondLst>
                        <p:cond delay="indefinite"/>
                      </p:stCondLst>
                      <p:childTnLst>
                        <p:par>
                          <p:cTn id="52" fill="hold">
                            <p:stCondLst>
                              <p:cond delay="0"/>
                            </p:stCondLst>
                            <p:childTnLst>
                              <p:par>
                                <p:cTn id="53" presetID="1" presetClass="entr" presetSubtype="0" fill="hold" grpId="0" nodeType="clickEffect">
                                  <p:stCondLst>
                                    <p:cond delay="0"/>
                                  </p:stCondLst>
                                  <p:childTnLst>
                                    <p:set>
                                      <p:cBhvr>
                                        <p:cTn id="54" dur="1" fill="hold">
                                          <p:stCondLst>
                                            <p:cond delay="0"/>
                                          </p:stCondLst>
                                        </p:cTn>
                                        <p:tgtEl>
                                          <p:spTgt spid="17"/>
                                        </p:tgtEl>
                                        <p:attrNameLst>
                                          <p:attrName>style.visibility</p:attrName>
                                        </p:attrNameLst>
                                      </p:cBhvr>
                                      <p:to>
                                        <p:strVal val="visible"/>
                                      </p:to>
                                    </p:set>
                                  </p:childTnLst>
                                </p:cTn>
                              </p:par>
                            </p:childTnLst>
                          </p:cTn>
                        </p:par>
                      </p:childTnLst>
                    </p:cTn>
                  </p:par>
                  <p:par>
                    <p:cTn id="55" fill="hold">
                      <p:stCondLst>
                        <p:cond delay="indefinite"/>
                      </p:stCondLst>
                      <p:childTnLst>
                        <p:par>
                          <p:cTn id="56" fill="hold">
                            <p:stCondLst>
                              <p:cond delay="0"/>
                            </p:stCondLst>
                            <p:childTnLst>
                              <p:par>
                                <p:cTn id="57" presetID="1" presetClass="entr" presetSubtype="0" fill="hold" grpId="0" nodeType="clickEffect">
                                  <p:stCondLst>
                                    <p:cond delay="0"/>
                                  </p:stCondLst>
                                  <p:childTnLst>
                                    <p:set>
                                      <p:cBhvr>
                                        <p:cTn id="58" dur="1" fill="hold">
                                          <p:stCondLst>
                                            <p:cond delay="0"/>
                                          </p:stCondLst>
                                        </p:cTn>
                                        <p:tgtEl>
                                          <p:spTgt spid="22"/>
                                        </p:tgtEl>
                                        <p:attrNameLst>
                                          <p:attrName>style.visibility</p:attrName>
                                        </p:attrNameLst>
                                      </p:cBhvr>
                                      <p:to>
                                        <p:strVal val="visible"/>
                                      </p:to>
                                    </p:set>
                                  </p:childTnLst>
                                </p:cTn>
                              </p:par>
                            </p:childTnLst>
                          </p:cTn>
                        </p:par>
                      </p:childTnLst>
                    </p:cTn>
                  </p:par>
                  <p:par>
                    <p:cTn id="59" fill="hold">
                      <p:stCondLst>
                        <p:cond delay="indefinite"/>
                      </p:stCondLst>
                      <p:childTnLst>
                        <p:par>
                          <p:cTn id="60" fill="hold">
                            <p:stCondLst>
                              <p:cond delay="0"/>
                            </p:stCondLst>
                            <p:childTnLst>
                              <p:par>
                                <p:cTn id="61" presetID="1" presetClass="entr" presetSubtype="0" fill="hold" grpId="0" nodeType="clickEffect">
                                  <p:stCondLst>
                                    <p:cond delay="0"/>
                                  </p:stCondLst>
                                  <p:childTnLst>
                                    <p:set>
                                      <p:cBhvr>
                                        <p:cTn id="62" dur="1" fill="hold">
                                          <p:stCondLst>
                                            <p:cond delay="0"/>
                                          </p:stCondLst>
                                        </p:cTn>
                                        <p:tgtEl>
                                          <p:spTgt spid="39"/>
                                        </p:tgtEl>
                                        <p:attrNameLst>
                                          <p:attrName>style.visibility</p:attrName>
                                        </p:attrNameLst>
                                      </p:cBhvr>
                                      <p:to>
                                        <p:strVal val="visible"/>
                                      </p:to>
                                    </p:set>
                                  </p:childTnLst>
                                </p:cTn>
                              </p:par>
                            </p:childTnLst>
                          </p:cTn>
                        </p:par>
                      </p:childTnLst>
                    </p:cTn>
                  </p:par>
                  <p:par>
                    <p:cTn id="63" fill="hold">
                      <p:stCondLst>
                        <p:cond delay="indefinite"/>
                      </p:stCondLst>
                      <p:childTnLst>
                        <p:par>
                          <p:cTn id="64" fill="hold">
                            <p:stCondLst>
                              <p:cond delay="0"/>
                            </p:stCondLst>
                            <p:childTnLst>
                              <p:par>
                                <p:cTn id="65" presetID="1" presetClass="entr" presetSubtype="0" fill="hold" grpId="0" nodeType="clickEffect">
                                  <p:stCondLst>
                                    <p:cond delay="0"/>
                                  </p:stCondLst>
                                  <p:childTnLst>
                                    <p:set>
                                      <p:cBhvr>
                                        <p:cTn id="66" dur="1" fill="hold">
                                          <p:stCondLst>
                                            <p:cond delay="0"/>
                                          </p:stCondLst>
                                        </p:cTn>
                                        <p:tgtEl>
                                          <p:spTgt spid="40"/>
                                        </p:tgtEl>
                                        <p:attrNameLst>
                                          <p:attrName>style.visibility</p:attrName>
                                        </p:attrNameLst>
                                      </p:cBhvr>
                                      <p:to>
                                        <p:strVal val="visible"/>
                                      </p:to>
                                    </p:set>
                                  </p:childTnLst>
                                </p:cTn>
                              </p:par>
                              <p:par>
                                <p:cTn id="67" presetID="1" presetClass="entr" presetSubtype="0" fill="hold" grpId="0" nodeType="withEffect">
                                  <p:stCondLst>
                                    <p:cond delay="0"/>
                                  </p:stCondLst>
                                  <p:childTnLst>
                                    <p:set>
                                      <p:cBhvr>
                                        <p:cTn id="68" dur="1" fill="hold">
                                          <p:stCondLst>
                                            <p:cond delay="0"/>
                                          </p:stCondLst>
                                        </p:cTn>
                                        <p:tgtEl>
                                          <p:spTgt spid="41"/>
                                        </p:tgtEl>
                                        <p:attrNameLst>
                                          <p:attrName>style.visibility</p:attrName>
                                        </p:attrNameLst>
                                      </p:cBhvr>
                                      <p:to>
                                        <p:strVal val="visible"/>
                                      </p:to>
                                    </p:set>
                                  </p:childTnLst>
                                </p:cTn>
                              </p:par>
                            </p:childTnLst>
                          </p:cTn>
                        </p:par>
                      </p:childTnLst>
                    </p:cTn>
                  </p:par>
                  <p:par>
                    <p:cTn id="69" fill="hold">
                      <p:stCondLst>
                        <p:cond delay="indefinite"/>
                      </p:stCondLst>
                      <p:childTnLst>
                        <p:par>
                          <p:cTn id="70" fill="hold">
                            <p:stCondLst>
                              <p:cond delay="0"/>
                            </p:stCondLst>
                            <p:childTnLst>
                              <p:par>
                                <p:cTn id="71" presetID="1" presetClass="entr" presetSubtype="0" fill="hold" grpId="0" nodeType="clickEffect">
                                  <p:stCondLst>
                                    <p:cond delay="0"/>
                                  </p:stCondLst>
                                  <p:childTnLst>
                                    <p:set>
                                      <p:cBhvr>
                                        <p:cTn id="72" dur="1" fill="hold">
                                          <p:stCondLst>
                                            <p:cond delay="0"/>
                                          </p:stCondLst>
                                        </p:cTn>
                                        <p:tgtEl>
                                          <p:spTgt spid="42"/>
                                        </p:tgtEl>
                                        <p:attrNameLst>
                                          <p:attrName>style.visibility</p:attrName>
                                        </p:attrNameLst>
                                      </p:cBhvr>
                                      <p:to>
                                        <p:strVal val="visible"/>
                                      </p:to>
                                    </p:set>
                                  </p:childTnLst>
                                </p:cTn>
                              </p:par>
                              <p:par>
                                <p:cTn id="73" presetID="1" presetClass="entr" presetSubtype="0" fill="hold" grpId="0" nodeType="withEffect">
                                  <p:stCondLst>
                                    <p:cond delay="0"/>
                                  </p:stCondLst>
                                  <p:childTnLst>
                                    <p:set>
                                      <p:cBhvr>
                                        <p:cTn id="74" dur="1" fill="hold">
                                          <p:stCondLst>
                                            <p:cond delay="0"/>
                                          </p:stCondLst>
                                        </p:cTn>
                                        <p:tgtEl>
                                          <p:spTgt spid="43"/>
                                        </p:tgtEl>
                                        <p:attrNameLst>
                                          <p:attrName>style.visibility</p:attrName>
                                        </p:attrNameLst>
                                      </p:cBhvr>
                                      <p:to>
                                        <p:strVal val="visible"/>
                                      </p:to>
                                    </p:set>
                                  </p:childTnLst>
                                </p:cTn>
                              </p:par>
                            </p:childTnLst>
                          </p:cTn>
                        </p:par>
                      </p:childTnLst>
                    </p:cTn>
                  </p:par>
                  <p:par>
                    <p:cTn id="75" fill="hold">
                      <p:stCondLst>
                        <p:cond delay="indefinite"/>
                      </p:stCondLst>
                      <p:childTnLst>
                        <p:par>
                          <p:cTn id="76" fill="hold">
                            <p:stCondLst>
                              <p:cond delay="0"/>
                            </p:stCondLst>
                            <p:childTnLst>
                              <p:par>
                                <p:cTn id="77" presetID="1" presetClass="entr" presetSubtype="0" fill="hold" grpId="0" nodeType="clickEffect">
                                  <p:stCondLst>
                                    <p:cond delay="0"/>
                                  </p:stCondLst>
                                  <p:childTnLst>
                                    <p:set>
                                      <p:cBhvr>
                                        <p:cTn id="78" dur="1" fill="hold">
                                          <p:stCondLst>
                                            <p:cond delay="0"/>
                                          </p:stCondLst>
                                        </p:cTn>
                                        <p:tgtEl>
                                          <p:spTgt spid="44"/>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0" grpId="0"/>
      <p:bldP spid="11" grpId="0"/>
      <p:bldP spid="11" grpId="1"/>
      <p:bldP spid="15" grpId="0" animBg="1"/>
      <p:bldP spid="17" grpId="0"/>
      <p:bldP spid="18" grpId="0"/>
      <p:bldP spid="22" grpId="0" animBg="1"/>
      <p:bldP spid="39" grpId="0"/>
      <p:bldP spid="40" grpId="0" animBg="1"/>
      <p:bldP spid="41" grpId="0"/>
      <p:bldP spid="42" grpId="0" animBg="1"/>
      <p:bldP spid="43" grpId="0"/>
      <p:bldP spid="44" grpId="0"/>
    </p:bldLst>
  </p:timing>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57B3A62-0650-2F60-84A8-DD011E7FC450}"/>
              </a:ext>
            </a:extLst>
          </p:cNvPr>
          <p:cNvSpPr>
            <a:spLocks noGrp="1"/>
          </p:cNvSpPr>
          <p:nvPr>
            <p:ph type="title"/>
          </p:nvPr>
        </p:nvSpPr>
        <p:spPr/>
        <p:txBody>
          <a:bodyPr>
            <a:normAutofit/>
          </a:bodyPr>
          <a:lstStyle/>
          <a:p>
            <a:r>
              <a:rPr lang="en-US" b="1" dirty="0"/>
              <a:t>The Curse of Local Minima: How to Escape and Find the Global Minimum</a:t>
            </a:r>
            <a:endParaRPr lang="en-US" dirty="0"/>
          </a:p>
        </p:txBody>
      </p:sp>
      <p:pic>
        <p:nvPicPr>
          <p:cNvPr id="5" name="Content Placeholder 4">
            <a:extLst>
              <a:ext uri="{FF2B5EF4-FFF2-40B4-BE49-F238E27FC236}">
                <a16:creationId xmlns:a16="http://schemas.microsoft.com/office/drawing/2014/main" id="{6B1D001B-231B-5D5E-E42C-88C339420E87}"/>
              </a:ext>
            </a:extLst>
          </p:cNvPr>
          <p:cNvPicPr>
            <a:picLocks noGrp="1" noChangeAspect="1"/>
          </p:cNvPicPr>
          <p:nvPr>
            <p:ph idx="1"/>
          </p:nvPr>
        </p:nvPicPr>
        <p:blipFill>
          <a:blip r:embed="rId3"/>
          <a:stretch>
            <a:fillRect/>
          </a:stretch>
        </p:blipFill>
        <p:spPr>
          <a:xfrm>
            <a:off x="3534537" y="1825625"/>
            <a:ext cx="5122926" cy="4351338"/>
          </a:xfrm>
        </p:spPr>
      </p:pic>
      <p:sp>
        <p:nvSpPr>
          <p:cNvPr id="7" name="TextBox 6">
            <a:extLst>
              <a:ext uri="{FF2B5EF4-FFF2-40B4-BE49-F238E27FC236}">
                <a16:creationId xmlns:a16="http://schemas.microsoft.com/office/drawing/2014/main" id="{1A28B5AE-BBEE-5037-C16C-99B5501E0785}"/>
              </a:ext>
            </a:extLst>
          </p:cNvPr>
          <p:cNvSpPr txBox="1"/>
          <p:nvPr/>
        </p:nvSpPr>
        <p:spPr>
          <a:xfrm>
            <a:off x="503582" y="2967335"/>
            <a:ext cx="2918311" cy="923330"/>
          </a:xfrm>
          <a:prstGeom prst="rect">
            <a:avLst/>
          </a:prstGeom>
          <a:noFill/>
        </p:spPr>
        <p:txBody>
          <a:bodyPr wrap="square">
            <a:spAutoFit/>
          </a:bodyPr>
          <a:lstStyle/>
          <a:p>
            <a:pPr marL="285750" indent="-285750">
              <a:buFont typeface="Arial" panose="020B0604020202020204" pitchFamily="34" charset="0"/>
              <a:buChar char="•"/>
            </a:pPr>
            <a:r>
              <a:rPr lang="en-US" b="1" dirty="0"/>
              <a:t>Adding noise</a:t>
            </a:r>
            <a:endParaRPr lang="tr-TR" b="1" dirty="0"/>
          </a:p>
          <a:p>
            <a:pPr marL="285750" indent="-285750">
              <a:buFont typeface="Arial" panose="020B0604020202020204" pitchFamily="34" charset="0"/>
              <a:buChar char="•"/>
            </a:pPr>
            <a:r>
              <a:rPr lang="en-US" b="1" dirty="0"/>
              <a:t>Momentum</a:t>
            </a:r>
            <a:endParaRPr lang="tr-TR" b="1" dirty="0"/>
          </a:p>
          <a:p>
            <a:pPr marL="285750" indent="-285750">
              <a:buFont typeface="Arial" panose="020B0604020202020204" pitchFamily="34" charset="0"/>
              <a:buChar char="•"/>
            </a:pPr>
            <a:r>
              <a:rPr lang="tr-TR" b="1" dirty="0"/>
              <a:t>Learning rate </a:t>
            </a:r>
            <a:r>
              <a:rPr lang="tr-TR" b="1" dirty="0" err="1"/>
              <a:t>adjustment</a:t>
            </a:r>
            <a:r>
              <a:rPr lang="en-US" dirty="0"/>
              <a:t> </a:t>
            </a:r>
          </a:p>
        </p:txBody>
      </p:sp>
      <p:sp>
        <p:nvSpPr>
          <p:cNvPr id="3" name="Rectangle">
            <a:extLst>
              <a:ext uri="{FF2B5EF4-FFF2-40B4-BE49-F238E27FC236}">
                <a16:creationId xmlns:a16="http://schemas.microsoft.com/office/drawing/2014/main" id="{3C04291D-7479-8FB7-472C-671EEE29B904}"/>
              </a:ext>
            </a:extLst>
          </p:cNvPr>
          <p:cNvSpPr/>
          <p:nvPr/>
        </p:nvSpPr>
        <p:spPr>
          <a:xfrm>
            <a:off x="-11767" y="6545179"/>
            <a:ext cx="12203767" cy="315200"/>
          </a:xfrm>
          <a:prstGeom prst="rect">
            <a:avLst/>
          </a:prstGeom>
          <a:solidFill>
            <a:schemeClr val="tx1"/>
          </a:solidFill>
          <a:ln w="12700">
            <a:noFill/>
            <a:miter lim="400000"/>
          </a:ln>
        </p:spPr>
        <p:txBody>
          <a:bodyPr lIns="45719" rIns="45719" anchor="ctr"/>
          <a:lstStyle/>
          <a:p>
            <a:endParaRPr/>
          </a:p>
        </p:txBody>
      </p:sp>
      <p:pic>
        <p:nvPicPr>
          <p:cNvPr id="4" name="Picture 3" descr="Frontier Tech Leaders (@FTLeadersProg) / X">
            <a:extLst>
              <a:ext uri="{FF2B5EF4-FFF2-40B4-BE49-F238E27FC236}">
                <a16:creationId xmlns:a16="http://schemas.microsoft.com/office/drawing/2014/main" id="{B0DF46E7-EB87-A17C-3F49-723C983B3F9A}"/>
              </a:ext>
            </a:extLst>
          </p:cNvPr>
          <p:cNvPicPr>
            <a:picLocks noChangeAspect="1"/>
          </p:cNvPicPr>
          <p:nvPr/>
        </p:nvPicPr>
        <p:blipFill>
          <a:blip r:embed="rId4"/>
          <a:stretch>
            <a:fillRect/>
          </a:stretch>
        </p:blipFill>
        <p:spPr>
          <a:xfrm>
            <a:off x="10668000" y="94470"/>
            <a:ext cx="1027893" cy="1027893"/>
          </a:xfrm>
          <a:prstGeom prst="rect">
            <a:avLst/>
          </a:prstGeom>
        </p:spPr>
      </p:pic>
    </p:spTree>
    <p:extLst>
      <p:ext uri="{BB962C8B-B14F-4D97-AF65-F5344CB8AC3E}">
        <p14:creationId xmlns:p14="http://schemas.microsoft.com/office/powerpoint/2010/main" val="1667357654"/>
      </p:ext>
    </p:extLst>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Content Placeholder 4">
            <a:extLst>
              <a:ext uri="{FF2B5EF4-FFF2-40B4-BE49-F238E27FC236}">
                <a16:creationId xmlns:a16="http://schemas.microsoft.com/office/drawing/2014/main" id="{8D6B7207-72E9-DCE1-9002-CD64BB1BCBB2}"/>
              </a:ext>
            </a:extLst>
          </p:cNvPr>
          <p:cNvPicPr>
            <a:picLocks noGrp="1" noChangeAspect="1"/>
          </p:cNvPicPr>
          <p:nvPr>
            <p:ph idx="1"/>
          </p:nvPr>
        </p:nvPicPr>
        <p:blipFill>
          <a:blip r:embed="rId3"/>
          <a:stretch>
            <a:fillRect/>
          </a:stretch>
        </p:blipFill>
        <p:spPr>
          <a:xfrm>
            <a:off x="1046916" y="0"/>
            <a:ext cx="9763152" cy="6532014"/>
          </a:xfrm>
        </p:spPr>
      </p:pic>
      <p:sp>
        <p:nvSpPr>
          <p:cNvPr id="2" name="Rectangle">
            <a:extLst>
              <a:ext uri="{FF2B5EF4-FFF2-40B4-BE49-F238E27FC236}">
                <a16:creationId xmlns:a16="http://schemas.microsoft.com/office/drawing/2014/main" id="{9F0E1433-6263-DF20-5FAC-26500FA0699C}"/>
              </a:ext>
            </a:extLst>
          </p:cNvPr>
          <p:cNvSpPr/>
          <p:nvPr/>
        </p:nvSpPr>
        <p:spPr>
          <a:xfrm>
            <a:off x="-11767" y="6545179"/>
            <a:ext cx="12203767" cy="315200"/>
          </a:xfrm>
          <a:prstGeom prst="rect">
            <a:avLst/>
          </a:prstGeom>
          <a:solidFill>
            <a:schemeClr val="tx1"/>
          </a:solidFill>
          <a:ln w="12700">
            <a:noFill/>
            <a:miter lim="400000"/>
          </a:ln>
        </p:spPr>
        <p:txBody>
          <a:bodyPr lIns="45719" rIns="45719" anchor="ctr"/>
          <a:lstStyle/>
          <a:p>
            <a:endParaRPr/>
          </a:p>
        </p:txBody>
      </p:sp>
      <p:pic>
        <p:nvPicPr>
          <p:cNvPr id="3" name="Picture 2" descr="Frontier Tech Leaders (@FTLeadersProg) / X">
            <a:extLst>
              <a:ext uri="{FF2B5EF4-FFF2-40B4-BE49-F238E27FC236}">
                <a16:creationId xmlns:a16="http://schemas.microsoft.com/office/drawing/2014/main" id="{A6BC74FE-51B9-E621-4F73-6319A9A8D7C7}"/>
              </a:ext>
            </a:extLst>
          </p:cNvPr>
          <p:cNvPicPr>
            <a:picLocks noChangeAspect="1"/>
          </p:cNvPicPr>
          <p:nvPr/>
        </p:nvPicPr>
        <p:blipFill>
          <a:blip r:embed="rId4"/>
          <a:stretch>
            <a:fillRect/>
          </a:stretch>
        </p:blipFill>
        <p:spPr>
          <a:xfrm>
            <a:off x="10668000" y="94470"/>
            <a:ext cx="1027893" cy="1027893"/>
          </a:xfrm>
          <a:prstGeom prst="rect">
            <a:avLst/>
          </a:prstGeom>
        </p:spPr>
      </p:pic>
    </p:spTree>
    <p:extLst>
      <p:ext uri="{BB962C8B-B14F-4D97-AF65-F5344CB8AC3E}">
        <p14:creationId xmlns:p14="http://schemas.microsoft.com/office/powerpoint/2010/main" val="939290321"/>
      </p:ext>
    </p:extLst>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10A0DC3-5BE9-3AEF-1F65-4775ABD3CC17}"/>
              </a:ext>
            </a:extLst>
          </p:cNvPr>
          <p:cNvSpPr>
            <a:spLocks noGrp="1"/>
          </p:cNvSpPr>
          <p:nvPr>
            <p:ph type="title"/>
          </p:nvPr>
        </p:nvSpPr>
        <p:spPr/>
        <p:txBody>
          <a:bodyPr/>
          <a:lstStyle/>
          <a:p>
            <a:pPr algn="ctr"/>
            <a:r>
              <a:rPr lang="tr-TR" dirty="0" err="1"/>
              <a:t>Batch</a:t>
            </a:r>
            <a:r>
              <a:rPr lang="tr-TR" dirty="0"/>
              <a:t> </a:t>
            </a:r>
            <a:r>
              <a:rPr lang="tr-TR" dirty="0" err="1"/>
              <a:t>Gradient</a:t>
            </a:r>
            <a:r>
              <a:rPr lang="tr-TR" dirty="0"/>
              <a:t> </a:t>
            </a:r>
            <a:r>
              <a:rPr lang="tr-TR" dirty="0" err="1"/>
              <a:t>Descent</a:t>
            </a:r>
            <a:endParaRPr lang="en-US" dirty="0"/>
          </a:p>
        </p:txBody>
      </p:sp>
      <p:pic>
        <p:nvPicPr>
          <p:cNvPr id="12" name="Picture 11">
            <a:extLst>
              <a:ext uri="{FF2B5EF4-FFF2-40B4-BE49-F238E27FC236}">
                <a16:creationId xmlns:a16="http://schemas.microsoft.com/office/drawing/2014/main" id="{75ED636B-D853-F903-2F89-9D40CFE1CD31}"/>
              </a:ext>
            </a:extLst>
          </p:cNvPr>
          <p:cNvPicPr>
            <a:picLocks noChangeAspect="1"/>
          </p:cNvPicPr>
          <p:nvPr/>
        </p:nvPicPr>
        <p:blipFill>
          <a:blip r:embed="rId3"/>
          <a:stretch>
            <a:fillRect/>
          </a:stretch>
        </p:blipFill>
        <p:spPr>
          <a:xfrm>
            <a:off x="1242185" y="1776040"/>
            <a:ext cx="9112718" cy="4826248"/>
          </a:xfrm>
          <a:prstGeom prst="rect">
            <a:avLst/>
          </a:prstGeom>
        </p:spPr>
      </p:pic>
      <p:sp>
        <p:nvSpPr>
          <p:cNvPr id="3" name="Rectangle">
            <a:extLst>
              <a:ext uri="{FF2B5EF4-FFF2-40B4-BE49-F238E27FC236}">
                <a16:creationId xmlns:a16="http://schemas.microsoft.com/office/drawing/2014/main" id="{54CA520E-B353-27EA-0582-F7B2E7BDDB56}"/>
              </a:ext>
            </a:extLst>
          </p:cNvPr>
          <p:cNvSpPr/>
          <p:nvPr/>
        </p:nvSpPr>
        <p:spPr>
          <a:xfrm>
            <a:off x="-11767" y="6545179"/>
            <a:ext cx="12203767" cy="315200"/>
          </a:xfrm>
          <a:prstGeom prst="rect">
            <a:avLst/>
          </a:prstGeom>
          <a:solidFill>
            <a:schemeClr val="tx1"/>
          </a:solidFill>
          <a:ln w="12700">
            <a:noFill/>
            <a:miter lim="400000"/>
          </a:ln>
        </p:spPr>
        <p:txBody>
          <a:bodyPr lIns="45719" rIns="45719" anchor="ctr"/>
          <a:lstStyle/>
          <a:p>
            <a:endParaRPr/>
          </a:p>
        </p:txBody>
      </p:sp>
      <p:pic>
        <p:nvPicPr>
          <p:cNvPr id="4" name="Picture 3" descr="Frontier Tech Leaders (@FTLeadersProg) / X">
            <a:extLst>
              <a:ext uri="{FF2B5EF4-FFF2-40B4-BE49-F238E27FC236}">
                <a16:creationId xmlns:a16="http://schemas.microsoft.com/office/drawing/2014/main" id="{C761A97F-EBDA-8B0A-82B4-1EC3258B9547}"/>
              </a:ext>
            </a:extLst>
          </p:cNvPr>
          <p:cNvPicPr>
            <a:picLocks noChangeAspect="1"/>
          </p:cNvPicPr>
          <p:nvPr/>
        </p:nvPicPr>
        <p:blipFill>
          <a:blip r:embed="rId4"/>
          <a:stretch>
            <a:fillRect/>
          </a:stretch>
        </p:blipFill>
        <p:spPr>
          <a:xfrm>
            <a:off x="10668000" y="94470"/>
            <a:ext cx="1027893" cy="1027893"/>
          </a:xfrm>
          <a:prstGeom prst="rect">
            <a:avLst/>
          </a:prstGeom>
        </p:spPr>
      </p:pic>
    </p:spTree>
    <p:extLst>
      <p:ext uri="{BB962C8B-B14F-4D97-AF65-F5344CB8AC3E}">
        <p14:creationId xmlns:p14="http://schemas.microsoft.com/office/powerpoint/2010/main" val="52657965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2"/>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12"/>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Lst>
  </p:timing>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E90050B-A32F-231E-86DF-90C9785C9777}"/>
              </a:ext>
            </a:extLst>
          </p:cNvPr>
          <p:cNvSpPr>
            <a:spLocks noGrp="1"/>
          </p:cNvSpPr>
          <p:nvPr>
            <p:ph type="title"/>
          </p:nvPr>
        </p:nvSpPr>
        <p:spPr/>
        <p:txBody>
          <a:bodyPr/>
          <a:lstStyle/>
          <a:p>
            <a:r>
              <a:rPr lang="en-US" b="1" dirty="0"/>
              <a:t>Stochastic Gradient Descent(SGD)</a:t>
            </a:r>
            <a:endParaRPr lang="en-US" dirty="0"/>
          </a:p>
        </p:txBody>
      </p:sp>
      <p:pic>
        <p:nvPicPr>
          <p:cNvPr id="5" name="Content Placeholder 4">
            <a:extLst>
              <a:ext uri="{FF2B5EF4-FFF2-40B4-BE49-F238E27FC236}">
                <a16:creationId xmlns:a16="http://schemas.microsoft.com/office/drawing/2014/main" id="{77AB8821-79E9-1436-7B9D-83FAB7C5CC09}"/>
              </a:ext>
            </a:extLst>
          </p:cNvPr>
          <p:cNvPicPr>
            <a:picLocks noGrp="1" noChangeAspect="1"/>
          </p:cNvPicPr>
          <p:nvPr>
            <p:ph idx="1"/>
          </p:nvPr>
        </p:nvPicPr>
        <p:blipFill>
          <a:blip r:embed="rId3"/>
          <a:stretch>
            <a:fillRect/>
          </a:stretch>
        </p:blipFill>
        <p:spPr>
          <a:xfrm>
            <a:off x="165142" y="2233735"/>
            <a:ext cx="7316221" cy="3667637"/>
          </a:xfrm>
        </p:spPr>
      </p:pic>
      <p:pic>
        <p:nvPicPr>
          <p:cNvPr id="7" name="Picture 6">
            <a:extLst>
              <a:ext uri="{FF2B5EF4-FFF2-40B4-BE49-F238E27FC236}">
                <a16:creationId xmlns:a16="http://schemas.microsoft.com/office/drawing/2014/main" id="{CF3C3E32-300B-233D-6295-A10E90442F1B}"/>
              </a:ext>
            </a:extLst>
          </p:cNvPr>
          <p:cNvPicPr>
            <a:picLocks noChangeAspect="1"/>
          </p:cNvPicPr>
          <p:nvPr/>
        </p:nvPicPr>
        <p:blipFill>
          <a:blip r:embed="rId4"/>
          <a:stretch>
            <a:fillRect/>
          </a:stretch>
        </p:blipFill>
        <p:spPr>
          <a:xfrm>
            <a:off x="7559009" y="3815329"/>
            <a:ext cx="4467849" cy="1133633"/>
          </a:xfrm>
          <a:prstGeom prst="rect">
            <a:avLst/>
          </a:prstGeom>
        </p:spPr>
      </p:pic>
      <p:sp>
        <p:nvSpPr>
          <p:cNvPr id="3" name="Rectangle">
            <a:extLst>
              <a:ext uri="{FF2B5EF4-FFF2-40B4-BE49-F238E27FC236}">
                <a16:creationId xmlns:a16="http://schemas.microsoft.com/office/drawing/2014/main" id="{80980EF7-87B0-7562-5A6F-4DD0A76CBBF7}"/>
              </a:ext>
            </a:extLst>
          </p:cNvPr>
          <p:cNvSpPr/>
          <p:nvPr/>
        </p:nvSpPr>
        <p:spPr>
          <a:xfrm>
            <a:off x="-11767" y="6545179"/>
            <a:ext cx="12203767" cy="315200"/>
          </a:xfrm>
          <a:prstGeom prst="rect">
            <a:avLst/>
          </a:prstGeom>
          <a:solidFill>
            <a:schemeClr val="tx1"/>
          </a:solidFill>
          <a:ln w="12700">
            <a:noFill/>
            <a:miter lim="400000"/>
          </a:ln>
        </p:spPr>
        <p:txBody>
          <a:bodyPr lIns="45719" rIns="45719" anchor="ctr"/>
          <a:lstStyle/>
          <a:p>
            <a:endParaRPr/>
          </a:p>
        </p:txBody>
      </p:sp>
      <p:pic>
        <p:nvPicPr>
          <p:cNvPr id="4" name="Picture 3" descr="Frontier Tech Leaders (@FTLeadersProg) / X">
            <a:extLst>
              <a:ext uri="{FF2B5EF4-FFF2-40B4-BE49-F238E27FC236}">
                <a16:creationId xmlns:a16="http://schemas.microsoft.com/office/drawing/2014/main" id="{78069A09-37E6-308A-8159-CFD742AC99DC}"/>
              </a:ext>
            </a:extLst>
          </p:cNvPr>
          <p:cNvPicPr>
            <a:picLocks noChangeAspect="1"/>
          </p:cNvPicPr>
          <p:nvPr/>
        </p:nvPicPr>
        <p:blipFill>
          <a:blip r:embed="rId5"/>
          <a:stretch>
            <a:fillRect/>
          </a:stretch>
        </p:blipFill>
        <p:spPr>
          <a:xfrm>
            <a:off x="10668000" y="94470"/>
            <a:ext cx="1027893" cy="1027893"/>
          </a:xfrm>
          <a:prstGeom prst="rect">
            <a:avLst/>
          </a:prstGeom>
        </p:spPr>
      </p:pic>
    </p:spTree>
    <p:extLst>
      <p:ext uri="{BB962C8B-B14F-4D97-AF65-F5344CB8AC3E}">
        <p14:creationId xmlns:p14="http://schemas.microsoft.com/office/powerpoint/2010/main" val="2291817295"/>
      </p:ext>
    </p:extLst>
  </p:cSld>
  <p:clrMapOvr>
    <a:masterClrMapping/>
  </p:clrMapOvr>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36DCC5B-5A0E-A315-5465-827741465244}"/>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C7E3EA86-5794-A3BE-44AB-223B13609569}"/>
              </a:ext>
            </a:extLst>
          </p:cNvPr>
          <p:cNvSpPr>
            <a:spLocks noGrp="1"/>
          </p:cNvSpPr>
          <p:nvPr>
            <p:ph type="title"/>
          </p:nvPr>
        </p:nvSpPr>
        <p:spPr/>
        <p:txBody>
          <a:bodyPr/>
          <a:lstStyle/>
          <a:p>
            <a:r>
              <a:rPr lang="en-US" b="1" dirty="0"/>
              <a:t>Stochastic Gradient Descent(SGD)</a:t>
            </a:r>
            <a:endParaRPr lang="en-US" dirty="0"/>
          </a:p>
        </p:txBody>
      </p:sp>
      <p:pic>
        <p:nvPicPr>
          <p:cNvPr id="7" name="Picture 6">
            <a:extLst>
              <a:ext uri="{FF2B5EF4-FFF2-40B4-BE49-F238E27FC236}">
                <a16:creationId xmlns:a16="http://schemas.microsoft.com/office/drawing/2014/main" id="{E8A8BD25-325C-B7E2-742B-F9E11B57C44F}"/>
              </a:ext>
            </a:extLst>
          </p:cNvPr>
          <p:cNvPicPr>
            <a:picLocks noChangeAspect="1"/>
          </p:cNvPicPr>
          <p:nvPr/>
        </p:nvPicPr>
        <p:blipFill>
          <a:blip r:embed="rId3"/>
          <a:stretch>
            <a:fillRect/>
          </a:stretch>
        </p:blipFill>
        <p:spPr>
          <a:xfrm>
            <a:off x="7559009" y="3815329"/>
            <a:ext cx="4467849" cy="1133633"/>
          </a:xfrm>
          <a:prstGeom prst="rect">
            <a:avLst/>
          </a:prstGeom>
        </p:spPr>
      </p:pic>
      <p:pic>
        <p:nvPicPr>
          <p:cNvPr id="10" name="Content Placeholder 9">
            <a:extLst>
              <a:ext uri="{FF2B5EF4-FFF2-40B4-BE49-F238E27FC236}">
                <a16:creationId xmlns:a16="http://schemas.microsoft.com/office/drawing/2014/main" id="{A1676EAE-EBF4-E1D4-6BEA-6CE5C1EC5146}"/>
              </a:ext>
            </a:extLst>
          </p:cNvPr>
          <p:cNvPicPr>
            <a:picLocks noGrp="1" noChangeAspect="1"/>
          </p:cNvPicPr>
          <p:nvPr>
            <p:ph idx="1"/>
          </p:nvPr>
        </p:nvPicPr>
        <p:blipFill>
          <a:blip r:embed="rId4"/>
          <a:stretch>
            <a:fillRect/>
          </a:stretch>
        </p:blipFill>
        <p:spPr>
          <a:xfrm>
            <a:off x="385683" y="2255205"/>
            <a:ext cx="7173326" cy="3848637"/>
          </a:xfrm>
        </p:spPr>
      </p:pic>
      <p:sp>
        <p:nvSpPr>
          <p:cNvPr id="3" name="Rectangle">
            <a:extLst>
              <a:ext uri="{FF2B5EF4-FFF2-40B4-BE49-F238E27FC236}">
                <a16:creationId xmlns:a16="http://schemas.microsoft.com/office/drawing/2014/main" id="{C01AC537-806C-2DD5-5E17-0C2F4F40986F}"/>
              </a:ext>
            </a:extLst>
          </p:cNvPr>
          <p:cNvSpPr/>
          <p:nvPr/>
        </p:nvSpPr>
        <p:spPr>
          <a:xfrm>
            <a:off x="-11767" y="6545179"/>
            <a:ext cx="12203767" cy="315200"/>
          </a:xfrm>
          <a:prstGeom prst="rect">
            <a:avLst/>
          </a:prstGeom>
          <a:solidFill>
            <a:schemeClr val="tx1"/>
          </a:solidFill>
          <a:ln w="12700">
            <a:noFill/>
            <a:miter lim="400000"/>
          </a:ln>
        </p:spPr>
        <p:txBody>
          <a:bodyPr lIns="45719" rIns="45719" anchor="ctr"/>
          <a:lstStyle/>
          <a:p>
            <a:endParaRPr/>
          </a:p>
        </p:txBody>
      </p:sp>
      <p:pic>
        <p:nvPicPr>
          <p:cNvPr id="4" name="Picture 3" descr="Frontier Tech Leaders (@FTLeadersProg) / X">
            <a:extLst>
              <a:ext uri="{FF2B5EF4-FFF2-40B4-BE49-F238E27FC236}">
                <a16:creationId xmlns:a16="http://schemas.microsoft.com/office/drawing/2014/main" id="{DE235700-B49D-195E-BE6B-1928FB0A62AB}"/>
              </a:ext>
            </a:extLst>
          </p:cNvPr>
          <p:cNvPicPr>
            <a:picLocks noChangeAspect="1"/>
          </p:cNvPicPr>
          <p:nvPr/>
        </p:nvPicPr>
        <p:blipFill>
          <a:blip r:embed="rId5"/>
          <a:stretch>
            <a:fillRect/>
          </a:stretch>
        </p:blipFill>
        <p:spPr>
          <a:xfrm>
            <a:off x="10668000" y="94470"/>
            <a:ext cx="1027893" cy="1027893"/>
          </a:xfrm>
          <a:prstGeom prst="rect">
            <a:avLst/>
          </a:prstGeom>
        </p:spPr>
      </p:pic>
    </p:spTree>
    <p:extLst>
      <p:ext uri="{BB962C8B-B14F-4D97-AF65-F5344CB8AC3E}">
        <p14:creationId xmlns:p14="http://schemas.microsoft.com/office/powerpoint/2010/main" val="186315201"/>
      </p:ext>
    </p:extLst>
  </p:cSld>
  <p:clrMapOvr>
    <a:masterClrMapping/>
  </p:clrMapOvr>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4C9F20C-2B90-A5DC-DAF4-75ECED101E8D}"/>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772E7FAA-7BB2-1C13-6339-EB63DD18CC9A}"/>
              </a:ext>
            </a:extLst>
          </p:cNvPr>
          <p:cNvSpPr>
            <a:spLocks noGrp="1"/>
          </p:cNvSpPr>
          <p:nvPr>
            <p:ph type="title"/>
          </p:nvPr>
        </p:nvSpPr>
        <p:spPr/>
        <p:txBody>
          <a:bodyPr/>
          <a:lstStyle/>
          <a:p>
            <a:r>
              <a:rPr lang="en-US" b="1" dirty="0"/>
              <a:t>Mini-batch Gradient Descent</a:t>
            </a:r>
          </a:p>
        </p:txBody>
      </p:sp>
      <p:pic>
        <p:nvPicPr>
          <p:cNvPr id="7" name="Picture 6">
            <a:extLst>
              <a:ext uri="{FF2B5EF4-FFF2-40B4-BE49-F238E27FC236}">
                <a16:creationId xmlns:a16="http://schemas.microsoft.com/office/drawing/2014/main" id="{5465AA8B-8050-DBE6-0331-CF09246EA064}"/>
              </a:ext>
            </a:extLst>
          </p:cNvPr>
          <p:cNvPicPr>
            <a:picLocks noChangeAspect="1"/>
          </p:cNvPicPr>
          <p:nvPr/>
        </p:nvPicPr>
        <p:blipFill>
          <a:blip r:embed="rId3"/>
          <a:stretch>
            <a:fillRect/>
          </a:stretch>
        </p:blipFill>
        <p:spPr>
          <a:xfrm>
            <a:off x="7559009" y="3815329"/>
            <a:ext cx="4467849" cy="1133633"/>
          </a:xfrm>
          <a:prstGeom prst="rect">
            <a:avLst/>
          </a:prstGeom>
        </p:spPr>
      </p:pic>
      <p:pic>
        <p:nvPicPr>
          <p:cNvPr id="9" name="Content Placeholder 8">
            <a:extLst>
              <a:ext uri="{FF2B5EF4-FFF2-40B4-BE49-F238E27FC236}">
                <a16:creationId xmlns:a16="http://schemas.microsoft.com/office/drawing/2014/main" id="{01B7DBD7-D023-F8A0-E1F6-276B58E1BC54}"/>
              </a:ext>
            </a:extLst>
          </p:cNvPr>
          <p:cNvPicPr>
            <a:picLocks noGrp="1" noChangeAspect="1"/>
          </p:cNvPicPr>
          <p:nvPr>
            <p:ph idx="1"/>
          </p:nvPr>
        </p:nvPicPr>
        <p:blipFill>
          <a:blip r:embed="rId4"/>
          <a:stretch>
            <a:fillRect/>
          </a:stretch>
        </p:blipFill>
        <p:spPr>
          <a:xfrm>
            <a:off x="414262" y="2088423"/>
            <a:ext cx="7144747" cy="4058216"/>
          </a:xfrm>
        </p:spPr>
      </p:pic>
      <p:sp>
        <p:nvSpPr>
          <p:cNvPr id="3" name="Rectangle">
            <a:extLst>
              <a:ext uri="{FF2B5EF4-FFF2-40B4-BE49-F238E27FC236}">
                <a16:creationId xmlns:a16="http://schemas.microsoft.com/office/drawing/2014/main" id="{7A344318-72D8-2297-9782-D009DCCFB949}"/>
              </a:ext>
            </a:extLst>
          </p:cNvPr>
          <p:cNvSpPr/>
          <p:nvPr/>
        </p:nvSpPr>
        <p:spPr>
          <a:xfrm>
            <a:off x="-11767" y="6545179"/>
            <a:ext cx="12203767" cy="315200"/>
          </a:xfrm>
          <a:prstGeom prst="rect">
            <a:avLst/>
          </a:prstGeom>
          <a:solidFill>
            <a:schemeClr val="tx1"/>
          </a:solidFill>
          <a:ln w="12700">
            <a:noFill/>
            <a:miter lim="400000"/>
          </a:ln>
        </p:spPr>
        <p:txBody>
          <a:bodyPr lIns="45719" rIns="45719" anchor="ctr"/>
          <a:lstStyle/>
          <a:p>
            <a:endParaRPr/>
          </a:p>
        </p:txBody>
      </p:sp>
      <p:pic>
        <p:nvPicPr>
          <p:cNvPr id="4" name="Picture 3" descr="Frontier Tech Leaders (@FTLeadersProg) / X">
            <a:extLst>
              <a:ext uri="{FF2B5EF4-FFF2-40B4-BE49-F238E27FC236}">
                <a16:creationId xmlns:a16="http://schemas.microsoft.com/office/drawing/2014/main" id="{8A5BE985-573B-094F-EEFE-5FF6E8007E10}"/>
              </a:ext>
            </a:extLst>
          </p:cNvPr>
          <p:cNvPicPr>
            <a:picLocks noChangeAspect="1"/>
          </p:cNvPicPr>
          <p:nvPr/>
        </p:nvPicPr>
        <p:blipFill>
          <a:blip r:embed="rId5"/>
          <a:stretch>
            <a:fillRect/>
          </a:stretch>
        </p:blipFill>
        <p:spPr>
          <a:xfrm>
            <a:off x="10668000" y="94470"/>
            <a:ext cx="1027893" cy="1027893"/>
          </a:xfrm>
          <a:prstGeom prst="rect">
            <a:avLst/>
          </a:prstGeom>
        </p:spPr>
      </p:pic>
    </p:spTree>
    <p:extLst>
      <p:ext uri="{BB962C8B-B14F-4D97-AF65-F5344CB8AC3E}">
        <p14:creationId xmlns:p14="http://schemas.microsoft.com/office/powerpoint/2010/main" val="400297912"/>
      </p:ext>
    </p:extLst>
  </p:cSld>
  <p:clrMapOvr>
    <a:masterClrMapping/>
  </p:clrMapOvr>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Content Placeholder 4">
            <a:extLst>
              <a:ext uri="{FF2B5EF4-FFF2-40B4-BE49-F238E27FC236}">
                <a16:creationId xmlns:a16="http://schemas.microsoft.com/office/drawing/2014/main" id="{D74E3DB6-B9D4-A26E-F7BD-C508DA7BD738}"/>
              </a:ext>
            </a:extLst>
          </p:cNvPr>
          <p:cNvPicPr>
            <a:picLocks noGrp="1" noChangeAspect="1"/>
          </p:cNvPicPr>
          <p:nvPr>
            <p:ph idx="1"/>
          </p:nvPr>
        </p:nvPicPr>
        <p:blipFill>
          <a:blip r:embed="rId3"/>
          <a:stretch>
            <a:fillRect/>
          </a:stretch>
        </p:blipFill>
        <p:spPr>
          <a:xfrm>
            <a:off x="667719" y="649114"/>
            <a:ext cx="10515600" cy="1992875"/>
          </a:xfrm>
        </p:spPr>
      </p:pic>
      <p:pic>
        <p:nvPicPr>
          <p:cNvPr id="7" name="Picture 6">
            <a:extLst>
              <a:ext uri="{FF2B5EF4-FFF2-40B4-BE49-F238E27FC236}">
                <a16:creationId xmlns:a16="http://schemas.microsoft.com/office/drawing/2014/main" id="{D4136A12-2C3E-B63E-2ED7-511AE39E83F0}"/>
              </a:ext>
            </a:extLst>
          </p:cNvPr>
          <p:cNvPicPr>
            <a:picLocks noChangeAspect="1"/>
          </p:cNvPicPr>
          <p:nvPr/>
        </p:nvPicPr>
        <p:blipFill>
          <a:blip r:embed="rId4"/>
          <a:stretch>
            <a:fillRect/>
          </a:stretch>
        </p:blipFill>
        <p:spPr>
          <a:xfrm>
            <a:off x="858816" y="2957204"/>
            <a:ext cx="10020994" cy="3702178"/>
          </a:xfrm>
          <a:prstGeom prst="rect">
            <a:avLst/>
          </a:prstGeom>
        </p:spPr>
      </p:pic>
      <p:sp>
        <p:nvSpPr>
          <p:cNvPr id="8" name="TextBox 7">
            <a:extLst>
              <a:ext uri="{FF2B5EF4-FFF2-40B4-BE49-F238E27FC236}">
                <a16:creationId xmlns:a16="http://schemas.microsoft.com/office/drawing/2014/main" id="{6C03A9A1-AA5E-0285-92FE-ED1ABCDA0EDB}"/>
              </a:ext>
            </a:extLst>
          </p:cNvPr>
          <p:cNvSpPr txBox="1"/>
          <p:nvPr/>
        </p:nvSpPr>
        <p:spPr>
          <a:xfrm>
            <a:off x="4908452" y="268714"/>
            <a:ext cx="2049344" cy="584775"/>
          </a:xfrm>
          <a:prstGeom prst="rect">
            <a:avLst/>
          </a:prstGeom>
          <a:noFill/>
        </p:spPr>
        <p:txBody>
          <a:bodyPr wrap="none" rtlCol="0">
            <a:spAutoFit/>
          </a:bodyPr>
          <a:lstStyle/>
          <a:p>
            <a:r>
              <a:rPr lang="tr-TR" sz="3200" b="1" dirty="0"/>
              <a:t>SUMMARY</a:t>
            </a:r>
            <a:endParaRPr lang="en-US" sz="3200" b="1" dirty="0"/>
          </a:p>
        </p:txBody>
      </p:sp>
      <p:sp>
        <p:nvSpPr>
          <p:cNvPr id="2" name="Rectangle">
            <a:extLst>
              <a:ext uri="{FF2B5EF4-FFF2-40B4-BE49-F238E27FC236}">
                <a16:creationId xmlns:a16="http://schemas.microsoft.com/office/drawing/2014/main" id="{C2F06EB9-66CD-328E-A233-A958CDFA3D73}"/>
              </a:ext>
            </a:extLst>
          </p:cNvPr>
          <p:cNvSpPr/>
          <p:nvPr/>
        </p:nvSpPr>
        <p:spPr>
          <a:xfrm>
            <a:off x="-11767" y="6545179"/>
            <a:ext cx="12203767" cy="315200"/>
          </a:xfrm>
          <a:prstGeom prst="rect">
            <a:avLst/>
          </a:prstGeom>
          <a:solidFill>
            <a:schemeClr val="tx1"/>
          </a:solidFill>
          <a:ln w="12700">
            <a:noFill/>
            <a:miter lim="400000"/>
          </a:ln>
        </p:spPr>
        <p:txBody>
          <a:bodyPr lIns="45719" rIns="45719" anchor="ctr"/>
          <a:lstStyle/>
          <a:p>
            <a:endParaRPr/>
          </a:p>
        </p:txBody>
      </p:sp>
      <p:pic>
        <p:nvPicPr>
          <p:cNvPr id="3" name="Picture 2" descr="Frontier Tech Leaders (@FTLeadersProg) / X">
            <a:extLst>
              <a:ext uri="{FF2B5EF4-FFF2-40B4-BE49-F238E27FC236}">
                <a16:creationId xmlns:a16="http://schemas.microsoft.com/office/drawing/2014/main" id="{DA9AF99B-E716-2971-3C3C-96EF1F07188F}"/>
              </a:ext>
            </a:extLst>
          </p:cNvPr>
          <p:cNvPicPr>
            <a:picLocks noChangeAspect="1"/>
          </p:cNvPicPr>
          <p:nvPr/>
        </p:nvPicPr>
        <p:blipFill>
          <a:blip r:embed="rId5"/>
          <a:stretch>
            <a:fillRect/>
          </a:stretch>
        </p:blipFill>
        <p:spPr>
          <a:xfrm>
            <a:off x="10668000" y="94470"/>
            <a:ext cx="1027893" cy="1027893"/>
          </a:xfrm>
          <a:prstGeom prst="rect">
            <a:avLst/>
          </a:prstGeom>
        </p:spPr>
      </p:pic>
    </p:spTree>
    <p:extLst>
      <p:ext uri="{BB962C8B-B14F-4D97-AF65-F5344CB8AC3E}">
        <p14:creationId xmlns:p14="http://schemas.microsoft.com/office/powerpoint/2010/main" val="3311831034"/>
      </p:ext>
    </p:extLst>
  </p:cSld>
  <p:clrMapOvr>
    <a:masterClrMapping/>
  </p:clrMapOvr>
</p:sld>
</file>

<file path=ppt/slides/slide5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B233C64-A138-AE9F-E29A-6AA89DE34EC3}"/>
              </a:ext>
            </a:extLst>
          </p:cNvPr>
          <p:cNvSpPr>
            <a:spLocks noGrp="1"/>
          </p:cNvSpPr>
          <p:nvPr>
            <p:ph type="title"/>
          </p:nvPr>
        </p:nvSpPr>
        <p:spPr>
          <a:xfrm>
            <a:off x="88805" y="2441432"/>
            <a:ext cx="10515600" cy="1325563"/>
          </a:xfrm>
        </p:spPr>
        <p:txBody>
          <a:bodyPr>
            <a:normAutofit/>
          </a:bodyPr>
          <a:lstStyle/>
          <a:p>
            <a:pPr algn="ctr"/>
            <a:r>
              <a:rPr lang="tr-TR" sz="8000" dirty="0"/>
              <a:t>Q&amp;A</a:t>
            </a:r>
            <a:endParaRPr lang="en-US" sz="8000" dirty="0"/>
          </a:p>
        </p:txBody>
      </p:sp>
      <mc:AlternateContent xmlns:mc="http://schemas.openxmlformats.org/markup-compatibility/2006">
        <mc:Choice xmlns:am3d="http://schemas.microsoft.com/office/drawing/2017/model3d" Requires="am3d">
          <p:graphicFrame>
            <p:nvGraphicFramePr>
              <p:cNvPr id="3" name="3D Model 2" descr="Dark Gray Question mark">
                <a:extLst>
                  <a:ext uri="{FF2B5EF4-FFF2-40B4-BE49-F238E27FC236}">
                    <a16:creationId xmlns:a16="http://schemas.microsoft.com/office/drawing/2014/main" id="{F4191D62-3B4A-4A86-F444-AFE296A22A36}"/>
                  </a:ext>
                </a:extLst>
              </p:cNvPr>
              <p:cNvGraphicFramePr>
                <a:graphicFrameLocks noChangeAspect="1"/>
              </p:cNvGraphicFramePr>
              <p:nvPr/>
            </p:nvGraphicFramePr>
            <p:xfrm>
              <a:off x="6488744" y="549587"/>
              <a:ext cx="2428400" cy="4561583"/>
            </p:xfrm>
            <a:graphic>
              <a:graphicData uri="http://schemas.microsoft.com/office/drawing/2017/model3d">
                <am3d:model3d r:embed="rId2">
                  <am3d:spPr>
                    <a:xfrm>
                      <a:off x="0" y="0"/>
                      <a:ext cx="2428400" cy="4561583"/>
                    </a:xfrm>
                    <a:prstGeom prst="rect">
                      <a:avLst/>
                    </a:prstGeom>
                  </am3d:spPr>
                  <am3d:camera>
                    <am3d:pos x="0" y="0" z="55389530"/>
                    <am3d:up dx="0" dy="36000000" dz="0"/>
                    <am3d:lookAt x="0" y="0" z="0"/>
                    <am3d:perspective fov="2700000"/>
                  </am3d:camera>
                  <am3d:trans>
                    <am3d:meterPerModelUnit n="3517042" d="1000000"/>
                    <am3d:preTrans dx="0" dy="-18004113" dz="-4973"/>
                    <am3d:scale>
                      <am3d:sx n="1000000" d="1000000"/>
                      <am3d:sy n="1000000" d="1000000"/>
                      <am3d:sz n="1000000" d="1000000"/>
                    </am3d:scale>
                    <am3d:rot ax="1153584" ay="2699415" az="831048"/>
                    <am3d:postTrans dx="0" dy="0" dz="0"/>
                  </am3d:trans>
                  <am3d:raster rName="Office3DRenderer" rVer="16.0.8326">
                    <am3d:blip r:embed="rId3"/>
                  </am3d:raster>
                  <am3d:objViewport viewportSz="5418665"/>
                  <am3d:ambientLight>
                    <am3d:clr>
                      <a:scrgbClr r="50000" g="50000" b="50000"/>
                    </am3d:clr>
                    <am3d:illuminance n="500000" d="1000000"/>
                  </am3d:ambientLight>
                  <am3d:ptLight rad="0">
                    <am3d:clr>
                      <a:scrgbClr r="100000" g="75000" b="50000"/>
                    </am3d:clr>
                    <am3d:intensity n="9765625" d="1000000"/>
                    <am3d:pos x="21959998" y="70920001" z="16344003"/>
                  </am3d:ptLight>
                  <am3d:ptLight rad="0">
                    <am3d:clr>
                      <a:scrgbClr r="40000" g="60000" b="95000"/>
                    </am3d:clr>
                    <am3d:intensity n="12250000" d="1000000"/>
                    <am3d:pos x="-37964106" y="51130435" z="57631972"/>
                  </am3d:ptLight>
                  <am3d:ptLight rad="0">
                    <am3d:clr>
                      <a:scrgbClr r="86837" g="72700" b="100000"/>
                    </am3d:clr>
                    <am3d:intensity n="3125000" d="1000000"/>
                    <am3d:pos x="-37739122" y="58056624" z="-34769649"/>
                  </am3d:ptLight>
                </am3d:model3d>
              </a:graphicData>
            </a:graphic>
          </p:graphicFrame>
        </mc:Choice>
        <mc:Fallback>
          <p:pic>
            <p:nvPicPr>
              <p:cNvPr id="3" name="3D Model 2" descr="Dark Gray Question mark">
                <a:extLst>
                  <a:ext uri="{FF2B5EF4-FFF2-40B4-BE49-F238E27FC236}">
                    <a16:creationId xmlns:a16="http://schemas.microsoft.com/office/drawing/2014/main" id="{F4191D62-3B4A-4A86-F444-AFE296A22A36}"/>
                  </a:ext>
                </a:extLst>
              </p:cNvPr>
              <p:cNvPicPr>
                <a:picLocks noGrp="1" noRot="1" noChangeAspect="1" noMove="1" noResize="1" noEditPoints="1" noAdjustHandles="1" noChangeArrowheads="1" noChangeShapeType="1" noCrop="1"/>
              </p:cNvPicPr>
              <p:nvPr/>
            </p:nvPicPr>
            <p:blipFill>
              <a:blip r:embed="rId3"/>
              <a:stretch>
                <a:fillRect/>
              </a:stretch>
            </p:blipFill>
            <p:spPr>
              <a:xfrm>
                <a:off x="6488744" y="549587"/>
                <a:ext cx="2428400" cy="4561583"/>
              </a:xfrm>
              <a:prstGeom prst="rect">
                <a:avLst/>
              </a:prstGeom>
            </p:spPr>
          </p:pic>
        </mc:Fallback>
      </mc:AlternateContent>
      <mc:AlternateContent xmlns:mc="http://schemas.openxmlformats.org/markup-compatibility/2006" xmlns:p14="http://schemas.microsoft.com/office/powerpoint/2010/main">
        <mc:Choice Requires="p14">
          <p:contentPart p14:bwMode="auto" r:id="rId4">
            <p14:nvContentPartPr>
              <p14:cNvPr id="4" name="Ink 3">
                <a:extLst>
                  <a:ext uri="{FF2B5EF4-FFF2-40B4-BE49-F238E27FC236}">
                    <a16:creationId xmlns:a16="http://schemas.microsoft.com/office/drawing/2014/main" id="{BBE2CD52-C605-FC9B-E2FB-55AEB33BC013}"/>
                  </a:ext>
                </a:extLst>
              </p14:cNvPr>
              <p14:cNvContentPartPr/>
              <p14:nvPr/>
            </p14:nvContentPartPr>
            <p14:xfrm>
              <a:off x="4908600" y="2400480"/>
              <a:ext cx="360" cy="360"/>
            </p14:xfrm>
          </p:contentPart>
        </mc:Choice>
        <mc:Fallback xmlns="">
          <p:pic>
            <p:nvPicPr>
              <p:cNvPr id="4" name="Ink 3">
                <a:extLst>
                  <a:ext uri="{FF2B5EF4-FFF2-40B4-BE49-F238E27FC236}">
                    <a16:creationId xmlns:a16="http://schemas.microsoft.com/office/drawing/2014/main" id="{BBE2CD52-C605-FC9B-E2FB-55AEB33BC013}"/>
                  </a:ext>
                </a:extLst>
              </p:cNvPr>
              <p:cNvPicPr/>
              <p:nvPr/>
            </p:nvPicPr>
            <p:blipFill>
              <a:blip r:embed="rId5"/>
              <a:stretch>
                <a:fillRect/>
              </a:stretch>
            </p:blipFill>
            <p:spPr>
              <a:xfrm>
                <a:off x="4899240" y="2391120"/>
                <a:ext cx="19080" cy="19080"/>
              </a:xfrm>
              <a:prstGeom prst="rect">
                <a:avLst/>
              </a:prstGeom>
            </p:spPr>
          </p:pic>
        </mc:Fallback>
      </mc:AlternateContent>
    </p:spTree>
    <p:extLst>
      <p:ext uri="{BB962C8B-B14F-4D97-AF65-F5344CB8AC3E}">
        <p14:creationId xmlns:p14="http://schemas.microsoft.com/office/powerpoint/2010/main" val="2553553027"/>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5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Content Placeholder 4" descr="A logo with orange and grey circles&#10;&#10;Description automatically generated">
            <a:extLst>
              <a:ext uri="{FF2B5EF4-FFF2-40B4-BE49-F238E27FC236}">
                <a16:creationId xmlns:a16="http://schemas.microsoft.com/office/drawing/2014/main" id="{58199B30-13A8-5D34-42B0-1CDB18AA3062}"/>
              </a:ext>
            </a:extLst>
          </p:cNvPr>
          <p:cNvPicPr>
            <a:picLocks noGrp="1" noChangeAspect="1"/>
          </p:cNvPicPr>
          <p:nvPr>
            <p:ph idx="1"/>
          </p:nvPr>
        </p:nvPicPr>
        <p:blipFill>
          <a:blip r:embed="rId2">
            <a:extLst>
              <a:ext uri="{28A0092B-C50C-407E-A947-70E740481C1C}">
                <a14:useLocalDpi xmlns:a14="http://schemas.microsoft.com/office/drawing/2010/main" val="0"/>
              </a:ext>
            </a:extLst>
          </a:blip>
          <a:stretch>
            <a:fillRect/>
          </a:stretch>
        </p:blipFill>
        <p:spPr>
          <a:xfrm>
            <a:off x="886778" y="643467"/>
            <a:ext cx="4805044" cy="5571066"/>
          </a:xfrm>
          <a:prstGeom prst="rect">
            <a:avLst/>
          </a:prstGeom>
        </p:spPr>
      </p:pic>
      <p:pic>
        <p:nvPicPr>
          <p:cNvPr id="5" name="Picture 4">
            <a:extLst>
              <a:ext uri="{FF2B5EF4-FFF2-40B4-BE49-F238E27FC236}">
                <a16:creationId xmlns:a16="http://schemas.microsoft.com/office/drawing/2014/main" id="{896064FE-7E90-FC20-BFCC-C294E68EDF00}"/>
              </a:ext>
            </a:extLst>
          </p:cNvPr>
          <p:cNvPicPr>
            <a:picLocks noChangeAspect="1"/>
          </p:cNvPicPr>
          <p:nvPr/>
        </p:nvPicPr>
        <p:blipFill>
          <a:blip r:embed="rId3"/>
          <a:stretch>
            <a:fillRect/>
          </a:stretch>
        </p:blipFill>
        <p:spPr>
          <a:xfrm>
            <a:off x="6256865" y="2317750"/>
            <a:ext cx="5291667" cy="2222500"/>
          </a:xfrm>
          <a:prstGeom prst="rect">
            <a:avLst/>
          </a:prstGeom>
        </p:spPr>
      </p:pic>
      <p:sp>
        <p:nvSpPr>
          <p:cNvPr id="6" name="TextBox 5">
            <a:extLst>
              <a:ext uri="{FF2B5EF4-FFF2-40B4-BE49-F238E27FC236}">
                <a16:creationId xmlns:a16="http://schemas.microsoft.com/office/drawing/2014/main" id="{E0E4680E-B4B9-923E-859F-96F0A0BCEDA9}"/>
              </a:ext>
            </a:extLst>
          </p:cNvPr>
          <p:cNvSpPr txBox="1"/>
          <p:nvPr/>
        </p:nvSpPr>
        <p:spPr>
          <a:xfrm>
            <a:off x="7605132" y="4638907"/>
            <a:ext cx="2101344" cy="923330"/>
          </a:xfrm>
          <a:prstGeom prst="rect">
            <a:avLst/>
          </a:prstGeom>
          <a:noFill/>
        </p:spPr>
        <p:txBody>
          <a:bodyPr wrap="none" rtlCol="0">
            <a:spAutoFit/>
          </a:bodyPr>
          <a:lstStyle/>
          <a:p>
            <a:pPr marL="285750" indent="-285750">
              <a:buFont typeface="Arial" panose="020B0604020202020204" pitchFamily="34" charset="0"/>
              <a:buChar char="•"/>
            </a:pPr>
            <a:r>
              <a:rPr lang="tr-TR" dirty="0" err="1"/>
              <a:t>Create</a:t>
            </a:r>
            <a:r>
              <a:rPr lang="tr-TR" dirty="0"/>
              <a:t> </a:t>
            </a:r>
            <a:r>
              <a:rPr lang="tr-TR" dirty="0" err="1"/>
              <a:t>Account</a:t>
            </a:r>
            <a:endParaRPr lang="tr-TR" dirty="0"/>
          </a:p>
          <a:p>
            <a:pPr marL="285750" indent="-285750">
              <a:buFont typeface="Arial" panose="020B0604020202020204" pitchFamily="34" charset="0"/>
              <a:buChar char="•"/>
            </a:pPr>
            <a:r>
              <a:rPr lang="tr-TR" dirty="0" err="1"/>
              <a:t>Create</a:t>
            </a:r>
            <a:r>
              <a:rPr lang="tr-TR" dirty="0"/>
              <a:t> </a:t>
            </a:r>
            <a:r>
              <a:rPr lang="tr-TR" dirty="0" err="1"/>
              <a:t>repository</a:t>
            </a:r>
            <a:endParaRPr lang="tr-TR" dirty="0"/>
          </a:p>
          <a:p>
            <a:pPr marL="285750" indent="-285750">
              <a:buFont typeface="Arial" panose="020B0604020202020204" pitchFamily="34" charset="0"/>
              <a:buChar char="•"/>
            </a:pPr>
            <a:endParaRPr lang="en-US" dirty="0"/>
          </a:p>
        </p:txBody>
      </p:sp>
      <p:sp>
        <p:nvSpPr>
          <p:cNvPr id="2" name="TextBox 1">
            <a:extLst>
              <a:ext uri="{FF2B5EF4-FFF2-40B4-BE49-F238E27FC236}">
                <a16:creationId xmlns:a16="http://schemas.microsoft.com/office/drawing/2014/main" id="{B50D01F1-FC45-E000-C566-64A94C421A7D}"/>
              </a:ext>
            </a:extLst>
          </p:cNvPr>
          <p:cNvSpPr txBox="1"/>
          <p:nvPr/>
        </p:nvSpPr>
        <p:spPr>
          <a:xfrm>
            <a:off x="962025" y="6296025"/>
            <a:ext cx="5211491" cy="369332"/>
          </a:xfrm>
          <a:prstGeom prst="rect">
            <a:avLst/>
          </a:prstGeom>
          <a:noFill/>
        </p:spPr>
        <p:txBody>
          <a:bodyPr wrap="none" rtlCol="0">
            <a:spAutoFit/>
          </a:bodyPr>
          <a:lstStyle/>
          <a:p>
            <a:r>
              <a:rPr lang="en-US" dirty="0">
                <a:hlinkClick r:id="rId4"/>
              </a:rPr>
              <a:t>https://www.youtube.com/watch?v=HW29067qVWk</a:t>
            </a:r>
            <a:r>
              <a:rPr lang="tr-TR" dirty="0"/>
              <a:t> </a:t>
            </a:r>
            <a:endParaRPr lang="en-US" dirty="0"/>
          </a:p>
        </p:txBody>
      </p:sp>
      <p:sp>
        <p:nvSpPr>
          <p:cNvPr id="3" name="TextBox 2">
            <a:extLst>
              <a:ext uri="{FF2B5EF4-FFF2-40B4-BE49-F238E27FC236}">
                <a16:creationId xmlns:a16="http://schemas.microsoft.com/office/drawing/2014/main" id="{8D10BF06-A0B7-956C-71B4-6396708FE90A}"/>
              </a:ext>
            </a:extLst>
          </p:cNvPr>
          <p:cNvSpPr txBox="1"/>
          <p:nvPr/>
        </p:nvSpPr>
        <p:spPr>
          <a:xfrm>
            <a:off x="7248525" y="6214533"/>
            <a:ext cx="4746812" cy="369332"/>
          </a:xfrm>
          <a:prstGeom prst="rect">
            <a:avLst/>
          </a:prstGeom>
          <a:noFill/>
        </p:spPr>
        <p:txBody>
          <a:bodyPr wrap="none" rtlCol="0">
            <a:spAutoFit/>
          </a:bodyPr>
          <a:lstStyle/>
          <a:p>
            <a:r>
              <a:rPr lang="en-US" dirty="0">
                <a:hlinkClick r:id="rId5"/>
              </a:rPr>
              <a:t>https://www.youtube.com/watch?v=iv8rSLsi1xo</a:t>
            </a:r>
            <a:r>
              <a:rPr lang="tr-TR" dirty="0"/>
              <a:t> </a:t>
            </a:r>
            <a:endParaRPr lang="en-US" dirty="0"/>
          </a:p>
        </p:txBody>
      </p:sp>
    </p:spTree>
    <p:extLst>
      <p:ext uri="{BB962C8B-B14F-4D97-AF65-F5344CB8AC3E}">
        <p14:creationId xmlns:p14="http://schemas.microsoft.com/office/powerpoint/2010/main" val="1233997496"/>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ct:contentTypeSchema xmlns:ct="http://schemas.microsoft.com/office/2006/metadata/contentType" xmlns:ma="http://schemas.microsoft.com/office/2006/metadata/properties/metaAttributes" ct:_="" ma:_="" ma:contentTypeName="Document" ma:contentTypeID="0x0101007E9A02BA3BD6C54284F20B51199E6706" ma:contentTypeVersion="17" ma:contentTypeDescription="Create a new document." ma:contentTypeScope="" ma:versionID="a634a5affedf8902b296ccb924802d1a">
  <xsd:schema xmlns:xsd="http://www.w3.org/2001/XMLSchema" xmlns:xs="http://www.w3.org/2001/XMLSchema" xmlns:p="http://schemas.microsoft.com/office/2006/metadata/properties" xmlns:ns2="6259e846-8b77-4076-b7b3-191dee427045" xmlns:ns3="97847797-b717-4ffb-b5fd-2a237f853cda" targetNamespace="http://schemas.microsoft.com/office/2006/metadata/properties" ma:root="true" ma:fieldsID="8d438e09cfb21e332c40e6605de6ee74" ns2:_="" ns3:_="">
    <xsd:import namespace="6259e846-8b77-4076-b7b3-191dee427045"/>
    <xsd:import namespace="97847797-b717-4ffb-b5fd-2a237f853cda"/>
    <xsd:element name="properties">
      <xsd:complexType>
        <xsd:sequence>
          <xsd:element name="documentManagement">
            <xsd:complexType>
              <xsd:all>
                <xsd:element ref="ns2:MediaServiceMetadata" minOccurs="0"/>
                <xsd:element ref="ns2:MediaServiceFastMetadata" minOccurs="0"/>
                <xsd:element ref="ns2:MediaServiceObjectDetectorVersions" minOccurs="0"/>
                <xsd:element ref="ns2:lcf76f155ced4ddcb4097134ff3c332f" minOccurs="0"/>
                <xsd:element ref="ns3:TaxCatchAll" minOccurs="0"/>
                <xsd:element ref="ns2:MediaServiceOCR" minOccurs="0"/>
                <xsd:element ref="ns2:MediaServiceGenerationTime" minOccurs="0"/>
                <xsd:element ref="ns2:MediaServiceEventHashCode" minOccurs="0"/>
                <xsd:element ref="ns3:SharedWithUsers" minOccurs="0"/>
                <xsd:element ref="ns3:SharedWithDetails" minOccurs="0"/>
                <xsd:element ref="ns2:MediaServiceDateTaken" minOccurs="0"/>
                <xsd:element ref="ns2:MediaLengthInSeconds" minOccurs="0"/>
                <xsd:element ref="ns2:MediaServiceSearchProperties" minOccurs="0"/>
                <xsd:element ref="ns2:_Flow_SignoffStatus" minOccurs="0"/>
                <xsd:element ref="ns2:Time" minOccurs="0"/>
                <xsd:element ref="ns2:MediaServiceBillingMetadata"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6259e846-8b77-4076-b7b3-191dee427045" elementFormDefault="qualified">
    <xsd:import namespace="http://schemas.microsoft.com/office/2006/documentManagement/types"/>
    <xsd:import namespace="http://schemas.microsoft.com/office/infopath/2007/PartnerControls"/>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MediaServiceObjectDetectorVersions" ma:index="10" nillable="true" ma:displayName="MediaServiceObjectDetectorVersions" ma:hidden="true" ma:indexed="true" ma:internalName="MediaServiceObjectDetectorVersions" ma:readOnly="true">
      <xsd:simpleType>
        <xsd:restriction base="dms:Text"/>
      </xsd:simpleType>
    </xsd:element>
    <xsd:element name="lcf76f155ced4ddcb4097134ff3c332f" ma:index="12" nillable="true" ma:taxonomy="true" ma:internalName="lcf76f155ced4ddcb4097134ff3c332f" ma:taxonomyFieldName="MediaServiceImageTags" ma:displayName="Image Tags" ma:readOnly="false" ma:fieldId="{5cf76f15-5ced-4ddc-b409-7134ff3c332f}" ma:taxonomyMulti="true" ma:sspId="f8ebb0a5-c57d-4c3a-bec7-8a38252dd05c" ma:termSetId="09814cd3-568e-fe90-9814-8d621ff8fb84" ma:anchorId="fba54fb3-c3e1-fe81-a776-ca4b69148c4d" ma:open="true" ma:isKeyword="false">
      <xsd:complexType>
        <xsd:sequence>
          <xsd:element ref="pc:Terms" minOccurs="0" maxOccurs="1"/>
        </xsd:sequence>
      </xsd:complexType>
    </xsd:element>
    <xsd:element name="MediaServiceOCR" ma:index="14" nillable="true" ma:displayName="Extracted Text" ma:internalName="MediaServiceOCR" ma:readOnly="true">
      <xsd:simpleType>
        <xsd:restriction base="dms:Note">
          <xsd:maxLength value="255"/>
        </xsd:restriction>
      </xsd:simpleType>
    </xsd:element>
    <xsd:element name="MediaServiceGenerationTime" ma:index="15" nillable="true" ma:displayName="MediaServiceGenerationTime" ma:hidden="true" ma:internalName="MediaServiceGenerationTime" ma:readOnly="true">
      <xsd:simpleType>
        <xsd:restriction base="dms:Text"/>
      </xsd:simpleType>
    </xsd:element>
    <xsd:element name="MediaServiceEventHashCode" ma:index="16" nillable="true" ma:displayName="MediaServiceEventHashCode" ma:hidden="true" ma:internalName="MediaServiceEventHashCode" ma:readOnly="true">
      <xsd:simpleType>
        <xsd:restriction base="dms:Text"/>
      </xsd:simpleType>
    </xsd:element>
    <xsd:element name="MediaServiceDateTaken" ma:index="19" nillable="true" ma:displayName="MediaServiceDateTaken" ma:hidden="true" ma:indexed="true" ma:internalName="MediaServiceDateTaken" ma:readOnly="true">
      <xsd:simpleType>
        <xsd:restriction base="dms:Text"/>
      </xsd:simpleType>
    </xsd:element>
    <xsd:element name="MediaLengthInSeconds" ma:index="20" nillable="true" ma:displayName="MediaLengthInSeconds" ma:hidden="true" ma:internalName="MediaLengthInSeconds" ma:readOnly="true">
      <xsd:simpleType>
        <xsd:restriction base="dms:Unknown"/>
      </xsd:simpleType>
    </xsd:element>
    <xsd:element name="MediaServiceSearchProperties" ma:index="21" nillable="true" ma:displayName="MediaServiceSearchProperties" ma:hidden="true" ma:internalName="MediaServiceSearchProperties" ma:readOnly="true">
      <xsd:simpleType>
        <xsd:restriction base="dms:Note"/>
      </xsd:simpleType>
    </xsd:element>
    <xsd:element name="_Flow_SignoffStatus" ma:index="22" nillable="true" ma:displayName="Sign-off status" ma:internalName="Sign_x002d_off_x0020_status">
      <xsd:simpleType>
        <xsd:restriction base="dms:Text"/>
      </xsd:simpleType>
    </xsd:element>
    <xsd:element name="Time" ma:index="23" nillable="true" ma:displayName="Time" ma:format="DateOnly" ma:indexed="true" ma:internalName="Time">
      <xsd:simpleType>
        <xsd:restriction base="dms:DateTime"/>
      </xsd:simpleType>
    </xsd:element>
    <xsd:element name="MediaServiceBillingMetadata" ma:index="24" nillable="true" ma:displayName="MediaServiceBillingMetadata" ma:hidden="true" ma:internalName="MediaServiceBillingMetadata" ma:readOnly="true">
      <xsd:simpleType>
        <xsd:restriction base="dms:Note"/>
      </xsd:simpleType>
    </xsd:element>
  </xsd:schema>
  <xsd:schema xmlns:xsd="http://www.w3.org/2001/XMLSchema" xmlns:xs="http://www.w3.org/2001/XMLSchema" xmlns:dms="http://schemas.microsoft.com/office/2006/documentManagement/types" xmlns:pc="http://schemas.microsoft.com/office/infopath/2007/PartnerControls" targetNamespace="97847797-b717-4ffb-b5fd-2a237f853cda" elementFormDefault="qualified">
    <xsd:import namespace="http://schemas.microsoft.com/office/2006/documentManagement/types"/>
    <xsd:import namespace="http://schemas.microsoft.com/office/infopath/2007/PartnerControls"/>
    <xsd:element name="TaxCatchAll" ma:index="13" nillable="true" ma:displayName="Taxonomy Catch All Column" ma:hidden="true" ma:list="{c1c6c02b-ebe2-4c4d-aa1a-1071032b151f}" ma:internalName="TaxCatchAll" ma:showField="CatchAllData" ma:web="97847797-b717-4ffb-b5fd-2a237f853cda">
      <xsd:complexType>
        <xsd:complexContent>
          <xsd:extension base="dms:MultiChoiceLookup">
            <xsd:sequence>
              <xsd:element name="Value" type="dms:Lookup" maxOccurs="unbounded" minOccurs="0" nillable="true"/>
            </xsd:sequence>
          </xsd:extension>
        </xsd:complexContent>
      </xsd:complexType>
    </xsd:element>
    <xsd:element name="SharedWithUsers" ma:index="17" nillable="true" ma:displayName="Shared With" ma:internalName="SharedWithUsers" ma:readOnly="true">
      <xsd:complexType>
        <xsd:complexContent>
          <xsd:extension base="dms:UserMulti">
            <xsd:sequence>
              <xsd:element name="UserInfo" minOccurs="0" maxOccurs="unbounded">
                <xsd:complexType>
                  <xsd:sequence>
                    <xsd:element name="DisplayName" type="xsd:string" minOccurs="0"/>
                    <xsd:element name="AccountId" type="dms:UserId" minOccurs="0" nillable="true"/>
                    <xsd:element name="AccountType" type="xsd:string" minOccurs="0"/>
                  </xsd:sequence>
                </xsd:complexType>
              </xsd:element>
            </xsd:sequence>
          </xsd:extension>
        </xsd:complexContent>
      </xsd:complexType>
    </xsd:element>
    <xsd:element name="SharedWithDetails" ma:index="18" nillable="true" ma:displayName="Shared With Details" ma:internalName="SharedWithDetails" ma:readOnly="true">
      <xsd:simpleType>
        <xsd:restriction base="dms:Note">
          <xsd:maxLength value="255"/>
        </xsd:restriction>
      </xsd:simple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2.xml><?xml version="1.0" encoding="utf-8"?>
<?mso-contentType ?>
<FormTemplates xmlns="http://schemas.microsoft.com/sharepoint/v3/contenttype/forms">
  <Display>DocumentLibraryForm</Display>
  <Edit>DocumentLibraryForm</Edit>
  <New>DocumentLibraryForm</New>
</FormTemplates>
</file>

<file path=customXml/item3.xml><?xml version="1.0" encoding="utf-8"?>
<p:properties xmlns:p="http://schemas.microsoft.com/office/2006/metadata/properties" xmlns:xsi="http://www.w3.org/2001/XMLSchema-instance" xmlns:pc="http://schemas.microsoft.com/office/infopath/2007/PartnerControls">
  <documentManagement>
    <TaxCatchAll xmlns="97847797-b717-4ffb-b5fd-2a237f853cda" xsi:nil="true"/>
    <_Flow_SignoffStatus xmlns="6259e846-8b77-4076-b7b3-191dee427045" xsi:nil="true"/>
    <lcf76f155ced4ddcb4097134ff3c332f xmlns="6259e846-8b77-4076-b7b3-191dee427045">
      <Terms xmlns="http://schemas.microsoft.com/office/infopath/2007/PartnerControls"/>
    </lcf76f155ced4ddcb4097134ff3c332f>
    <Time xmlns="6259e846-8b77-4076-b7b3-191dee427045" xsi:nil="true"/>
  </documentManagement>
</p:properties>
</file>

<file path=customXml/itemProps1.xml><?xml version="1.0" encoding="utf-8"?>
<ds:datastoreItem xmlns:ds="http://schemas.openxmlformats.org/officeDocument/2006/customXml" ds:itemID="{BA731F14-DED9-4C84-874D-016E9DFFE599}"/>
</file>

<file path=customXml/itemProps2.xml><?xml version="1.0" encoding="utf-8"?>
<ds:datastoreItem xmlns:ds="http://schemas.openxmlformats.org/officeDocument/2006/customXml" ds:itemID="{AB47D78B-4BA7-42F2-9713-27DDF8962FCC}"/>
</file>

<file path=customXml/itemProps3.xml><?xml version="1.0" encoding="utf-8"?>
<ds:datastoreItem xmlns:ds="http://schemas.openxmlformats.org/officeDocument/2006/customXml" ds:itemID="{67279CA9-9CA9-4EF4-9A20-F45B38B1E3EB}"/>
</file>

<file path=docProps/app.xml><?xml version="1.0" encoding="utf-8"?>
<Properties xmlns="http://schemas.openxmlformats.org/officeDocument/2006/extended-properties" xmlns:vt="http://schemas.openxmlformats.org/officeDocument/2006/docPropsVTypes">
  <TotalTime>37</TotalTime>
  <Words>8939</Words>
  <Application>Microsoft Macintosh PowerPoint</Application>
  <PresentationFormat>Widescreen</PresentationFormat>
  <Paragraphs>892</Paragraphs>
  <Slides>55</Slides>
  <Notes>32</Notes>
  <HiddenSlides>0</HiddenSlides>
  <MMClips>2</MMClips>
  <ScaleCrop>false</ScaleCrop>
  <HeadingPairs>
    <vt:vector size="6" baseType="variant">
      <vt:variant>
        <vt:lpstr>Fonts Used</vt:lpstr>
      </vt:variant>
      <vt:variant>
        <vt:i4>7</vt:i4>
      </vt:variant>
      <vt:variant>
        <vt:lpstr>Theme</vt:lpstr>
      </vt:variant>
      <vt:variant>
        <vt:i4>1</vt:i4>
      </vt:variant>
      <vt:variant>
        <vt:lpstr>Slide Titles</vt:lpstr>
      </vt:variant>
      <vt:variant>
        <vt:i4>55</vt:i4>
      </vt:variant>
    </vt:vector>
  </HeadingPairs>
  <TitlesOfParts>
    <vt:vector size="63" baseType="lpstr">
      <vt:lpstr>Aptos</vt:lpstr>
      <vt:lpstr>Aptos Display</vt:lpstr>
      <vt:lpstr>Arial</vt:lpstr>
      <vt:lpstr>Calibri</vt:lpstr>
      <vt:lpstr>Cambria Math</vt:lpstr>
      <vt:lpstr>OpenSans</vt:lpstr>
      <vt:lpstr>Söhne</vt:lpstr>
      <vt:lpstr>Office Theme</vt:lpstr>
      <vt:lpstr>Lesson 1 — Introduction to Artificial Intelligence and Machine Learning</vt:lpstr>
      <vt:lpstr>Learning Objectives</vt:lpstr>
      <vt:lpstr>Artificial Intelligence, Machine Learning and Deep Learning</vt:lpstr>
      <vt:lpstr>Data Science and Related Fields</vt:lpstr>
      <vt:lpstr>Explicit Rules and Learning from Data</vt:lpstr>
      <vt:lpstr>What Does “Learning” Mean?</vt:lpstr>
      <vt:lpstr>The Structure of a Machine Learning Dataset</vt:lpstr>
      <vt:lpstr>Features, Targets and Mathematical Notation</vt:lpstr>
      <vt:lpstr>Example</vt:lpstr>
      <vt:lpstr>Model, Algorithm, Parameters and Hyperparameters</vt:lpstr>
      <vt:lpstr>Example model</vt:lpstr>
      <vt:lpstr>The Main Learning Approaches</vt:lpstr>
      <vt:lpstr>Supervised Learning</vt:lpstr>
      <vt:lpstr>Regression and Classification</vt:lpstr>
      <vt:lpstr>Common Supervised Learning Techniques</vt:lpstr>
      <vt:lpstr>Unsupervised Learning</vt:lpstr>
      <vt:lpstr>Common Unsupervised Learning Techniques</vt:lpstr>
      <vt:lpstr>Deep Learning and Neural Networks</vt:lpstr>
      <vt:lpstr>Deep Learning and Neural Networks</vt:lpstr>
      <vt:lpstr>Training, Evaluation and Generalisation</vt:lpstr>
      <vt:lpstr>Defining an ML Problem for a Climate Product</vt:lpstr>
      <vt:lpstr>Machine Learning Algorithms</vt:lpstr>
      <vt:lpstr>Supervised Learning</vt:lpstr>
      <vt:lpstr>Supervised Learning</vt:lpstr>
      <vt:lpstr>Regression : Housing Price Prediction</vt:lpstr>
      <vt:lpstr>Classification: Cancer Detection </vt:lpstr>
      <vt:lpstr>Classification: Cancer Detection </vt:lpstr>
      <vt:lpstr>Two or More Inputs </vt:lpstr>
      <vt:lpstr>Unsupervised Learning</vt:lpstr>
      <vt:lpstr>PowerPoint Presentation</vt:lpstr>
      <vt:lpstr>Clustering</vt:lpstr>
      <vt:lpstr>PowerPoint Presentation</vt:lpstr>
      <vt:lpstr>PowerPoint Presentation</vt:lpstr>
      <vt:lpstr> Linear Regression Model</vt:lpstr>
      <vt:lpstr>Terminology</vt:lpstr>
      <vt:lpstr>PowerPoint Presentation</vt:lpstr>
      <vt:lpstr>Cost Function</vt:lpstr>
      <vt:lpstr>PowerPoint Presentation</vt:lpstr>
      <vt:lpstr>Visual of Cost Function</vt:lpstr>
      <vt:lpstr>Gradient Descent </vt:lpstr>
      <vt:lpstr>PowerPoint Presentation</vt:lpstr>
      <vt:lpstr>PowerPoint Presentation</vt:lpstr>
      <vt:lpstr>PowerPoint Presentation</vt:lpstr>
      <vt:lpstr>Learning Rate</vt:lpstr>
      <vt:lpstr>PowerPoint Presentation</vt:lpstr>
      <vt:lpstr>PowerPoint Presentation</vt:lpstr>
      <vt:lpstr>The Curse of Local Minima: How to Escape and Find the Global Minimum</vt:lpstr>
      <vt:lpstr>PowerPoint Presentation</vt:lpstr>
      <vt:lpstr>Batch Gradient Descent</vt:lpstr>
      <vt:lpstr>Stochastic Gradient Descent(SGD)</vt:lpstr>
      <vt:lpstr>Stochastic Gradient Descent(SGD)</vt:lpstr>
      <vt:lpstr>Mini-batch Gradient Descent</vt:lpstr>
      <vt:lpstr>PowerPoint Presentation</vt:lpstr>
      <vt:lpstr>Q&amp;A</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Cristovao Cacombe</dc:creator>
  <cp:lastModifiedBy>Cristovao Cacombe</cp:lastModifiedBy>
  <cp:revision>3</cp:revision>
  <dcterms:created xsi:type="dcterms:W3CDTF">2026-10-19T15:40:38Z</dcterms:created>
  <dcterms:modified xsi:type="dcterms:W3CDTF">2026-10-19T16:17:48Z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0x0101007E9A02BA3BD6C54284F20B51199E6706</vt:lpwstr>
  </property>
</Properties>
</file>